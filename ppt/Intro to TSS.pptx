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training covers the recovered NORD TSS source archive end to end: the OS, its architecture and subsystems, every I/O device with registers and bits, a deep dive on the swapping drum, and how to build, install and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TSS is not a program under SINTRAN. It IS the operating system - it owns the whole machine. Five parts of MAC assembler, about 14,000 lines, one process per terminal.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archive splits into source and build output. LIST and ASYMB files prove the build scripts were run through a real MAC assembler - and ASYMB/BSYMB give a golden symbol table to verify any re-assembly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mental model for the whole course. Users on teletypes talk to a per-process world above 40000 octal. The resident kernel below is driven by the interrupt-level system, and everything lands on the devices. Sections: 01 kernel, 02 user space, 03 devices, 04 drum, 05 build and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one: the resident kernel - interrupt architecture, memory management, scheduling, swapping, monitor calls, buffers and the file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NORD-10 every kernel component runs on its own hardware priority level. Level 5 holds both scheduler and swapper. Levels 10, 11, 12 are device levels; 14 catches traps and dispatches monitor calls to level 3. The NORD-1 build uses levels 7 and 11 with IOT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tables run the memory system. VCTBL is what the process wants, PCTBL what is in core, PDTBL what is on swap. Modes: 1 scratch, 2 read-only shared with reference counting, 3 read-write. SMPR rebuilds protect or paging registers after each switch.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PRT is the process table, eight words per terminal. The clock on level 9 counts quanta; level 5 scans PRT round-robin. Exhausting the large quantum, blocking, or dying triggers SWAPR with the successor.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SWAPR's five steps. This is where TRSFR appears - the routine the drum section dives into. Note the sharing logic: a read-only page already in the swap pool is reused by bumping its reference count, not copied.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Programs reach the kernel through monitor calls: trap on level 14, decode, dispatch on level 3 through MCTBL, 81 entries. Level 14 also emulates instructions the machine lacks: byte load and store, register multiply and divide.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kernel's driver pattern. Every character device owns a ring buffer packing two characters per word, described by a BUFTB descriptor. Drivers come in interrupt halves - TTYDI, READR, CARD1, PNTDR on the device levels - and process-side halves - RTTY, WTTY, RREA, WPRNT - that meet in the buffer. Skip-return exits encode success and failure. Busy flags plus device locks serialize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file system lives past the swap areas. A master information block with a bit table allocates 256-word tracks; the user table maps 8 users per device; OBT holds up to 16 open files. Files are typed by name suffix. All file-system transfers are 2K reads and writes through TRXX.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two: what runs above 40000 octal - the command processor, the overlay utilities, and user programs.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Logon: a keypress on a dead terminal wakes the scanner, SWAPR builds a fresh process with the SINIT or LEV2 entry, and the command processor is read from the coreload area. Rubout - ESC - always returns control: RSLK clears all locks and the utility restarts. The response-time counters measure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User-space code beyond the resident command processor comes in as overlays: GOVER traps to the overlay loader, which reads 1000-word overlays from OVDK. The wild part: OVERX writes each assembled overlay to disk during assembly. User programs are saved and restored as PROG files by DUMP and RECV with full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three: the device complement - the I/O instructions themselves, then every peripheral with its registers and 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CPU physically talks to hardware. NORD-1: one IOT instruction, opcode 160000 octal, device number in the low bits, function bits ACT SKA PIN SNI ORed in. NORD-10: IOX, low 11 bits are a device-register address - even reads into A, odd writes from A. IOXT takes the address from T for the full 16-bit range. Every driver exists twice under NN10 and N10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NORD-10 standard device: four registers. Status and control bits follow one convention across all character devices - these exact bits are what the TSS drivers test. Control values you will see everywhere: 5 to arm and run, 7 on the card reader, 20 octal device clear on the printer, 0 to disarm.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terminal, the most elaborate driver. Base 300 plus 10 octal per unit; input at base, output at base plus 4. The driver flow: interrupt, read status, check error bit 4, read the character, parity check, into the ring buffer, break and echo strategy. The scanner on level 6 revives logged-out terminals.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tape: reader at 400, punch at 410, single-character DMA-less devices - read data, rearm with 5. Timeouts on the clock level release a stuck reader after 5 seconds. Card reader at 420: status bit 3 column ready, bit 5 tested for end of card, bit 9 for fault; control 7 arms error interrupts too. Card code converts to ASCII through the 1971 CTB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 printer at 430. Status bit 3 ready, bit 4 error - the driver clears with 20 octal and retries. Control 5 prints the character in A. WPRNT maps unprintables and pads line feeds. The Versatec variant instead DMA-streams a 132-character line buffer from memory on level 11. Locks serialize it all to one terminal.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CDC disk on channel 500: eight registers. DKTR takes core address in X, NCR-style linear disk address in T, operation plus unit in A, extra sectors in D. DKADR divides by 12 into cylinder geometry for the CDC 9425 or 9427. Status: bit 2 ready, bit 4 error, bit 14 transfer complete. The modus register carries the operation and activate. Below, the fixed disk layout - the drum replaces the front of the swap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four, the deep dive: the swapping drum. The photo is the actual drum unit under restoration. Nuance: TSS ran on NORD-1s too, but this drum driver is explicitly NORD-10 code - the header calls it a first approximation to a NORD-10 version, and it only assembles when both DRUM and N10 marks are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 drum: one fixed head per track, no seek arm, so latency is rotational only - the ideal swap device. Geometry from the code: 64-word sectors, 32 per track = 2048 words = exactly one TSS page per track. Default DRMSZ 2000 octal 256-word pages = 256K words = 128 tracks. The driver is NORD-10-only: guarded by DRUM N10, pure IOX.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TRSFR is the swap front end. It converts the disk address to a drum block address: subtract DKA1, times 4. Inside the drum: call XDRUM with 32 blocks, one page. Beyond it: fall back to the disk at address minus DRMSZ. Note the busy loop - JMP star minus 2 calls XDRUM again - and the error exit restarts the whole transfer. Without the DRUM mark, TRSFR equals TRXX, pure disk.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XDRUM software contract, from the header comment. Registers in: X blocks, T function plus core-address extension bits, A core address, D drum block address. Three exits placed right after the call: error, busy, finished. Busy means call again with everything unchanged - the driver is a state machine advancing one hardware operation per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hardware programming model at base 540 octal. Six registers via IOX. Status: bit 4 device active, bit 5 error OR, low 5 bits echo the function code. Control word assembled by the driver: function in bits 13-14, core-address extension bits 16-17 mapped to bits 5-6, and 7 in the low bits - enable interrupt plus activate. Word count is blocks times 64. The error path writes 4 to the control register - device clear, by the standard convention, unverified against a controller manual.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Register-by-register, the DMA setup group. LCX takes the 16-bit core address; bits 16 and 17 travel in the control register instead. LWX takes the word count - chunk times 64, maximum 2048 for a full track. LBX takes the packed hardware block address: sector in the top five bits, track below. The driver derives it from the linear sector number D with the rotate sequence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status register, bit by bit, as the driver reads it. Bit 4, octal 20, DVA - device active: the operation is still running, take the busy exit. Bit 5, octal 40, ERR - the inclusive OR of all error conditions; which individual errors feed it is controller detail we lack a manual for. The low five bits echo the function code: XDRUM masks with 37 octal and uses the readback to decide whether it was a status-only call and which function just completed. On both the error and finished exits this whole word is returned to the caller in 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 register - writing it is what starts the hardware. Bits 13 and 14 carry the function: 0 read, drum to core. 1 write, core to drum. 2 read test - the drum reads and checks but transfers nothing to core, a surface verify. 3 compare - the drum reads and compares against core contents, a write verify. Function 20 octal, read status only, never reaches this register - XDRUM answers it from RSX alone. Bits 5 and 6 extend the core address to 18 bits, 256K words. Bits 0 to 2 are written as 7: enable interrupt, presumably enable error interrupt, and activate. The error path writes plain 4 - assumed device clear. This is the assignment implied by the driver; no controller manual survives to confirm bit 1 and bit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driver is one entry point re-called until done. Each call: read status - busy exit if active, error exit if error bit. Done test: X zero or status-only function. Otherwise transfer the next chunk: at most the sectors left in the current track, so a transfer never crosses a track boundary in one operation. Load word count, core address, converted block address, then the control word starts the hardware and the routine takes the busy exit. The caller re-calls; when X reaches zero the finished exit returns status and next core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five: from source to a running system - configuration marks, the FMAC build, installing on disk, and booting.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Configuration is conditional assembly: referencing an undefined symbol on the mark line makes it true. Key marks here. The as-archived builds use CDC MACF DIAB K14 TEL4 - no DRUM, no N10, meaning NORD-1 IOT I/O and disk-only swapping. For a drum-swapping NORD-10 system, add DRUM and N10.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ASSYSA decoded line by line. FMAC starts the assembler, the mark line sets configuration, the CVS lines re-define symbols the original MAC had built in. Five 9ASSM commands assemble the parts; the last one writes the object stream and LIST dumps the symbol table. The last three lines are not standard MAC commands - expect to stop after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Installation: MINIT initializes the mass storage first. Then the assembled system saves itself: executing from location 7 runs SYSSV, which writes 32K words from address 0 to the coreload disk area and jumps to INIT. Booting reverses it: load the coreload, enter INIT - interrupts, paging, buffers, file system - then the idle loop waits for terminals. Remember: this replaces whatever OS was on the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unknowns and the path forward. The missing tool is a MAC or FMAC binary. The three trailing script lines are undocumented. Drum status bits beyond DVA and ERR need a controller manual. Next steps: emulator plus FMAC, verify against the ASYMB oracle, then bring the drum build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01A"/>
        </a:solidFill>
      </p:bgPr>
    </p:bg>
    <p:spTree>
      <p:nvGrpSpPr>
        <p:cNvPr id="1" name=""/>
        <p:cNvGrpSpPr/>
        <p:nvPr/>
      </p:nvGrpSpPr>
      <p:grpSpPr>
        <a:xfrm>
          <a:off x="0" y="0"/>
          <a:ext cx="0" cy="0"/>
          <a:chOff x="0" y="0"/>
          <a:chExt cx="0" cy="0"/>
        </a:xfrm>
      </p:grpSpPr>
      <p:sp>
        <p:nvSpPr>
          <p:cNvPr id="2" name="Text 0"/>
          <p:cNvSpPr/>
          <p:nvPr/>
        </p:nvSpPr>
        <p:spPr>
          <a:xfrm>
            <a:off x="952500" y="2686050"/>
            <a:ext cx="18021300" cy="358140"/>
          </a:xfrm>
          <a:prstGeom prst="rect">
            <a:avLst/>
          </a:prstGeom>
          <a:noFill/>
          <a:ln/>
        </p:spPr>
        <p:txBody>
          <a:bodyPr wrap="square" lIns="25400" tIns="25400" rIns="25400" bIns="25400" rtlCol="0" anchor="t">
            <a:normAutofit/>
          </a:bodyPr>
          <a:lstStyle/>
          <a:p>
            <a:pPr algn="l" indent="0" marL="0">
              <a:buNone/>
            </a:pPr>
            <a:r>
              <a:rPr lang="en-US" sz="1950" spc="546" kern="0" dirty="0">
                <a:solidFill>
                  <a:srgbClr val="E8935A"/>
                </a:solidFill>
                <a:latin typeface="Courier New" pitchFamily="34" charset="0"/>
                <a:ea typeface="Courier New" pitchFamily="34" charset="-122"/>
                <a:cs typeface="Courier New" pitchFamily="34" charset="-120"/>
              </a:rPr>
              <a:t>TRAINING · SOURCE-ARCHIVE DEEP DIVE</a:t>
            </a:r>
            <a:endParaRPr lang="en-US" sz="1950" dirty="0"/>
          </a:p>
        </p:txBody>
      </p:sp>
      <p:sp>
        <p:nvSpPr>
          <p:cNvPr id="3" name="Text 1"/>
          <p:cNvSpPr/>
          <p:nvPr/>
        </p:nvSpPr>
        <p:spPr>
          <a:xfrm>
            <a:off x="952500" y="3348990"/>
            <a:ext cx="15716250" cy="1078230"/>
          </a:xfrm>
          <a:prstGeom prst="rect">
            <a:avLst/>
          </a:prstGeom>
          <a:noFill/>
          <a:ln/>
        </p:spPr>
        <p:txBody>
          <a:bodyPr wrap="square" lIns="25400" tIns="25400" rIns="25400" bIns="25400" rtlCol="0" anchor="t">
            <a:normAutofit/>
          </a:bodyPr>
          <a:lstStyle/>
          <a:p>
            <a:pPr algn="l" indent="0" marL="0">
              <a:lnSpc>
                <a:spcPct val="92857"/>
              </a:lnSpc>
              <a:buNone/>
            </a:pPr>
            <a:r>
              <a:rPr lang="en-US" sz="7800" b="1" dirty="0">
                <a:solidFill>
                  <a:srgbClr val="ECE5D3"/>
                </a:solidFill>
                <a:latin typeface="Courier New" pitchFamily="34" charset="0"/>
                <a:ea typeface="Courier New" pitchFamily="34" charset="-122"/>
                <a:cs typeface="Courier New" pitchFamily="34" charset="-120"/>
              </a:rPr>
              <a:t>NORD Time Sharing System</a:t>
            </a:r>
            <a:endParaRPr lang="en-US" sz="7800" dirty="0"/>
          </a:p>
        </p:txBody>
      </p:sp>
      <p:sp>
        <p:nvSpPr>
          <p:cNvPr id="4" name="Shape 2"/>
          <p:cNvSpPr/>
          <p:nvPr/>
        </p:nvSpPr>
        <p:spPr>
          <a:xfrm>
            <a:off x="952500" y="4732020"/>
            <a:ext cx="2667000" cy="38100"/>
          </a:xfrm>
          <a:prstGeom prst="rect">
            <a:avLst/>
          </a:prstGeom>
          <a:solidFill>
            <a:srgbClr val="C8501E"/>
          </a:solidFill>
          <a:ln/>
        </p:spPr>
      </p:sp>
      <p:sp>
        <p:nvSpPr>
          <p:cNvPr id="5" name="Text 3"/>
          <p:cNvSpPr/>
          <p:nvPr/>
        </p:nvSpPr>
        <p:spPr>
          <a:xfrm>
            <a:off x="952500" y="5113020"/>
            <a:ext cx="12753975" cy="1581150"/>
          </a:xfrm>
          <a:prstGeom prst="rect">
            <a:avLst/>
          </a:prstGeom>
          <a:noFill/>
          <a:ln/>
        </p:spPr>
        <p:txBody>
          <a:bodyPr wrap="square" lIns="25400" tIns="25400" rIns="25400" bIns="25400" rtlCol="0" anchor="t">
            <a:normAutofit/>
          </a:bodyPr>
          <a:lstStyle/>
          <a:p>
            <a:pPr algn="l" indent="0" marL="0">
              <a:lnSpc>
                <a:spcPct val="129808"/>
              </a:lnSpc>
              <a:buNone/>
            </a:pPr>
            <a:r>
              <a:rPr lang="en-US" sz="2700" dirty="0">
                <a:solidFill>
                  <a:srgbClr val="C7BDA6"/>
                </a:solidFill>
                <a:latin typeface="Arial" pitchFamily="34" charset="0"/>
                <a:ea typeface="Arial" pitchFamily="34" charset="-122"/>
                <a:cs typeface="Arial" pitchFamily="34" charset="-120"/>
              </a:rPr>
              <a:t>An introduction to TSS by Bo Lewendal — kernel, user space, and every device down to the register bits — ending at the deepest layer: the NORD-10 swapping-drum driver.</a:t>
            </a:r>
            <a:endParaRPr lang="en-US" sz="2700" dirty="0"/>
          </a:p>
        </p:txBody>
      </p:sp>
      <p:sp>
        <p:nvSpPr>
          <p:cNvPr id="6" name="Text 4"/>
          <p:cNvSpPr/>
          <p:nvPr/>
        </p:nvSpPr>
        <p:spPr>
          <a:xfrm>
            <a:off x="952500" y="7303770"/>
            <a:ext cx="3771900" cy="335280"/>
          </a:xfrm>
          <a:prstGeom prst="rect">
            <a:avLst/>
          </a:prstGeom>
          <a:noFill/>
          <a:ln/>
        </p:spPr>
        <p:txBody>
          <a:bodyPr wrap="square" lIns="25400" tIns="25400" rIns="25400" bIns="25400" rtlCol="0" anchor="t">
            <a:normAutofit/>
          </a:bodyPr>
          <a:lstStyle/>
          <a:p>
            <a:pPr algn="l" indent="0" marL="0">
              <a:buNone/>
            </a:pPr>
            <a:r>
              <a:rPr lang="en-US" sz="1800" dirty="0">
                <a:solidFill>
                  <a:srgbClr val="8F8570"/>
                </a:solidFill>
                <a:latin typeface="Courier New" pitchFamily="34" charset="0"/>
                <a:ea typeface="Courier New" pitchFamily="34" charset="-122"/>
                <a:cs typeface="Courier New" pitchFamily="34" charset="-120"/>
              </a:rPr>
              <a:t>TSS1–TSS5 · MAC ASSEMBLER</a:t>
            </a:r>
            <a:endParaRPr lang="en-US" sz="1800" dirty="0"/>
          </a:p>
        </p:txBody>
      </p:sp>
      <p:sp>
        <p:nvSpPr>
          <p:cNvPr id="7" name="Text 5"/>
          <p:cNvSpPr/>
          <p:nvPr/>
        </p:nvSpPr>
        <p:spPr>
          <a:xfrm>
            <a:off x="4991100" y="7303770"/>
            <a:ext cx="2414016" cy="335280"/>
          </a:xfrm>
          <a:prstGeom prst="rect">
            <a:avLst/>
          </a:prstGeom>
          <a:noFill/>
          <a:ln/>
        </p:spPr>
        <p:txBody>
          <a:bodyPr wrap="square" lIns="25400" tIns="25400" rIns="25400" bIns="25400" rtlCol="0" anchor="t">
            <a:normAutofit/>
          </a:bodyPr>
          <a:lstStyle/>
          <a:p>
            <a:pPr algn="l" indent="0" marL="0">
              <a:buNone/>
            </a:pPr>
            <a:r>
              <a:rPr lang="en-US" sz="1800" dirty="0">
                <a:solidFill>
                  <a:srgbClr val="8F8570"/>
                </a:solidFill>
                <a:latin typeface="Courier New" pitchFamily="34" charset="0"/>
                <a:ea typeface="Courier New" pitchFamily="34" charset="-122"/>
                <a:cs typeface="Courier New" pitchFamily="34" charset="-120"/>
              </a:rPr>
              <a:t>NORD-1 / NORD-10</a:t>
            </a:r>
            <a:endParaRPr lang="en-US" sz="1800" dirty="0"/>
          </a:p>
        </p:txBody>
      </p:sp>
      <p:sp>
        <p:nvSpPr>
          <p:cNvPr id="8" name="Text 6"/>
          <p:cNvSpPr/>
          <p:nvPr/>
        </p:nvSpPr>
        <p:spPr>
          <a:xfrm>
            <a:off x="7795260" y="7303770"/>
            <a:ext cx="4526280" cy="335280"/>
          </a:xfrm>
          <a:prstGeom prst="rect">
            <a:avLst/>
          </a:prstGeom>
          <a:noFill/>
          <a:ln/>
        </p:spPr>
        <p:txBody>
          <a:bodyPr wrap="square" lIns="25400" tIns="25400" rIns="25400" bIns="25400" rtlCol="0" anchor="t">
            <a:normAutofit/>
          </a:bodyPr>
          <a:lstStyle/>
          <a:p>
            <a:pPr algn="l" indent="0" marL="0">
              <a:buNone/>
            </a:pPr>
            <a:r>
              <a:rPr lang="en-US" sz="1800" dirty="0">
                <a:solidFill>
                  <a:srgbClr val="8F8570"/>
                </a:solidFill>
                <a:latin typeface="Courier New" pitchFamily="34" charset="0"/>
                <a:ea typeface="Courier New" pitchFamily="34" charset="-122"/>
                <a:cs typeface="Courier New" pitchFamily="34" charset="-120"/>
              </a:rPr>
              <a:t>DRUM DRIVER: NJL · 17 APR 1973</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EDE1"/>
        </a:solidFill>
      </p:bgPr>
    </p:bg>
    <p:spTree>
      <p:nvGrpSpPr>
        <p:cNvPr id="1" name=""/>
        <p:cNvGrpSpPr/>
        <p:nvPr/>
      </p:nvGrpSpPr>
      <p:grpSpPr>
        <a:xfrm>
          <a:off x="0" y="0"/>
          <a:ext cx="0" cy="0"/>
          <a:chOff x="0" y="0"/>
          <a:chExt cx="0" cy="0"/>
        </a:xfrm>
      </p:grpSpPr>
      <p:sp>
        <p:nvSpPr>
          <p:cNvPr id="2" name="Text 0"/>
          <p:cNvSpPr/>
          <p:nvPr/>
        </p:nvSpPr>
        <p:spPr>
          <a:xfrm>
            <a:off x="952500" y="857250"/>
            <a:ext cx="18021300" cy="33528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C8501E"/>
                </a:solidFill>
                <a:latin typeface="Courier New" pitchFamily="34" charset="0"/>
                <a:ea typeface="Courier New" pitchFamily="34" charset="-122"/>
                <a:cs typeface="Courier New" pitchFamily="34" charset="-120"/>
              </a:rPr>
              <a:t>INTRODUCTION</a:t>
            </a:r>
            <a:endParaRPr lang="en-US" sz="1800" dirty="0"/>
          </a:p>
        </p:txBody>
      </p:sp>
      <p:sp>
        <p:nvSpPr>
          <p:cNvPr id="3" name="Text 1"/>
          <p:cNvSpPr/>
          <p:nvPr/>
        </p:nvSpPr>
        <p:spPr>
          <a:xfrm>
            <a:off x="952500" y="1306830"/>
            <a:ext cx="18021300" cy="666750"/>
          </a:xfrm>
          <a:prstGeom prst="rect">
            <a:avLst/>
          </a:prstGeom>
          <a:noFill/>
          <a:ln/>
        </p:spPr>
        <p:txBody>
          <a:bodyPr wrap="square" lIns="25400" tIns="25400" rIns="25400" bIns="25400" rtlCol="0" anchor="t">
            <a:normAutofit/>
          </a:bodyPr>
          <a:lstStyle/>
          <a:p>
            <a:pPr algn="l" indent="0" marL="0">
              <a:lnSpc>
                <a:spcPct val="97059"/>
              </a:lnSpc>
              <a:buNone/>
            </a:pPr>
            <a:r>
              <a:rPr lang="en-US" sz="4500" b="1" dirty="0">
                <a:solidFill>
                  <a:srgbClr val="211C14"/>
                </a:solidFill>
                <a:latin typeface="Courier New" pitchFamily="34" charset="0"/>
                <a:ea typeface="Courier New" pitchFamily="34" charset="-122"/>
                <a:cs typeface="Courier New" pitchFamily="34" charset="-120"/>
              </a:rPr>
              <a:t>What TSS Is</a:t>
            </a:r>
            <a:endParaRPr lang="en-US" sz="4500" dirty="0"/>
          </a:p>
        </p:txBody>
      </p:sp>
      <p:sp>
        <p:nvSpPr>
          <p:cNvPr id="4" name="Shape 2"/>
          <p:cNvSpPr/>
          <p:nvPr/>
        </p:nvSpPr>
        <p:spPr>
          <a:xfrm>
            <a:off x="952500" y="2087880"/>
            <a:ext cx="16383000" cy="28575"/>
          </a:xfrm>
          <a:prstGeom prst="rect">
            <a:avLst/>
          </a:prstGeom>
          <a:solidFill>
            <a:srgbClr val="211C14"/>
          </a:solidFill>
          <a:ln/>
        </p:spPr>
      </p:sp>
      <p:sp>
        <p:nvSpPr>
          <p:cNvPr id="5" name="Text 3"/>
          <p:cNvSpPr/>
          <p:nvPr/>
        </p:nvSpPr>
        <p:spPr>
          <a:xfrm>
            <a:off x="952500" y="2649855"/>
            <a:ext cx="396240" cy="931545"/>
          </a:xfrm>
          <a:prstGeom prst="rect">
            <a:avLst/>
          </a:prstGeom>
          <a:noFill/>
          <a:ln/>
        </p:spPr>
        <p:txBody>
          <a:bodyPr wrap="square" lIns="25400" tIns="25400" rIns="25400" bIns="25400" rtlCol="0" anchor="t">
            <a:normAutofit/>
          </a:bodyPr>
          <a:lstStyle/>
          <a:p>
            <a:pPr algn="l" indent="0" marL="0">
              <a:lnSpc>
                <a:spcPct val="131250"/>
              </a:lnSpc>
              <a:buNone/>
            </a:pPr>
            <a:r>
              <a:rPr lang="en-US" sz="2100" dirty="0">
                <a:solidFill>
                  <a:srgbClr val="C8501E"/>
                </a:solidFill>
                <a:latin typeface="Courier New" pitchFamily="34" charset="0"/>
                <a:ea typeface="Courier New" pitchFamily="34" charset="-122"/>
                <a:cs typeface="Courier New" pitchFamily="34" charset="-120"/>
              </a:rPr>
              <a:t>01</a:t>
            </a:r>
            <a:endParaRPr lang="en-US" sz="2100" dirty="0"/>
          </a:p>
        </p:txBody>
      </p:sp>
      <p:sp>
        <p:nvSpPr>
          <p:cNvPr id="6" name="Text 4"/>
          <p:cNvSpPr/>
          <p:nvPr/>
        </p:nvSpPr>
        <p:spPr>
          <a:xfrm>
            <a:off x="1539240" y="2649855"/>
            <a:ext cx="11364773" cy="931545"/>
          </a:xfrm>
          <a:prstGeom prst="rect">
            <a:avLst/>
          </a:prstGeom>
          <a:noFill/>
          <a:ln/>
        </p:spPr>
        <p:txBody>
          <a:bodyPr wrap="square" lIns="25400" tIns="25400" rIns="25400" bIns="25400" rtlCol="0" anchor="t">
            <a:normAutofit/>
          </a:bodyPr>
          <a:lstStyle/>
          <a:p>
            <a:pPr algn="l" indent="0" marL="0">
              <a:lnSpc>
                <a:spcPct val="132102"/>
              </a:lnSpc>
              <a:buNone/>
            </a:pPr>
            <a:r>
              <a:rPr lang="en-US" sz="2325" dirty="0">
                <a:solidFill>
                  <a:srgbClr val="211C14"/>
                </a:solidFill>
                <a:latin typeface="Arial" pitchFamily="34" charset="0"/>
                <a:ea typeface="Arial" pitchFamily="34" charset="-122"/>
                <a:cs typeface="Arial" pitchFamily="34" charset="-120"/>
              </a:rPr>
              <a:t>A complete, </a:t>
            </a:r>
            <a:pPr algn="l" indent="0" marL="0">
              <a:lnSpc>
                <a:spcPct val="132102"/>
              </a:lnSpc>
              <a:buNone/>
            </a:pPr>
            <a:r>
              <a:rPr lang="en-US" sz="2325" b="1" dirty="0">
                <a:solidFill>
                  <a:srgbClr val="211C14"/>
                </a:solidFill>
                <a:latin typeface="Arial" pitchFamily="34" charset="0"/>
                <a:ea typeface="Arial" pitchFamily="34" charset="-122"/>
                <a:cs typeface="Arial" pitchFamily="34" charset="-120"/>
              </a:rPr>
              <a:t>standalone timesharing operating system </a:t>
            </a:r>
            <a:pPr algn="l" indent="0" marL="0">
              <a:lnSpc>
                <a:spcPct val="132102"/>
              </a:lnSpc>
              <a:buNone/>
            </a:pPr>
            <a:r>
              <a:rPr lang="en-US" sz="2325" dirty="0">
                <a:solidFill>
                  <a:srgbClr val="211C14"/>
                </a:solidFill>
                <a:latin typeface="Arial" pitchFamily="34" charset="0"/>
                <a:ea typeface="Arial" pitchFamily="34" charset="-122"/>
                <a:cs typeface="Arial" pitchFamily="34" charset="-120"/>
              </a:rPr>
              <a:t>for the NORD-1 and NORD-10. It owns the machine — it is not a program running under SINTRAN.</a:t>
            </a:r>
            <a:endParaRPr lang="en-US" sz="2325" dirty="0"/>
          </a:p>
        </p:txBody>
      </p:sp>
      <p:sp>
        <p:nvSpPr>
          <p:cNvPr id="7" name="Text 5"/>
          <p:cNvSpPr/>
          <p:nvPr/>
        </p:nvSpPr>
        <p:spPr>
          <a:xfrm>
            <a:off x="952500" y="3867150"/>
            <a:ext cx="396240" cy="931545"/>
          </a:xfrm>
          <a:prstGeom prst="rect">
            <a:avLst/>
          </a:prstGeom>
          <a:noFill/>
          <a:ln/>
        </p:spPr>
        <p:txBody>
          <a:bodyPr wrap="square" lIns="25400" tIns="25400" rIns="25400" bIns="25400" rtlCol="0" anchor="t">
            <a:normAutofit/>
          </a:bodyPr>
          <a:lstStyle/>
          <a:p>
            <a:pPr algn="l" indent="0" marL="0">
              <a:lnSpc>
                <a:spcPct val="131250"/>
              </a:lnSpc>
              <a:buNone/>
            </a:pPr>
            <a:r>
              <a:rPr lang="en-US" sz="2100" dirty="0">
                <a:solidFill>
                  <a:srgbClr val="C8501E"/>
                </a:solidFill>
                <a:latin typeface="Courier New" pitchFamily="34" charset="0"/>
                <a:ea typeface="Courier New" pitchFamily="34" charset="-122"/>
                <a:cs typeface="Courier New" pitchFamily="34" charset="-120"/>
              </a:rPr>
              <a:t>02</a:t>
            </a:r>
            <a:endParaRPr lang="en-US" sz="2100" dirty="0"/>
          </a:p>
        </p:txBody>
      </p:sp>
      <p:sp>
        <p:nvSpPr>
          <p:cNvPr id="8" name="Text 6"/>
          <p:cNvSpPr/>
          <p:nvPr/>
        </p:nvSpPr>
        <p:spPr>
          <a:xfrm>
            <a:off x="1539240" y="3867150"/>
            <a:ext cx="11364773" cy="931545"/>
          </a:xfrm>
          <a:prstGeom prst="rect">
            <a:avLst/>
          </a:prstGeom>
          <a:noFill/>
          <a:ln/>
        </p:spPr>
        <p:txBody>
          <a:bodyPr wrap="square" lIns="25400" tIns="25400" rIns="25400" bIns="25400" rtlCol="0" anchor="t">
            <a:normAutofit/>
          </a:bodyPr>
          <a:lstStyle/>
          <a:p>
            <a:pPr algn="l" indent="0" marL="0">
              <a:lnSpc>
                <a:spcPct val="132102"/>
              </a:lnSpc>
              <a:buNone/>
            </a:pPr>
            <a:r>
              <a:rPr lang="en-US" sz="2325" dirty="0">
                <a:solidFill>
                  <a:srgbClr val="211C14"/>
                </a:solidFill>
                <a:latin typeface="Arial" pitchFamily="34" charset="0"/>
                <a:ea typeface="Arial" pitchFamily="34" charset="-122"/>
                <a:cs typeface="Arial" pitchFamily="34" charset="-120"/>
              </a:rPr>
              <a:t>Written by </a:t>
            </a:r>
            <a:pPr algn="l" indent="0" marL="0">
              <a:lnSpc>
                <a:spcPct val="132102"/>
              </a:lnSpc>
              <a:buNone/>
            </a:pPr>
            <a:r>
              <a:rPr lang="en-US" sz="2325" b="1" dirty="0">
                <a:solidFill>
                  <a:srgbClr val="211C14"/>
                </a:solidFill>
                <a:latin typeface="Arial" pitchFamily="34" charset="0"/>
                <a:ea typeface="Arial" pitchFamily="34" charset="-122"/>
                <a:cs typeface="Arial" pitchFamily="34" charset="-120"/>
              </a:rPr>
              <a:t>Bo Lewendal </a:t>
            </a:r>
            <a:pPr algn="l" indent="0" marL="0">
              <a:lnSpc>
                <a:spcPct val="132102"/>
              </a:lnSpc>
              <a:buNone/>
            </a:pPr>
            <a:r>
              <a:rPr lang="en-US" sz="2325" dirty="0">
                <a:solidFill>
                  <a:srgbClr val="211C14"/>
                </a:solidFill>
                <a:latin typeface="Arial" pitchFamily="34" charset="0"/>
                <a:ea typeface="Arial" pitchFamily="34" charset="-122"/>
                <a:cs typeface="Arial" pitchFamily="34" charset="-120"/>
              </a:rPr>
              <a:t>in MAC assembler, in five source parts, with the algorithms documented in structured pseudo-code comments beside the code.</a:t>
            </a:r>
            <a:endParaRPr lang="en-US" sz="2325" dirty="0"/>
          </a:p>
        </p:txBody>
      </p:sp>
      <p:sp>
        <p:nvSpPr>
          <p:cNvPr id="9" name="Text 7"/>
          <p:cNvSpPr/>
          <p:nvPr/>
        </p:nvSpPr>
        <p:spPr>
          <a:xfrm>
            <a:off x="952500" y="5084445"/>
            <a:ext cx="396240" cy="931545"/>
          </a:xfrm>
          <a:prstGeom prst="rect">
            <a:avLst/>
          </a:prstGeom>
          <a:noFill/>
          <a:ln/>
        </p:spPr>
        <p:txBody>
          <a:bodyPr wrap="square" lIns="25400" tIns="25400" rIns="25400" bIns="25400" rtlCol="0" anchor="t">
            <a:normAutofit/>
          </a:bodyPr>
          <a:lstStyle/>
          <a:p>
            <a:pPr algn="l" indent="0" marL="0">
              <a:lnSpc>
                <a:spcPct val="131250"/>
              </a:lnSpc>
              <a:buNone/>
            </a:pPr>
            <a:r>
              <a:rPr lang="en-US" sz="2100" dirty="0">
                <a:solidFill>
                  <a:srgbClr val="C8501E"/>
                </a:solidFill>
                <a:latin typeface="Courier New" pitchFamily="34" charset="0"/>
                <a:ea typeface="Courier New" pitchFamily="34" charset="-122"/>
                <a:cs typeface="Courier New" pitchFamily="34" charset="-120"/>
              </a:rPr>
              <a:t>03</a:t>
            </a:r>
            <a:endParaRPr lang="en-US" sz="2100" dirty="0"/>
          </a:p>
        </p:txBody>
      </p:sp>
      <p:sp>
        <p:nvSpPr>
          <p:cNvPr id="10" name="Text 8"/>
          <p:cNvSpPr/>
          <p:nvPr/>
        </p:nvSpPr>
        <p:spPr>
          <a:xfrm>
            <a:off x="1539240" y="5084445"/>
            <a:ext cx="11364773" cy="931545"/>
          </a:xfrm>
          <a:prstGeom prst="rect">
            <a:avLst/>
          </a:prstGeom>
          <a:noFill/>
          <a:ln/>
        </p:spPr>
        <p:txBody>
          <a:bodyPr wrap="square" lIns="25400" tIns="25400" rIns="25400" bIns="25400" rtlCol="0" anchor="t">
            <a:normAutofit/>
          </a:bodyPr>
          <a:lstStyle/>
          <a:p>
            <a:pPr algn="l" indent="0" marL="0">
              <a:lnSpc>
                <a:spcPct val="132102"/>
              </a:lnSpc>
              <a:buNone/>
            </a:pPr>
            <a:r>
              <a:rPr lang="en-US" sz="2325" dirty="0">
                <a:solidFill>
                  <a:srgbClr val="211C14"/>
                </a:solidFill>
                <a:latin typeface="Arial" pitchFamily="34" charset="0"/>
                <a:ea typeface="Arial" pitchFamily="34" charset="-122"/>
                <a:cs typeface="Arial" pitchFamily="34" charset="-120"/>
              </a:rPr>
              <a:t>Every terminal is a </a:t>
            </a:r>
            <a:pPr algn="l" indent="0" marL="0">
              <a:lnSpc>
                <a:spcPct val="132102"/>
              </a:lnSpc>
              <a:buNone/>
            </a:pPr>
            <a:r>
              <a:rPr lang="en-US" sz="2325" b="1" dirty="0">
                <a:solidFill>
                  <a:srgbClr val="211C14"/>
                </a:solidFill>
                <a:latin typeface="Arial" pitchFamily="34" charset="0"/>
                <a:ea typeface="Arial" pitchFamily="34" charset="-122"/>
                <a:cs typeface="Arial" pitchFamily="34" charset="-120"/>
              </a:rPr>
              <a:t>process </a:t>
            </a:r>
            <a:pPr algn="l" indent="0" marL="0">
              <a:lnSpc>
                <a:spcPct val="132102"/>
              </a:lnSpc>
              <a:buNone/>
            </a:pPr>
            <a:r>
              <a:rPr lang="en-US" sz="2325" dirty="0">
                <a:solidFill>
                  <a:srgbClr val="211C14"/>
                </a:solidFill>
                <a:latin typeface="Arial" pitchFamily="34" charset="0"/>
                <a:ea typeface="Arial" pitchFamily="34" charset="-122"/>
                <a:cs typeface="Arial" pitchFamily="34" charset="-120"/>
              </a:rPr>
              <a:t>with its own 8-page virtual memory, swapped between core and mass storage — CDC disk, or a drum.</a:t>
            </a:r>
            <a:endParaRPr lang="en-US" sz="2325" dirty="0"/>
          </a:p>
        </p:txBody>
      </p:sp>
      <p:sp>
        <p:nvSpPr>
          <p:cNvPr id="11" name="Text 9"/>
          <p:cNvSpPr/>
          <p:nvPr/>
        </p:nvSpPr>
        <p:spPr>
          <a:xfrm>
            <a:off x="952500" y="6301740"/>
            <a:ext cx="396240" cy="923925"/>
          </a:xfrm>
          <a:prstGeom prst="rect">
            <a:avLst/>
          </a:prstGeom>
          <a:noFill/>
          <a:ln/>
        </p:spPr>
        <p:txBody>
          <a:bodyPr wrap="square" lIns="25400" tIns="25400" rIns="25400" bIns="25400" rtlCol="0" anchor="t">
            <a:normAutofit/>
          </a:bodyPr>
          <a:lstStyle/>
          <a:p>
            <a:pPr algn="l" indent="0" marL="0">
              <a:lnSpc>
                <a:spcPct val="131250"/>
              </a:lnSpc>
              <a:buNone/>
            </a:pPr>
            <a:r>
              <a:rPr lang="en-US" sz="2100" dirty="0">
                <a:solidFill>
                  <a:srgbClr val="C8501E"/>
                </a:solidFill>
                <a:latin typeface="Courier New" pitchFamily="34" charset="0"/>
                <a:ea typeface="Courier New" pitchFamily="34" charset="-122"/>
                <a:cs typeface="Courier New" pitchFamily="34" charset="-120"/>
              </a:rPr>
              <a:t>04</a:t>
            </a:r>
            <a:endParaRPr lang="en-US" sz="2100" dirty="0"/>
          </a:p>
        </p:txBody>
      </p:sp>
      <p:sp>
        <p:nvSpPr>
          <p:cNvPr id="12" name="Text 10"/>
          <p:cNvSpPr/>
          <p:nvPr/>
        </p:nvSpPr>
        <p:spPr>
          <a:xfrm>
            <a:off x="1539240" y="6301740"/>
            <a:ext cx="11364773" cy="923925"/>
          </a:xfrm>
          <a:prstGeom prst="rect">
            <a:avLst/>
          </a:prstGeom>
          <a:noFill/>
          <a:ln/>
        </p:spPr>
        <p:txBody>
          <a:bodyPr wrap="square" lIns="25400" tIns="25400" rIns="25400" bIns="25400" rtlCol="0" anchor="t">
            <a:normAutofit/>
          </a:bodyPr>
          <a:lstStyle/>
          <a:p>
            <a:pPr algn="l" indent="0" marL="0">
              <a:lnSpc>
                <a:spcPct val="132102"/>
              </a:lnSpc>
              <a:buNone/>
            </a:pPr>
            <a:r>
              <a:rPr lang="en-US" sz="2325" dirty="0">
                <a:solidFill>
                  <a:srgbClr val="211C14"/>
                </a:solidFill>
                <a:latin typeface="Arial" pitchFamily="34" charset="0"/>
                <a:ea typeface="Arial" pitchFamily="34" charset="-122"/>
                <a:cs typeface="Arial" pitchFamily="34" charset="-120"/>
              </a:rPr>
              <a:t>Users get a command processor, a file system, mail, accounting — and programs get a monitor-call interface.</a:t>
            </a:r>
            <a:endParaRPr lang="en-US" sz="2325" dirty="0"/>
          </a:p>
        </p:txBody>
      </p:sp>
      <p:sp>
        <p:nvSpPr>
          <p:cNvPr id="13" name="Shape 11"/>
          <p:cNvSpPr/>
          <p:nvPr/>
        </p:nvSpPr>
        <p:spPr>
          <a:xfrm>
            <a:off x="13335000" y="2649855"/>
            <a:ext cx="4000500" cy="22860"/>
          </a:xfrm>
          <a:prstGeom prst="rect">
            <a:avLst/>
          </a:prstGeom>
          <a:solidFill>
            <a:srgbClr val="211C14"/>
          </a:solidFill>
          <a:ln/>
        </p:spPr>
      </p:sp>
      <p:sp>
        <p:nvSpPr>
          <p:cNvPr id="14" name="Shape 12"/>
          <p:cNvSpPr/>
          <p:nvPr/>
        </p:nvSpPr>
        <p:spPr>
          <a:xfrm>
            <a:off x="13335000" y="3968115"/>
            <a:ext cx="4000500" cy="9525"/>
          </a:xfrm>
          <a:prstGeom prst="rect">
            <a:avLst/>
          </a:prstGeom>
          <a:solidFill>
            <a:srgbClr val="CEC4AD"/>
          </a:solidFill>
          <a:ln/>
        </p:spPr>
      </p:sp>
      <p:sp>
        <p:nvSpPr>
          <p:cNvPr id="15" name="Text 13"/>
          <p:cNvSpPr/>
          <p:nvPr/>
        </p:nvSpPr>
        <p:spPr>
          <a:xfrm>
            <a:off x="13335000" y="2901315"/>
            <a:ext cx="4400550" cy="579120"/>
          </a:xfrm>
          <a:prstGeom prst="rect">
            <a:avLst/>
          </a:prstGeom>
          <a:noFill/>
          <a:ln/>
        </p:spPr>
        <p:txBody>
          <a:bodyPr wrap="square" lIns="25400" tIns="25400" rIns="25400" bIns="25400" rtlCol="0" anchor="t">
            <a:normAutofit/>
          </a:bodyPr>
          <a:lstStyle/>
          <a:p>
            <a:pPr algn="l" indent="0" marL="0">
              <a:buNone/>
            </a:pPr>
            <a:r>
              <a:rPr lang="en-US" sz="3750" b="1" dirty="0">
                <a:solidFill>
                  <a:srgbClr val="211C14"/>
                </a:solidFill>
                <a:latin typeface="Courier New" pitchFamily="34" charset="0"/>
                <a:ea typeface="Courier New" pitchFamily="34" charset="-122"/>
                <a:cs typeface="Courier New" pitchFamily="34" charset="-120"/>
              </a:rPr>
              <a:t>5</a:t>
            </a:r>
            <a:endParaRPr lang="en-US" sz="3750" dirty="0"/>
          </a:p>
        </p:txBody>
      </p:sp>
      <p:sp>
        <p:nvSpPr>
          <p:cNvPr id="16" name="Text 14"/>
          <p:cNvSpPr/>
          <p:nvPr/>
        </p:nvSpPr>
        <p:spPr>
          <a:xfrm>
            <a:off x="13335000" y="3442335"/>
            <a:ext cx="4400550" cy="335280"/>
          </a:xfrm>
          <a:prstGeom prst="rect">
            <a:avLst/>
          </a:prstGeom>
          <a:noFill/>
          <a:ln/>
        </p:spPr>
        <p:txBody>
          <a:bodyPr wrap="square" lIns="25400" tIns="25400" rIns="25400" bIns="25400" rtlCol="0" anchor="t">
            <a:normAutofit/>
          </a:bodyPr>
          <a:lstStyle/>
          <a:p>
            <a:pPr algn="l" indent="0" marL="0">
              <a:buNone/>
            </a:pPr>
            <a:r>
              <a:rPr lang="en-US" sz="1800" dirty="0">
                <a:solidFill>
                  <a:srgbClr val="6B6252"/>
                </a:solidFill>
                <a:latin typeface="Arial" pitchFamily="34" charset="0"/>
                <a:ea typeface="Arial" pitchFamily="34" charset="-122"/>
                <a:cs typeface="Arial" pitchFamily="34" charset="-120"/>
              </a:rPr>
              <a:t>source parts, TSS1–TSS5</a:t>
            </a:r>
            <a:endParaRPr lang="en-US" sz="1800" dirty="0"/>
          </a:p>
        </p:txBody>
      </p:sp>
      <p:sp>
        <p:nvSpPr>
          <p:cNvPr id="17" name="Shape 15"/>
          <p:cNvSpPr/>
          <p:nvPr/>
        </p:nvSpPr>
        <p:spPr>
          <a:xfrm>
            <a:off x="13335000" y="5271135"/>
            <a:ext cx="4000500" cy="9525"/>
          </a:xfrm>
          <a:prstGeom prst="rect">
            <a:avLst/>
          </a:prstGeom>
          <a:solidFill>
            <a:srgbClr val="CEC4AD"/>
          </a:solidFill>
          <a:ln/>
        </p:spPr>
      </p:sp>
      <p:sp>
        <p:nvSpPr>
          <p:cNvPr id="18" name="Text 16"/>
          <p:cNvSpPr/>
          <p:nvPr/>
        </p:nvSpPr>
        <p:spPr>
          <a:xfrm>
            <a:off x="13335000" y="4204335"/>
            <a:ext cx="4400550" cy="579120"/>
          </a:xfrm>
          <a:prstGeom prst="rect">
            <a:avLst/>
          </a:prstGeom>
          <a:noFill/>
          <a:ln/>
        </p:spPr>
        <p:txBody>
          <a:bodyPr wrap="square" lIns="25400" tIns="25400" rIns="25400" bIns="25400" rtlCol="0" anchor="t">
            <a:normAutofit/>
          </a:bodyPr>
          <a:lstStyle/>
          <a:p>
            <a:pPr algn="l" indent="0" marL="0">
              <a:buNone/>
            </a:pPr>
            <a:r>
              <a:rPr lang="en-US" sz="3750" b="1" dirty="0">
                <a:solidFill>
                  <a:srgbClr val="211C14"/>
                </a:solidFill>
                <a:latin typeface="Courier New" pitchFamily="34" charset="0"/>
                <a:ea typeface="Courier New" pitchFamily="34" charset="-122"/>
                <a:cs typeface="Courier New" pitchFamily="34" charset="-120"/>
              </a:rPr>
              <a:t>≈14,000</a:t>
            </a:r>
            <a:endParaRPr lang="en-US" sz="3750" dirty="0"/>
          </a:p>
        </p:txBody>
      </p:sp>
      <p:sp>
        <p:nvSpPr>
          <p:cNvPr id="19" name="Text 17"/>
          <p:cNvSpPr/>
          <p:nvPr/>
        </p:nvSpPr>
        <p:spPr>
          <a:xfrm>
            <a:off x="13335000" y="4745355"/>
            <a:ext cx="4400550" cy="335280"/>
          </a:xfrm>
          <a:prstGeom prst="rect">
            <a:avLst/>
          </a:prstGeom>
          <a:noFill/>
          <a:ln/>
        </p:spPr>
        <p:txBody>
          <a:bodyPr wrap="square" lIns="25400" tIns="25400" rIns="25400" bIns="25400" rtlCol="0" anchor="t">
            <a:normAutofit/>
          </a:bodyPr>
          <a:lstStyle/>
          <a:p>
            <a:pPr algn="l" indent="0" marL="0">
              <a:buNone/>
            </a:pPr>
            <a:r>
              <a:rPr lang="en-US" sz="1800" dirty="0">
                <a:solidFill>
                  <a:srgbClr val="6B6252"/>
                </a:solidFill>
                <a:latin typeface="Arial" pitchFamily="34" charset="0"/>
                <a:ea typeface="Arial" pitchFamily="34" charset="-122"/>
                <a:cs typeface="Arial" pitchFamily="34" charset="-120"/>
              </a:rPr>
              <a:t>lines of MAC assembler</a:t>
            </a:r>
            <a:endParaRPr lang="en-US" sz="1800" dirty="0"/>
          </a:p>
        </p:txBody>
      </p:sp>
      <p:sp>
        <p:nvSpPr>
          <p:cNvPr id="20" name="Shape 18"/>
          <p:cNvSpPr/>
          <p:nvPr/>
        </p:nvSpPr>
        <p:spPr>
          <a:xfrm>
            <a:off x="13335000" y="6574155"/>
            <a:ext cx="4000500" cy="9525"/>
          </a:xfrm>
          <a:prstGeom prst="rect">
            <a:avLst/>
          </a:prstGeom>
          <a:solidFill>
            <a:srgbClr val="CEC4AD"/>
          </a:solidFill>
          <a:ln/>
        </p:spPr>
      </p:sp>
      <p:sp>
        <p:nvSpPr>
          <p:cNvPr id="21" name="Text 19"/>
          <p:cNvSpPr/>
          <p:nvPr/>
        </p:nvSpPr>
        <p:spPr>
          <a:xfrm>
            <a:off x="13335000" y="5507355"/>
            <a:ext cx="4400550" cy="579120"/>
          </a:xfrm>
          <a:prstGeom prst="rect">
            <a:avLst/>
          </a:prstGeom>
          <a:noFill/>
          <a:ln/>
        </p:spPr>
        <p:txBody>
          <a:bodyPr wrap="square" lIns="25400" tIns="25400" rIns="25400" bIns="25400" rtlCol="0" anchor="t">
            <a:normAutofit/>
          </a:bodyPr>
          <a:lstStyle/>
          <a:p>
            <a:pPr algn="l" indent="0" marL="0">
              <a:buNone/>
            </a:pPr>
            <a:r>
              <a:rPr lang="en-US" sz="3750" b="1" dirty="0">
                <a:solidFill>
                  <a:srgbClr val="211C14"/>
                </a:solidFill>
                <a:latin typeface="Courier New" pitchFamily="34" charset="0"/>
                <a:ea typeface="Courier New" pitchFamily="34" charset="-122"/>
                <a:cs typeface="Courier New" pitchFamily="34" charset="-120"/>
              </a:rPr>
              <a:t>81</a:t>
            </a:r>
            <a:endParaRPr lang="en-US" sz="3750" dirty="0"/>
          </a:p>
        </p:txBody>
      </p:sp>
      <p:sp>
        <p:nvSpPr>
          <p:cNvPr id="22" name="Text 20"/>
          <p:cNvSpPr/>
          <p:nvPr/>
        </p:nvSpPr>
        <p:spPr>
          <a:xfrm>
            <a:off x="13335000" y="6048375"/>
            <a:ext cx="4400550" cy="335280"/>
          </a:xfrm>
          <a:prstGeom prst="rect">
            <a:avLst/>
          </a:prstGeom>
          <a:noFill/>
          <a:ln/>
        </p:spPr>
        <p:txBody>
          <a:bodyPr wrap="square" lIns="25400" tIns="25400" rIns="25400" bIns="25400" rtlCol="0" anchor="t">
            <a:normAutofit/>
          </a:bodyPr>
          <a:lstStyle/>
          <a:p>
            <a:pPr algn="l" indent="0" marL="0">
              <a:buNone/>
            </a:pPr>
            <a:r>
              <a:rPr lang="en-US" sz="1800" dirty="0">
                <a:solidFill>
                  <a:srgbClr val="6B6252"/>
                </a:solidFill>
                <a:latin typeface="Arial" pitchFamily="34" charset="0"/>
                <a:ea typeface="Arial" pitchFamily="34" charset="-122"/>
                <a:cs typeface="Arial" pitchFamily="34" charset="-120"/>
              </a:rPr>
              <a:t>monitor calls in MCTBL</a:t>
            </a:r>
            <a:endParaRPr lang="en-US" sz="1800" dirty="0"/>
          </a:p>
        </p:txBody>
      </p:sp>
      <p:sp>
        <p:nvSpPr>
          <p:cNvPr id="23" name="Shape 21"/>
          <p:cNvSpPr/>
          <p:nvPr/>
        </p:nvSpPr>
        <p:spPr>
          <a:xfrm>
            <a:off x="13335000" y="7877175"/>
            <a:ext cx="4000500" cy="9525"/>
          </a:xfrm>
          <a:prstGeom prst="rect">
            <a:avLst/>
          </a:prstGeom>
          <a:solidFill>
            <a:srgbClr val="CEC4AD"/>
          </a:solidFill>
          <a:ln/>
        </p:spPr>
      </p:sp>
      <p:sp>
        <p:nvSpPr>
          <p:cNvPr id="24" name="Text 22"/>
          <p:cNvSpPr/>
          <p:nvPr/>
        </p:nvSpPr>
        <p:spPr>
          <a:xfrm>
            <a:off x="13335000" y="6810375"/>
            <a:ext cx="4400550" cy="579120"/>
          </a:xfrm>
          <a:prstGeom prst="rect">
            <a:avLst/>
          </a:prstGeom>
          <a:noFill/>
          <a:ln/>
        </p:spPr>
        <p:txBody>
          <a:bodyPr wrap="square" lIns="25400" tIns="25400" rIns="25400" bIns="25400" rtlCol="0" anchor="t">
            <a:normAutofit/>
          </a:bodyPr>
          <a:lstStyle/>
          <a:p>
            <a:pPr algn="l" indent="0" marL="0">
              <a:buNone/>
            </a:pPr>
            <a:r>
              <a:rPr lang="en-US" sz="3750" b="1" dirty="0">
                <a:solidFill>
                  <a:srgbClr val="211C14"/>
                </a:solidFill>
                <a:latin typeface="Courier New" pitchFamily="34" charset="0"/>
                <a:ea typeface="Courier New" pitchFamily="34" charset="-122"/>
                <a:cs typeface="Courier New" pitchFamily="34" charset="-120"/>
              </a:rPr>
              <a:t>24</a:t>
            </a:r>
            <a:endParaRPr lang="en-US" sz="3750" dirty="0"/>
          </a:p>
        </p:txBody>
      </p:sp>
      <p:sp>
        <p:nvSpPr>
          <p:cNvPr id="25" name="Text 23"/>
          <p:cNvSpPr/>
          <p:nvPr/>
        </p:nvSpPr>
        <p:spPr>
          <a:xfrm>
            <a:off x="13335000" y="7351395"/>
            <a:ext cx="4400550" cy="335280"/>
          </a:xfrm>
          <a:prstGeom prst="rect">
            <a:avLst/>
          </a:prstGeom>
          <a:noFill/>
          <a:ln/>
        </p:spPr>
        <p:txBody>
          <a:bodyPr wrap="square" lIns="25400" tIns="25400" rIns="25400" bIns="25400" rtlCol="0" anchor="t">
            <a:normAutofit/>
          </a:bodyPr>
          <a:lstStyle/>
          <a:p>
            <a:pPr algn="l" indent="0" marL="0">
              <a:buNone/>
            </a:pPr>
            <a:r>
              <a:rPr lang="en-US" sz="1800" dirty="0">
                <a:solidFill>
                  <a:srgbClr val="6B6252"/>
                </a:solidFill>
                <a:latin typeface="Arial" pitchFamily="34" charset="0"/>
                <a:ea typeface="Arial" pitchFamily="34" charset="-122"/>
                <a:cs typeface="Arial" pitchFamily="34" charset="-120"/>
              </a:rPr>
              <a:t>teletypes maximum</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EDE1"/>
        </a:solidFill>
      </p:bgPr>
    </p:bg>
    <p:spTree>
      <p:nvGrpSpPr>
        <p:cNvPr id="1" name=""/>
        <p:cNvGrpSpPr/>
        <p:nvPr/>
      </p:nvGrpSpPr>
      <p:grpSpPr>
        <a:xfrm>
          <a:off x="0" y="0"/>
          <a:ext cx="0" cy="0"/>
          <a:chOff x="0" y="0"/>
          <a:chExt cx="0" cy="0"/>
        </a:xfrm>
      </p:grpSpPr>
      <p:sp>
        <p:nvSpPr>
          <p:cNvPr id="2" name="Text 0"/>
          <p:cNvSpPr/>
          <p:nvPr/>
        </p:nvSpPr>
        <p:spPr>
          <a:xfrm>
            <a:off x="952500" y="857250"/>
            <a:ext cx="18021300" cy="33528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C8501E"/>
                </a:solidFill>
                <a:latin typeface="Courier New" pitchFamily="34" charset="0"/>
                <a:ea typeface="Courier New" pitchFamily="34" charset="-122"/>
                <a:cs typeface="Courier New" pitchFamily="34" charset="-120"/>
              </a:rPr>
              <a:t>INTRODUCTION</a:t>
            </a:r>
            <a:endParaRPr lang="en-US" sz="1800" dirty="0"/>
          </a:p>
        </p:txBody>
      </p:sp>
      <p:sp>
        <p:nvSpPr>
          <p:cNvPr id="3" name="Text 1"/>
          <p:cNvSpPr/>
          <p:nvPr/>
        </p:nvSpPr>
        <p:spPr>
          <a:xfrm>
            <a:off x="952500" y="1306830"/>
            <a:ext cx="18021300" cy="666750"/>
          </a:xfrm>
          <a:prstGeom prst="rect">
            <a:avLst/>
          </a:prstGeom>
          <a:noFill/>
          <a:ln/>
        </p:spPr>
        <p:txBody>
          <a:bodyPr wrap="square" lIns="25400" tIns="25400" rIns="25400" bIns="25400" rtlCol="0" anchor="t">
            <a:normAutofit/>
          </a:bodyPr>
          <a:lstStyle/>
          <a:p>
            <a:pPr algn="l" indent="0" marL="0">
              <a:lnSpc>
                <a:spcPct val="97059"/>
              </a:lnSpc>
              <a:buNone/>
            </a:pPr>
            <a:r>
              <a:rPr lang="en-US" sz="4500" b="1" dirty="0">
                <a:solidFill>
                  <a:srgbClr val="211C14"/>
                </a:solidFill>
                <a:latin typeface="Courier New" pitchFamily="34" charset="0"/>
                <a:ea typeface="Courier New" pitchFamily="34" charset="-122"/>
                <a:cs typeface="Courier New" pitchFamily="34" charset="-120"/>
              </a:rPr>
              <a:t>The Source Archive</a:t>
            </a:r>
            <a:endParaRPr lang="en-US" sz="4500" dirty="0"/>
          </a:p>
        </p:txBody>
      </p:sp>
      <p:sp>
        <p:nvSpPr>
          <p:cNvPr id="4" name="Shape 2"/>
          <p:cNvSpPr/>
          <p:nvPr/>
        </p:nvSpPr>
        <p:spPr>
          <a:xfrm>
            <a:off x="952500" y="2087880"/>
            <a:ext cx="16383000" cy="28575"/>
          </a:xfrm>
          <a:prstGeom prst="rect">
            <a:avLst/>
          </a:prstGeom>
          <a:solidFill>
            <a:srgbClr val="211C14"/>
          </a:solidFill>
          <a:ln/>
        </p:spPr>
      </p:sp>
      <p:sp>
        <p:nvSpPr>
          <p:cNvPr id="5" name="Text 3"/>
          <p:cNvSpPr/>
          <p:nvPr/>
        </p:nvSpPr>
        <p:spPr>
          <a:xfrm>
            <a:off x="952500" y="2535555"/>
            <a:ext cx="3562651" cy="339090"/>
          </a:xfrm>
          <a:prstGeom prst="rect">
            <a:avLst/>
          </a:prstGeom>
          <a:noFill/>
          <a:ln/>
        </p:spPr>
        <p:txBody>
          <a:bodyPr wrap="square" lIns="25400" tIns="25400" rIns="25400" bIns="25400" rtlCol="0" anchor="ctr">
            <a:normAutofit/>
          </a:bodyPr>
          <a:lstStyle/>
          <a:p>
            <a:pPr algn="l" indent="0" marL="0">
              <a:buNone/>
            </a:pPr>
            <a:r>
              <a:rPr lang="en-US" sz="1800" spc="216" kern="0" dirty="0">
                <a:solidFill>
                  <a:srgbClr val="6B6252"/>
                </a:solidFill>
                <a:latin typeface="Courier New" pitchFamily="34" charset="0"/>
                <a:ea typeface="Courier New" pitchFamily="34" charset="-122"/>
                <a:cs typeface="Courier New" pitchFamily="34" charset="-120"/>
              </a:rPr>
              <a:t>FILE</a:t>
            </a:r>
            <a:endParaRPr lang="en-US" sz="1800" dirty="0"/>
          </a:p>
        </p:txBody>
      </p:sp>
      <p:sp>
        <p:nvSpPr>
          <p:cNvPr id="6" name="Text 4"/>
          <p:cNvSpPr/>
          <p:nvPr/>
        </p:nvSpPr>
        <p:spPr>
          <a:xfrm>
            <a:off x="4411385" y="2535555"/>
            <a:ext cx="11423270" cy="339090"/>
          </a:xfrm>
          <a:prstGeom prst="rect">
            <a:avLst/>
          </a:prstGeom>
          <a:noFill/>
          <a:ln/>
        </p:spPr>
        <p:txBody>
          <a:bodyPr wrap="square" lIns="25400" tIns="25400" rIns="25400" bIns="25400" rtlCol="0" anchor="ctr">
            <a:normAutofit/>
          </a:bodyPr>
          <a:lstStyle/>
          <a:p>
            <a:pPr algn="l" indent="0" marL="0">
              <a:buNone/>
            </a:pPr>
            <a:r>
              <a:rPr lang="en-US" sz="1800" spc="216" kern="0" dirty="0">
                <a:solidFill>
                  <a:srgbClr val="6B6252"/>
                </a:solidFill>
                <a:latin typeface="Courier New" pitchFamily="34" charset="0"/>
                <a:ea typeface="Courier New" pitchFamily="34" charset="-122"/>
                <a:cs typeface="Courier New" pitchFamily="34" charset="-120"/>
              </a:rPr>
              <a:t>CONTENTS</a:t>
            </a:r>
            <a:endParaRPr lang="en-US" sz="1800" dirty="0"/>
          </a:p>
        </p:txBody>
      </p:sp>
      <p:sp>
        <p:nvSpPr>
          <p:cNvPr id="7" name="Text 5"/>
          <p:cNvSpPr/>
          <p:nvPr/>
        </p:nvSpPr>
        <p:spPr>
          <a:xfrm>
            <a:off x="15425738" y="2535555"/>
            <a:ext cx="1909763" cy="339090"/>
          </a:xfrm>
          <a:prstGeom prst="rect">
            <a:avLst/>
          </a:prstGeom>
          <a:noFill/>
          <a:ln/>
        </p:spPr>
        <p:txBody>
          <a:bodyPr wrap="square" lIns="25400" tIns="25400" rIns="25400" bIns="25400" rtlCol="0" anchor="ctr">
            <a:normAutofit/>
          </a:bodyPr>
          <a:lstStyle/>
          <a:p>
            <a:pPr algn="r" indent="0" marL="0">
              <a:buNone/>
            </a:pPr>
            <a:r>
              <a:rPr lang="en-US" sz="1800" spc="216" kern="0" dirty="0">
                <a:solidFill>
                  <a:srgbClr val="6B6252"/>
                </a:solidFill>
                <a:latin typeface="Courier New" pitchFamily="34" charset="0"/>
                <a:ea typeface="Courier New" pitchFamily="34" charset="-122"/>
                <a:cs typeface="Courier New" pitchFamily="34" charset="-120"/>
              </a:rPr>
              <a:t>LINES</a:t>
            </a:r>
            <a:endParaRPr lang="en-US" sz="1800" dirty="0"/>
          </a:p>
        </p:txBody>
      </p:sp>
      <p:sp>
        <p:nvSpPr>
          <p:cNvPr id="8" name="Shape 6"/>
          <p:cNvSpPr/>
          <p:nvPr/>
        </p:nvSpPr>
        <p:spPr>
          <a:xfrm>
            <a:off x="952500" y="2969895"/>
            <a:ext cx="16383000" cy="9525"/>
          </a:xfrm>
          <a:prstGeom prst="rect">
            <a:avLst/>
          </a:prstGeom>
          <a:solidFill>
            <a:srgbClr val="CEC4AD"/>
          </a:solidFill>
          <a:ln/>
        </p:spPr>
      </p:sp>
      <p:sp>
        <p:nvSpPr>
          <p:cNvPr id="9" name="Text 7"/>
          <p:cNvSpPr/>
          <p:nvPr/>
        </p:nvSpPr>
        <p:spPr>
          <a:xfrm>
            <a:off x="952500" y="3103245"/>
            <a:ext cx="3257851" cy="381000"/>
          </a:xfrm>
          <a:prstGeom prst="rect">
            <a:avLst/>
          </a:prstGeom>
          <a:noFill/>
          <a:ln/>
        </p:spPr>
        <p:txBody>
          <a:bodyPr wrap="square" lIns="25400" tIns="25400" rIns="25400" bIns="25400" rtlCol="0" anchor="ctr">
            <a:normAutofit/>
          </a:bodyPr>
          <a:lstStyle/>
          <a:p>
            <a:pPr algn="l" indent="0" marL="0">
              <a:buNone/>
            </a:pPr>
            <a:r>
              <a:rPr lang="en-US" sz="2025" b="1" dirty="0">
                <a:solidFill>
                  <a:srgbClr val="211C14"/>
                </a:solidFill>
                <a:latin typeface="Courier New" pitchFamily="34" charset="0"/>
                <a:ea typeface="Courier New" pitchFamily="34" charset="-122"/>
                <a:cs typeface="Courier New" pitchFamily="34" charset="-120"/>
              </a:rPr>
              <a:t>TSS1:SYMB</a:t>
            </a:r>
            <a:endParaRPr lang="en-US" sz="2025" dirty="0"/>
          </a:p>
        </p:txBody>
      </p:sp>
      <p:sp>
        <p:nvSpPr>
          <p:cNvPr id="10" name="Text 8"/>
          <p:cNvSpPr/>
          <p:nvPr/>
        </p:nvSpPr>
        <p:spPr>
          <a:xfrm>
            <a:off x="4411385" y="3103245"/>
            <a:ext cx="11118470" cy="381000"/>
          </a:xfrm>
          <a:prstGeom prst="rect">
            <a:avLst/>
          </a:prstGeom>
          <a:noFill/>
          <a:ln/>
        </p:spPr>
        <p:txBody>
          <a:bodyPr wrap="square" lIns="25400" tIns="25400" rIns="25400" bIns="25400" rtlCol="0" anchor="ctr">
            <a:normAutofit/>
          </a:bodyPr>
          <a:lstStyle/>
          <a:p>
            <a:pPr algn="l" indent="0" marL="0">
              <a:buNone/>
            </a:pPr>
            <a:r>
              <a:rPr lang="en-US" sz="2025" dirty="0">
                <a:solidFill>
                  <a:srgbClr val="211C14"/>
                </a:solidFill>
                <a:latin typeface="Arial" pitchFamily="34" charset="0"/>
                <a:ea typeface="Arial" pitchFamily="34" charset="-122"/>
                <a:cs typeface="Arial" pitchFamily="34" charset="-120"/>
              </a:rPr>
              <a:t>Kernel — interrupts, all device drivers, scheduler, swapper, page tables</a:t>
            </a:r>
            <a:endParaRPr lang="en-US" sz="2025" dirty="0"/>
          </a:p>
        </p:txBody>
      </p:sp>
      <p:sp>
        <p:nvSpPr>
          <p:cNvPr id="11" name="Text 9"/>
          <p:cNvSpPr/>
          <p:nvPr/>
        </p:nvSpPr>
        <p:spPr>
          <a:xfrm>
            <a:off x="15425738" y="3103245"/>
            <a:ext cx="1909763" cy="381000"/>
          </a:xfrm>
          <a:prstGeom prst="rect">
            <a:avLst/>
          </a:prstGeom>
          <a:noFill/>
          <a:ln/>
        </p:spPr>
        <p:txBody>
          <a:bodyPr wrap="square" lIns="25400" tIns="25400" rIns="25400" bIns="25400" rtlCol="0" anchor="ctr">
            <a:normAutofit/>
          </a:bodyPr>
          <a:lstStyle/>
          <a:p>
            <a:pPr algn="r" indent="0" marL="0">
              <a:buNone/>
            </a:pPr>
            <a:r>
              <a:rPr lang="en-US" sz="2025" dirty="0">
                <a:solidFill>
                  <a:srgbClr val="211C14"/>
                </a:solidFill>
                <a:latin typeface="Courier New" pitchFamily="34" charset="0"/>
                <a:ea typeface="Courier New" pitchFamily="34" charset="-122"/>
                <a:cs typeface="Courier New" pitchFamily="34" charset="-120"/>
              </a:rPr>
              <a:t>4,709</a:t>
            </a:r>
            <a:endParaRPr lang="en-US" sz="2025" dirty="0"/>
          </a:p>
        </p:txBody>
      </p:sp>
      <p:sp>
        <p:nvSpPr>
          <p:cNvPr id="12" name="Shape 10"/>
          <p:cNvSpPr/>
          <p:nvPr/>
        </p:nvSpPr>
        <p:spPr>
          <a:xfrm>
            <a:off x="952500" y="3579495"/>
            <a:ext cx="16383000" cy="9525"/>
          </a:xfrm>
          <a:prstGeom prst="rect">
            <a:avLst/>
          </a:prstGeom>
          <a:solidFill>
            <a:srgbClr val="CEC4AD"/>
          </a:solidFill>
          <a:ln/>
        </p:spPr>
      </p:sp>
      <p:sp>
        <p:nvSpPr>
          <p:cNvPr id="13" name="Text 11"/>
          <p:cNvSpPr/>
          <p:nvPr/>
        </p:nvSpPr>
        <p:spPr>
          <a:xfrm>
            <a:off x="952500" y="3712845"/>
            <a:ext cx="3257851" cy="381000"/>
          </a:xfrm>
          <a:prstGeom prst="rect">
            <a:avLst/>
          </a:prstGeom>
          <a:noFill/>
          <a:ln/>
        </p:spPr>
        <p:txBody>
          <a:bodyPr wrap="square" lIns="25400" tIns="25400" rIns="25400" bIns="25400" rtlCol="0" anchor="ctr">
            <a:normAutofit/>
          </a:bodyPr>
          <a:lstStyle/>
          <a:p>
            <a:pPr algn="l" indent="0" marL="0">
              <a:buNone/>
            </a:pPr>
            <a:r>
              <a:rPr lang="en-US" sz="2025" b="1" dirty="0">
                <a:solidFill>
                  <a:srgbClr val="211C14"/>
                </a:solidFill>
                <a:latin typeface="Courier New" pitchFamily="34" charset="0"/>
                <a:ea typeface="Courier New" pitchFamily="34" charset="-122"/>
                <a:cs typeface="Courier New" pitchFamily="34" charset="-120"/>
              </a:rPr>
              <a:t>TSS2:SYMB</a:t>
            </a:r>
            <a:endParaRPr lang="en-US" sz="2025" dirty="0"/>
          </a:p>
        </p:txBody>
      </p:sp>
      <p:sp>
        <p:nvSpPr>
          <p:cNvPr id="14" name="Text 12"/>
          <p:cNvSpPr/>
          <p:nvPr/>
        </p:nvSpPr>
        <p:spPr>
          <a:xfrm>
            <a:off x="4411385" y="3712845"/>
            <a:ext cx="11118470" cy="381000"/>
          </a:xfrm>
          <a:prstGeom prst="rect">
            <a:avLst/>
          </a:prstGeom>
          <a:noFill/>
          <a:ln/>
        </p:spPr>
        <p:txBody>
          <a:bodyPr wrap="square" lIns="25400" tIns="25400" rIns="25400" bIns="25400" rtlCol="0" anchor="ctr">
            <a:normAutofit/>
          </a:bodyPr>
          <a:lstStyle/>
          <a:p>
            <a:pPr algn="l" indent="0" marL="0">
              <a:buNone/>
            </a:pPr>
            <a:r>
              <a:rPr lang="en-US" sz="2025" dirty="0">
                <a:solidFill>
                  <a:srgbClr val="211C14"/>
                </a:solidFill>
                <a:latin typeface="Arial" pitchFamily="34" charset="0"/>
                <a:ea typeface="Arial" pitchFamily="34" charset="-122"/>
                <a:cs typeface="Arial" pitchFamily="34" charset="-120"/>
              </a:rPr>
              <a:t>Context block, monitor-call implementations, command processor</a:t>
            </a:r>
            <a:endParaRPr lang="en-US" sz="2025" dirty="0"/>
          </a:p>
        </p:txBody>
      </p:sp>
      <p:sp>
        <p:nvSpPr>
          <p:cNvPr id="15" name="Text 13"/>
          <p:cNvSpPr/>
          <p:nvPr/>
        </p:nvSpPr>
        <p:spPr>
          <a:xfrm>
            <a:off x="15425738" y="3712845"/>
            <a:ext cx="1909763" cy="381000"/>
          </a:xfrm>
          <a:prstGeom prst="rect">
            <a:avLst/>
          </a:prstGeom>
          <a:noFill/>
          <a:ln/>
        </p:spPr>
        <p:txBody>
          <a:bodyPr wrap="square" lIns="25400" tIns="25400" rIns="25400" bIns="25400" rtlCol="0" anchor="ctr">
            <a:normAutofit/>
          </a:bodyPr>
          <a:lstStyle/>
          <a:p>
            <a:pPr algn="r" indent="0" marL="0">
              <a:buNone/>
            </a:pPr>
            <a:r>
              <a:rPr lang="en-US" sz="2025" dirty="0">
                <a:solidFill>
                  <a:srgbClr val="211C14"/>
                </a:solidFill>
                <a:latin typeface="Courier New" pitchFamily="34" charset="0"/>
                <a:ea typeface="Courier New" pitchFamily="34" charset="-122"/>
                <a:cs typeface="Courier New" pitchFamily="34" charset="-120"/>
              </a:rPr>
              <a:t>3,512</a:t>
            </a:r>
            <a:endParaRPr lang="en-US" sz="2025" dirty="0"/>
          </a:p>
        </p:txBody>
      </p:sp>
      <p:sp>
        <p:nvSpPr>
          <p:cNvPr id="16" name="Shape 14"/>
          <p:cNvSpPr/>
          <p:nvPr/>
        </p:nvSpPr>
        <p:spPr>
          <a:xfrm>
            <a:off x="952500" y="4189095"/>
            <a:ext cx="16383000" cy="9525"/>
          </a:xfrm>
          <a:prstGeom prst="rect">
            <a:avLst/>
          </a:prstGeom>
          <a:solidFill>
            <a:srgbClr val="CEC4AD"/>
          </a:solidFill>
          <a:ln/>
        </p:spPr>
      </p:sp>
      <p:sp>
        <p:nvSpPr>
          <p:cNvPr id="17" name="Text 15"/>
          <p:cNvSpPr/>
          <p:nvPr/>
        </p:nvSpPr>
        <p:spPr>
          <a:xfrm>
            <a:off x="952500" y="4322445"/>
            <a:ext cx="3257851" cy="381000"/>
          </a:xfrm>
          <a:prstGeom prst="rect">
            <a:avLst/>
          </a:prstGeom>
          <a:noFill/>
          <a:ln/>
        </p:spPr>
        <p:txBody>
          <a:bodyPr wrap="square" lIns="25400" tIns="25400" rIns="25400" bIns="25400" rtlCol="0" anchor="ctr">
            <a:normAutofit/>
          </a:bodyPr>
          <a:lstStyle/>
          <a:p>
            <a:pPr algn="l" indent="0" marL="0">
              <a:buNone/>
            </a:pPr>
            <a:r>
              <a:rPr lang="en-US" sz="2025" b="1" dirty="0">
                <a:solidFill>
                  <a:srgbClr val="211C14"/>
                </a:solidFill>
                <a:latin typeface="Courier New" pitchFamily="34" charset="0"/>
                <a:ea typeface="Courier New" pitchFamily="34" charset="-122"/>
                <a:cs typeface="Courier New" pitchFamily="34" charset="-120"/>
              </a:rPr>
              <a:t>TSS3:SYMB</a:t>
            </a:r>
            <a:endParaRPr lang="en-US" sz="2025" dirty="0"/>
          </a:p>
        </p:txBody>
      </p:sp>
      <p:sp>
        <p:nvSpPr>
          <p:cNvPr id="18" name="Text 16"/>
          <p:cNvSpPr/>
          <p:nvPr/>
        </p:nvSpPr>
        <p:spPr>
          <a:xfrm>
            <a:off x="4411385" y="4322445"/>
            <a:ext cx="11118470" cy="381000"/>
          </a:xfrm>
          <a:prstGeom prst="rect">
            <a:avLst/>
          </a:prstGeom>
          <a:noFill/>
          <a:ln/>
        </p:spPr>
        <p:txBody>
          <a:bodyPr wrap="square" lIns="25400" tIns="25400" rIns="25400" bIns="25400" rtlCol="0" anchor="ctr">
            <a:normAutofit/>
          </a:bodyPr>
          <a:lstStyle/>
          <a:p>
            <a:pPr algn="l" indent="0" marL="0">
              <a:buNone/>
            </a:pPr>
            <a:r>
              <a:rPr lang="en-US" sz="2025" dirty="0">
                <a:solidFill>
                  <a:srgbClr val="211C14"/>
                </a:solidFill>
                <a:latin typeface="Arial" pitchFamily="34" charset="0"/>
                <a:ea typeface="Arial" pitchFamily="34" charset="-122"/>
                <a:cs typeface="Arial" pitchFamily="34" charset="-120"/>
              </a:rPr>
              <a:t>Overlay machinery (GOVER / OVERL / OVERX) and system utilities</a:t>
            </a:r>
            <a:endParaRPr lang="en-US" sz="2025" dirty="0"/>
          </a:p>
        </p:txBody>
      </p:sp>
      <p:sp>
        <p:nvSpPr>
          <p:cNvPr id="19" name="Text 17"/>
          <p:cNvSpPr/>
          <p:nvPr/>
        </p:nvSpPr>
        <p:spPr>
          <a:xfrm>
            <a:off x="15425738" y="4322445"/>
            <a:ext cx="1909763" cy="381000"/>
          </a:xfrm>
          <a:prstGeom prst="rect">
            <a:avLst/>
          </a:prstGeom>
          <a:noFill/>
          <a:ln/>
        </p:spPr>
        <p:txBody>
          <a:bodyPr wrap="square" lIns="25400" tIns="25400" rIns="25400" bIns="25400" rtlCol="0" anchor="ctr">
            <a:normAutofit/>
          </a:bodyPr>
          <a:lstStyle/>
          <a:p>
            <a:pPr algn="r" indent="0" marL="0">
              <a:buNone/>
            </a:pPr>
            <a:r>
              <a:rPr lang="en-US" sz="2025" dirty="0">
                <a:solidFill>
                  <a:srgbClr val="211C14"/>
                </a:solidFill>
                <a:latin typeface="Courier New" pitchFamily="34" charset="0"/>
                <a:ea typeface="Courier New" pitchFamily="34" charset="-122"/>
                <a:cs typeface="Courier New" pitchFamily="34" charset="-120"/>
              </a:rPr>
              <a:t>1,755</a:t>
            </a:r>
            <a:endParaRPr lang="en-US" sz="2025" dirty="0"/>
          </a:p>
        </p:txBody>
      </p:sp>
      <p:sp>
        <p:nvSpPr>
          <p:cNvPr id="20" name="Shape 18"/>
          <p:cNvSpPr/>
          <p:nvPr/>
        </p:nvSpPr>
        <p:spPr>
          <a:xfrm>
            <a:off x="952500" y="4798695"/>
            <a:ext cx="16383000" cy="9525"/>
          </a:xfrm>
          <a:prstGeom prst="rect">
            <a:avLst/>
          </a:prstGeom>
          <a:solidFill>
            <a:srgbClr val="CEC4AD"/>
          </a:solidFill>
          <a:ln/>
        </p:spPr>
      </p:sp>
      <p:sp>
        <p:nvSpPr>
          <p:cNvPr id="21" name="Text 19"/>
          <p:cNvSpPr/>
          <p:nvPr/>
        </p:nvSpPr>
        <p:spPr>
          <a:xfrm>
            <a:off x="952500" y="4932045"/>
            <a:ext cx="3257851" cy="381000"/>
          </a:xfrm>
          <a:prstGeom prst="rect">
            <a:avLst/>
          </a:prstGeom>
          <a:noFill/>
          <a:ln/>
        </p:spPr>
        <p:txBody>
          <a:bodyPr wrap="square" lIns="25400" tIns="25400" rIns="25400" bIns="25400" rtlCol="0" anchor="ctr">
            <a:normAutofit/>
          </a:bodyPr>
          <a:lstStyle/>
          <a:p>
            <a:pPr algn="l" indent="0" marL="0">
              <a:buNone/>
            </a:pPr>
            <a:r>
              <a:rPr lang="en-US" sz="2025" b="1" dirty="0">
                <a:solidFill>
                  <a:srgbClr val="211C14"/>
                </a:solidFill>
                <a:latin typeface="Courier New" pitchFamily="34" charset="0"/>
                <a:ea typeface="Courier New" pitchFamily="34" charset="-122"/>
                <a:cs typeface="Courier New" pitchFamily="34" charset="-120"/>
              </a:rPr>
              <a:t>TSS4:SYMB</a:t>
            </a:r>
            <a:endParaRPr lang="en-US" sz="2025" dirty="0"/>
          </a:p>
        </p:txBody>
      </p:sp>
      <p:sp>
        <p:nvSpPr>
          <p:cNvPr id="22" name="Text 20"/>
          <p:cNvSpPr/>
          <p:nvPr/>
        </p:nvSpPr>
        <p:spPr>
          <a:xfrm>
            <a:off x="4411385" y="4932045"/>
            <a:ext cx="11118470" cy="381000"/>
          </a:xfrm>
          <a:prstGeom prst="rect">
            <a:avLst/>
          </a:prstGeom>
          <a:noFill/>
          <a:ln/>
        </p:spPr>
        <p:txBody>
          <a:bodyPr wrap="square" lIns="25400" tIns="25400" rIns="25400" bIns="25400" rtlCol="0" anchor="ctr">
            <a:normAutofit/>
          </a:bodyPr>
          <a:lstStyle/>
          <a:p>
            <a:pPr algn="l" indent="0" marL="0">
              <a:buNone/>
            </a:pPr>
            <a:r>
              <a:rPr lang="en-US" sz="2025" dirty="0">
                <a:solidFill>
                  <a:srgbClr val="211C14"/>
                </a:solidFill>
                <a:latin typeface="Arial" pitchFamily="34" charset="0"/>
                <a:ea typeface="Arial" pitchFamily="34" charset="-122"/>
                <a:cs typeface="Arial" pitchFamily="34" charset="-120"/>
              </a:rPr>
              <a:t>Utility overlays — DUMP, RECV and friends</a:t>
            </a:r>
            <a:endParaRPr lang="en-US" sz="2025" dirty="0"/>
          </a:p>
        </p:txBody>
      </p:sp>
      <p:sp>
        <p:nvSpPr>
          <p:cNvPr id="23" name="Text 21"/>
          <p:cNvSpPr/>
          <p:nvPr/>
        </p:nvSpPr>
        <p:spPr>
          <a:xfrm>
            <a:off x="15425738" y="4932045"/>
            <a:ext cx="1909763" cy="381000"/>
          </a:xfrm>
          <a:prstGeom prst="rect">
            <a:avLst/>
          </a:prstGeom>
          <a:noFill/>
          <a:ln/>
        </p:spPr>
        <p:txBody>
          <a:bodyPr wrap="square" lIns="25400" tIns="25400" rIns="25400" bIns="25400" rtlCol="0" anchor="ctr">
            <a:normAutofit/>
          </a:bodyPr>
          <a:lstStyle/>
          <a:p>
            <a:pPr algn="r" indent="0" marL="0">
              <a:buNone/>
            </a:pPr>
            <a:r>
              <a:rPr lang="en-US" sz="2025" dirty="0">
                <a:solidFill>
                  <a:srgbClr val="211C14"/>
                </a:solidFill>
                <a:latin typeface="Courier New" pitchFamily="34" charset="0"/>
                <a:ea typeface="Courier New" pitchFamily="34" charset="-122"/>
                <a:cs typeface="Courier New" pitchFamily="34" charset="-120"/>
              </a:rPr>
              <a:t>2,040</a:t>
            </a:r>
            <a:endParaRPr lang="en-US" sz="2025" dirty="0"/>
          </a:p>
        </p:txBody>
      </p:sp>
      <p:sp>
        <p:nvSpPr>
          <p:cNvPr id="24" name="Shape 22"/>
          <p:cNvSpPr/>
          <p:nvPr/>
        </p:nvSpPr>
        <p:spPr>
          <a:xfrm>
            <a:off x="952500" y="5408295"/>
            <a:ext cx="16383000" cy="9525"/>
          </a:xfrm>
          <a:prstGeom prst="rect">
            <a:avLst/>
          </a:prstGeom>
          <a:solidFill>
            <a:srgbClr val="CEC4AD"/>
          </a:solidFill>
          <a:ln/>
        </p:spPr>
      </p:sp>
      <p:sp>
        <p:nvSpPr>
          <p:cNvPr id="25" name="Text 23"/>
          <p:cNvSpPr/>
          <p:nvPr/>
        </p:nvSpPr>
        <p:spPr>
          <a:xfrm>
            <a:off x="952500" y="5541645"/>
            <a:ext cx="3257851" cy="381000"/>
          </a:xfrm>
          <a:prstGeom prst="rect">
            <a:avLst/>
          </a:prstGeom>
          <a:noFill/>
          <a:ln/>
        </p:spPr>
        <p:txBody>
          <a:bodyPr wrap="square" lIns="25400" tIns="25400" rIns="25400" bIns="25400" rtlCol="0" anchor="ctr">
            <a:normAutofit/>
          </a:bodyPr>
          <a:lstStyle/>
          <a:p>
            <a:pPr algn="l" indent="0" marL="0">
              <a:buNone/>
            </a:pPr>
            <a:r>
              <a:rPr lang="en-US" sz="2025" b="1" dirty="0">
                <a:solidFill>
                  <a:srgbClr val="211C14"/>
                </a:solidFill>
                <a:latin typeface="Courier New" pitchFamily="34" charset="0"/>
                <a:ea typeface="Courier New" pitchFamily="34" charset="-122"/>
                <a:cs typeface="Courier New" pitchFamily="34" charset="-120"/>
              </a:rPr>
              <a:t>TSS5:SYMB</a:t>
            </a:r>
            <a:endParaRPr lang="en-US" sz="2025" dirty="0"/>
          </a:p>
        </p:txBody>
      </p:sp>
      <p:sp>
        <p:nvSpPr>
          <p:cNvPr id="26" name="Text 24"/>
          <p:cNvSpPr/>
          <p:nvPr/>
        </p:nvSpPr>
        <p:spPr>
          <a:xfrm>
            <a:off x="4411385" y="5541645"/>
            <a:ext cx="11118470" cy="381000"/>
          </a:xfrm>
          <a:prstGeom prst="rect">
            <a:avLst/>
          </a:prstGeom>
          <a:noFill/>
          <a:ln/>
        </p:spPr>
        <p:txBody>
          <a:bodyPr wrap="square" lIns="25400" tIns="25400" rIns="25400" bIns="25400" rtlCol="0" anchor="ctr">
            <a:normAutofit/>
          </a:bodyPr>
          <a:lstStyle/>
          <a:p>
            <a:pPr algn="l" indent="0" marL="0">
              <a:buNone/>
            </a:pPr>
            <a:r>
              <a:rPr lang="en-US" sz="2025" dirty="0">
                <a:solidFill>
                  <a:srgbClr val="211C14"/>
                </a:solidFill>
                <a:latin typeface="Arial" pitchFamily="34" charset="0"/>
                <a:ea typeface="Arial" pitchFamily="34" charset="-122"/>
                <a:cs typeface="Arial" pitchFamily="34" charset="-120"/>
              </a:rPr>
              <a:t>User-management overlays — create / delete user, accounts</a:t>
            </a:r>
            <a:endParaRPr lang="en-US" sz="2025" dirty="0"/>
          </a:p>
        </p:txBody>
      </p:sp>
      <p:sp>
        <p:nvSpPr>
          <p:cNvPr id="27" name="Text 25"/>
          <p:cNvSpPr/>
          <p:nvPr/>
        </p:nvSpPr>
        <p:spPr>
          <a:xfrm>
            <a:off x="15425738" y="5541645"/>
            <a:ext cx="1909763" cy="381000"/>
          </a:xfrm>
          <a:prstGeom prst="rect">
            <a:avLst/>
          </a:prstGeom>
          <a:noFill/>
          <a:ln/>
        </p:spPr>
        <p:txBody>
          <a:bodyPr wrap="square" lIns="25400" tIns="25400" rIns="25400" bIns="25400" rtlCol="0" anchor="ctr">
            <a:normAutofit/>
          </a:bodyPr>
          <a:lstStyle/>
          <a:p>
            <a:pPr algn="r" indent="0" marL="0">
              <a:buNone/>
            </a:pPr>
            <a:r>
              <a:rPr lang="en-US" sz="2025" dirty="0">
                <a:solidFill>
                  <a:srgbClr val="211C14"/>
                </a:solidFill>
                <a:latin typeface="Courier New" pitchFamily="34" charset="0"/>
                <a:ea typeface="Courier New" pitchFamily="34" charset="-122"/>
                <a:cs typeface="Courier New" pitchFamily="34" charset="-120"/>
              </a:rPr>
              <a:t>1,995</a:t>
            </a:r>
            <a:endParaRPr lang="en-US" sz="2025" dirty="0"/>
          </a:p>
        </p:txBody>
      </p:sp>
      <p:sp>
        <p:nvSpPr>
          <p:cNvPr id="28" name="Shape 26"/>
          <p:cNvSpPr/>
          <p:nvPr/>
        </p:nvSpPr>
        <p:spPr>
          <a:xfrm>
            <a:off x="952500" y="6017895"/>
            <a:ext cx="16383000" cy="9525"/>
          </a:xfrm>
          <a:prstGeom prst="rect">
            <a:avLst/>
          </a:prstGeom>
          <a:solidFill>
            <a:srgbClr val="CEC4AD"/>
          </a:solidFill>
          <a:ln/>
        </p:spPr>
      </p:sp>
      <p:sp>
        <p:nvSpPr>
          <p:cNvPr id="29" name="Text 27"/>
          <p:cNvSpPr/>
          <p:nvPr/>
        </p:nvSpPr>
        <p:spPr>
          <a:xfrm>
            <a:off x="952500" y="6151245"/>
            <a:ext cx="3257851" cy="381000"/>
          </a:xfrm>
          <a:prstGeom prst="rect">
            <a:avLst/>
          </a:prstGeom>
          <a:noFill/>
          <a:ln/>
        </p:spPr>
        <p:txBody>
          <a:bodyPr wrap="square" lIns="25400" tIns="25400" rIns="25400" bIns="25400" rtlCol="0" anchor="ctr">
            <a:normAutofit/>
          </a:bodyPr>
          <a:lstStyle/>
          <a:p>
            <a:pPr algn="l" indent="0" marL="0">
              <a:buNone/>
            </a:pPr>
            <a:r>
              <a:rPr lang="en-US" sz="2025" b="1" dirty="0">
                <a:solidFill>
                  <a:srgbClr val="211C14"/>
                </a:solidFill>
                <a:latin typeface="Courier New" pitchFamily="34" charset="0"/>
                <a:ea typeface="Courier New" pitchFamily="34" charset="-122"/>
                <a:cs typeface="Courier New" pitchFamily="34" charset="-120"/>
              </a:rPr>
              <a:t>ASSYSA / ASSYSB</a:t>
            </a:r>
            <a:endParaRPr lang="en-US" sz="2025" dirty="0"/>
          </a:p>
        </p:txBody>
      </p:sp>
      <p:sp>
        <p:nvSpPr>
          <p:cNvPr id="30" name="Text 28"/>
          <p:cNvSpPr/>
          <p:nvPr/>
        </p:nvSpPr>
        <p:spPr>
          <a:xfrm>
            <a:off x="4411385" y="6151245"/>
            <a:ext cx="11118470" cy="381000"/>
          </a:xfrm>
          <a:prstGeom prst="rect">
            <a:avLst/>
          </a:prstGeom>
          <a:noFill/>
          <a:ln/>
        </p:spPr>
        <p:txBody>
          <a:bodyPr wrap="square" lIns="25400" tIns="25400" rIns="25400" bIns="25400" rtlCol="0" anchor="ctr">
            <a:normAutofit/>
          </a:bodyPr>
          <a:lstStyle/>
          <a:p>
            <a:pPr algn="l" indent="0" marL="0">
              <a:buNone/>
            </a:pPr>
            <a:r>
              <a:rPr lang="en-US" sz="2025" dirty="0">
                <a:solidFill>
                  <a:srgbClr val="211C14"/>
                </a:solidFill>
                <a:latin typeface="Arial" pitchFamily="34" charset="0"/>
                <a:ea typeface="Arial" pitchFamily="34" charset="-122"/>
                <a:cs typeface="Arial" pitchFamily="34" charset="-120"/>
              </a:rPr>
              <a:t>MAC build scripts — version A, and version B with DEBUG mark</a:t>
            </a:r>
            <a:endParaRPr lang="en-US" sz="2025" dirty="0"/>
          </a:p>
        </p:txBody>
      </p:sp>
      <p:sp>
        <p:nvSpPr>
          <p:cNvPr id="31" name="Text 29"/>
          <p:cNvSpPr/>
          <p:nvPr/>
        </p:nvSpPr>
        <p:spPr>
          <a:xfrm>
            <a:off x="15425738" y="6151245"/>
            <a:ext cx="1909763" cy="381000"/>
          </a:xfrm>
          <a:prstGeom prst="rect">
            <a:avLst/>
          </a:prstGeom>
          <a:noFill/>
          <a:ln/>
        </p:spPr>
        <p:txBody>
          <a:bodyPr wrap="square" lIns="25400" tIns="25400" rIns="25400" bIns="25400" rtlCol="0" anchor="ctr">
            <a:normAutofit/>
          </a:bodyPr>
          <a:lstStyle/>
          <a:p>
            <a:pPr algn="r" indent="0" marL="0">
              <a:buNone/>
            </a:pPr>
            <a:r>
              <a:rPr lang="en-US" sz="2025" dirty="0">
                <a:solidFill>
                  <a:srgbClr val="211C14"/>
                </a:solidFill>
                <a:latin typeface="Courier New" pitchFamily="34" charset="0"/>
                <a:ea typeface="Courier New" pitchFamily="34" charset="-122"/>
                <a:cs typeface="Courier New" pitchFamily="34" charset="-120"/>
              </a:rPr>
              <a:t>25 ea.</a:t>
            </a:r>
            <a:endParaRPr lang="en-US" sz="2025" dirty="0"/>
          </a:p>
        </p:txBody>
      </p:sp>
      <p:sp>
        <p:nvSpPr>
          <p:cNvPr id="32" name="Shape 30"/>
          <p:cNvSpPr/>
          <p:nvPr/>
        </p:nvSpPr>
        <p:spPr>
          <a:xfrm>
            <a:off x="952500" y="7221855"/>
            <a:ext cx="16383000" cy="22860"/>
          </a:xfrm>
          <a:prstGeom prst="rect">
            <a:avLst/>
          </a:prstGeom>
          <a:solidFill>
            <a:srgbClr val="211C14"/>
          </a:solidFill>
          <a:ln/>
        </p:spPr>
      </p:sp>
      <p:sp>
        <p:nvSpPr>
          <p:cNvPr id="33" name="Shape 31"/>
          <p:cNvSpPr/>
          <p:nvPr/>
        </p:nvSpPr>
        <p:spPr>
          <a:xfrm>
            <a:off x="952500" y="6627495"/>
            <a:ext cx="16383000" cy="9525"/>
          </a:xfrm>
          <a:prstGeom prst="rect">
            <a:avLst/>
          </a:prstGeom>
          <a:solidFill>
            <a:srgbClr val="CEC4AD"/>
          </a:solidFill>
          <a:ln/>
        </p:spPr>
      </p:sp>
      <p:sp>
        <p:nvSpPr>
          <p:cNvPr id="34" name="Text 32"/>
          <p:cNvSpPr/>
          <p:nvPr/>
        </p:nvSpPr>
        <p:spPr>
          <a:xfrm>
            <a:off x="952500" y="6760845"/>
            <a:ext cx="3257851" cy="388620"/>
          </a:xfrm>
          <a:prstGeom prst="rect">
            <a:avLst/>
          </a:prstGeom>
          <a:noFill/>
          <a:ln/>
        </p:spPr>
        <p:txBody>
          <a:bodyPr wrap="square" lIns="25400" tIns="25400" rIns="25400" bIns="25400" rtlCol="0" anchor="ctr">
            <a:normAutofit/>
          </a:bodyPr>
          <a:lstStyle/>
          <a:p>
            <a:pPr algn="l" indent="0" marL="0">
              <a:buNone/>
            </a:pPr>
            <a:r>
              <a:rPr lang="en-US" sz="2025" b="1" dirty="0">
                <a:solidFill>
                  <a:srgbClr val="211C14"/>
                </a:solidFill>
                <a:latin typeface="Courier New" pitchFamily="34" charset="0"/>
                <a:ea typeface="Courier New" pitchFamily="34" charset="-122"/>
                <a:cs typeface="Courier New" pitchFamily="34" charset="-120"/>
              </a:rPr>
              <a:t>MINIT / TDUMP</a:t>
            </a:r>
            <a:endParaRPr lang="en-US" sz="2025" dirty="0"/>
          </a:p>
        </p:txBody>
      </p:sp>
      <p:sp>
        <p:nvSpPr>
          <p:cNvPr id="35" name="Text 33"/>
          <p:cNvSpPr/>
          <p:nvPr/>
        </p:nvSpPr>
        <p:spPr>
          <a:xfrm>
            <a:off x="4411385" y="6760845"/>
            <a:ext cx="11118470" cy="388620"/>
          </a:xfrm>
          <a:prstGeom prst="rect">
            <a:avLst/>
          </a:prstGeom>
          <a:noFill/>
          <a:ln/>
        </p:spPr>
        <p:txBody>
          <a:bodyPr wrap="square" lIns="25400" tIns="25400" rIns="25400" bIns="25400" rtlCol="0" anchor="ctr">
            <a:normAutofit/>
          </a:bodyPr>
          <a:lstStyle/>
          <a:p>
            <a:pPr algn="l" indent="0" marL="0">
              <a:buNone/>
            </a:pPr>
            <a:r>
              <a:rPr lang="en-US" sz="2025" dirty="0">
                <a:solidFill>
                  <a:srgbClr val="211C14"/>
                </a:solidFill>
                <a:latin typeface="Arial" pitchFamily="34" charset="0"/>
                <a:ea typeface="Arial" pitchFamily="34" charset="-122"/>
                <a:cs typeface="Arial" pitchFamily="34" charset="-120"/>
              </a:rPr>
              <a:t>Standalone mass-storage initializer and TSS dumper</a:t>
            </a:r>
            <a:endParaRPr lang="en-US" sz="2025" dirty="0"/>
          </a:p>
        </p:txBody>
      </p:sp>
      <p:sp>
        <p:nvSpPr>
          <p:cNvPr id="36" name="Text 34"/>
          <p:cNvSpPr/>
          <p:nvPr/>
        </p:nvSpPr>
        <p:spPr>
          <a:xfrm>
            <a:off x="15425738" y="6760845"/>
            <a:ext cx="1909763" cy="388620"/>
          </a:xfrm>
          <a:prstGeom prst="rect">
            <a:avLst/>
          </a:prstGeom>
          <a:noFill/>
          <a:ln/>
        </p:spPr>
        <p:txBody>
          <a:bodyPr wrap="square" lIns="25400" tIns="25400" rIns="25400" bIns="25400" rtlCol="0" anchor="ctr">
            <a:normAutofit/>
          </a:bodyPr>
          <a:lstStyle/>
          <a:p>
            <a:pPr algn="r" indent="0" marL="0">
              <a:buNone/>
            </a:pPr>
            <a:r>
              <a:rPr lang="en-US" sz="2025" dirty="0">
                <a:solidFill>
                  <a:srgbClr val="211C14"/>
                </a:solidFill>
                <a:latin typeface="Courier New" pitchFamily="34" charset="0"/>
                <a:ea typeface="Courier New" pitchFamily="34" charset="-122"/>
                <a:cs typeface="Courier New" pitchFamily="34" charset="-120"/>
              </a:rPr>
              <a:t>810 / 383</a:t>
            </a:r>
            <a:endParaRPr lang="en-US" sz="2025" dirty="0"/>
          </a:p>
        </p:txBody>
      </p:sp>
      <p:sp>
        <p:nvSpPr>
          <p:cNvPr id="37" name="Text 35"/>
          <p:cNvSpPr/>
          <p:nvPr/>
        </p:nvSpPr>
        <p:spPr>
          <a:xfrm>
            <a:off x="952500" y="7599045"/>
            <a:ext cx="16874490" cy="788670"/>
          </a:xfrm>
          <a:prstGeom prst="rect">
            <a:avLst/>
          </a:prstGeom>
          <a:noFill/>
          <a:ln/>
        </p:spPr>
        <p:txBody>
          <a:bodyPr wrap="square" lIns="25400" tIns="25400" rIns="25400" bIns="25400" rtlCol="0" anchor="t">
            <a:normAutofit/>
          </a:bodyPr>
          <a:lstStyle/>
          <a:p>
            <a:pPr algn="l" indent="0" marL="0">
              <a:lnSpc>
                <a:spcPct val="131757"/>
              </a:lnSpc>
              <a:buNone/>
            </a:pPr>
            <a:r>
              <a:rPr lang="en-US" sz="1950" dirty="0">
                <a:solidFill>
                  <a:srgbClr val="6B6252"/>
                </a:solidFill>
                <a:latin typeface="Arial" pitchFamily="34" charset="0"/>
                <a:ea typeface="Arial" pitchFamily="34" charset="-122"/>
                <a:cs typeface="Arial" pitchFamily="34" charset="-120"/>
              </a:rPr>
              <a:t>The archive also holds the build </a:t>
            </a:r>
            <a:pPr algn="l" indent="0" marL="0">
              <a:lnSpc>
                <a:spcPct val="131757"/>
              </a:lnSpc>
              <a:buNone/>
            </a:pPr>
            <a:r>
              <a:rPr lang="en-US" sz="1950" i="1" dirty="0">
                <a:solidFill>
                  <a:srgbClr val="6B6252"/>
                </a:solidFill>
                <a:latin typeface="Arial" pitchFamily="34" charset="0"/>
                <a:ea typeface="Arial" pitchFamily="34" charset="-122"/>
                <a:cs typeface="Arial" pitchFamily="34" charset="-120"/>
              </a:rPr>
              <a:t>outputs </a:t>
            </a:r>
            <a:pPr algn="l" indent="0" marL="0">
              <a:lnSpc>
                <a:spcPct val="131757"/>
              </a:lnSpc>
              <a:buNone/>
            </a:pPr>
            <a:r>
              <a:rPr lang="en-US" sz="1950" dirty="0">
                <a:solidFill>
                  <a:srgbClr val="6B6252"/>
                </a:solidFill>
                <a:latin typeface="Arial" pitchFamily="34" charset="0"/>
                <a:ea typeface="Arial" pitchFamily="34" charset="-122"/>
                <a:cs typeface="Arial" pitchFamily="34" charset="-120"/>
              </a:rPr>
              <a:t>: LIST1–LIST5 listing streams, plus ASYMB / BSYMB — complete symbol-table dumps that serve as a golden oracle for any re-assembly.</a:t>
            </a:r>
            <a:endParaRPr lang="en-US" sz="1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EDE1"/>
        </a:solidFill>
      </p:bgPr>
    </p:bg>
    <p:spTree>
      <p:nvGrpSpPr>
        <p:cNvPr id="1" name=""/>
        <p:cNvGrpSpPr/>
        <p:nvPr/>
      </p:nvGrpSpPr>
      <p:grpSpPr>
        <a:xfrm>
          <a:off x="0" y="0"/>
          <a:ext cx="0" cy="0"/>
          <a:chOff x="0" y="0"/>
          <a:chExt cx="0" cy="0"/>
        </a:xfrm>
      </p:grpSpPr>
      <p:sp>
        <p:nvSpPr>
          <p:cNvPr id="2" name="Text 0"/>
          <p:cNvSpPr/>
          <p:nvPr/>
        </p:nvSpPr>
        <p:spPr>
          <a:xfrm>
            <a:off x="952500" y="857250"/>
            <a:ext cx="18021300" cy="33528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C8501E"/>
                </a:solidFill>
                <a:latin typeface="Courier New" pitchFamily="34" charset="0"/>
                <a:ea typeface="Courier New" pitchFamily="34" charset="-122"/>
                <a:cs typeface="Courier New" pitchFamily="34" charset="-120"/>
              </a:rPr>
              <a:t>INTRODUCTION</a:t>
            </a:r>
            <a:endParaRPr lang="en-US" sz="1800" dirty="0"/>
          </a:p>
        </p:txBody>
      </p:sp>
      <p:sp>
        <p:nvSpPr>
          <p:cNvPr id="3" name="Text 1"/>
          <p:cNvSpPr/>
          <p:nvPr/>
        </p:nvSpPr>
        <p:spPr>
          <a:xfrm>
            <a:off x="952500" y="1306830"/>
            <a:ext cx="18021300" cy="666750"/>
          </a:xfrm>
          <a:prstGeom prst="rect">
            <a:avLst/>
          </a:prstGeom>
          <a:noFill/>
          <a:ln/>
        </p:spPr>
        <p:txBody>
          <a:bodyPr wrap="square" lIns="25400" tIns="25400" rIns="25400" bIns="25400" rtlCol="0" anchor="t">
            <a:normAutofit/>
          </a:bodyPr>
          <a:lstStyle/>
          <a:p>
            <a:pPr algn="l" indent="0" marL="0">
              <a:lnSpc>
                <a:spcPct val="97059"/>
              </a:lnSpc>
              <a:buNone/>
            </a:pPr>
            <a:r>
              <a:rPr lang="en-US" sz="4500" b="1" dirty="0">
                <a:solidFill>
                  <a:srgbClr val="211C14"/>
                </a:solidFill>
                <a:latin typeface="Courier New" pitchFamily="34" charset="0"/>
                <a:ea typeface="Courier New" pitchFamily="34" charset="-122"/>
                <a:cs typeface="Courier New" pitchFamily="34" charset="-120"/>
              </a:rPr>
              <a:t>The Big Picture</a:t>
            </a:r>
            <a:endParaRPr lang="en-US" sz="4500" dirty="0"/>
          </a:p>
        </p:txBody>
      </p:sp>
      <p:sp>
        <p:nvSpPr>
          <p:cNvPr id="4" name="Shape 2"/>
          <p:cNvSpPr/>
          <p:nvPr/>
        </p:nvSpPr>
        <p:spPr>
          <a:xfrm>
            <a:off x="952500" y="2087880"/>
            <a:ext cx="16383000" cy="28575"/>
          </a:xfrm>
          <a:prstGeom prst="rect">
            <a:avLst/>
          </a:prstGeom>
          <a:solidFill>
            <a:srgbClr val="211C14"/>
          </a:solidFill>
          <a:ln/>
        </p:spPr>
      </p:sp>
      <p:sp>
        <p:nvSpPr>
          <p:cNvPr id="5" name="Text 3"/>
          <p:cNvSpPr/>
          <p:nvPr/>
        </p:nvSpPr>
        <p:spPr>
          <a:xfrm>
            <a:off x="952500" y="2611755"/>
            <a:ext cx="2943225" cy="838200"/>
          </a:xfrm>
          <a:prstGeom prst="rect">
            <a:avLst/>
          </a:prstGeom>
          <a:noFill/>
          <a:ln/>
        </p:spPr>
        <p:txBody>
          <a:bodyPr wrap="square" lIns="25400" tIns="25400" rIns="25400" bIns="25400" rtlCol="0" anchor="ctr">
            <a:normAutofit/>
          </a:bodyPr>
          <a:lstStyle/>
          <a:p>
            <a:pPr algn="l" indent="0" marL="0">
              <a:buNone/>
            </a:pPr>
            <a:r>
              <a:rPr lang="en-US" sz="1800" spc="180" kern="0" dirty="0">
                <a:solidFill>
                  <a:srgbClr val="6B6252"/>
                </a:solidFill>
                <a:latin typeface="Courier New" pitchFamily="34" charset="0"/>
                <a:ea typeface="Courier New" pitchFamily="34" charset="-122"/>
                <a:cs typeface="Courier New" pitchFamily="34" charset="-120"/>
              </a:rPr>
              <a:t>USERS</a:t>
            </a:r>
            <a:endParaRPr lang="en-US" sz="1800" dirty="0"/>
          </a:p>
        </p:txBody>
      </p:sp>
      <p:sp>
        <p:nvSpPr>
          <p:cNvPr id="6" name="Shape 4"/>
          <p:cNvSpPr/>
          <p:nvPr/>
        </p:nvSpPr>
        <p:spPr>
          <a:xfrm>
            <a:off x="3981450" y="2611755"/>
            <a:ext cx="13354050" cy="800100"/>
          </a:xfrm>
          <a:prstGeom prst="rect">
            <a:avLst/>
          </a:prstGeom>
          <a:solidFill>
            <a:srgbClr val="E9E2CF"/>
          </a:solidFill>
          <a:ln w="15240">
            <a:solidFill>
              <a:srgbClr val="211C14"/>
            </a:solidFill>
            <a:prstDash val="solid"/>
          </a:ln>
        </p:spPr>
      </p:sp>
      <p:sp>
        <p:nvSpPr>
          <p:cNvPr id="7" name="Text 5"/>
          <p:cNvSpPr/>
          <p:nvPr/>
        </p:nvSpPr>
        <p:spPr>
          <a:xfrm>
            <a:off x="4320540" y="2859405"/>
            <a:ext cx="3168920"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211C14"/>
                </a:solidFill>
                <a:latin typeface="Courier New" pitchFamily="34" charset="0"/>
                <a:ea typeface="Courier New" pitchFamily="34" charset="-122"/>
                <a:cs typeface="Courier New" pitchFamily="34" charset="-120"/>
              </a:rPr>
              <a:t>Up to 24 teletypes</a:t>
            </a:r>
            <a:endParaRPr lang="en-US" sz="2100" dirty="0"/>
          </a:p>
        </p:txBody>
      </p:sp>
      <p:sp>
        <p:nvSpPr>
          <p:cNvPr id="8" name="Text 6"/>
          <p:cNvSpPr/>
          <p:nvPr/>
        </p:nvSpPr>
        <p:spPr>
          <a:xfrm>
            <a:off x="7620476" y="2836545"/>
            <a:ext cx="4568190" cy="388620"/>
          </a:xfrm>
          <a:prstGeom prst="rect">
            <a:avLst/>
          </a:prstGeom>
          <a:noFill/>
          <a:ln/>
        </p:spPr>
        <p:txBody>
          <a:bodyPr wrap="square" lIns="25400" tIns="25400" rIns="25400" bIns="25400" rtlCol="0" anchor="t">
            <a:normAutofit/>
          </a:bodyPr>
          <a:lstStyle/>
          <a:p>
            <a:pPr algn="l" indent="0" marL="0">
              <a:buNone/>
            </a:pPr>
            <a:r>
              <a:rPr lang="en-US" sz="2100" dirty="0">
                <a:solidFill>
                  <a:srgbClr val="6B6252"/>
                </a:solidFill>
                <a:latin typeface="Arial" pitchFamily="34" charset="0"/>
                <a:ea typeface="Arial" pitchFamily="34" charset="-122"/>
                <a:cs typeface="Arial" pitchFamily="34" charset="-120"/>
              </a:rPr>
              <a:t>one logged-on user → one process</a:t>
            </a:r>
            <a:endParaRPr lang="en-US" sz="2100" dirty="0"/>
          </a:p>
        </p:txBody>
      </p:sp>
      <p:sp>
        <p:nvSpPr>
          <p:cNvPr id="9" name="Text 7"/>
          <p:cNvSpPr/>
          <p:nvPr/>
        </p:nvSpPr>
        <p:spPr>
          <a:xfrm>
            <a:off x="952500" y="3583305"/>
            <a:ext cx="2943225" cy="838200"/>
          </a:xfrm>
          <a:prstGeom prst="rect">
            <a:avLst/>
          </a:prstGeom>
          <a:noFill/>
          <a:ln/>
        </p:spPr>
        <p:txBody>
          <a:bodyPr wrap="square" lIns="25400" tIns="25400" rIns="25400" bIns="25400" rtlCol="0" anchor="ctr">
            <a:normAutofit/>
          </a:bodyPr>
          <a:lstStyle/>
          <a:p>
            <a:pPr algn="l" indent="0" marL="0">
              <a:buNone/>
            </a:pPr>
            <a:r>
              <a:rPr lang="en-US" sz="1800" spc="180" kern="0" dirty="0">
                <a:solidFill>
                  <a:srgbClr val="6B6252"/>
                </a:solidFill>
                <a:latin typeface="Courier New" pitchFamily="34" charset="0"/>
                <a:ea typeface="Courier New" pitchFamily="34" charset="-122"/>
                <a:cs typeface="Courier New" pitchFamily="34" charset="-120"/>
              </a:rPr>
              <a:t>USER SPACE · S02</a:t>
            </a:r>
            <a:endParaRPr lang="en-US" sz="1800" dirty="0"/>
          </a:p>
        </p:txBody>
      </p:sp>
      <p:sp>
        <p:nvSpPr>
          <p:cNvPr id="10" name="Shape 8"/>
          <p:cNvSpPr/>
          <p:nvPr/>
        </p:nvSpPr>
        <p:spPr>
          <a:xfrm>
            <a:off x="3981450" y="3583305"/>
            <a:ext cx="13354050" cy="800100"/>
          </a:xfrm>
          <a:prstGeom prst="rect">
            <a:avLst/>
          </a:prstGeom>
          <a:solidFill>
            <a:srgbClr val="E9E2CF"/>
          </a:solidFill>
          <a:ln w="15240">
            <a:solidFill>
              <a:srgbClr val="211C14"/>
            </a:solidFill>
            <a:prstDash val="solid"/>
          </a:ln>
        </p:spPr>
      </p:sp>
      <p:sp>
        <p:nvSpPr>
          <p:cNvPr id="11" name="Text 9"/>
          <p:cNvSpPr/>
          <p:nvPr/>
        </p:nvSpPr>
        <p:spPr>
          <a:xfrm>
            <a:off x="4320540" y="3819525"/>
            <a:ext cx="3682318" cy="365760"/>
          </a:xfrm>
          <a:prstGeom prst="rect">
            <a:avLst/>
          </a:prstGeom>
          <a:noFill/>
          <a:ln/>
        </p:spPr>
        <p:txBody>
          <a:bodyPr wrap="square" lIns="25400" tIns="25400" rIns="25400" bIns="25400" rtlCol="0" anchor="t">
            <a:normAutofit/>
          </a:bodyPr>
          <a:lstStyle/>
          <a:p>
            <a:pPr algn="l" indent="0" marL="0">
              <a:buNone/>
            </a:pPr>
            <a:r>
              <a:rPr lang="en-US" sz="2100" b="1" dirty="0">
                <a:solidFill>
                  <a:srgbClr val="211C14"/>
                </a:solidFill>
                <a:latin typeface="Courier New" pitchFamily="34" charset="0"/>
                <a:ea typeface="Courier New" pitchFamily="34" charset="-122"/>
                <a:cs typeface="Courier New" pitchFamily="34" charset="-120"/>
              </a:rPr>
              <a:t>8 × 2K pages @ 40000₈</a:t>
            </a:r>
            <a:endParaRPr lang="en-US" sz="2100" dirty="0"/>
          </a:p>
        </p:txBody>
      </p:sp>
      <p:sp>
        <p:nvSpPr>
          <p:cNvPr id="12" name="Text 10"/>
          <p:cNvSpPr/>
          <p:nvPr/>
        </p:nvSpPr>
        <p:spPr>
          <a:xfrm>
            <a:off x="8087201" y="3808095"/>
            <a:ext cx="8530650" cy="388620"/>
          </a:xfrm>
          <a:prstGeom prst="rect">
            <a:avLst/>
          </a:prstGeom>
          <a:noFill/>
          <a:ln/>
        </p:spPr>
        <p:txBody>
          <a:bodyPr wrap="square" lIns="25400" tIns="25400" rIns="25400" bIns="25400" rtlCol="0" anchor="t">
            <a:normAutofit/>
          </a:bodyPr>
          <a:lstStyle/>
          <a:p>
            <a:pPr algn="l" indent="0" marL="0">
              <a:buNone/>
            </a:pPr>
            <a:r>
              <a:rPr lang="en-US" sz="2100" dirty="0">
                <a:solidFill>
                  <a:srgbClr val="6B6252"/>
                </a:solidFill>
                <a:latin typeface="Arial" pitchFamily="34" charset="0"/>
                <a:ea typeface="Arial" pitchFamily="34" charset="-122"/>
                <a:cs typeface="Arial" pitchFamily="34" charset="-120"/>
              </a:rPr>
              <a:t>command processor · utility overlays · user programs — swapped</a:t>
            </a:r>
            <a:endParaRPr lang="en-US" sz="2100" dirty="0"/>
          </a:p>
        </p:txBody>
      </p:sp>
      <p:sp>
        <p:nvSpPr>
          <p:cNvPr id="13" name="Text 11"/>
          <p:cNvSpPr/>
          <p:nvPr/>
        </p:nvSpPr>
        <p:spPr>
          <a:xfrm>
            <a:off x="952500" y="4554855"/>
            <a:ext cx="2943225" cy="838200"/>
          </a:xfrm>
          <a:prstGeom prst="rect">
            <a:avLst/>
          </a:prstGeom>
          <a:noFill/>
          <a:ln/>
        </p:spPr>
        <p:txBody>
          <a:bodyPr wrap="square" lIns="25400" tIns="25400" rIns="25400" bIns="25400" rtlCol="0" anchor="ctr">
            <a:normAutofit/>
          </a:bodyPr>
          <a:lstStyle/>
          <a:p>
            <a:pPr algn="l" indent="0" marL="0">
              <a:buNone/>
            </a:pPr>
            <a:r>
              <a:rPr lang="en-US" sz="1800" spc="180" kern="0" dirty="0">
                <a:solidFill>
                  <a:srgbClr val="6B6252"/>
                </a:solidFill>
                <a:latin typeface="Courier New" pitchFamily="34" charset="0"/>
                <a:ea typeface="Courier New" pitchFamily="34" charset="-122"/>
                <a:cs typeface="Courier New" pitchFamily="34" charset="-120"/>
              </a:rPr>
              <a:t>KERNEL · S01</a:t>
            </a:r>
            <a:endParaRPr lang="en-US" sz="1800" dirty="0"/>
          </a:p>
        </p:txBody>
      </p:sp>
      <p:sp>
        <p:nvSpPr>
          <p:cNvPr id="14" name="Shape 12"/>
          <p:cNvSpPr/>
          <p:nvPr/>
        </p:nvSpPr>
        <p:spPr>
          <a:xfrm>
            <a:off x="3981450" y="4554855"/>
            <a:ext cx="13354050" cy="800100"/>
          </a:xfrm>
          <a:prstGeom prst="rect">
            <a:avLst/>
          </a:prstGeom>
          <a:solidFill>
            <a:srgbClr val="E9E2CF"/>
          </a:solidFill>
          <a:ln w="15240">
            <a:solidFill>
              <a:srgbClr val="211C14"/>
            </a:solidFill>
            <a:prstDash val="solid"/>
          </a:ln>
        </p:spPr>
      </p:sp>
      <p:sp>
        <p:nvSpPr>
          <p:cNvPr id="15" name="Text 13"/>
          <p:cNvSpPr/>
          <p:nvPr/>
        </p:nvSpPr>
        <p:spPr>
          <a:xfrm>
            <a:off x="4320540" y="4802505"/>
            <a:ext cx="2112657"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211C14"/>
                </a:solidFill>
                <a:latin typeface="Courier New" pitchFamily="34" charset="0"/>
                <a:ea typeface="Courier New" pitchFamily="34" charset="-122"/>
                <a:cs typeface="Courier New" pitchFamily="34" charset="-120"/>
              </a:rPr>
              <a:t>Resident TSS</a:t>
            </a:r>
            <a:endParaRPr lang="en-US" sz="2100" dirty="0"/>
          </a:p>
        </p:txBody>
      </p:sp>
      <p:sp>
        <p:nvSpPr>
          <p:cNvPr id="16" name="Text 14"/>
          <p:cNvSpPr/>
          <p:nvPr/>
        </p:nvSpPr>
        <p:spPr>
          <a:xfrm>
            <a:off x="6660237" y="4779645"/>
            <a:ext cx="8572298" cy="388620"/>
          </a:xfrm>
          <a:prstGeom prst="rect">
            <a:avLst/>
          </a:prstGeom>
          <a:noFill/>
          <a:ln/>
        </p:spPr>
        <p:txBody>
          <a:bodyPr wrap="square" lIns="25400" tIns="25400" rIns="25400" bIns="25400" rtlCol="0" anchor="t">
            <a:normAutofit/>
          </a:bodyPr>
          <a:lstStyle/>
          <a:p>
            <a:pPr algn="l" indent="0" marL="0">
              <a:buNone/>
            </a:pPr>
            <a:r>
              <a:rPr lang="en-US" sz="2100" dirty="0">
                <a:solidFill>
                  <a:srgbClr val="6B6252"/>
                </a:solidFill>
                <a:latin typeface="Arial" pitchFamily="34" charset="0"/>
                <a:ea typeface="Arial" pitchFamily="34" charset="-122"/>
                <a:cs typeface="Arial" pitchFamily="34" charset="-120"/>
              </a:rPr>
              <a:t>scheduler · swapper · monitor calls · buffers · file system · drivers</a:t>
            </a:r>
            <a:endParaRPr lang="en-US" sz="2100" dirty="0"/>
          </a:p>
        </p:txBody>
      </p:sp>
      <p:sp>
        <p:nvSpPr>
          <p:cNvPr id="17" name="Text 15"/>
          <p:cNvSpPr/>
          <p:nvPr/>
        </p:nvSpPr>
        <p:spPr>
          <a:xfrm>
            <a:off x="952500" y="5526405"/>
            <a:ext cx="2943225" cy="838200"/>
          </a:xfrm>
          <a:prstGeom prst="rect">
            <a:avLst/>
          </a:prstGeom>
          <a:noFill/>
          <a:ln/>
        </p:spPr>
        <p:txBody>
          <a:bodyPr wrap="square" lIns="25400" tIns="25400" rIns="25400" bIns="25400" rtlCol="0" anchor="ctr">
            <a:normAutofit/>
          </a:bodyPr>
          <a:lstStyle/>
          <a:p>
            <a:pPr algn="l" indent="0" marL="0">
              <a:buNone/>
            </a:pPr>
            <a:r>
              <a:rPr lang="en-US" sz="1800" spc="180" kern="0" dirty="0">
                <a:solidFill>
                  <a:srgbClr val="6B6252"/>
                </a:solidFill>
                <a:latin typeface="Courier New" pitchFamily="34" charset="0"/>
                <a:ea typeface="Courier New" pitchFamily="34" charset="-122"/>
                <a:cs typeface="Courier New" pitchFamily="34" charset="-120"/>
              </a:rPr>
              <a:t>DEVICES · S03</a:t>
            </a:r>
            <a:endParaRPr lang="en-US" sz="1800" dirty="0"/>
          </a:p>
        </p:txBody>
      </p:sp>
      <p:sp>
        <p:nvSpPr>
          <p:cNvPr id="18" name="Shape 16"/>
          <p:cNvSpPr/>
          <p:nvPr/>
        </p:nvSpPr>
        <p:spPr>
          <a:xfrm>
            <a:off x="3981450" y="5526405"/>
            <a:ext cx="13354050" cy="800100"/>
          </a:xfrm>
          <a:prstGeom prst="rect">
            <a:avLst/>
          </a:prstGeom>
          <a:solidFill>
            <a:srgbClr val="E9E2CF"/>
          </a:solidFill>
          <a:ln w="15240">
            <a:solidFill>
              <a:srgbClr val="211C14"/>
            </a:solidFill>
            <a:prstDash val="solid"/>
          </a:ln>
        </p:spPr>
      </p:sp>
      <p:sp>
        <p:nvSpPr>
          <p:cNvPr id="19" name="Text 17"/>
          <p:cNvSpPr/>
          <p:nvPr/>
        </p:nvSpPr>
        <p:spPr>
          <a:xfrm>
            <a:off x="4320540" y="5774055"/>
            <a:ext cx="6866037"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211C14"/>
                </a:solidFill>
                <a:latin typeface="Courier New" pitchFamily="34" charset="0"/>
                <a:ea typeface="Courier New" pitchFamily="34" charset="-122"/>
                <a:cs typeface="Courier New" pitchFamily="34" charset="-120"/>
              </a:rPr>
              <a:t>TTY · tape · cards · printer · CDC disk</a:t>
            </a:r>
            <a:endParaRPr lang="en-US" sz="2100" dirty="0"/>
          </a:p>
        </p:txBody>
      </p:sp>
      <p:sp>
        <p:nvSpPr>
          <p:cNvPr id="20" name="Text 18"/>
          <p:cNvSpPr/>
          <p:nvPr/>
        </p:nvSpPr>
        <p:spPr>
          <a:xfrm>
            <a:off x="10981491" y="5751195"/>
            <a:ext cx="3810667" cy="388620"/>
          </a:xfrm>
          <a:prstGeom prst="rect">
            <a:avLst/>
          </a:prstGeom>
          <a:noFill/>
          <a:ln/>
        </p:spPr>
        <p:txBody>
          <a:bodyPr wrap="square" lIns="25400" tIns="25400" rIns="25400" bIns="25400" rtlCol="0" anchor="t">
            <a:normAutofit/>
          </a:bodyPr>
          <a:lstStyle/>
          <a:p>
            <a:pPr algn="l" indent="0" marL="0">
              <a:buNone/>
            </a:pPr>
            <a:r>
              <a:rPr lang="en-US" sz="2100" dirty="0">
                <a:solidFill>
                  <a:srgbClr val="6B6252"/>
                </a:solidFill>
                <a:latin typeface="Arial" pitchFamily="34" charset="0"/>
                <a:ea typeface="Arial" pitchFamily="34" charset="-122"/>
                <a:cs typeface="Arial" pitchFamily="34" charset="-120"/>
              </a:rPr>
              <a:t>registers &amp; bits, via IOT / IOX</a:t>
            </a:r>
            <a:endParaRPr lang="en-US" sz="2100" dirty="0"/>
          </a:p>
        </p:txBody>
      </p:sp>
      <p:sp>
        <p:nvSpPr>
          <p:cNvPr id="21" name="Text 19"/>
          <p:cNvSpPr/>
          <p:nvPr/>
        </p:nvSpPr>
        <p:spPr>
          <a:xfrm>
            <a:off x="952500" y="6497955"/>
            <a:ext cx="2943225" cy="838200"/>
          </a:xfrm>
          <a:prstGeom prst="rect">
            <a:avLst/>
          </a:prstGeom>
          <a:noFill/>
          <a:ln/>
        </p:spPr>
        <p:txBody>
          <a:bodyPr wrap="square" lIns="25400" tIns="25400" rIns="25400" bIns="25400" rtlCol="0" anchor="ctr">
            <a:normAutofit/>
          </a:bodyPr>
          <a:lstStyle/>
          <a:p>
            <a:pPr algn="l" indent="0" marL="0">
              <a:buNone/>
            </a:pPr>
            <a:r>
              <a:rPr lang="en-US" sz="1800" spc="180" kern="0" dirty="0">
                <a:solidFill>
                  <a:srgbClr val="C8501E"/>
                </a:solidFill>
                <a:latin typeface="Courier New" pitchFamily="34" charset="0"/>
                <a:ea typeface="Courier New" pitchFamily="34" charset="-122"/>
                <a:cs typeface="Courier New" pitchFamily="34" charset="-120"/>
              </a:rPr>
              <a:t>THE DRUM · S04</a:t>
            </a:r>
            <a:endParaRPr lang="en-US" sz="1800" dirty="0"/>
          </a:p>
        </p:txBody>
      </p:sp>
      <p:sp>
        <p:nvSpPr>
          <p:cNvPr id="22" name="Shape 20"/>
          <p:cNvSpPr/>
          <p:nvPr/>
        </p:nvSpPr>
        <p:spPr>
          <a:xfrm>
            <a:off x="3981450" y="6497955"/>
            <a:ext cx="13354050" cy="800100"/>
          </a:xfrm>
          <a:prstGeom prst="rect">
            <a:avLst/>
          </a:prstGeom>
          <a:solidFill>
            <a:srgbClr val="F7E3D4"/>
          </a:solidFill>
          <a:ln w="15240">
            <a:solidFill>
              <a:srgbClr val="C8501E"/>
            </a:solidFill>
            <a:prstDash val="solid"/>
          </a:ln>
        </p:spPr>
      </p:sp>
      <p:sp>
        <p:nvSpPr>
          <p:cNvPr id="23" name="Text 21"/>
          <p:cNvSpPr/>
          <p:nvPr/>
        </p:nvSpPr>
        <p:spPr>
          <a:xfrm>
            <a:off x="4320540" y="6734175"/>
            <a:ext cx="2802076" cy="365760"/>
          </a:xfrm>
          <a:prstGeom prst="rect">
            <a:avLst/>
          </a:prstGeom>
          <a:noFill/>
          <a:ln/>
        </p:spPr>
        <p:txBody>
          <a:bodyPr wrap="square" lIns="25400" tIns="25400" rIns="25400" bIns="25400" rtlCol="0" anchor="t">
            <a:normAutofit/>
          </a:bodyPr>
          <a:lstStyle/>
          <a:p>
            <a:pPr algn="l" indent="0" marL="0">
              <a:buNone/>
            </a:pPr>
            <a:r>
              <a:rPr lang="en-US" sz="2100" b="1" dirty="0">
                <a:solidFill>
                  <a:srgbClr val="A03E14"/>
                </a:solidFill>
                <a:latin typeface="Courier New" pitchFamily="34" charset="0"/>
                <a:ea typeface="Courier New" pitchFamily="34" charset="-122"/>
                <a:cs typeface="Courier New" pitchFamily="34" charset="-120"/>
              </a:rPr>
              <a:t>XDRUM @ IOX 540₈</a:t>
            </a:r>
            <a:endParaRPr lang="en-US" sz="2100" dirty="0"/>
          </a:p>
        </p:txBody>
      </p:sp>
      <p:sp>
        <p:nvSpPr>
          <p:cNvPr id="24" name="Text 22"/>
          <p:cNvSpPr/>
          <p:nvPr/>
        </p:nvSpPr>
        <p:spPr>
          <a:xfrm>
            <a:off x="7286983" y="6722745"/>
            <a:ext cx="6372416" cy="388620"/>
          </a:xfrm>
          <a:prstGeom prst="rect">
            <a:avLst/>
          </a:prstGeom>
          <a:noFill/>
          <a:ln/>
        </p:spPr>
        <p:txBody>
          <a:bodyPr wrap="square" lIns="25400" tIns="25400" rIns="25400" bIns="25400" rtlCol="0" anchor="t">
            <a:normAutofit/>
          </a:bodyPr>
          <a:lstStyle/>
          <a:p>
            <a:pPr algn="l" indent="0" marL="0">
              <a:buNone/>
            </a:pPr>
            <a:r>
              <a:rPr lang="en-US" sz="2100" dirty="0">
                <a:solidFill>
                  <a:srgbClr val="8A5436"/>
                </a:solidFill>
                <a:latin typeface="Arial" pitchFamily="34" charset="0"/>
                <a:ea typeface="Arial" pitchFamily="34" charset="-122"/>
                <a:cs typeface="Arial" pitchFamily="34" charset="-120"/>
              </a:rPr>
              <a:t>the swap device — full register &amp; bit walkthrough</a:t>
            </a:r>
            <a:endParaRPr lang="en-US" sz="2100" dirty="0"/>
          </a:p>
        </p:txBody>
      </p:sp>
      <p:sp>
        <p:nvSpPr>
          <p:cNvPr id="25" name="Text 23"/>
          <p:cNvSpPr/>
          <p:nvPr/>
        </p:nvSpPr>
        <p:spPr>
          <a:xfrm>
            <a:off x="952500" y="7469505"/>
            <a:ext cx="2943225" cy="838200"/>
          </a:xfrm>
          <a:prstGeom prst="rect">
            <a:avLst/>
          </a:prstGeom>
          <a:noFill/>
          <a:ln/>
        </p:spPr>
        <p:txBody>
          <a:bodyPr wrap="square" lIns="25400" tIns="25400" rIns="25400" bIns="25400" rtlCol="0" anchor="ctr">
            <a:normAutofit/>
          </a:bodyPr>
          <a:lstStyle/>
          <a:p>
            <a:pPr algn="l" indent="0" marL="0">
              <a:buNone/>
            </a:pPr>
            <a:r>
              <a:rPr lang="en-US" sz="1800" spc="180" kern="0" dirty="0">
                <a:solidFill>
                  <a:srgbClr val="6B6252"/>
                </a:solidFill>
                <a:latin typeface="Courier New" pitchFamily="34" charset="0"/>
                <a:ea typeface="Courier New" pitchFamily="34" charset="-122"/>
                <a:cs typeface="Courier New" pitchFamily="34" charset="-120"/>
              </a:rPr>
              <a:t>BUILD &amp; RUN · S05</a:t>
            </a:r>
            <a:endParaRPr lang="en-US" sz="1800" dirty="0"/>
          </a:p>
        </p:txBody>
      </p:sp>
      <p:sp>
        <p:nvSpPr>
          <p:cNvPr id="26" name="Shape 24"/>
          <p:cNvSpPr/>
          <p:nvPr/>
        </p:nvSpPr>
        <p:spPr>
          <a:xfrm>
            <a:off x="3981450" y="7469505"/>
            <a:ext cx="13354050" cy="800100"/>
          </a:xfrm>
          <a:prstGeom prst="rect">
            <a:avLst/>
          </a:prstGeom>
          <a:solidFill>
            <a:srgbClr val="E9E2CF"/>
          </a:solidFill>
          <a:ln w="15240">
            <a:solidFill>
              <a:srgbClr val="211C14"/>
            </a:solidFill>
            <a:prstDash val="solid"/>
          </a:ln>
        </p:spPr>
      </p:sp>
      <p:sp>
        <p:nvSpPr>
          <p:cNvPr id="27" name="Text 25"/>
          <p:cNvSpPr/>
          <p:nvPr/>
        </p:nvSpPr>
        <p:spPr>
          <a:xfrm>
            <a:off x="4320540" y="7717155"/>
            <a:ext cx="2288679"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211C14"/>
                </a:solidFill>
                <a:latin typeface="Courier New" pitchFamily="34" charset="0"/>
                <a:ea typeface="Courier New" pitchFamily="34" charset="-122"/>
                <a:cs typeface="Courier New" pitchFamily="34" charset="-120"/>
              </a:rPr>
              <a:t>FMAC + ASSYSA</a:t>
            </a:r>
            <a:endParaRPr lang="en-US" sz="2100" dirty="0"/>
          </a:p>
        </p:txBody>
      </p:sp>
      <p:sp>
        <p:nvSpPr>
          <p:cNvPr id="28" name="Text 26"/>
          <p:cNvSpPr/>
          <p:nvPr/>
        </p:nvSpPr>
        <p:spPr>
          <a:xfrm>
            <a:off x="6820258" y="7694295"/>
            <a:ext cx="7061835" cy="388620"/>
          </a:xfrm>
          <a:prstGeom prst="rect">
            <a:avLst/>
          </a:prstGeom>
          <a:noFill/>
          <a:ln/>
        </p:spPr>
        <p:txBody>
          <a:bodyPr wrap="square" lIns="25400" tIns="25400" rIns="25400" bIns="25400" rtlCol="0" anchor="t">
            <a:normAutofit/>
          </a:bodyPr>
          <a:lstStyle/>
          <a:p>
            <a:pPr algn="l" indent="0" marL="0">
              <a:buNone/>
            </a:pPr>
            <a:r>
              <a:rPr lang="en-US" sz="2100" dirty="0">
                <a:solidFill>
                  <a:srgbClr val="6B6252"/>
                </a:solidFill>
                <a:latin typeface="Arial" pitchFamily="34" charset="0"/>
                <a:ea typeface="Arial" pitchFamily="34" charset="-122"/>
                <a:cs typeface="Arial" pitchFamily="34" charset="-120"/>
              </a:rPr>
              <a:t>marks → assemble → save to disk → boot standalone</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3201A"/>
        </a:solidFill>
      </p:bgPr>
    </p:bg>
    <p:spTree>
      <p:nvGrpSpPr>
        <p:cNvPr id="1" name=""/>
        <p:cNvGrpSpPr/>
        <p:nvPr/>
      </p:nvGrpSpPr>
      <p:grpSpPr>
        <a:xfrm>
          <a:off x="0" y="0"/>
          <a:ext cx="0" cy="0"/>
          <a:chOff x="0" y="0"/>
          <a:chExt cx="0" cy="0"/>
        </a:xfrm>
      </p:grpSpPr>
      <p:sp>
        <p:nvSpPr>
          <p:cNvPr id="2" name="Text 0"/>
          <p:cNvSpPr/>
          <p:nvPr/>
        </p:nvSpPr>
        <p:spPr>
          <a:xfrm>
            <a:off x="952500" y="3055620"/>
            <a:ext cx="18021300" cy="1466850"/>
          </a:xfrm>
          <a:prstGeom prst="rect">
            <a:avLst/>
          </a:prstGeom>
          <a:noFill/>
          <a:ln/>
        </p:spPr>
        <p:txBody>
          <a:bodyPr wrap="square" lIns="25400" tIns="25400" rIns="25400" bIns="25400" rtlCol="0" anchor="t">
            <a:normAutofit/>
          </a:bodyPr>
          <a:lstStyle/>
          <a:p>
            <a:pPr algn="l" indent="0" marL="0">
              <a:lnSpc>
                <a:spcPct val="88443"/>
              </a:lnSpc>
              <a:buNone/>
            </a:pPr>
            <a:r>
              <a:rPr lang="en-US" sz="11250" b="1" dirty="0">
                <a:solidFill>
                  <a:srgbClr val="C8501E"/>
                </a:solidFill>
                <a:latin typeface="Courier New" pitchFamily="34" charset="0"/>
                <a:ea typeface="Courier New" pitchFamily="34" charset="-122"/>
                <a:cs typeface="Courier New" pitchFamily="34" charset="-120"/>
              </a:rPr>
              <a:t>01</a:t>
            </a:r>
            <a:endParaRPr lang="en-US" sz="11250" dirty="0"/>
          </a:p>
        </p:txBody>
      </p:sp>
      <p:sp>
        <p:nvSpPr>
          <p:cNvPr id="3" name="Text 1"/>
          <p:cNvSpPr/>
          <p:nvPr/>
        </p:nvSpPr>
        <p:spPr>
          <a:xfrm>
            <a:off x="952500" y="4770120"/>
            <a:ext cx="18021300" cy="918210"/>
          </a:xfrm>
          <a:prstGeom prst="rect">
            <a:avLst/>
          </a:prstGeom>
          <a:noFill/>
          <a:ln/>
        </p:spPr>
        <p:txBody>
          <a:bodyPr wrap="square" lIns="25400" tIns="25400" rIns="25400" bIns="25400" rtlCol="0" anchor="t">
            <a:normAutofit/>
          </a:bodyPr>
          <a:lstStyle/>
          <a:p>
            <a:pPr algn="l" indent="0" marL="0">
              <a:lnSpc>
                <a:spcPct val="97059"/>
              </a:lnSpc>
              <a:buNone/>
            </a:pPr>
            <a:r>
              <a:rPr lang="en-US" sz="6300" b="1" dirty="0">
                <a:solidFill>
                  <a:srgbClr val="ECE5D3"/>
                </a:solidFill>
                <a:latin typeface="Courier New" pitchFamily="34" charset="0"/>
                <a:ea typeface="Courier New" pitchFamily="34" charset="-122"/>
                <a:cs typeface="Courier New" pitchFamily="34" charset="-120"/>
              </a:rPr>
              <a:t>The Kernel</a:t>
            </a:r>
            <a:endParaRPr lang="en-US" sz="6300" dirty="0"/>
          </a:p>
        </p:txBody>
      </p:sp>
      <p:sp>
        <p:nvSpPr>
          <p:cNvPr id="4" name="Shape 2"/>
          <p:cNvSpPr/>
          <p:nvPr/>
        </p:nvSpPr>
        <p:spPr>
          <a:xfrm>
            <a:off x="952500" y="5935980"/>
            <a:ext cx="2667000" cy="38100"/>
          </a:xfrm>
          <a:prstGeom prst="rect">
            <a:avLst/>
          </a:prstGeom>
          <a:solidFill>
            <a:srgbClr val="C8501E"/>
          </a:solidFill>
          <a:ln/>
        </p:spPr>
      </p:sp>
      <p:sp>
        <p:nvSpPr>
          <p:cNvPr id="5" name="Text 3"/>
          <p:cNvSpPr/>
          <p:nvPr/>
        </p:nvSpPr>
        <p:spPr>
          <a:xfrm>
            <a:off x="952500" y="6259830"/>
            <a:ext cx="11772900" cy="1009650"/>
          </a:xfrm>
          <a:prstGeom prst="rect">
            <a:avLst/>
          </a:prstGeom>
          <a:noFill/>
          <a:ln/>
        </p:spPr>
        <p:txBody>
          <a:bodyPr wrap="square" lIns="25400" tIns="25400" rIns="25400" bIns="25400" rtlCol="0" anchor="t">
            <a:normAutofit/>
          </a:bodyPr>
          <a:lstStyle/>
          <a:p>
            <a:pPr algn="l" indent="0" marL="0">
              <a:lnSpc>
                <a:spcPct val="132812"/>
              </a:lnSpc>
              <a:buNone/>
            </a:pPr>
            <a:r>
              <a:rPr lang="en-US" sz="2550" dirty="0">
                <a:solidFill>
                  <a:srgbClr val="C7BDA6"/>
                </a:solidFill>
                <a:latin typeface="Arial" pitchFamily="34" charset="0"/>
                <a:ea typeface="Arial" pitchFamily="34" charset="-122"/>
                <a:cs typeface="Arial" pitchFamily="34" charset="-120"/>
              </a:rPr>
              <a:t>Resident TSS: interrupt levels, memory management, scheduler, swapper, monitor calls, buffers, and the file system.</a:t>
            </a:r>
            <a:endParaRPr lang="en-US" sz="2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EDE1"/>
        </a:solidFill>
      </p:bgPr>
    </p:bg>
    <p:spTree>
      <p:nvGrpSpPr>
        <p:cNvPr id="1" name=""/>
        <p:cNvGrpSpPr/>
        <p:nvPr/>
      </p:nvGrpSpPr>
      <p:grpSpPr>
        <a:xfrm>
          <a:off x="0" y="0"/>
          <a:ext cx="0" cy="0"/>
          <a:chOff x="0" y="0"/>
          <a:chExt cx="0" cy="0"/>
        </a:xfrm>
      </p:grpSpPr>
      <p:sp>
        <p:nvSpPr>
          <p:cNvPr id="2" name="Text 0"/>
          <p:cNvSpPr/>
          <p:nvPr/>
        </p:nvSpPr>
        <p:spPr>
          <a:xfrm>
            <a:off x="952500" y="857250"/>
            <a:ext cx="18021300" cy="33528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C8501E"/>
                </a:solidFill>
                <a:latin typeface="Courier New" pitchFamily="34" charset="0"/>
                <a:ea typeface="Courier New" pitchFamily="34" charset="-122"/>
                <a:cs typeface="Courier New" pitchFamily="34" charset="-120"/>
              </a:rPr>
              <a:t>SECTION 01 · KERNEL</a:t>
            </a:r>
            <a:endParaRPr lang="en-US" sz="1800" dirty="0"/>
          </a:p>
        </p:txBody>
      </p:sp>
      <p:sp>
        <p:nvSpPr>
          <p:cNvPr id="3" name="Text 1"/>
          <p:cNvSpPr/>
          <p:nvPr/>
        </p:nvSpPr>
        <p:spPr>
          <a:xfrm>
            <a:off x="952500" y="1306830"/>
            <a:ext cx="18021300" cy="666750"/>
          </a:xfrm>
          <a:prstGeom prst="rect">
            <a:avLst/>
          </a:prstGeom>
          <a:noFill/>
          <a:ln/>
        </p:spPr>
        <p:txBody>
          <a:bodyPr wrap="square" lIns="25400" tIns="25400" rIns="25400" bIns="25400" rtlCol="0" anchor="t">
            <a:normAutofit/>
          </a:bodyPr>
          <a:lstStyle/>
          <a:p>
            <a:pPr algn="l" indent="0" marL="0">
              <a:lnSpc>
                <a:spcPct val="97059"/>
              </a:lnSpc>
              <a:buNone/>
            </a:pPr>
            <a:r>
              <a:rPr lang="en-US" sz="4500" b="1" dirty="0">
                <a:solidFill>
                  <a:srgbClr val="211C14"/>
                </a:solidFill>
                <a:latin typeface="Courier New" pitchFamily="34" charset="0"/>
                <a:ea typeface="Courier New" pitchFamily="34" charset="-122"/>
                <a:cs typeface="Courier New" pitchFamily="34" charset="-120"/>
              </a:rPr>
              <a:t>Interrupt-Level Architecture </a:t>
            </a:r>
            <a:pPr algn="l" indent="0" marL="0">
              <a:lnSpc>
                <a:spcPct val="97059"/>
              </a:lnSpc>
              <a:buNone/>
            </a:pPr>
            <a:r>
              <a:rPr lang="en-US" sz="2700" dirty="0">
                <a:solidFill>
                  <a:srgbClr val="6B6252"/>
                </a:solidFill>
                <a:latin typeface="Courier New" pitchFamily="34" charset="0"/>
                <a:ea typeface="Courier New" pitchFamily="34" charset="-122"/>
                <a:cs typeface="Courier New" pitchFamily="34" charset="-120"/>
              </a:rPr>
              <a:t>(NORD-10 build)</a:t>
            </a:r>
            <a:endParaRPr lang="en-US" sz="4500" dirty="0"/>
          </a:p>
        </p:txBody>
      </p:sp>
      <p:sp>
        <p:nvSpPr>
          <p:cNvPr id="4" name="Shape 2"/>
          <p:cNvSpPr/>
          <p:nvPr/>
        </p:nvSpPr>
        <p:spPr>
          <a:xfrm>
            <a:off x="952500" y="2087880"/>
            <a:ext cx="16383000" cy="28575"/>
          </a:xfrm>
          <a:prstGeom prst="rect">
            <a:avLst/>
          </a:prstGeom>
          <a:solidFill>
            <a:srgbClr val="211C14"/>
          </a:solidFill>
          <a:ln/>
        </p:spPr>
      </p:sp>
      <p:sp>
        <p:nvSpPr>
          <p:cNvPr id="5" name="Shape 3"/>
          <p:cNvSpPr/>
          <p:nvPr/>
        </p:nvSpPr>
        <p:spPr>
          <a:xfrm>
            <a:off x="952500" y="3560445"/>
            <a:ext cx="7810500" cy="9525"/>
          </a:xfrm>
          <a:prstGeom prst="rect">
            <a:avLst/>
          </a:prstGeom>
          <a:solidFill>
            <a:srgbClr val="CEC4AD"/>
          </a:solidFill>
          <a:ln/>
        </p:spPr>
      </p:sp>
      <p:sp>
        <p:nvSpPr>
          <p:cNvPr id="6" name="Text 4"/>
          <p:cNvSpPr/>
          <p:nvPr/>
        </p:nvSpPr>
        <p:spPr>
          <a:xfrm>
            <a:off x="952500" y="2750820"/>
            <a:ext cx="742950"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C8501E"/>
                </a:solidFill>
                <a:latin typeface="Courier New" pitchFamily="34" charset="0"/>
                <a:ea typeface="Courier New" pitchFamily="34" charset="-122"/>
                <a:cs typeface="Courier New" pitchFamily="34" charset="-120"/>
              </a:rPr>
              <a:t>14</a:t>
            </a:r>
            <a:endParaRPr lang="en-US" sz="2100" dirty="0"/>
          </a:p>
        </p:txBody>
      </p:sp>
      <p:sp>
        <p:nvSpPr>
          <p:cNvPr id="7" name="Text 5"/>
          <p:cNvSpPr/>
          <p:nvPr/>
        </p:nvSpPr>
        <p:spPr>
          <a:xfrm>
            <a:off x="1885950" y="2697480"/>
            <a:ext cx="7083362" cy="739140"/>
          </a:xfrm>
          <a:prstGeom prst="rect">
            <a:avLst/>
          </a:prstGeom>
          <a:noFill/>
          <a:ln/>
        </p:spPr>
        <p:txBody>
          <a:bodyPr wrap="square" lIns="25400" tIns="25400" rIns="25400" bIns="25400" rtlCol="0" anchor="t">
            <a:normAutofit/>
          </a:bodyPr>
          <a:lstStyle/>
          <a:p>
            <a:pPr algn="l" indent="0" marL="0">
              <a:buNone/>
            </a:pPr>
            <a:r>
              <a:rPr lang="en-US" sz="2100" dirty="0">
                <a:solidFill>
                  <a:srgbClr val="211C14"/>
                </a:solidFill>
                <a:latin typeface="Arial" pitchFamily="34" charset="0"/>
                <a:ea typeface="Arial" pitchFamily="34" charset="-122"/>
                <a:cs typeface="Arial" pitchFamily="34" charset="-120"/>
              </a:rPr>
              <a:t>Traps — illegal instruction, protect violation, monitor-call decode</a:t>
            </a:r>
            <a:endParaRPr lang="en-US" sz="2100" dirty="0"/>
          </a:p>
        </p:txBody>
      </p:sp>
      <p:sp>
        <p:nvSpPr>
          <p:cNvPr id="8" name="Shape 6"/>
          <p:cNvSpPr/>
          <p:nvPr/>
        </p:nvSpPr>
        <p:spPr>
          <a:xfrm>
            <a:off x="9525000" y="3560445"/>
            <a:ext cx="7810500" cy="9525"/>
          </a:xfrm>
          <a:prstGeom prst="rect">
            <a:avLst/>
          </a:prstGeom>
          <a:solidFill>
            <a:srgbClr val="CEC4AD"/>
          </a:solidFill>
          <a:ln/>
        </p:spPr>
      </p:sp>
      <p:sp>
        <p:nvSpPr>
          <p:cNvPr id="9" name="Text 7"/>
          <p:cNvSpPr/>
          <p:nvPr/>
        </p:nvSpPr>
        <p:spPr>
          <a:xfrm>
            <a:off x="9525000" y="2750820"/>
            <a:ext cx="742950"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C8501E"/>
                </a:solidFill>
                <a:latin typeface="Courier New" pitchFamily="34" charset="0"/>
                <a:ea typeface="Courier New" pitchFamily="34" charset="-122"/>
                <a:cs typeface="Courier New" pitchFamily="34" charset="-120"/>
              </a:rPr>
              <a:t>6</a:t>
            </a:r>
            <a:endParaRPr lang="en-US" sz="2100" dirty="0"/>
          </a:p>
        </p:txBody>
      </p:sp>
      <p:sp>
        <p:nvSpPr>
          <p:cNvPr id="10" name="Text 8"/>
          <p:cNvSpPr/>
          <p:nvPr/>
        </p:nvSpPr>
        <p:spPr>
          <a:xfrm>
            <a:off x="10458450" y="2697480"/>
            <a:ext cx="7564755" cy="388620"/>
          </a:xfrm>
          <a:prstGeom prst="rect">
            <a:avLst/>
          </a:prstGeom>
          <a:noFill/>
          <a:ln/>
        </p:spPr>
        <p:txBody>
          <a:bodyPr wrap="square" lIns="25400" tIns="25400" rIns="25400" bIns="25400" rtlCol="0" anchor="t">
            <a:normAutofit/>
          </a:bodyPr>
          <a:lstStyle/>
          <a:p>
            <a:pPr algn="l" indent="0" marL="0">
              <a:buNone/>
            </a:pPr>
            <a:r>
              <a:rPr lang="en-US" sz="2100" dirty="0">
                <a:solidFill>
                  <a:srgbClr val="211C14"/>
                </a:solidFill>
                <a:latin typeface="Arial" pitchFamily="34" charset="0"/>
                <a:ea typeface="Arial" pitchFamily="34" charset="-122"/>
                <a:cs typeface="Arial" pitchFamily="34" charset="-120"/>
              </a:rPr>
              <a:t>Teletype scanner — polls dead terminals every 80 ms</a:t>
            </a:r>
            <a:endParaRPr lang="en-US" sz="2100" dirty="0"/>
          </a:p>
        </p:txBody>
      </p:sp>
      <p:sp>
        <p:nvSpPr>
          <p:cNvPr id="11" name="Shape 9"/>
          <p:cNvSpPr/>
          <p:nvPr/>
        </p:nvSpPr>
        <p:spPr>
          <a:xfrm>
            <a:off x="952500" y="4250055"/>
            <a:ext cx="7810500" cy="9525"/>
          </a:xfrm>
          <a:prstGeom prst="rect">
            <a:avLst/>
          </a:prstGeom>
          <a:solidFill>
            <a:srgbClr val="CEC4AD"/>
          </a:solidFill>
          <a:ln/>
        </p:spPr>
      </p:sp>
      <p:sp>
        <p:nvSpPr>
          <p:cNvPr id="12" name="Text 10"/>
          <p:cNvSpPr/>
          <p:nvPr/>
        </p:nvSpPr>
        <p:spPr>
          <a:xfrm>
            <a:off x="952500" y="3783330"/>
            <a:ext cx="742950"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C8501E"/>
                </a:solidFill>
                <a:latin typeface="Courier New" pitchFamily="34" charset="0"/>
                <a:ea typeface="Courier New" pitchFamily="34" charset="-122"/>
                <a:cs typeface="Courier New" pitchFamily="34" charset="-120"/>
              </a:rPr>
              <a:t>13</a:t>
            </a:r>
            <a:endParaRPr lang="en-US" sz="2100" dirty="0"/>
          </a:p>
        </p:txBody>
      </p:sp>
      <p:sp>
        <p:nvSpPr>
          <p:cNvPr id="13" name="Text 11"/>
          <p:cNvSpPr/>
          <p:nvPr/>
        </p:nvSpPr>
        <p:spPr>
          <a:xfrm>
            <a:off x="1885950" y="3729990"/>
            <a:ext cx="7564755" cy="388620"/>
          </a:xfrm>
          <a:prstGeom prst="rect">
            <a:avLst/>
          </a:prstGeom>
          <a:noFill/>
          <a:ln/>
        </p:spPr>
        <p:txBody>
          <a:bodyPr wrap="square" lIns="25400" tIns="25400" rIns="25400" bIns="25400" rtlCol="0" anchor="t">
            <a:normAutofit/>
          </a:bodyPr>
          <a:lstStyle/>
          <a:p>
            <a:pPr algn="l" indent="0" marL="0">
              <a:buNone/>
            </a:pPr>
            <a:r>
              <a:rPr lang="en-US" sz="2100" dirty="0">
                <a:solidFill>
                  <a:srgbClr val="211C14"/>
                </a:solidFill>
                <a:latin typeface="Arial" pitchFamily="34" charset="0"/>
                <a:ea typeface="Arial" pitchFamily="34" charset="-122"/>
                <a:cs typeface="Arial" pitchFamily="34" charset="-120"/>
              </a:rPr>
              <a:t>Real-time clock</a:t>
            </a:r>
            <a:endParaRPr lang="en-US" sz="2100" dirty="0"/>
          </a:p>
        </p:txBody>
      </p:sp>
      <p:sp>
        <p:nvSpPr>
          <p:cNvPr id="14" name="Shape 12"/>
          <p:cNvSpPr/>
          <p:nvPr/>
        </p:nvSpPr>
        <p:spPr>
          <a:xfrm>
            <a:off x="9525000" y="4250055"/>
            <a:ext cx="7810500" cy="9525"/>
          </a:xfrm>
          <a:prstGeom prst="rect">
            <a:avLst/>
          </a:prstGeom>
          <a:solidFill>
            <a:srgbClr val="CEC4AD"/>
          </a:solidFill>
          <a:ln/>
        </p:spPr>
      </p:sp>
      <p:sp>
        <p:nvSpPr>
          <p:cNvPr id="15" name="Text 13"/>
          <p:cNvSpPr/>
          <p:nvPr/>
        </p:nvSpPr>
        <p:spPr>
          <a:xfrm>
            <a:off x="9525000" y="3783330"/>
            <a:ext cx="742950"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C8501E"/>
                </a:solidFill>
                <a:latin typeface="Courier New" pitchFamily="34" charset="0"/>
                <a:ea typeface="Courier New" pitchFamily="34" charset="-122"/>
                <a:cs typeface="Courier New" pitchFamily="34" charset="-120"/>
              </a:rPr>
              <a:t>5</a:t>
            </a:r>
            <a:endParaRPr lang="en-US" sz="2100" dirty="0"/>
          </a:p>
        </p:txBody>
      </p:sp>
      <p:sp>
        <p:nvSpPr>
          <p:cNvPr id="16" name="Text 14"/>
          <p:cNvSpPr/>
          <p:nvPr/>
        </p:nvSpPr>
        <p:spPr>
          <a:xfrm>
            <a:off x="10458450" y="3729990"/>
            <a:ext cx="7564755" cy="388620"/>
          </a:xfrm>
          <a:prstGeom prst="rect">
            <a:avLst/>
          </a:prstGeom>
          <a:noFill/>
          <a:ln/>
        </p:spPr>
        <p:txBody>
          <a:bodyPr wrap="square" lIns="25400" tIns="25400" rIns="25400" bIns="25400" rtlCol="0" anchor="t">
            <a:normAutofit/>
          </a:bodyPr>
          <a:lstStyle/>
          <a:p>
            <a:pPr algn="l" indent="0" marL="0">
              <a:buNone/>
            </a:pPr>
            <a:r>
              <a:rPr lang="en-US" sz="2100" b="1" dirty="0">
                <a:solidFill>
                  <a:srgbClr val="211C14"/>
                </a:solidFill>
                <a:latin typeface="Arial" pitchFamily="34" charset="0"/>
                <a:ea typeface="Arial" pitchFamily="34" charset="-122"/>
                <a:cs typeface="Arial" pitchFamily="34" charset="-120"/>
              </a:rPr>
              <a:t>Scheduler + swapper </a:t>
            </a:r>
            <a:pPr algn="l" indent="0" marL="0">
              <a:buNone/>
            </a:pPr>
            <a:r>
              <a:rPr lang="en-US" sz="2100" dirty="0">
                <a:solidFill>
                  <a:srgbClr val="211C14"/>
                </a:solidFill>
                <a:latin typeface="Arial" pitchFamily="34" charset="0"/>
                <a:ea typeface="Arial" pitchFamily="34" charset="-122"/>
                <a:cs typeface="Arial" pitchFamily="34" charset="-120"/>
              </a:rPr>
              <a:t>(LEV5 → SWAPR)</a:t>
            </a:r>
            <a:endParaRPr lang="en-US" sz="2100" dirty="0"/>
          </a:p>
        </p:txBody>
      </p:sp>
      <p:sp>
        <p:nvSpPr>
          <p:cNvPr id="17" name="Shape 15"/>
          <p:cNvSpPr/>
          <p:nvPr/>
        </p:nvSpPr>
        <p:spPr>
          <a:xfrm>
            <a:off x="952500" y="4939665"/>
            <a:ext cx="7810500" cy="9525"/>
          </a:xfrm>
          <a:prstGeom prst="rect">
            <a:avLst/>
          </a:prstGeom>
          <a:solidFill>
            <a:srgbClr val="CEC4AD"/>
          </a:solidFill>
          <a:ln/>
        </p:spPr>
      </p:sp>
      <p:sp>
        <p:nvSpPr>
          <p:cNvPr id="18" name="Text 16"/>
          <p:cNvSpPr/>
          <p:nvPr/>
        </p:nvSpPr>
        <p:spPr>
          <a:xfrm>
            <a:off x="952500" y="4472940"/>
            <a:ext cx="742950"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C8501E"/>
                </a:solidFill>
                <a:latin typeface="Courier New" pitchFamily="34" charset="0"/>
                <a:ea typeface="Courier New" pitchFamily="34" charset="-122"/>
                <a:cs typeface="Courier New" pitchFamily="34" charset="-120"/>
              </a:rPr>
              <a:t>12</a:t>
            </a:r>
            <a:endParaRPr lang="en-US" sz="2100" dirty="0"/>
          </a:p>
        </p:txBody>
      </p:sp>
      <p:sp>
        <p:nvSpPr>
          <p:cNvPr id="19" name="Text 17"/>
          <p:cNvSpPr/>
          <p:nvPr/>
        </p:nvSpPr>
        <p:spPr>
          <a:xfrm>
            <a:off x="1885950" y="4419600"/>
            <a:ext cx="7564755" cy="388620"/>
          </a:xfrm>
          <a:prstGeom prst="rect">
            <a:avLst/>
          </a:prstGeom>
          <a:noFill/>
          <a:ln/>
        </p:spPr>
        <p:txBody>
          <a:bodyPr wrap="square" lIns="25400" tIns="25400" rIns="25400" bIns="25400" rtlCol="0" anchor="t">
            <a:normAutofit/>
          </a:bodyPr>
          <a:lstStyle/>
          <a:p>
            <a:pPr algn="l" indent="0" marL="0">
              <a:buNone/>
            </a:pPr>
            <a:r>
              <a:rPr lang="en-US" sz="2100" dirty="0">
                <a:solidFill>
                  <a:srgbClr val="211C14"/>
                </a:solidFill>
                <a:latin typeface="Arial" pitchFamily="34" charset="0"/>
                <a:ea typeface="Arial" pitchFamily="34" charset="-122"/>
                <a:cs typeface="Arial" pitchFamily="34" charset="-120"/>
              </a:rPr>
              <a:t>Input interrupts — TTY in, reader, cards (IDENT PL12)</a:t>
            </a:r>
            <a:endParaRPr lang="en-US" sz="2100" dirty="0"/>
          </a:p>
        </p:txBody>
      </p:sp>
      <p:sp>
        <p:nvSpPr>
          <p:cNvPr id="20" name="Shape 18"/>
          <p:cNvSpPr/>
          <p:nvPr/>
        </p:nvSpPr>
        <p:spPr>
          <a:xfrm>
            <a:off x="9525000" y="4939665"/>
            <a:ext cx="7810500" cy="9525"/>
          </a:xfrm>
          <a:prstGeom prst="rect">
            <a:avLst/>
          </a:prstGeom>
          <a:solidFill>
            <a:srgbClr val="CEC4AD"/>
          </a:solidFill>
          <a:ln/>
        </p:spPr>
      </p:sp>
      <p:sp>
        <p:nvSpPr>
          <p:cNvPr id="21" name="Text 19"/>
          <p:cNvSpPr/>
          <p:nvPr/>
        </p:nvSpPr>
        <p:spPr>
          <a:xfrm>
            <a:off x="9525000" y="4472940"/>
            <a:ext cx="742950"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C8501E"/>
                </a:solidFill>
                <a:latin typeface="Courier New" pitchFamily="34" charset="0"/>
                <a:ea typeface="Courier New" pitchFamily="34" charset="-122"/>
                <a:cs typeface="Courier New" pitchFamily="34" charset="-120"/>
              </a:rPr>
              <a:t>3</a:t>
            </a:r>
            <a:endParaRPr lang="en-US" sz="2100" dirty="0"/>
          </a:p>
        </p:txBody>
      </p:sp>
      <p:sp>
        <p:nvSpPr>
          <p:cNvPr id="22" name="Text 20"/>
          <p:cNvSpPr/>
          <p:nvPr/>
        </p:nvSpPr>
        <p:spPr>
          <a:xfrm>
            <a:off x="10458450" y="4419600"/>
            <a:ext cx="7564755" cy="388620"/>
          </a:xfrm>
          <a:prstGeom prst="rect">
            <a:avLst/>
          </a:prstGeom>
          <a:noFill/>
          <a:ln/>
        </p:spPr>
        <p:txBody>
          <a:bodyPr wrap="square" lIns="25400" tIns="25400" rIns="25400" bIns="25400" rtlCol="0" anchor="t">
            <a:normAutofit/>
          </a:bodyPr>
          <a:lstStyle/>
          <a:p>
            <a:pPr algn="l" indent="0" marL="0">
              <a:buNone/>
            </a:pPr>
            <a:r>
              <a:rPr lang="en-US" sz="2100" dirty="0">
                <a:solidFill>
                  <a:srgbClr val="211C14"/>
                </a:solidFill>
                <a:latin typeface="Arial" pitchFamily="34" charset="0"/>
                <a:ea typeface="Arial" pitchFamily="34" charset="-122"/>
                <a:cs typeface="Arial" pitchFamily="34" charset="-120"/>
              </a:rPr>
              <a:t>Monitor-call processor — dispatch through MCTBL</a:t>
            </a:r>
            <a:endParaRPr lang="en-US" sz="2100" dirty="0"/>
          </a:p>
        </p:txBody>
      </p:sp>
      <p:sp>
        <p:nvSpPr>
          <p:cNvPr id="23" name="Shape 21"/>
          <p:cNvSpPr/>
          <p:nvPr/>
        </p:nvSpPr>
        <p:spPr>
          <a:xfrm>
            <a:off x="952500" y="5629275"/>
            <a:ext cx="7810500" cy="9525"/>
          </a:xfrm>
          <a:prstGeom prst="rect">
            <a:avLst/>
          </a:prstGeom>
          <a:solidFill>
            <a:srgbClr val="CEC4AD"/>
          </a:solidFill>
          <a:ln/>
        </p:spPr>
      </p:sp>
      <p:sp>
        <p:nvSpPr>
          <p:cNvPr id="24" name="Text 22"/>
          <p:cNvSpPr/>
          <p:nvPr/>
        </p:nvSpPr>
        <p:spPr>
          <a:xfrm>
            <a:off x="952500" y="5162550"/>
            <a:ext cx="742950"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C8501E"/>
                </a:solidFill>
                <a:latin typeface="Courier New" pitchFamily="34" charset="0"/>
                <a:ea typeface="Courier New" pitchFamily="34" charset="-122"/>
                <a:cs typeface="Courier New" pitchFamily="34" charset="-120"/>
              </a:rPr>
              <a:t>11</a:t>
            </a:r>
            <a:endParaRPr lang="en-US" sz="2100" dirty="0"/>
          </a:p>
        </p:txBody>
      </p:sp>
      <p:sp>
        <p:nvSpPr>
          <p:cNvPr id="25" name="Text 23"/>
          <p:cNvSpPr/>
          <p:nvPr/>
        </p:nvSpPr>
        <p:spPr>
          <a:xfrm>
            <a:off x="1885950" y="5109210"/>
            <a:ext cx="7564755" cy="388620"/>
          </a:xfrm>
          <a:prstGeom prst="rect">
            <a:avLst/>
          </a:prstGeom>
          <a:noFill/>
          <a:ln/>
        </p:spPr>
        <p:txBody>
          <a:bodyPr wrap="square" lIns="25400" tIns="25400" rIns="25400" bIns="25400" rtlCol="0" anchor="t">
            <a:normAutofit/>
          </a:bodyPr>
          <a:lstStyle/>
          <a:p>
            <a:pPr algn="l" indent="0" marL="0">
              <a:buNone/>
            </a:pPr>
            <a:r>
              <a:rPr lang="en-US" sz="2100" dirty="0">
                <a:solidFill>
                  <a:srgbClr val="211C14"/>
                </a:solidFill>
                <a:latin typeface="Arial" pitchFamily="34" charset="0"/>
                <a:ea typeface="Arial" pitchFamily="34" charset="-122"/>
                <a:cs typeface="Arial" pitchFamily="34" charset="-120"/>
              </a:rPr>
              <a:t>DMA devices — Versatec printer option</a:t>
            </a:r>
            <a:endParaRPr lang="en-US" sz="2100" dirty="0"/>
          </a:p>
        </p:txBody>
      </p:sp>
      <p:sp>
        <p:nvSpPr>
          <p:cNvPr id="26" name="Shape 24"/>
          <p:cNvSpPr/>
          <p:nvPr/>
        </p:nvSpPr>
        <p:spPr>
          <a:xfrm>
            <a:off x="9525000" y="5629275"/>
            <a:ext cx="7810500" cy="9525"/>
          </a:xfrm>
          <a:prstGeom prst="rect">
            <a:avLst/>
          </a:prstGeom>
          <a:solidFill>
            <a:srgbClr val="CEC4AD"/>
          </a:solidFill>
          <a:ln/>
        </p:spPr>
      </p:sp>
      <p:sp>
        <p:nvSpPr>
          <p:cNvPr id="27" name="Text 25"/>
          <p:cNvSpPr/>
          <p:nvPr/>
        </p:nvSpPr>
        <p:spPr>
          <a:xfrm>
            <a:off x="9525000" y="5162550"/>
            <a:ext cx="742950"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C8501E"/>
                </a:solidFill>
                <a:latin typeface="Courier New" pitchFamily="34" charset="0"/>
                <a:ea typeface="Courier New" pitchFamily="34" charset="-122"/>
                <a:cs typeface="Courier New" pitchFamily="34" charset="-120"/>
              </a:rPr>
              <a:t>2</a:t>
            </a:r>
            <a:endParaRPr lang="en-US" sz="2100" dirty="0"/>
          </a:p>
        </p:txBody>
      </p:sp>
      <p:sp>
        <p:nvSpPr>
          <p:cNvPr id="28" name="Text 26"/>
          <p:cNvSpPr/>
          <p:nvPr/>
        </p:nvSpPr>
        <p:spPr>
          <a:xfrm>
            <a:off x="10458450" y="5109210"/>
            <a:ext cx="7564755" cy="388620"/>
          </a:xfrm>
          <a:prstGeom prst="rect">
            <a:avLst/>
          </a:prstGeom>
          <a:noFill/>
          <a:ln/>
        </p:spPr>
        <p:txBody>
          <a:bodyPr wrap="square" lIns="25400" tIns="25400" rIns="25400" bIns="25400" rtlCol="0" anchor="t">
            <a:normAutofit/>
          </a:bodyPr>
          <a:lstStyle/>
          <a:p>
            <a:pPr algn="l" indent="0" marL="0">
              <a:buNone/>
            </a:pPr>
            <a:r>
              <a:rPr lang="en-US" sz="2100" dirty="0">
                <a:solidFill>
                  <a:srgbClr val="211C14"/>
                </a:solidFill>
                <a:latin typeface="Arial" pitchFamily="34" charset="0"/>
                <a:ea typeface="Arial" pitchFamily="34" charset="-122"/>
                <a:cs typeface="Arial" pitchFamily="34" charset="-120"/>
              </a:rPr>
              <a:t>Utility level — command processor entry, user services</a:t>
            </a:r>
            <a:endParaRPr lang="en-US" sz="2100" dirty="0"/>
          </a:p>
        </p:txBody>
      </p:sp>
      <p:sp>
        <p:nvSpPr>
          <p:cNvPr id="29" name="Shape 27"/>
          <p:cNvSpPr/>
          <p:nvPr/>
        </p:nvSpPr>
        <p:spPr>
          <a:xfrm>
            <a:off x="952500" y="6318885"/>
            <a:ext cx="7810500" cy="9525"/>
          </a:xfrm>
          <a:prstGeom prst="rect">
            <a:avLst/>
          </a:prstGeom>
          <a:solidFill>
            <a:srgbClr val="CEC4AD"/>
          </a:solidFill>
          <a:ln/>
        </p:spPr>
      </p:sp>
      <p:sp>
        <p:nvSpPr>
          <p:cNvPr id="30" name="Text 28"/>
          <p:cNvSpPr/>
          <p:nvPr/>
        </p:nvSpPr>
        <p:spPr>
          <a:xfrm>
            <a:off x="952500" y="5852160"/>
            <a:ext cx="742950"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C8501E"/>
                </a:solidFill>
                <a:latin typeface="Courier New" pitchFamily="34" charset="0"/>
                <a:ea typeface="Courier New" pitchFamily="34" charset="-122"/>
                <a:cs typeface="Courier New" pitchFamily="34" charset="-120"/>
              </a:rPr>
              <a:t>10</a:t>
            </a:r>
            <a:endParaRPr lang="en-US" sz="2100" dirty="0"/>
          </a:p>
        </p:txBody>
      </p:sp>
      <p:sp>
        <p:nvSpPr>
          <p:cNvPr id="31" name="Text 29"/>
          <p:cNvSpPr/>
          <p:nvPr/>
        </p:nvSpPr>
        <p:spPr>
          <a:xfrm>
            <a:off x="1885950" y="5798820"/>
            <a:ext cx="7564755" cy="388620"/>
          </a:xfrm>
          <a:prstGeom prst="rect">
            <a:avLst/>
          </a:prstGeom>
          <a:noFill/>
          <a:ln/>
        </p:spPr>
        <p:txBody>
          <a:bodyPr wrap="square" lIns="25400" tIns="25400" rIns="25400" bIns="25400" rtlCol="0" anchor="t">
            <a:normAutofit/>
          </a:bodyPr>
          <a:lstStyle/>
          <a:p>
            <a:pPr algn="l" indent="0" marL="0">
              <a:buNone/>
            </a:pPr>
            <a:r>
              <a:rPr lang="en-US" sz="2100" dirty="0">
                <a:solidFill>
                  <a:srgbClr val="211C14"/>
                </a:solidFill>
                <a:latin typeface="Arial" pitchFamily="34" charset="0"/>
                <a:ea typeface="Arial" pitchFamily="34" charset="-122"/>
                <a:cs typeface="Arial" pitchFamily="34" charset="-120"/>
              </a:rPr>
              <a:t>Output interrupts — TTY out, punch, line printer</a:t>
            </a:r>
            <a:endParaRPr lang="en-US" sz="2100" dirty="0"/>
          </a:p>
        </p:txBody>
      </p:sp>
      <p:sp>
        <p:nvSpPr>
          <p:cNvPr id="32" name="Shape 30"/>
          <p:cNvSpPr/>
          <p:nvPr/>
        </p:nvSpPr>
        <p:spPr>
          <a:xfrm>
            <a:off x="9525000" y="6318885"/>
            <a:ext cx="7810500" cy="9525"/>
          </a:xfrm>
          <a:prstGeom prst="rect">
            <a:avLst/>
          </a:prstGeom>
          <a:solidFill>
            <a:srgbClr val="CEC4AD"/>
          </a:solidFill>
          <a:ln/>
        </p:spPr>
      </p:sp>
      <p:sp>
        <p:nvSpPr>
          <p:cNvPr id="33" name="Text 31"/>
          <p:cNvSpPr/>
          <p:nvPr/>
        </p:nvSpPr>
        <p:spPr>
          <a:xfrm>
            <a:off x="9525000" y="5852160"/>
            <a:ext cx="742950"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C8501E"/>
                </a:solidFill>
                <a:latin typeface="Courier New" pitchFamily="34" charset="0"/>
                <a:ea typeface="Courier New" pitchFamily="34" charset="-122"/>
                <a:cs typeface="Courier New" pitchFamily="34" charset="-120"/>
              </a:rPr>
              <a:t>0</a:t>
            </a:r>
            <a:endParaRPr lang="en-US" sz="2100" dirty="0"/>
          </a:p>
        </p:txBody>
      </p:sp>
      <p:sp>
        <p:nvSpPr>
          <p:cNvPr id="34" name="Text 32"/>
          <p:cNvSpPr/>
          <p:nvPr/>
        </p:nvSpPr>
        <p:spPr>
          <a:xfrm>
            <a:off x="10458450" y="5798820"/>
            <a:ext cx="7564755" cy="388620"/>
          </a:xfrm>
          <a:prstGeom prst="rect">
            <a:avLst/>
          </a:prstGeom>
          <a:noFill/>
          <a:ln/>
        </p:spPr>
        <p:txBody>
          <a:bodyPr wrap="square" lIns="25400" tIns="25400" rIns="25400" bIns="25400" rtlCol="0" anchor="t">
            <a:normAutofit/>
          </a:bodyPr>
          <a:lstStyle/>
          <a:p>
            <a:pPr algn="l" indent="0" marL="0">
              <a:buNone/>
            </a:pPr>
            <a:r>
              <a:rPr lang="en-US" sz="2100" dirty="0">
                <a:solidFill>
                  <a:srgbClr val="211C14"/>
                </a:solidFill>
                <a:latin typeface="Arial" pitchFamily="34" charset="0"/>
                <a:ea typeface="Arial" pitchFamily="34" charset="-122"/>
                <a:cs typeface="Arial" pitchFamily="34" charset="-120"/>
              </a:rPr>
              <a:t>Idle loop — traps WAIT, hands control onward</a:t>
            </a:r>
            <a:endParaRPr lang="en-US" sz="2100" dirty="0"/>
          </a:p>
        </p:txBody>
      </p:sp>
      <p:sp>
        <p:nvSpPr>
          <p:cNvPr id="35" name="Shape 33"/>
          <p:cNvSpPr/>
          <p:nvPr/>
        </p:nvSpPr>
        <p:spPr>
          <a:xfrm>
            <a:off x="952500" y="7008495"/>
            <a:ext cx="7810500" cy="9525"/>
          </a:xfrm>
          <a:prstGeom prst="rect">
            <a:avLst/>
          </a:prstGeom>
          <a:solidFill>
            <a:srgbClr val="CEC4AD"/>
          </a:solidFill>
          <a:ln/>
        </p:spPr>
      </p:sp>
      <p:sp>
        <p:nvSpPr>
          <p:cNvPr id="36" name="Text 34"/>
          <p:cNvSpPr/>
          <p:nvPr/>
        </p:nvSpPr>
        <p:spPr>
          <a:xfrm>
            <a:off x="952500" y="6541770"/>
            <a:ext cx="742950"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C8501E"/>
                </a:solidFill>
                <a:latin typeface="Courier New" pitchFamily="34" charset="0"/>
                <a:ea typeface="Courier New" pitchFamily="34" charset="-122"/>
                <a:cs typeface="Courier New" pitchFamily="34" charset="-120"/>
              </a:rPr>
              <a:t>9</a:t>
            </a:r>
            <a:endParaRPr lang="en-US" sz="2100" dirty="0"/>
          </a:p>
        </p:txBody>
      </p:sp>
      <p:sp>
        <p:nvSpPr>
          <p:cNvPr id="37" name="Text 35"/>
          <p:cNvSpPr/>
          <p:nvPr/>
        </p:nvSpPr>
        <p:spPr>
          <a:xfrm>
            <a:off x="1885950" y="6488430"/>
            <a:ext cx="7564755" cy="388620"/>
          </a:xfrm>
          <a:prstGeom prst="rect">
            <a:avLst/>
          </a:prstGeom>
          <a:noFill/>
          <a:ln/>
        </p:spPr>
        <p:txBody>
          <a:bodyPr wrap="square" lIns="25400" tIns="25400" rIns="25400" bIns="25400" rtlCol="0" anchor="t">
            <a:normAutofit/>
          </a:bodyPr>
          <a:lstStyle/>
          <a:p>
            <a:pPr algn="l" indent="0" marL="0">
              <a:buNone/>
            </a:pPr>
            <a:r>
              <a:rPr lang="en-US" sz="2100" dirty="0">
                <a:solidFill>
                  <a:srgbClr val="211C14"/>
                </a:solidFill>
                <a:latin typeface="Arial" pitchFamily="34" charset="0"/>
                <a:ea typeface="Arial" pitchFamily="34" charset="-122"/>
                <a:cs typeface="Arial" pitchFamily="34" charset="-120"/>
              </a:rPr>
              <a:t>Subsidiary clock — quanta, timeouts, response timers</a:t>
            </a:r>
            <a:endParaRPr lang="en-US" sz="2100" dirty="0"/>
          </a:p>
        </p:txBody>
      </p:sp>
      <p:sp>
        <p:nvSpPr>
          <p:cNvPr id="38" name="Shape 36"/>
          <p:cNvSpPr/>
          <p:nvPr/>
        </p:nvSpPr>
        <p:spPr>
          <a:xfrm>
            <a:off x="9525000" y="7008495"/>
            <a:ext cx="7810500" cy="9525"/>
          </a:xfrm>
          <a:prstGeom prst="rect">
            <a:avLst/>
          </a:prstGeom>
          <a:solidFill>
            <a:srgbClr val="CEC4AD"/>
          </a:solidFill>
          <a:ln/>
        </p:spPr>
      </p:sp>
      <p:sp>
        <p:nvSpPr>
          <p:cNvPr id="39" name="Text 37"/>
          <p:cNvSpPr/>
          <p:nvPr/>
        </p:nvSpPr>
        <p:spPr>
          <a:xfrm>
            <a:off x="10458450" y="6488430"/>
            <a:ext cx="7564755" cy="388620"/>
          </a:xfrm>
          <a:prstGeom prst="rect">
            <a:avLst/>
          </a:prstGeom>
          <a:noFill/>
          <a:ln/>
        </p:spPr>
        <p:txBody>
          <a:bodyPr wrap="square" lIns="25400" tIns="25400" rIns="25400" bIns="25400" rtlCol="0" anchor="t">
            <a:normAutofit/>
          </a:bodyPr>
          <a:lstStyle/>
          <a:p>
            <a:pPr algn="l" indent="0" marL="0">
              <a:buNone/>
            </a:pPr>
            <a:r>
              <a:rPr lang="en-US" sz="2100" dirty="0">
                <a:solidFill>
                  <a:srgbClr val="6B6252"/>
                </a:solidFill>
                <a:latin typeface="Arial" pitchFamily="34" charset="0"/>
                <a:ea typeface="Arial" pitchFamily="34" charset="-122"/>
                <a:cs typeface="Arial" pitchFamily="34" charset="-120"/>
              </a:rPr>
              <a:t>NORD-1 build: levels 7 / 11 and IOT instructions instead</a:t>
            </a:r>
            <a:endParaRPr lang="en-US" sz="2100" dirty="0"/>
          </a:p>
        </p:txBody>
      </p:sp>
      <p:sp>
        <p:nvSpPr>
          <p:cNvPr id="40" name="Text 38"/>
          <p:cNvSpPr/>
          <p:nvPr/>
        </p:nvSpPr>
        <p:spPr>
          <a:xfrm>
            <a:off x="952500" y="7359015"/>
            <a:ext cx="16874490" cy="678180"/>
          </a:xfrm>
          <a:prstGeom prst="rect">
            <a:avLst/>
          </a:prstGeom>
          <a:noFill/>
          <a:ln/>
        </p:spPr>
        <p:txBody>
          <a:bodyPr wrap="square" lIns="25400" tIns="25400" rIns="25400" bIns="25400" rtlCol="0" anchor="t">
            <a:normAutofit/>
          </a:bodyPr>
          <a:lstStyle/>
          <a:p>
            <a:pPr algn="l" indent="0" marL="0">
              <a:buNone/>
            </a:pPr>
            <a:r>
              <a:rPr lang="en-US" sz="1950" dirty="0">
                <a:solidFill>
                  <a:srgbClr val="6B6252"/>
                </a:solidFill>
                <a:latin typeface="Arial" pitchFamily="34" charset="0"/>
                <a:ea typeface="Arial" pitchFamily="34" charset="-122"/>
                <a:cs typeface="Arial" pitchFamily="34" charset="-120"/>
              </a:rPr>
              <a:t>False interrupts and I/O errors are counted per level in NER10 / NER11 / NER12 / SER10 / SER12 / SER23 / NIOX cells — built-in diagnostics for flaky hardware.</a:t>
            </a:r>
            <a:endParaRPr lang="en-US" sz="1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EDE1"/>
        </a:solidFill>
      </p:bgPr>
    </p:bg>
    <p:spTree>
      <p:nvGrpSpPr>
        <p:cNvPr id="1" name=""/>
        <p:cNvGrpSpPr/>
        <p:nvPr/>
      </p:nvGrpSpPr>
      <p:grpSpPr>
        <a:xfrm>
          <a:off x="0" y="0"/>
          <a:ext cx="0" cy="0"/>
          <a:chOff x="0" y="0"/>
          <a:chExt cx="0" cy="0"/>
        </a:xfrm>
      </p:grpSpPr>
      <p:sp>
        <p:nvSpPr>
          <p:cNvPr id="2" name="Text 0"/>
          <p:cNvSpPr/>
          <p:nvPr/>
        </p:nvSpPr>
        <p:spPr>
          <a:xfrm>
            <a:off x="952500" y="857250"/>
            <a:ext cx="18021300" cy="33528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C8501E"/>
                </a:solidFill>
                <a:latin typeface="Courier New" pitchFamily="34" charset="0"/>
                <a:ea typeface="Courier New" pitchFamily="34" charset="-122"/>
                <a:cs typeface="Courier New" pitchFamily="34" charset="-120"/>
              </a:rPr>
              <a:t>SECTION 01 · KERNEL</a:t>
            </a:r>
            <a:endParaRPr lang="en-US" sz="1800" dirty="0"/>
          </a:p>
        </p:txBody>
      </p:sp>
      <p:sp>
        <p:nvSpPr>
          <p:cNvPr id="3" name="Text 1"/>
          <p:cNvSpPr/>
          <p:nvPr/>
        </p:nvSpPr>
        <p:spPr>
          <a:xfrm>
            <a:off x="952500" y="1306830"/>
            <a:ext cx="18021300" cy="666750"/>
          </a:xfrm>
          <a:prstGeom prst="rect">
            <a:avLst/>
          </a:prstGeom>
          <a:noFill/>
          <a:ln/>
        </p:spPr>
        <p:txBody>
          <a:bodyPr wrap="square" lIns="25400" tIns="25400" rIns="25400" bIns="25400" rtlCol="0" anchor="t">
            <a:normAutofit/>
          </a:bodyPr>
          <a:lstStyle/>
          <a:p>
            <a:pPr algn="l" indent="0" marL="0">
              <a:lnSpc>
                <a:spcPct val="97059"/>
              </a:lnSpc>
              <a:buNone/>
            </a:pPr>
            <a:r>
              <a:rPr lang="en-US" sz="4500" b="1" dirty="0">
                <a:solidFill>
                  <a:srgbClr val="211C14"/>
                </a:solidFill>
                <a:latin typeface="Courier New" pitchFamily="34" charset="0"/>
                <a:ea typeface="Courier New" pitchFamily="34" charset="-122"/>
                <a:cs typeface="Courier New" pitchFamily="34" charset="-120"/>
              </a:rPr>
              <a:t>Memory Management</a:t>
            </a:r>
            <a:endParaRPr lang="en-US" sz="4500" dirty="0"/>
          </a:p>
        </p:txBody>
      </p:sp>
      <p:sp>
        <p:nvSpPr>
          <p:cNvPr id="4" name="Shape 2"/>
          <p:cNvSpPr/>
          <p:nvPr/>
        </p:nvSpPr>
        <p:spPr>
          <a:xfrm>
            <a:off x="952500" y="2087880"/>
            <a:ext cx="16383000" cy="28575"/>
          </a:xfrm>
          <a:prstGeom prst="rect">
            <a:avLst/>
          </a:prstGeom>
          <a:solidFill>
            <a:srgbClr val="211C14"/>
          </a:solidFill>
          <a:ln/>
        </p:spPr>
      </p:sp>
      <p:sp>
        <p:nvSpPr>
          <p:cNvPr id="5" name="Shape 3"/>
          <p:cNvSpPr/>
          <p:nvPr/>
        </p:nvSpPr>
        <p:spPr>
          <a:xfrm>
            <a:off x="952500" y="2535555"/>
            <a:ext cx="5283161" cy="2105978"/>
          </a:xfrm>
          <a:prstGeom prst="rect">
            <a:avLst/>
          </a:prstGeom>
          <a:solidFill>
            <a:srgbClr val="E9E2CF"/>
          </a:solidFill>
          <a:ln w="15240">
            <a:solidFill>
              <a:srgbClr val="211C14"/>
            </a:solidFill>
            <a:prstDash val="solid"/>
          </a:ln>
        </p:spPr>
      </p:sp>
      <p:sp>
        <p:nvSpPr>
          <p:cNvPr id="6" name="Text 4"/>
          <p:cNvSpPr/>
          <p:nvPr/>
        </p:nvSpPr>
        <p:spPr>
          <a:xfrm>
            <a:off x="1272540" y="2817495"/>
            <a:ext cx="5107388" cy="381000"/>
          </a:xfrm>
          <a:prstGeom prst="rect">
            <a:avLst/>
          </a:prstGeom>
          <a:noFill/>
          <a:ln/>
        </p:spPr>
        <p:txBody>
          <a:bodyPr wrap="square" lIns="25400" tIns="25400" rIns="25400" bIns="25400" rtlCol="0" anchor="t">
            <a:normAutofit/>
          </a:bodyPr>
          <a:lstStyle/>
          <a:p>
            <a:pPr algn="l" indent="0" marL="0">
              <a:buNone/>
            </a:pPr>
            <a:r>
              <a:rPr lang="en-US" sz="2400" b="1" dirty="0">
                <a:solidFill>
                  <a:srgbClr val="211C14"/>
                </a:solidFill>
                <a:latin typeface="Courier New" pitchFamily="34" charset="0"/>
                <a:ea typeface="Courier New" pitchFamily="34" charset="-122"/>
                <a:cs typeface="Courier New" pitchFamily="34" charset="-120"/>
              </a:rPr>
              <a:t>VCTBL</a:t>
            </a:r>
            <a:endParaRPr lang="en-US" sz="2400" dirty="0"/>
          </a:p>
        </p:txBody>
      </p:sp>
      <p:sp>
        <p:nvSpPr>
          <p:cNvPr id="7" name="Text 5"/>
          <p:cNvSpPr/>
          <p:nvPr/>
        </p:nvSpPr>
        <p:spPr>
          <a:xfrm>
            <a:off x="1272540" y="3274695"/>
            <a:ext cx="4782373" cy="1122998"/>
          </a:xfrm>
          <a:prstGeom prst="rect">
            <a:avLst/>
          </a:prstGeom>
          <a:noFill/>
          <a:ln/>
        </p:spPr>
        <p:txBody>
          <a:bodyPr wrap="square" lIns="25400" tIns="25400" rIns="25400" bIns="25400" rtlCol="0" anchor="t">
            <a:normAutofit/>
          </a:bodyPr>
          <a:lstStyle/>
          <a:p>
            <a:pPr algn="l" indent="0" marL="0">
              <a:lnSpc>
                <a:spcPct val="127365"/>
              </a:lnSpc>
              <a:buNone/>
            </a:pPr>
            <a:r>
              <a:rPr lang="en-US" sz="1950" dirty="0">
                <a:solidFill>
                  <a:srgbClr val="4A4335"/>
                </a:solidFill>
                <a:latin typeface="Arial" pitchFamily="34" charset="0"/>
                <a:ea typeface="Arial" pitchFamily="34" charset="-122"/>
                <a:cs typeface="Arial" pitchFamily="34" charset="-120"/>
              </a:rPr>
              <a:t>Virtual core table — the 8 pages the current process </a:t>
            </a:r>
            <a:pPr algn="l" indent="0" marL="0">
              <a:lnSpc>
                <a:spcPct val="127365"/>
              </a:lnSpc>
              <a:buNone/>
            </a:pPr>
            <a:r>
              <a:rPr lang="en-US" sz="1950" i="1" dirty="0">
                <a:solidFill>
                  <a:srgbClr val="4A4335"/>
                </a:solidFill>
                <a:latin typeface="Arial" pitchFamily="34" charset="0"/>
                <a:ea typeface="Arial" pitchFamily="34" charset="-122"/>
                <a:cs typeface="Arial" pitchFamily="34" charset="-120"/>
              </a:rPr>
              <a:t>wants </a:t>
            </a:r>
            <a:pPr algn="l" indent="0" marL="0">
              <a:lnSpc>
                <a:spcPct val="127365"/>
              </a:lnSpc>
              <a:buNone/>
            </a:pPr>
            <a:r>
              <a:rPr lang="en-US" sz="1950" dirty="0">
                <a:solidFill>
                  <a:srgbClr val="4A4335"/>
                </a:solidFill>
                <a:latin typeface="Arial" pitchFamily="34" charset="0"/>
                <a:ea typeface="Arial" pitchFamily="34" charset="-122"/>
                <a:cs typeface="Arial" pitchFamily="34" charset="-120"/>
              </a:rPr>
              <a:t>: mode, swap index, disk address.</a:t>
            </a:r>
            <a:endParaRPr lang="en-US" sz="1950" dirty="0"/>
          </a:p>
        </p:txBody>
      </p:sp>
      <p:sp>
        <p:nvSpPr>
          <p:cNvPr id="8" name="Shape 6"/>
          <p:cNvSpPr/>
          <p:nvPr/>
        </p:nvSpPr>
        <p:spPr>
          <a:xfrm>
            <a:off x="6502361" y="2535555"/>
            <a:ext cx="5283161" cy="2105978"/>
          </a:xfrm>
          <a:prstGeom prst="rect">
            <a:avLst/>
          </a:prstGeom>
          <a:solidFill>
            <a:srgbClr val="E9E2CF"/>
          </a:solidFill>
          <a:ln w="15240">
            <a:solidFill>
              <a:srgbClr val="211C14"/>
            </a:solidFill>
            <a:prstDash val="solid"/>
          </a:ln>
        </p:spPr>
      </p:sp>
      <p:sp>
        <p:nvSpPr>
          <p:cNvPr id="9" name="Text 7"/>
          <p:cNvSpPr/>
          <p:nvPr/>
        </p:nvSpPr>
        <p:spPr>
          <a:xfrm>
            <a:off x="6822400" y="2817495"/>
            <a:ext cx="5107388" cy="381000"/>
          </a:xfrm>
          <a:prstGeom prst="rect">
            <a:avLst/>
          </a:prstGeom>
          <a:noFill/>
          <a:ln/>
        </p:spPr>
        <p:txBody>
          <a:bodyPr wrap="square" lIns="25400" tIns="25400" rIns="25400" bIns="25400" rtlCol="0" anchor="t">
            <a:normAutofit/>
          </a:bodyPr>
          <a:lstStyle/>
          <a:p>
            <a:pPr algn="l" indent="0" marL="0">
              <a:buNone/>
            </a:pPr>
            <a:r>
              <a:rPr lang="en-US" sz="2400" b="1" dirty="0">
                <a:solidFill>
                  <a:srgbClr val="211C14"/>
                </a:solidFill>
                <a:latin typeface="Courier New" pitchFamily="34" charset="0"/>
                <a:ea typeface="Courier New" pitchFamily="34" charset="-122"/>
                <a:cs typeface="Courier New" pitchFamily="34" charset="-120"/>
              </a:rPr>
              <a:t>PCTBL</a:t>
            </a:r>
            <a:endParaRPr lang="en-US" sz="2400" dirty="0"/>
          </a:p>
        </p:txBody>
      </p:sp>
      <p:sp>
        <p:nvSpPr>
          <p:cNvPr id="10" name="Text 8"/>
          <p:cNvSpPr/>
          <p:nvPr/>
        </p:nvSpPr>
        <p:spPr>
          <a:xfrm>
            <a:off x="6822400" y="3274695"/>
            <a:ext cx="4782373" cy="756285"/>
          </a:xfrm>
          <a:prstGeom prst="rect">
            <a:avLst/>
          </a:prstGeom>
          <a:noFill/>
          <a:ln/>
        </p:spPr>
        <p:txBody>
          <a:bodyPr wrap="square" lIns="25400" tIns="25400" rIns="25400" bIns="25400" rtlCol="0" anchor="t">
            <a:normAutofit/>
          </a:bodyPr>
          <a:lstStyle/>
          <a:p>
            <a:pPr algn="l" indent="0" marL="0">
              <a:lnSpc>
                <a:spcPct val="127365"/>
              </a:lnSpc>
              <a:buNone/>
            </a:pPr>
            <a:r>
              <a:rPr lang="en-US" sz="1950" dirty="0">
                <a:solidFill>
                  <a:srgbClr val="4A4335"/>
                </a:solidFill>
                <a:latin typeface="Arial" pitchFamily="34" charset="0"/>
                <a:ea typeface="Arial" pitchFamily="34" charset="-122"/>
                <a:cs typeface="Arial" pitchFamily="34" charset="-120"/>
              </a:rPr>
              <a:t>Physical core table — what actually sits in each of the 8 core page frames right now.</a:t>
            </a:r>
            <a:endParaRPr lang="en-US" sz="1950" dirty="0"/>
          </a:p>
        </p:txBody>
      </p:sp>
      <p:sp>
        <p:nvSpPr>
          <p:cNvPr id="11" name="Shape 9"/>
          <p:cNvSpPr/>
          <p:nvPr/>
        </p:nvSpPr>
        <p:spPr>
          <a:xfrm>
            <a:off x="12052221" y="2535555"/>
            <a:ext cx="5283161" cy="2105978"/>
          </a:xfrm>
          <a:prstGeom prst="rect">
            <a:avLst/>
          </a:prstGeom>
          <a:solidFill>
            <a:srgbClr val="F7E3D4"/>
          </a:solidFill>
          <a:ln w="15240">
            <a:solidFill>
              <a:srgbClr val="C8501E"/>
            </a:solidFill>
            <a:prstDash val="solid"/>
          </a:ln>
        </p:spPr>
      </p:sp>
      <p:sp>
        <p:nvSpPr>
          <p:cNvPr id="12" name="Text 10"/>
          <p:cNvSpPr/>
          <p:nvPr/>
        </p:nvSpPr>
        <p:spPr>
          <a:xfrm>
            <a:off x="12372261" y="2817495"/>
            <a:ext cx="5107388" cy="381000"/>
          </a:xfrm>
          <a:prstGeom prst="rect">
            <a:avLst/>
          </a:prstGeom>
          <a:noFill/>
          <a:ln/>
        </p:spPr>
        <p:txBody>
          <a:bodyPr wrap="square" lIns="25400" tIns="25400" rIns="25400" bIns="25400" rtlCol="0" anchor="t">
            <a:normAutofit/>
          </a:bodyPr>
          <a:lstStyle/>
          <a:p>
            <a:pPr algn="l" indent="0" marL="0">
              <a:buNone/>
            </a:pPr>
            <a:r>
              <a:rPr lang="en-US" sz="2400" b="1" dirty="0">
                <a:solidFill>
                  <a:srgbClr val="A03E14"/>
                </a:solidFill>
                <a:latin typeface="Courier New" pitchFamily="34" charset="0"/>
                <a:ea typeface="Courier New" pitchFamily="34" charset="-122"/>
                <a:cs typeface="Courier New" pitchFamily="34" charset="-120"/>
              </a:rPr>
              <a:t>PDTBL</a:t>
            </a:r>
            <a:endParaRPr lang="en-US" sz="2400" dirty="0"/>
          </a:p>
        </p:txBody>
      </p:sp>
      <p:sp>
        <p:nvSpPr>
          <p:cNvPr id="13" name="Text 11"/>
          <p:cNvSpPr/>
          <p:nvPr/>
        </p:nvSpPr>
        <p:spPr>
          <a:xfrm>
            <a:off x="12372261" y="3274695"/>
            <a:ext cx="4782373" cy="1115377"/>
          </a:xfrm>
          <a:prstGeom prst="rect">
            <a:avLst/>
          </a:prstGeom>
          <a:noFill/>
          <a:ln/>
        </p:spPr>
        <p:txBody>
          <a:bodyPr wrap="square" lIns="25400" tIns="25400" rIns="25400" bIns="25400" rtlCol="0" anchor="t">
            <a:normAutofit/>
          </a:bodyPr>
          <a:lstStyle/>
          <a:p>
            <a:pPr algn="l" indent="0" marL="0">
              <a:lnSpc>
                <a:spcPct val="127365"/>
              </a:lnSpc>
              <a:buNone/>
            </a:pPr>
            <a:r>
              <a:rPr lang="en-US" sz="1950" dirty="0">
                <a:solidFill>
                  <a:srgbClr val="6D4830"/>
                </a:solidFill>
                <a:latin typeface="Arial" pitchFamily="34" charset="0"/>
                <a:ea typeface="Arial" pitchFamily="34" charset="-122"/>
                <a:cs typeface="Arial" pitchFamily="34" charset="-120"/>
              </a:rPr>
              <a:t>“Physical drum table” — the swap-space allocator: usage count, mode, file address per swap page.</a:t>
            </a:r>
            <a:endParaRPr lang="en-US" sz="1950" dirty="0"/>
          </a:p>
        </p:txBody>
      </p:sp>
      <p:sp>
        <p:nvSpPr>
          <p:cNvPr id="14" name="Text 12"/>
          <p:cNvSpPr/>
          <p:nvPr/>
        </p:nvSpPr>
        <p:spPr>
          <a:xfrm>
            <a:off x="952500" y="5022532"/>
            <a:ext cx="8044815" cy="1706880"/>
          </a:xfrm>
          <a:prstGeom prst="rect">
            <a:avLst/>
          </a:prstGeom>
          <a:noFill/>
          <a:ln/>
        </p:spPr>
        <p:txBody>
          <a:bodyPr wrap="square" lIns="25400" tIns="25400" rIns="25400" bIns="25400" rtlCol="0" anchor="t">
            <a:normAutofit/>
          </a:bodyPr>
          <a:lstStyle/>
          <a:p>
            <a:pPr algn="l" indent="0" marL="0">
              <a:lnSpc>
                <a:spcPct val="135625"/>
              </a:lnSpc>
              <a:buNone/>
            </a:pPr>
            <a:r>
              <a:rPr lang="en-US" sz="2100" b="1" dirty="0">
                <a:solidFill>
                  <a:srgbClr val="211C14"/>
                </a:solidFill>
                <a:latin typeface="Arial" pitchFamily="34" charset="0"/>
                <a:ea typeface="Arial" pitchFamily="34" charset="-122"/>
                <a:cs typeface="Arial" pitchFamily="34" charset="-120"/>
              </a:rPr>
              <a:t>Page modes </a:t>
            </a:r>
            <a:pPr algn="l" indent="0" marL="0">
              <a:lnSpc>
                <a:spcPct val="135625"/>
              </a:lnSpc>
              <a:buNone/>
            </a:pPr>
            <a:r>
              <a:rPr lang="en-US" sz="2100" dirty="0">
                <a:solidFill>
                  <a:srgbClr val="211C14"/>
                </a:solidFill>
                <a:latin typeface="Arial" pitchFamily="34" charset="0"/>
                <a:ea typeface="Arial" pitchFamily="34" charset="-122"/>
                <a:cs typeface="Arial" pitchFamily="34" charset="-120"/>
              </a:rPr>
              <a:t>drive swap policy: </a:t>
            </a:r>
            <a:pPr algn="l" indent="0" marL="0">
              <a:lnSpc>
                <a:spcPct val="135625"/>
              </a:lnSpc>
              <a:buNone/>
            </a:pPr>
            <a:r>
              <a:rPr lang="en-US" sz="2100" dirty="0">
                <a:solidFill>
                  <a:srgbClr val="211C14"/>
                </a:solidFill>
                <a:latin typeface="Courier New" pitchFamily="34" charset="0"/>
                <a:ea typeface="Courier New" pitchFamily="34" charset="-122"/>
                <a:cs typeface="Courier New" pitchFamily="34" charset="-120"/>
              </a:rPr>
              <a:t>MD=1 </a:t>
            </a:r>
            <a:pPr algn="l" indent="0" marL="0">
              <a:lnSpc>
                <a:spcPct val="135625"/>
              </a:lnSpc>
              <a:buNone/>
            </a:pPr>
            <a:r>
              <a:rPr lang="en-US" sz="2100" dirty="0">
                <a:solidFill>
                  <a:srgbClr val="211C14"/>
                </a:solidFill>
                <a:latin typeface="Arial" pitchFamily="34" charset="0"/>
                <a:ea typeface="Arial" pitchFamily="34" charset="-122"/>
                <a:cs typeface="Arial" pitchFamily="34" charset="-120"/>
              </a:rPr>
              <a:t>scratch (never written back), </a:t>
            </a:r>
            <a:pPr algn="l" indent="0" marL="0">
              <a:lnSpc>
                <a:spcPct val="135625"/>
              </a:lnSpc>
              <a:buNone/>
            </a:pPr>
            <a:r>
              <a:rPr lang="en-US" sz="2100" dirty="0">
                <a:solidFill>
                  <a:srgbClr val="211C14"/>
                </a:solidFill>
                <a:latin typeface="Courier New" pitchFamily="34" charset="0"/>
                <a:ea typeface="Courier New" pitchFamily="34" charset="-122"/>
                <a:cs typeface="Courier New" pitchFamily="34" charset="-120"/>
              </a:rPr>
              <a:t>MD=2 </a:t>
            </a:r>
            <a:pPr algn="l" indent="0" marL="0">
              <a:lnSpc>
                <a:spcPct val="135625"/>
              </a:lnSpc>
              <a:buNone/>
            </a:pPr>
            <a:r>
              <a:rPr lang="en-US" sz="2100" dirty="0">
                <a:solidFill>
                  <a:srgbClr val="211C14"/>
                </a:solidFill>
                <a:latin typeface="Arial" pitchFamily="34" charset="0"/>
                <a:ea typeface="Arial" pitchFamily="34" charset="-122"/>
                <a:cs typeface="Arial" pitchFamily="34" charset="-120"/>
              </a:rPr>
              <a:t>read-only — </a:t>
            </a:r>
            <a:pPr algn="l" indent="0" marL="0">
              <a:lnSpc>
                <a:spcPct val="135625"/>
              </a:lnSpc>
              <a:buNone/>
            </a:pPr>
            <a:r>
              <a:rPr lang="en-US" sz="2100" b="1" dirty="0">
                <a:solidFill>
                  <a:srgbClr val="211C14"/>
                </a:solidFill>
                <a:latin typeface="Arial" pitchFamily="34" charset="0"/>
                <a:ea typeface="Arial" pitchFamily="34" charset="-122"/>
                <a:cs typeface="Arial" pitchFamily="34" charset="-120"/>
              </a:rPr>
              <a:t>shared between processes </a:t>
            </a:r>
            <a:pPr algn="l" indent="0" marL="0">
              <a:lnSpc>
                <a:spcPct val="135625"/>
              </a:lnSpc>
              <a:buNone/>
            </a:pPr>
            <a:r>
              <a:rPr lang="en-US" sz="2100" dirty="0">
                <a:solidFill>
                  <a:srgbClr val="211C14"/>
                </a:solidFill>
                <a:latin typeface="Arial" pitchFamily="34" charset="0"/>
                <a:ea typeface="Arial" pitchFamily="34" charset="-122"/>
                <a:cs typeface="Arial" pitchFamily="34" charset="-120"/>
              </a:rPr>
              <a:t>via a reference count in PDTBL, </a:t>
            </a:r>
            <a:pPr algn="l" indent="0" marL="0">
              <a:lnSpc>
                <a:spcPct val="135625"/>
              </a:lnSpc>
              <a:buNone/>
            </a:pPr>
            <a:r>
              <a:rPr lang="en-US" sz="2100" dirty="0">
                <a:solidFill>
                  <a:srgbClr val="211C14"/>
                </a:solidFill>
                <a:latin typeface="Courier New" pitchFamily="34" charset="0"/>
                <a:ea typeface="Courier New" pitchFamily="34" charset="-122"/>
                <a:cs typeface="Courier New" pitchFamily="34" charset="-120"/>
              </a:rPr>
              <a:t>MD=3 </a:t>
            </a:r>
            <a:pPr algn="l" indent="0" marL="0">
              <a:lnSpc>
                <a:spcPct val="135625"/>
              </a:lnSpc>
              <a:buNone/>
            </a:pPr>
            <a:r>
              <a:rPr lang="en-US" sz="2100" dirty="0">
                <a:solidFill>
                  <a:srgbClr val="211C14"/>
                </a:solidFill>
                <a:latin typeface="Arial" pitchFamily="34" charset="0"/>
                <a:ea typeface="Arial" pitchFamily="34" charset="-122"/>
                <a:cs typeface="Arial" pitchFamily="34" charset="-120"/>
              </a:rPr>
              <a:t>read/write (written out on every switch).</a:t>
            </a:r>
            <a:endParaRPr lang="en-US" sz="2100" dirty="0"/>
          </a:p>
        </p:txBody>
      </p:sp>
      <p:sp>
        <p:nvSpPr>
          <p:cNvPr id="15" name="Text 13"/>
          <p:cNvSpPr/>
          <p:nvPr/>
        </p:nvSpPr>
        <p:spPr>
          <a:xfrm>
            <a:off x="952500" y="6881813"/>
            <a:ext cx="8044815" cy="872490"/>
          </a:xfrm>
          <a:prstGeom prst="rect">
            <a:avLst/>
          </a:prstGeom>
          <a:noFill/>
          <a:ln/>
        </p:spPr>
        <p:txBody>
          <a:bodyPr wrap="square" lIns="25400" tIns="25400" rIns="25400" bIns="25400" rtlCol="0" anchor="t">
            <a:normAutofit/>
          </a:bodyPr>
          <a:lstStyle/>
          <a:p>
            <a:pPr algn="l" indent="0" marL="0">
              <a:lnSpc>
                <a:spcPct val="135625"/>
              </a:lnSpc>
              <a:buNone/>
            </a:pPr>
            <a:r>
              <a:rPr lang="en-US" sz="2100" dirty="0">
                <a:solidFill>
                  <a:srgbClr val="211C14"/>
                </a:solidFill>
                <a:latin typeface="Arial" pitchFamily="34" charset="0"/>
                <a:ea typeface="Arial" pitchFamily="34" charset="-122"/>
                <a:cs typeface="Arial" pitchFamily="34" charset="-120"/>
              </a:rPr>
              <a:t>User space: </a:t>
            </a:r>
            <a:pPr algn="l" indent="0" marL="0">
              <a:lnSpc>
                <a:spcPct val="135625"/>
              </a:lnSpc>
              <a:buNone/>
            </a:pPr>
            <a:r>
              <a:rPr lang="en-US" sz="2100" dirty="0">
                <a:solidFill>
                  <a:srgbClr val="211C14"/>
                </a:solidFill>
                <a:latin typeface="Courier New" pitchFamily="34" charset="0"/>
                <a:ea typeface="Courier New" pitchFamily="34" charset="-122"/>
                <a:cs typeface="Courier New" pitchFamily="34" charset="-120"/>
              </a:rPr>
              <a:t>NPGS=8 </a:t>
            </a:r>
            <a:pPr algn="l" indent="0" marL="0">
              <a:lnSpc>
                <a:spcPct val="135625"/>
              </a:lnSpc>
              <a:buNone/>
            </a:pPr>
            <a:r>
              <a:rPr lang="en-US" sz="2100" dirty="0">
                <a:solidFill>
                  <a:srgbClr val="211C14"/>
                </a:solidFill>
                <a:latin typeface="Arial" pitchFamily="34" charset="0"/>
                <a:ea typeface="Arial" pitchFamily="34" charset="-122"/>
                <a:cs typeface="Arial" pitchFamily="34" charset="-120"/>
              </a:rPr>
              <a:t>pages of 2K words at </a:t>
            </a:r>
            <a:pPr algn="l" indent="0" marL="0">
              <a:lnSpc>
                <a:spcPct val="135625"/>
              </a:lnSpc>
              <a:buNone/>
            </a:pPr>
            <a:r>
              <a:rPr lang="en-US" sz="2100" dirty="0">
                <a:solidFill>
                  <a:srgbClr val="211C14"/>
                </a:solidFill>
                <a:latin typeface="Courier New" pitchFamily="34" charset="0"/>
                <a:ea typeface="Courier New" pitchFamily="34" charset="-122"/>
                <a:cs typeface="Courier New" pitchFamily="34" charset="-120"/>
              </a:rPr>
              <a:t>MSTRT=40000₈ </a:t>
            </a:r>
            <a:pPr algn="l" indent="0" marL="0">
              <a:lnSpc>
                <a:spcPct val="135625"/>
              </a:lnSpc>
              <a:buNone/>
            </a:pPr>
            <a:r>
              <a:rPr lang="en-US" sz="2100" dirty="0">
                <a:solidFill>
                  <a:srgbClr val="211C14"/>
                </a:solidFill>
                <a:latin typeface="Arial" pitchFamily="34" charset="0"/>
                <a:ea typeface="Arial" pitchFamily="34" charset="-122"/>
                <a:cs typeface="Arial" pitchFamily="34" charset="-120"/>
              </a:rPr>
              <a:t>. Swap pool: 36–72 pages, scaled by the TEL </a:t>
            </a:r>
            <a:pPr algn="l" indent="0" marL="0">
              <a:lnSpc>
                <a:spcPct val="135625"/>
              </a:lnSpc>
              <a:buNone/>
            </a:pPr>
            <a:r>
              <a:rPr lang="en-US" sz="2100" i="1" dirty="0">
                <a:solidFill>
                  <a:srgbClr val="211C14"/>
                </a:solidFill>
                <a:latin typeface="Arial" pitchFamily="34" charset="0"/>
                <a:ea typeface="Arial" pitchFamily="34" charset="-122"/>
                <a:cs typeface="Arial" pitchFamily="34" charset="-120"/>
              </a:rPr>
              <a:t>n </a:t>
            </a:r>
            <a:pPr algn="l" indent="0" marL="0">
              <a:lnSpc>
                <a:spcPct val="135625"/>
              </a:lnSpc>
              <a:buNone/>
            </a:pPr>
            <a:r>
              <a:rPr lang="en-US" sz="2100" dirty="0">
                <a:solidFill>
                  <a:srgbClr val="211C14"/>
                </a:solidFill>
                <a:latin typeface="Arial" pitchFamily="34" charset="0"/>
                <a:ea typeface="Arial" pitchFamily="34" charset="-122"/>
                <a:cs typeface="Arial" pitchFamily="34" charset="-120"/>
              </a:rPr>
              <a:t>mark.</a:t>
            </a:r>
            <a:endParaRPr lang="en-US" sz="2100" dirty="0"/>
          </a:p>
        </p:txBody>
      </p:sp>
      <p:sp>
        <p:nvSpPr>
          <p:cNvPr id="16" name="Text 14"/>
          <p:cNvSpPr/>
          <p:nvPr/>
        </p:nvSpPr>
        <p:spPr>
          <a:xfrm>
            <a:off x="9525000" y="5022532"/>
            <a:ext cx="8044815" cy="1301115"/>
          </a:xfrm>
          <a:prstGeom prst="rect">
            <a:avLst/>
          </a:prstGeom>
          <a:noFill/>
          <a:ln/>
        </p:spPr>
        <p:txBody>
          <a:bodyPr wrap="square" lIns="25400" tIns="25400" rIns="25400" bIns="25400" rtlCol="0" anchor="t">
            <a:normAutofit/>
          </a:bodyPr>
          <a:lstStyle/>
          <a:p>
            <a:pPr algn="l" indent="0" marL="0">
              <a:lnSpc>
                <a:spcPct val="135625"/>
              </a:lnSpc>
              <a:buNone/>
            </a:pPr>
            <a:r>
              <a:rPr lang="en-US" sz="2100" b="1" dirty="0">
                <a:solidFill>
                  <a:srgbClr val="211C14"/>
                </a:solidFill>
                <a:latin typeface="Arial" pitchFamily="34" charset="0"/>
                <a:ea typeface="Arial" pitchFamily="34" charset="-122"/>
                <a:cs typeface="Arial" pitchFamily="34" charset="-120"/>
              </a:rPr>
              <a:t>SMPR </a:t>
            </a:r>
            <a:pPr algn="l" indent="0" marL="0">
              <a:lnSpc>
                <a:spcPct val="135625"/>
              </a:lnSpc>
              <a:buNone/>
            </a:pPr>
            <a:r>
              <a:rPr lang="en-US" sz="2100" dirty="0">
                <a:solidFill>
                  <a:srgbClr val="211C14"/>
                </a:solidFill>
                <a:latin typeface="Arial" pitchFamily="34" charset="0"/>
                <a:ea typeface="Arial" pitchFamily="34" charset="-122"/>
                <a:cs typeface="Arial" pitchFamily="34" charset="-120"/>
              </a:rPr>
              <a:t>rebuilds protection after every switch: memory-protect registers on the NORD-1 (2K / 4K blocks) — real </a:t>
            </a:r>
            <a:pPr algn="l" indent="0" marL="0">
              <a:lnSpc>
                <a:spcPct val="135625"/>
              </a:lnSpc>
              <a:buNone/>
            </a:pPr>
            <a:r>
              <a:rPr lang="en-US" sz="2100" b="1" dirty="0">
                <a:solidFill>
                  <a:srgbClr val="211C14"/>
                </a:solidFill>
                <a:latin typeface="Arial" pitchFamily="34" charset="0"/>
                <a:ea typeface="Arial" pitchFamily="34" charset="-122"/>
                <a:cs typeface="Arial" pitchFamily="34" charset="-120"/>
              </a:rPr>
              <a:t>paging registers at 177400₈ </a:t>
            </a:r>
            <a:pPr algn="l" indent="0" marL="0">
              <a:lnSpc>
                <a:spcPct val="135625"/>
              </a:lnSpc>
              <a:buNone/>
            </a:pPr>
            <a:r>
              <a:rPr lang="en-US" sz="2100" dirty="0">
                <a:solidFill>
                  <a:srgbClr val="211C14"/>
                </a:solidFill>
                <a:latin typeface="Arial" pitchFamily="34" charset="0"/>
                <a:ea typeface="Arial" pitchFamily="34" charset="-122"/>
                <a:cs typeface="Arial" pitchFamily="34" charset="-120"/>
              </a:rPr>
              <a:t>on the NORD-10 (IPGTB sets them up at boot).</a:t>
            </a:r>
            <a:endParaRPr lang="en-US" sz="2100" dirty="0"/>
          </a:p>
        </p:txBody>
      </p:sp>
      <p:sp>
        <p:nvSpPr>
          <p:cNvPr id="17" name="Text 15"/>
          <p:cNvSpPr/>
          <p:nvPr/>
        </p:nvSpPr>
        <p:spPr>
          <a:xfrm>
            <a:off x="9525000" y="6476048"/>
            <a:ext cx="8044815" cy="872490"/>
          </a:xfrm>
          <a:prstGeom prst="rect">
            <a:avLst/>
          </a:prstGeom>
          <a:noFill/>
          <a:ln/>
        </p:spPr>
        <p:txBody>
          <a:bodyPr wrap="square" lIns="25400" tIns="25400" rIns="25400" bIns="25400" rtlCol="0" anchor="t">
            <a:normAutofit/>
          </a:bodyPr>
          <a:lstStyle/>
          <a:p>
            <a:pPr algn="l" indent="0" marL="0">
              <a:lnSpc>
                <a:spcPct val="135625"/>
              </a:lnSpc>
              <a:buNone/>
            </a:pPr>
            <a:r>
              <a:rPr lang="en-US" sz="2100" dirty="0">
                <a:solidFill>
                  <a:srgbClr val="211C14"/>
                </a:solidFill>
                <a:latin typeface="Arial" pitchFamily="34" charset="0"/>
                <a:ea typeface="Arial" pitchFamily="34" charset="-122"/>
                <a:cs typeface="Arial" pitchFamily="34" charset="-120"/>
              </a:rPr>
              <a:t>A process's registers live in its </a:t>
            </a:r>
            <a:pPr algn="l" indent="0" marL="0">
              <a:lnSpc>
                <a:spcPct val="135625"/>
              </a:lnSpc>
              <a:buNone/>
            </a:pPr>
            <a:r>
              <a:rPr lang="en-US" sz="2100" b="1" dirty="0">
                <a:solidFill>
                  <a:srgbClr val="211C14"/>
                </a:solidFill>
                <a:latin typeface="Arial" pitchFamily="34" charset="0"/>
                <a:ea typeface="Arial" pitchFamily="34" charset="-122"/>
                <a:cs typeface="Arial" pitchFamily="34" charset="-120"/>
              </a:rPr>
              <a:t>context block </a:t>
            </a:r>
            <a:pPr algn="l" indent="0" marL="0">
              <a:lnSpc>
                <a:spcPct val="135625"/>
              </a:lnSpc>
              <a:buNone/>
            </a:pPr>
            <a:r>
              <a:rPr lang="en-US" sz="2100" dirty="0">
                <a:solidFill>
                  <a:srgbClr val="211C14"/>
                </a:solidFill>
                <a:latin typeface="Arial" pitchFamily="34" charset="0"/>
                <a:ea typeface="Arial" pitchFamily="34" charset="-122"/>
                <a:cs typeface="Arial" pitchFamily="34" charset="-120"/>
              </a:rPr>
              <a:t>(RBLOK), stored as swap page 0 — 8 sectors at </a:t>
            </a:r>
            <a:pPr algn="l" indent="0" marL="0">
              <a:lnSpc>
                <a:spcPct val="135625"/>
              </a:lnSpc>
              <a:buNone/>
            </a:pPr>
            <a:r>
              <a:rPr lang="en-US" sz="2100" dirty="0">
                <a:solidFill>
                  <a:srgbClr val="211C14"/>
                </a:solidFill>
                <a:latin typeface="Courier New" pitchFamily="34" charset="0"/>
                <a:ea typeface="Courier New" pitchFamily="34" charset="-122"/>
                <a:cs typeface="Courier New" pitchFamily="34" charset="-120"/>
              </a:rPr>
              <a:t>DKA1 + index×8</a:t>
            </a:r>
            <a:pPr algn="l" indent="0" marL="0">
              <a:lnSpc>
                <a:spcPct val="135625"/>
              </a:lnSpc>
              <a:buNone/>
            </a:pPr>
            <a:r>
              <a:rPr lang="en-US" sz="2100" dirty="0">
                <a:solidFill>
                  <a:srgbClr val="211C14"/>
                </a:solidFill>
                <a:latin typeface="Arial" pitchFamily="34" charset="0"/>
                <a:ea typeface="Arial" pitchFamily="34" charset="-122"/>
                <a:cs typeface="Arial" pitchFamily="34" charset="-120"/>
              </a:rPr>
              <a:t>.</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EDE1"/>
        </a:solidFill>
      </p:bgPr>
    </p:bg>
    <p:spTree>
      <p:nvGrpSpPr>
        <p:cNvPr id="1" name=""/>
        <p:cNvGrpSpPr/>
        <p:nvPr/>
      </p:nvGrpSpPr>
      <p:grpSpPr>
        <a:xfrm>
          <a:off x="0" y="0"/>
          <a:ext cx="0" cy="0"/>
          <a:chOff x="0" y="0"/>
          <a:chExt cx="0" cy="0"/>
        </a:xfrm>
      </p:grpSpPr>
      <p:sp>
        <p:nvSpPr>
          <p:cNvPr id="2" name="Text 0"/>
          <p:cNvSpPr/>
          <p:nvPr/>
        </p:nvSpPr>
        <p:spPr>
          <a:xfrm>
            <a:off x="952500" y="857250"/>
            <a:ext cx="18021300" cy="33528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C8501E"/>
                </a:solidFill>
                <a:latin typeface="Courier New" pitchFamily="34" charset="0"/>
                <a:ea typeface="Courier New" pitchFamily="34" charset="-122"/>
                <a:cs typeface="Courier New" pitchFamily="34" charset="-120"/>
              </a:rPr>
              <a:t>SECTION 01 · KERNEL</a:t>
            </a:r>
            <a:endParaRPr lang="en-US" sz="1800" dirty="0"/>
          </a:p>
        </p:txBody>
      </p:sp>
      <p:sp>
        <p:nvSpPr>
          <p:cNvPr id="3" name="Text 1"/>
          <p:cNvSpPr/>
          <p:nvPr/>
        </p:nvSpPr>
        <p:spPr>
          <a:xfrm>
            <a:off x="952500" y="1306830"/>
            <a:ext cx="18021300" cy="666750"/>
          </a:xfrm>
          <a:prstGeom prst="rect">
            <a:avLst/>
          </a:prstGeom>
          <a:noFill/>
          <a:ln/>
        </p:spPr>
        <p:txBody>
          <a:bodyPr wrap="square" lIns="25400" tIns="25400" rIns="25400" bIns="25400" rtlCol="0" anchor="t">
            <a:normAutofit/>
          </a:bodyPr>
          <a:lstStyle/>
          <a:p>
            <a:pPr algn="l" indent="0" marL="0">
              <a:lnSpc>
                <a:spcPct val="97059"/>
              </a:lnSpc>
              <a:buNone/>
            </a:pPr>
            <a:r>
              <a:rPr lang="en-US" sz="4500" b="1" dirty="0">
                <a:solidFill>
                  <a:srgbClr val="211C14"/>
                </a:solidFill>
                <a:latin typeface="Courier New" pitchFamily="34" charset="0"/>
                <a:ea typeface="Courier New" pitchFamily="34" charset="-122"/>
                <a:cs typeface="Courier New" pitchFamily="34" charset="-120"/>
              </a:rPr>
              <a:t>Scheduling</a:t>
            </a:r>
            <a:endParaRPr lang="en-US" sz="4500" dirty="0"/>
          </a:p>
        </p:txBody>
      </p:sp>
      <p:sp>
        <p:nvSpPr>
          <p:cNvPr id="4" name="Shape 2"/>
          <p:cNvSpPr/>
          <p:nvPr/>
        </p:nvSpPr>
        <p:spPr>
          <a:xfrm>
            <a:off x="952500" y="2087880"/>
            <a:ext cx="16383000" cy="28575"/>
          </a:xfrm>
          <a:prstGeom prst="rect">
            <a:avLst/>
          </a:prstGeom>
          <a:solidFill>
            <a:srgbClr val="211C14"/>
          </a:solidFill>
          <a:ln/>
        </p:spPr>
      </p:sp>
      <p:sp>
        <p:nvSpPr>
          <p:cNvPr id="5" name="Shape 3"/>
          <p:cNvSpPr/>
          <p:nvPr/>
        </p:nvSpPr>
        <p:spPr>
          <a:xfrm>
            <a:off x="952500" y="2535555"/>
            <a:ext cx="7239000" cy="5233988"/>
          </a:xfrm>
          <a:prstGeom prst="rect">
            <a:avLst/>
          </a:prstGeom>
          <a:solidFill>
            <a:srgbClr val="2A2620"/>
          </a:solidFill>
          <a:ln/>
        </p:spPr>
      </p:sp>
      <p:sp>
        <p:nvSpPr>
          <p:cNvPr id="6" name="Text 4"/>
          <p:cNvSpPr/>
          <p:nvPr/>
        </p:nvSpPr>
        <p:spPr>
          <a:xfrm>
            <a:off x="1371600" y="2916555"/>
            <a:ext cx="6592824" cy="454819"/>
          </a:xfrm>
          <a:prstGeom prst="rect">
            <a:avLst/>
          </a:prstGeom>
          <a:noFill/>
          <a:ln/>
        </p:spPr>
        <p:txBody>
          <a:bodyPr wrap="square" lIns="25400" tIns="25400" rIns="25400" bIns="25400" rtlCol="0" anchor="t">
            <a:normAutofit/>
          </a:bodyPr>
          <a:lstStyle/>
          <a:p>
            <a:pPr algn="l" indent="0" marL="0">
              <a:lnSpc>
                <a:spcPct val="156250"/>
              </a:lnSpc>
              <a:buNone/>
            </a:pPr>
            <a:r>
              <a:rPr lang="en-US" sz="1875" dirty="0">
                <a:solidFill>
                  <a:srgbClr val="E8935A"/>
                </a:solidFill>
                <a:latin typeface="Courier New" pitchFamily="34" charset="0"/>
                <a:ea typeface="Courier New" pitchFamily="34" charset="-122"/>
                <a:cs typeface="Courier New" pitchFamily="34" charset="-120"/>
              </a:rPr>
              <a:t>% PROCESS TABLE (PRT) — 8 WORDS / PROCESS</a:t>
            </a:r>
            <a:endParaRPr lang="en-US" sz="1875" dirty="0"/>
          </a:p>
        </p:txBody>
      </p:sp>
      <p:sp>
        <p:nvSpPr>
          <p:cNvPr id="7" name="Text 5"/>
          <p:cNvSpPr/>
          <p:nvPr/>
        </p:nvSpPr>
        <p:spPr>
          <a:xfrm>
            <a:off x="1371600" y="3466624"/>
            <a:ext cx="6592824" cy="454819"/>
          </a:xfrm>
          <a:prstGeom prst="rect">
            <a:avLst/>
          </a:prstGeom>
          <a:noFill/>
          <a:ln/>
        </p:spPr>
        <p:txBody>
          <a:bodyPr wrap="square" lIns="25400" tIns="25400" rIns="25400" bIns="25400" rtlCol="0" anchor="t">
            <a:normAutofit/>
          </a:bodyPr>
          <a:lstStyle/>
          <a:p>
            <a:pPr algn="l" indent="0" marL="0">
              <a:lnSpc>
                <a:spcPct val="156250"/>
              </a:lnSpc>
              <a:buNone/>
            </a:pPr>
            <a:r>
              <a:rPr lang="en-US" sz="1875" dirty="0">
                <a:solidFill>
                  <a:srgbClr val="E6DEC9"/>
                </a:solidFill>
                <a:latin typeface="Courier New" pitchFamily="34" charset="0"/>
                <a:ea typeface="Courier New" pitchFamily="34" charset="-122"/>
                <a:cs typeface="Courier New" pitchFamily="34" charset="-120"/>
              </a:rPr>
              <a:t>PRT1, 0 </a:t>
            </a:r>
            <a:pPr algn="l" indent="0" marL="0">
              <a:lnSpc>
                <a:spcPct val="156250"/>
              </a:lnSpc>
              <a:buNone/>
            </a:pPr>
            <a:r>
              <a:rPr lang="en-US" sz="1875" dirty="0">
                <a:solidFill>
                  <a:srgbClr val="8F8570"/>
                </a:solidFill>
                <a:latin typeface="Courier New" pitchFamily="34" charset="0"/>
                <a:ea typeface="Courier New" pitchFamily="34" charset="-122"/>
                <a:cs typeface="Courier New" pitchFamily="34" charset="-120"/>
              </a:rPr>
              <a:t>%PDTBL INDEX OF CONTEXT BLOCK</a:t>
            </a:r>
            <a:endParaRPr lang="en-US" sz="1875" dirty="0"/>
          </a:p>
        </p:txBody>
      </p:sp>
      <p:sp>
        <p:nvSpPr>
          <p:cNvPr id="8" name="Text 6"/>
          <p:cNvSpPr/>
          <p:nvPr/>
        </p:nvSpPr>
        <p:spPr>
          <a:xfrm>
            <a:off x="1371600" y="3883343"/>
            <a:ext cx="6592824" cy="454819"/>
          </a:xfrm>
          <a:prstGeom prst="rect">
            <a:avLst/>
          </a:prstGeom>
          <a:noFill/>
          <a:ln/>
        </p:spPr>
        <p:txBody>
          <a:bodyPr wrap="square" lIns="25400" tIns="25400" rIns="25400" bIns="25400" rtlCol="0" anchor="t">
            <a:normAutofit/>
          </a:bodyPr>
          <a:lstStyle/>
          <a:p>
            <a:pPr algn="l" indent="0" marL="0">
              <a:lnSpc>
                <a:spcPct val="156250"/>
              </a:lnSpc>
              <a:buNone/>
            </a:pPr>
            <a:r>
              <a:rPr lang="en-US" sz="1875" dirty="0">
                <a:solidFill>
                  <a:srgbClr val="E6DEC9"/>
                </a:solidFill>
                <a:latin typeface="Courier New" pitchFamily="34" charset="0"/>
                <a:ea typeface="Courier New" pitchFamily="34" charset="-122"/>
                <a:cs typeface="Courier New" pitchFamily="34" charset="-120"/>
              </a:rPr>
              <a:t>0 </a:t>
            </a:r>
            <a:pPr algn="l" indent="0" marL="0">
              <a:lnSpc>
                <a:spcPct val="156250"/>
              </a:lnSpc>
              <a:buNone/>
            </a:pPr>
            <a:r>
              <a:rPr lang="en-US" sz="1875" dirty="0">
                <a:solidFill>
                  <a:srgbClr val="8F8570"/>
                </a:solidFill>
                <a:latin typeface="Courier New" pitchFamily="34" charset="0"/>
                <a:ea typeface="Courier New" pitchFamily="34" charset="-122"/>
                <a:cs typeface="Courier New" pitchFamily="34" charset="-120"/>
              </a:rPr>
              <a:t>%QUANTUM TIMER</a:t>
            </a:r>
            <a:endParaRPr lang="en-US" sz="1875" dirty="0"/>
          </a:p>
        </p:txBody>
      </p:sp>
      <p:sp>
        <p:nvSpPr>
          <p:cNvPr id="9" name="Text 7"/>
          <p:cNvSpPr/>
          <p:nvPr/>
        </p:nvSpPr>
        <p:spPr>
          <a:xfrm>
            <a:off x="1371600" y="4300061"/>
            <a:ext cx="6592824" cy="454819"/>
          </a:xfrm>
          <a:prstGeom prst="rect">
            <a:avLst/>
          </a:prstGeom>
          <a:noFill/>
          <a:ln/>
        </p:spPr>
        <p:txBody>
          <a:bodyPr wrap="square" lIns="25400" tIns="25400" rIns="25400" bIns="25400" rtlCol="0" anchor="t">
            <a:normAutofit/>
          </a:bodyPr>
          <a:lstStyle/>
          <a:p>
            <a:pPr algn="l" indent="0" marL="0">
              <a:lnSpc>
                <a:spcPct val="156250"/>
              </a:lnSpc>
              <a:buNone/>
            </a:pPr>
            <a:r>
              <a:rPr lang="en-US" sz="1875" dirty="0">
                <a:solidFill>
                  <a:srgbClr val="E6DEC9"/>
                </a:solidFill>
                <a:latin typeface="Courier New" pitchFamily="34" charset="0"/>
                <a:ea typeface="Courier New" pitchFamily="34" charset="-122"/>
                <a:cs typeface="Courier New" pitchFamily="34" charset="-120"/>
              </a:rPr>
              <a:t>0;0 </a:t>
            </a:r>
            <a:pPr algn="l" indent="0" marL="0">
              <a:lnSpc>
                <a:spcPct val="156250"/>
              </a:lnSpc>
              <a:buNone/>
            </a:pPr>
            <a:r>
              <a:rPr lang="en-US" sz="1875" dirty="0">
                <a:solidFill>
                  <a:srgbClr val="8F8570"/>
                </a:solidFill>
                <a:latin typeface="Courier New" pitchFamily="34" charset="0"/>
                <a:ea typeface="Courier New" pitchFamily="34" charset="-122"/>
                <a:cs typeface="Courier New" pitchFamily="34" charset="-120"/>
              </a:rPr>
              <a:t>%COMPUTE TIMER</a:t>
            </a:r>
            <a:endParaRPr lang="en-US" sz="1875" dirty="0"/>
          </a:p>
        </p:txBody>
      </p:sp>
      <p:sp>
        <p:nvSpPr>
          <p:cNvPr id="10" name="Text 8"/>
          <p:cNvSpPr/>
          <p:nvPr/>
        </p:nvSpPr>
        <p:spPr>
          <a:xfrm>
            <a:off x="1371600" y="4716780"/>
            <a:ext cx="6592824" cy="454819"/>
          </a:xfrm>
          <a:prstGeom prst="rect">
            <a:avLst/>
          </a:prstGeom>
          <a:noFill/>
          <a:ln/>
        </p:spPr>
        <p:txBody>
          <a:bodyPr wrap="square" lIns="25400" tIns="25400" rIns="25400" bIns="25400" rtlCol="0" anchor="t">
            <a:normAutofit/>
          </a:bodyPr>
          <a:lstStyle/>
          <a:p>
            <a:pPr algn="l" indent="0" marL="0">
              <a:lnSpc>
                <a:spcPct val="156250"/>
              </a:lnSpc>
              <a:buNone/>
            </a:pPr>
            <a:r>
              <a:rPr lang="en-US" sz="1875" dirty="0">
                <a:solidFill>
                  <a:srgbClr val="E6DEC9"/>
                </a:solidFill>
                <a:latin typeface="Courier New" pitchFamily="34" charset="0"/>
                <a:ea typeface="Courier New" pitchFamily="34" charset="-122"/>
                <a:cs typeface="Courier New" pitchFamily="34" charset="-120"/>
              </a:rPr>
              <a:t>0 </a:t>
            </a:r>
            <a:pPr algn="l" indent="0" marL="0">
              <a:lnSpc>
                <a:spcPct val="156250"/>
              </a:lnSpc>
              <a:buNone/>
            </a:pPr>
            <a:r>
              <a:rPr lang="en-US" sz="1875" dirty="0">
                <a:solidFill>
                  <a:srgbClr val="8F8570"/>
                </a:solidFill>
                <a:latin typeface="Courier New" pitchFamily="34" charset="0"/>
                <a:ea typeface="Courier New" pitchFamily="34" charset="-122"/>
                <a:cs typeface="Courier New" pitchFamily="34" charset="-120"/>
              </a:rPr>
              <a:t>%STATUS: BLOCK·RUBOUT·I/O BITS</a:t>
            </a:r>
            <a:endParaRPr lang="en-US" sz="1875" dirty="0"/>
          </a:p>
        </p:txBody>
      </p:sp>
      <p:sp>
        <p:nvSpPr>
          <p:cNvPr id="11" name="Text 9"/>
          <p:cNvSpPr/>
          <p:nvPr/>
        </p:nvSpPr>
        <p:spPr>
          <a:xfrm>
            <a:off x="1371600" y="5133499"/>
            <a:ext cx="6592824" cy="454819"/>
          </a:xfrm>
          <a:prstGeom prst="rect">
            <a:avLst/>
          </a:prstGeom>
          <a:noFill/>
          <a:ln/>
        </p:spPr>
        <p:txBody>
          <a:bodyPr wrap="square" lIns="25400" tIns="25400" rIns="25400" bIns="25400" rtlCol="0" anchor="t">
            <a:normAutofit/>
          </a:bodyPr>
          <a:lstStyle/>
          <a:p>
            <a:pPr algn="l" indent="0" marL="0">
              <a:lnSpc>
                <a:spcPct val="156250"/>
              </a:lnSpc>
              <a:buNone/>
            </a:pPr>
            <a:r>
              <a:rPr lang="en-US" sz="1875" dirty="0">
                <a:solidFill>
                  <a:srgbClr val="E6DEC9"/>
                </a:solidFill>
                <a:latin typeface="Courier New" pitchFamily="34" charset="0"/>
                <a:ea typeface="Courier New" pitchFamily="34" charset="-122"/>
                <a:cs typeface="Courier New" pitchFamily="34" charset="-120"/>
              </a:rPr>
              <a:t>0 </a:t>
            </a:r>
            <a:pPr algn="l" indent="0" marL="0">
              <a:lnSpc>
                <a:spcPct val="156250"/>
              </a:lnSpc>
              <a:buNone/>
            </a:pPr>
            <a:r>
              <a:rPr lang="en-US" sz="1875" dirty="0">
                <a:solidFill>
                  <a:srgbClr val="8F8570"/>
                </a:solidFill>
                <a:latin typeface="Courier New" pitchFamily="34" charset="0"/>
                <a:ea typeface="Courier New" pitchFamily="34" charset="-122"/>
                <a:cs typeface="Courier New" pitchFamily="34" charset="-120"/>
              </a:rPr>
              <a:t>%TTY USAGE (&lt;0 DEAD, 0 INIT, &gt;0 ALIVE)</a:t>
            </a:r>
            <a:endParaRPr lang="en-US" sz="1875" dirty="0"/>
          </a:p>
        </p:txBody>
      </p:sp>
      <p:sp>
        <p:nvSpPr>
          <p:cNvPr id="12" name="Text 10"/>
          <p:cNvSpPr/>
          <p:nvPr/>
        </p:nvSpPr>
        <p:spPr>
          <a:xfrm>
            <a:off x="1371600" y="5550218"/>
            <a:ext cx="6592824" cy="454819"/>
          </a:xfrm>
          <a:prstGeom prst="rect">
            <a:avLst/>
          </a:prstGeom>
          <a:noFill/>
          <a:ln/>
        </p:spPr>
        <p:txBody>
          <a:bodyPr wrap="square" lIns="25400" tIns="25400" rIns="25400" bIns="25400" rtlCol="0" anchor="t">
            <a:normAutofit/>
          </a:bodyPr>
          <a:lstStyle/>
          <a:p>
            <a:pPr algn="l" indent="0" marL="0">
              <a:lnSpc>
                <a:spcPct val="156250"/>
              </a:lnSpc>
              <a:buNone/>
            </a:pPr>
            <a:r>
              <a:rPr lang="en-US" sz="1875" dirty="0">
                <a:solidFill>
                  <a:srgbClr val="E6DEC9"/>
                </a:solidFill>
                <a:latin typeface="Courier New" pitchFamily="34" charset="0"/>
                <a:ea typeface="Courier New" pitchFamily="34" charset="-122"/>
                <a:cs typeface="Courier New" pitchFamily="34" charset="-120"/>
              </a:rPr>
              <a:t>0 </a:t>
            </a:r>
            <a:pPr algn="l" indent="0" marL="0">
              <a:lnSpc>
                <a:spcPct val="156250"/>
              </a:lnSpc>
              <a:buNone/>
            </a:pPr>
            <a:r>
              <a:rPr lang="en-US" sz="1875" dirty="0">
                <a:solidFill>
                  <a:srgbClr val="8F8570"/>
                </a:solidFill>
                <a:latin typeface="Courier New" pitchFamily="34" charset="0"/>
                <a:ea typeface="Courier New" pitchFamily="34" charset="-122"/>
                <a:cs typeface="Courier New" pitchFamily="34" charset="-120"/>
              </a:rPr>
              <a:t>%FREE WORD</a:t>
            </a:r>
            <a:endParaRPr lang="en-US" sz="1875" dirty="0"/>
          </a:p>
        </p:txBody>
      </p:sp>
      <p:sp>
        <p:nvSpPr>
          <p:cNvPr id="13" name="Text 11"/>
          <p:cNvSpPr/>
          <p:nvPr/>
        </p:nvSpPr>
        <p:spPr>
          <a:xfrm>
            <a:off x="1371600" y="5966936"/>
            <a:ext cx="6592824" cy="454819"/>
          </a:xfrm>
          <a:prstGeom prst="rect">
            <a:avLst/>
          </a:prstGeom>
          <a:noFill/>
          <a:ln/>
        </p:spPr>
        <p:txBody>
          <a:bodyPr wrap="square" lIns="25400" tIns="25400" rIns="25400" bIns="25400" rtlCol="0" anchor="t">
            <a:normAutofit/>
          </a:bodyPr>
          <a:lstStyle/>
          <a:p>
            <a:pPr algn="l" indent="0" marL="0">
              <a:lnSpc>
                <a:spcPct val="156250"/>
              </a:lnSpc>
              <a:buNone/>
            </a:pPr>
            <a:r>
              <a:rPr lang="en-US" sz="1875" dirty="0">
                <a:solidFill>
                  <a:srgbClr val="E6DEC9"/>
                </a:solidFill>
                <a:latin typeface="Courier New" pitchFamily="34" charset="0"/>
                <a:ea typeface="Courier New" pitchFamily="34" charset="-122"/>
                <a:cs typeface="Courier New" pitchFamily="34" charset="-120"/>
              </a:rPr>
              <a:t>0 </a:t>
            </a:r>
            <a:pPr algn="l" indent="0" marL="0">
              <a:lnSpc>
                <a:spcPct val="156250"/>
              </a:lnSpc>
              <a:buNone/>
            </a:pPr>
            <a:r>
              <a:rPr lang="en-US" sz="1875" dirty="0">
                <a:solidFill>
                  <a:srgbClr val="8F8570"/>
                </a:solidFill>
                <a:latin typeface="Courier New" pitchFamily="34" charset="0"/>
                <a:ea typeface="Courier New" pitchFamily="34" charset="-122"/>
                <a:cs typeface="Courier New" pitchFamily="34" charset="-120"/>
              </a:rPr>
              <a:t>%SAVED PID</a:t>
            </a:r>
            <a:endParaRPr lang="en-US" sz="1875" dirty="0"/>
          </a:p>
        </p:txBody>
      </p:sp>
      <p:sp>
        <p:nvSpPr>
          <p:cNvPr id="14" name="Text 12"/>
          <p:cNvSpPr/>
          <p:nvPr/>
        </p:nvSpPr>
        <p:spPr>
          <a:xfrm>
            <a:off x="1371600" y="6555105"/>
            <a:ext cx="6592824" cy="454819"/>
          </a:xfrm>
          <a:prstGeom prst="rect">
            <a:avLst/>
          </a:prstGeom>
          <a:noFill/>
          <a:ln/>
        </p:spPr>
        <p:txBody>
          <a:bodyPr wrap="square" lIns="25400" tIns="25400" rIns="25400" bIns="25400" rtlCol="0" anchor="t">
            <a:normAutofit/>
          </a:bodyPr>
          <a:lstStyle/>
          <a:p>
            <a:pPr algn="l" indent="0" marL="0">
              <a:lnSpc>
                <a:spcPct val="156250"/>
              </a:lnSpc>
              <a:buNone/>
            </a:pPr>
            <a:r>
              <a:rPr lang="en-US" sz="1875" dirty="0">
                <a:solidFill>
                  <a:srgbClr val="E6DEC9"/>
                </a:solidFill>
                <a:latin typeface="Courier New" pitchFamily="34" charset="0"/>
                <a:ea typeface="Courier New" pitchFamily="34" charset="-122"/>
                <a:cs typeface="Courier New" pitchFamily="34" charset="-120"/>
              </a:rPr>
              <a:t>QUANT, -17 </a:t>
            </a:r>
            <a:pPr algn="l" indent="0" marL="0">
              <a:lnSpc>
                <a:spcPct val="156250"/>
              </a:lnSpc>
              <a:buNone/>
            </a:pPr>
            <a:r>
              <a:rPr lang="en-US" sz="1875" dirty="0">
                <a:solidFill>
                  <a:srgbClr val="8F8570"/>
                </a:solidFill>
                <a:latin typeface="Courier New" pitchFamily="34" charset="0"/>
                <a:ea typeface="Courier New" pitchFamily="34" charset="-122"/>
                <a:cs typeface="Courier New" pitchFamily="34" charset="-120"/>
              </a:rPr>
              <a:t>%QUANTUM (NEG. TICK COUNT)</a:t>
            </a:r>
            <a:endParaRPr lang="en-US" sz="1875" dirty="0"/>
          </a:p>
        </p:txBody>
      </p:sp>
      <p:sp>
        <p:nvSpPr>
          <p:cNvPr id="15" name="Text 13"/>
          <p:cNvSpPr/>
          <p:nvPr/>
        </p:nvSpPr>
        <p:spPr>
          <a:xfrm>
            <a:off x="1371600" y="6971824"/>
            <a:ext cx="6592824" cy="454819"/>
          </a:xfrm>
          <a:prstGeom prst="rect">
            <a:avLst/>
          </a:prstGeom>
          <a:noFill/>
          <a:ln/>
        </p:spPr>
        <p:txBody>
          <a:bodyPr wrap="square" lIns="25400" tIns="25400" rIns="25400" bIns="25400" rtlCol="0" anchor="t">
            <a:normAutofit/>
          </a:bodyPr>
          <a:lstStyle/>
          <a:p>
            <a:pPr algn="l" indent="0" marL="0">
              <a:lnSpc>
                <a:spcPct val="156250"/>
              </a:lnSpc>
              <a:buNone/>
            </a:pPr>
            <a:r>
              <a:rPr lang="en-US" sz="1875" dirty="0">
                <a:solidFill>
                  <a:srgbClr val="E6DEC9"/>
                </a:solidFill>
                <a:latin typeface="Courier New" pitchFamily="34" charset="0"/>
                <a:ea typeface="Courier New" pitchFamily="34" charset="-122"/>
                <a:cs typeface="Courier New" pitchFamily="34" charset="-120"/>
              </a:rPr>
              <a:t>LQUA, 24 </a:t>
            </a:r>
            <a:pPr algn="l" indent="0" marL="0">
              <a:lnSpc>
                <a:spcPct val="156250"/>
              </a:lnSpc>
              <a:buNone/>
            </a:pPr>
            <a:r>
              <a:rPr lang="en-US" sz="1875" dirty="0">
                <a:solidFill>
                  <a:srgbClr val="8F8570"/>
                </a:solidFill>
                <a:latin typeface="Courier New" pitchFamily="34" charset="0"/>
                <a:ea typeface="Courier New" pitchFamily="34" charset="-122"/>
                <a:cs typeface="Courier New" pitchFamily="34" charset="-120"/>
              </a:rPr>
              <a:t>%SMALL QUANTA PER LARGE QUANTUM</a:t>
            </a:r>
            <a:endParaRPr lang="en-US" sz="1875" dirty="0"/>
          </a:p>
        </p:txBody>
      </p:sp>
      <p:sp>
        <p:nvSpPr>
          <p:cNvPr id="16" name="Text 14"/>
          <p:cNvSpPr/>
          <p:nvPr/>
        </p:nvSpPr>
        <p:spPr>
          <a:xfrm>
            <a:off x="8953500" y="2535555"/>
            <a:ext cx="8633460" cy="874395"/>
          </a:xfrm>
          <a:prstGeom prst="rect">
            <a:avLst/>
          </a:prstGeom>
          <a:noFill/>
          <a:ln/>
        </p:spPr>
        <p:txBody>
          <a:bodyPr wrap="square" lIns="25400" tIns="25400" rIns="25400" bIns="25400" rtlCol="0" anchor="t">
            <a:normAutofit/>
          </a:bodyPr>
          <a:lstStyle/>
          <a:p>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The subsidiary clock (level 9) increments the running process's </a:t>
            </a:r>
            <a:pPr algn="l" indent="0" marL="0">
              <a:lnSpc>
                <a:spcPct val="129464"/>
              </a:lnSpc>
              <a:buNone/>
            </a:pPr>
            <a:r>
              <a:rPr lang="en-US" sz="2175" b="1" dirty="0">
                <a:solidFill>
                  <a:srgbClr val="211C14"/>
                </a:solidFill>
                <a:latin typeface="Arial" pitchFamily="34" charset="0"/>
                <a:ea typeface="Arial" pitchFamily="34" charset="-122"/>
                <a:cs typeface="Arial" pitchFamily="34" charset="-120"/>
              </a:rPr>
              <a:t>quantum timer </a:t>
            </a:r>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each tick and wakes level 5.</a:t>
            </a:r>
            <a:endParaRPr lang="en-US" sz="2175" dirty="0"/>
          </a:p>
        </p:txBody>
      </p:sp>
      <p:sp>
        <p:nvSpPr>
          <p:cNvPr id="17" name="Text 15"/>
          <p:cNvSpPr/>
          <p:nvPr/>
        </p:nvSpPr>
        <p:spPr>
          <a:xfrm>
            <a:off x="8953500" y="3657600"/>
            <a:ext cx="8633460" cy="1288733"/>
          </a:xfrm>
          <a:prstGeom prst="rect">
            <a:avLst/>
          </a:prstGeom>
          <a:noFill/>
          <a:ln/>
        </p:spPr>
        <p:txBody>
          <a:bodyPr wrap="square" lIns="25400" tIns="25400" rIns="25400" bIns="25400" rtlCol="0" anchor="t">
            <a:normAutofit/>
          </a:bodyPr>
          <a:lstStyle/>
          <a:p>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LEV5 scans PRT </a:t>
            </a:r>
            <a:pPr algn="l" indent="0" marL="0">
              <a:lnSpc>
                <a:spcPct val="129464"/>
              </a:lnSpc>
              <a:buNone/>
            </a:pPr>
            <a:r>
              <a:rPr lang="en-US" sz="2175" b="1" dirty="0">
                <a:solidFill>
                  <a:srgbClr val="211C14"/>
                </a:solidFill>
                <a:latin typeface="Arial" pitchFamily="34" charset="0"/>
                <a:ea typeface="Arial" pitchFamily="34" charset="-122"/>
                <a:cs typeface="Arial" pitchFamily="34" charset="-120"/>
              </a:rPr>
              <a:t>round-robin </a:t>
            </a:r>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 The incumbent keeps core until it blocks, dies, or burns </a:t>
            </a:r>
            <a:pPr algn="l" indent="0" marL="0">
              <a:lnSpc>
                <a:spcPct val="129464"/>
              </a:lnSpc>
              <a:buNone/>
            </a:pPr>
            <a:r>
              <a:rPr lang="en-US" sz="2175" dirty="0">
                <a:solidFill>
                  <a:srgbClr val="211C14"/>
                </a:solidFill>
                <a:latin typeface="Courier New" pitchFamily="34" charset="0"/>
                <a:ea typeface="Courier New" pitchFamily="34" charset="-122"/>
                <a:cs typeface="Courier New" pitchFamily="34" charset="-120"/>
              </a:rPr>
              <a:t>LQUA </a:t>
            </a:r>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small quanta; then the next runnable process wins.</a:t>
            </a:r>
            <a:endParaRPr lang="en-US" sz="2175" dirty="0"/>
          </a:p>
        </p:txBody>
      </p:sp>
      <p:sp>
        <p:nvSpPr>
          <p:cNvPr id="18" name="Text 16"/>
          <p:cNvSpPr/>
          <p:nvPr/>
        </p:nvSpPr>
        <p:spPr>
          <a:xfrm>
            <a:off x="8953500" y="5193982"/>
            <a:ext cx="8633460" cy="1296353"/>
          </a:xfrm>
          <a:prstGeom prst="rect">
            <a:avLst/>
          </a:prstGeom>
          <a:noFill/>
          <a:ln/>
        </p:spPr>
        <p:txBody>
          <a:bodyPr wrap="square" lIns="25400" tIns="25400" rIns="25400" bIns="25400" rtlCol="0" anchor="t">
            <a:normAutofit/>
          </a:bodyPr>
          <a:lstStyle/>
          <a:p>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A context switch is a call to </a:t>
            </a:r>
            <a:pPr algn="l" indent="0" marL="0">
              <a:lnSpc>
                <a:spcPct val="129464"/>
              </a:lnSpc>
              <a:buNone/>
            </a:pPr>
            <a:r>
              <a:rPr lang="en-US" sz="2175" b="1" dirty="0">
                <a:solidFill>
                  <a:srgbClr val="211C14"/>
                </a:solidFill>
                <a:latin typeface="Arial" pitchFamily="34" charset="0"/>
                <a:ea typeface="Arial" pitchFamily="34" charset="-122"/>
                <a:cs typeface="Arial" pitchFamily="34" charset="-120"/>
              </a:rPr>
              <a:t>SWAPR </a:t>
            </a:r>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 scheduling and swapping are one mechanism, because switching processes </a:t>
            </a:r>
            <a:pPr algn="l" indent="0" marL="0">
              <a:lnSpc>
                <a:spcPct val="129464"/>
              </a:lnSpc>
              <a:buNone/>
            </a:pPr>
            <a:r>
              <a:rPr lang="en-US" sz="2175" i="1" dirty="0">
                <a:solidFill>
                  <a:srgbClr val="211C14"/>
                </a:solidFill>
                <a:latin typeface="Arial" pitchFamily="34" charset="0"/>
                <a:ea typeface="Arial" pitchFamily="34" charset="-122"/>
                <a:cs typeface="Arial" pitchFamily="34" charset="-120"/>
              </a:rPr>
              <a:t>means </a:t>
            </a:r>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swapping memory.</a:t>
            </a:r>
            <a:endParaRPr lang="en-US" sz="21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EDE1"/>
        </a:solidFill>
      </p:bgPr>
    </p:bg>
    <p:spTree>
      <p:nvGrpSpPr>
        <p:cNvPr id="1" name=""/>
        <p:cNvGrpSpPr/>
        <p:nvPr/>
      </p:nvGrpSpPr>
      <p:grpSpPr>
        <a:xfrm>
          <a:off x="0" y="0"/>
          <a:ext cx="0" cy="0"/>
          <a:chOff x="0" y="0"/>
          <a:chExt cx="0" cy="0"/>
        </a:xfrm>
      </p:grpSpPr>
      <p:sp>
        <p:nvSpPr>
          <p:cNvPr id="2" name="Text 0"/>
          <p:cNvSpPr/>
          <p:nvPr/>
        </p:nvSpPr>
        <p:spPr>
          <a:xfrm>
            <a:off x="952500" y="857250"/>
            <a:ext cx="18021300" cy="33528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C8501E"/>
                </a:solidFill>
                <a:latin typeface="Courier New" pitchFamily="34" charset="0"/>
                <a:ea typeface="Courier New" pitchFamily="34" charset="-122"/>
                <a:cs typeface="Courier New" pitchFamily="34" charset="-120"/>
              </a:rPr>
              <a:t>SECTION 01 · KERNEL</a:t>
            </a:r>
            <a:endParaRPr lang="en-US" sz="1800" dirty="0"/>
          </a:p>
        </p:txBody>
      </p:sp>
      <p:sp>
        <p:nvSpPr>
          <p:cNvPr id="3" name="Text 1"/>
          <p:cNvSpPr/>
          <p:nvPr/>
        </p:nvSpPr>
        <p:spPr>
          <a:xfrm>
            <a:off x="952500" y="1306830"/>
            <a:ext cx="18021300" cy="666750"/>
          </a:xfrm>
          <a:prstGeom prst="rect">
            <a:avLst/>
          </a:prstGeom>
          <a:noFill/>
          <a:ln/>
        </p:spPr>
        <p:txBody>
          <a:bodyPr wrap="square" lIns="25400" tIns="25400" rIns="25400" bIns="25400" rtlCol="0" anchor="t">
            <a:normAutofit/>
          </a:bodyPr>
          <a:lstStyle/>
          <a:p>
            <a:pPr algn="l" indent="0" marL="0">
              <a:lnSpc>
                <a:spcPct val="97059"/>
              </a:lnSpc>
              <a:buNone/>
            </a:pPr>
            <a:r>
              <a:rPr lang="en-US" sz="4500" b="1" dirty="0">
                <a:solidFill>
                  <a:srgbClr val="211C14"/>
                </a:solidFill>
                <a:latin typeface="Courier New" pitchFamily="34" charset="0"/>
                <a:ea typeface="Courier New" pitchFamily="34" charset="-122"/>
                <a:cs typeface="Courier New" pitchFamily="34" charset="-120"/>
              </a:rPr>
              <a:t>Swapping — SWAPR</a:t>
            </a:r>
            <a:endParaRPr lang="en-US" sz="4500" dirty="0"/>
          </a:p>
        </p:txBody>
      </p:sp>
      <p:sp>
        <p:nvSpPr>
          <p:cNvPr id="4" name="Shape 2"/>
          <p:cNvSpPr/>
          <p:nvPr/>
        </p:nvSpPr>
        <p:spPr>
          <a:xfrm>
            <a:off x="952500" y="2087880"/>
            <a:ext cx="16383000" cy="28575"/>
          </a:xfrm>
          <a:prstGeom prst="rect">
            <a:avLst/>
          </a:prstGeom>
          <a:solidFill>
            <a:srgbClr val="211C14"/>
          </a:solidFill>
          <a:ln/>
        </p:spPr>
      </p:sp>
      <p:sp>
        <p:nvSpPr>
          <p:cNvPr id="5" name="Shape 3"/>
          <p:cNvSpPr/>
          <p:nvPr/>
        </p:nvSpPr>
        <p:spPr>
          <a:xfrm>
            <a:off x="952500" y="2573655"/>
            <a:ext cx="868680" cy="868680"/>
          </a:xfrm>
          <a:prstGeom prst="rect">
            <a:avLst/>
          </a:prstGeom>
          <a:ln w="15240">
            <a:solidFill>
              <a:srgbClr val="211C14"/>
            </a:solidFill>
            <a:prstDash val="solid"/>
          </a:ln>
        </p:spPr>
      </p:sp>
      <p:sp>
        <p:nvSpPr>
          <p:cNvPr id="6" name="Text 4"/>
          <p:cNvSpPr/>
          <p:nvPr/>
        </p:nvSpPr>
        <p:spPr>
          <a:xfrm>
            <a:off x="929640" y="2588895"/>
            <a:ext cx="914400" cy="876300"/>
          </a:xfrm>
          <a:prstGeom prst="rect">
            <a:avLst/>
          </a:prstGeom>
          <a:noFill/>
          <a:ln/>
        </p:spPr>
        <p:txBody>
          <a:bodyPr wrap="square" lIns="25400" tIns="25400" rIns="25400" bIns="25400" rtlCol="0" anchor="ctr">
            <a:normAutofit/>
          </a:bodyPr>
          <a:lstStyle/>
          <a:p>
            <a:pPr algn="ctr" indent="0" marL="0">
              <a:buNone/>
            </a:pPr>
            <a:r>
              <a:rPr lang="en-US" sz="2550" b="1" dirty="0">
                <a:solidFill>
                  <a:srgbClr val="211C14"/>
                </a:solidFill>
                <a:latin typeface="Courier New" pitchFamily="34" charset="0"/>
                <a:ea typeface="Courier New" pitchFamily="34" charset="-122"/>
                <a:cs typeface="Courier New" pitchFamily="34" charset="-120"/>
              </a:rPr>
              <a:t>1</a:t>
            </a:r>
            <a:endParaRPr lang="en-US" sz="2550" dirty="0"/>
          </a:p>
        </p:txBody>
      </p:sp>
      <p:sp>
        <p:nvSpPr>
          <p:cNvPr id="7" name="Shape 5"/>
          <p:cNvSpPr/>
          <p:nvPr/>
        </p:nvSpPr>
        <p:spPr>
          <a:xfrm>
            <a:off x="2049780" y="3354705"/>
            <a:ext cx="15285720" cy="9525"/>
          </a:xfrm>
          <a:prstGeom prst="rect">
            <a:avLst/>
          </a:prstGeom>
          <a:solidFill>
            <a:srgbClr val="CEC4AD"/>
          </a:solidFill>
          <a:ln/>
        </p:spPr>
      </p:sp>
      <p:sp>
        <p:nvSpPr>
          <p:cNvPr id="8" name="Text 6"/>
          <p:cNvSpPr/>
          <p:nvPr/>
        </p:nvSpPr>
        <p:spPr>
          <a:xfrm>
            <a:off x="2049780" y="2825115"/>
            <a:ext cx="15744292" cy="396240"/>
          </a:xfrm>
          <a:prstGeom prst="rect">
            <a:avLst/>
          </a:prstGeom>
          <a:noFill/>
          <a:ln/>
        </p:spPr>
        <p:txBody>
          <a:bodyPr wrap="square" lIns="25400" tIns="25400" rIns="25400" bIns="25400" rtlCol="0" anchor="t">
            <a:normAutofit/>
          </a:bodyPr>
          <a:lstStyle/>
          <a:p>
            <a:pPr algn="l" indent="0" marL="0">
              <a:buNone/>
            </a:pPr>
            <a:r>
              <a:rPr lang="en-US" sz="2175" dirty="0">
                <a:solidFill>
                  <a:srgbClr val="211C14"/>
                </a:solidFill>
                <a:latin typeface="Arial" pitchFamily="34" charset="0"/>
                <a:ea typeface="Arial" pitchFamily="34" charset="-122"/>
                <a:cs typeface="Arial" pitchFamily="34" charset="-120"/>
              </a:rPr>
              <a:t>Write the outgoing process's </a:t>
            </a:r>
            <a:pPr algn="l" indent="0" marL="0">
              <a:buNone/>
            </a:pPr>
            <a:r>
              <a:rPr lang="en-US" sz="2175" b="1" dirty="0">
                <a:solidFill>
                  <a:srgbClr val="211C14"/>
                </a:solidFill>
                <a:latin typeface="Arial" pitchFamily="34" charset="0"/>
                <a:ea typeface="Arial" pitchFamily="34" charset="-122"/>
                <a:cs typeface="Arial" pitchFamily="34" charset="-120"/>
              </a:rPr>
              <a:t>context block</a:t>
            </a:r>
            <a:pPr algn="l" indent="0" marL="0">
              <a:buNone/>
            </a:pPr>
            <a:r>
              <a:rPr lang="en-US" sz="2175" dirty="0">
                <a:solidFill>
                  <a:srgbClr val="211C14"/>
                </a:solidFill>
                <a:latin typeface="Arial" pitchFamily="34" charset="0"/>
                <a:ea typeface="Arial" pitchFamily="34" charset="-122"/>
                <a:cs typeface="Arial" pitchFamily="34" charset="-120"/>
              </a:rPr>
              <a:t>: </a:t>
            </a:r>
            <a:pPr algn="l" indent="0" marL="0">
              <a:buNone/>
            </a:pPr>
            <a:r>
              <a:rPr lang="en-US" sz="1950" dirty="0">
                <a:solidFill>
                  <a:srgbClr val="211C14"/>
                </a:solidFill>
                <a:latin typeface="Courier New" pitchFamily="34" charset="0"/>
                <a:ea typeface="Courier New" pitchFamily="34" charset="-122"/>
                <a:cs typeface="Courier New" pitchFamily="34" charset="-120"/>
              </a:rPr>
              <a:t>TRSFR(WRITE, @RBLOK, DKA1+(PRT[0]&lt;&lt;3))</a:t>
            </a:r>
            <a:endParaRPr lang="en-US" sz="2175" dirty="0"/>
          </a:p>
        </p:txBody>
      </p:sp>
      <p:sp>
        <p:nvSpPr>
          <p:cNvPr id="9" name="Shape 7"/>
          <p:cNvSpPr/>
          <p:nvPr/>
        </p:nvSpPr>
        <p:spPr>
          <a:xfrm>
            <a:off x="952500" y="3594735"/>
            <a:ext cx="868680" cy="868680"/>
          </a:xfrm>
          <a:prstGeom prst="rect">
            <a:avLst/>
          </a:prstGeom>
          <a:ln w="15240">
            <a:solidFill>
              <a:srgbClr val="211C14"/>
            </a:solidFill>
            <a:prstDash val="solid"/>
          </a:ln>
        </p:spPr>
      </p:sp>
      <p:sp>
        <p:nvSpPr>
          <p:cNvPr id="10" name="Text 8"/>
          <p:cNvSpPr/>
          <p:nvPr/>
        </p:nvSpPr>
        <p:spPr>
          <a:xfrm>
            <a:off x="929640" y="3609975"/>
            <a:ext cx="914400" cy="876300"/>
          </a:xfrm>
          <a:prstGeom prst="rect">
            <a:avLst/>
          </a:prstGeom>
          <a:noFill/>
          <a:ln/>
        </p:spPr>
        <p:txBody>
          <a:bodyPr wrap="square" lIns="25400" tIns="25400" rIns="25400" bIns="25400" rtlCol="0" anchor="ctr">
            <a:normAutofit/>
          </a:bodyPr>
          <a:lstStyle/>
          <a:p>
            <a:pPr algn="ctr" indent="0" marL="0">
              <a:buNone/>
            </a:pPr>
            <a:r>
              <a:rPr lang="en-US" sz="2550" b="1" dirty="0">
                <a:solidFill>
                  <a:srgbClr val="211C14"/>
                </a:solidFill>
                <a:latin typeface="Courier New" pitchFamily="34" charset="0"/>
                <a:ea typeface="Courier New" pitchFamily="34" charset="-122"/>
                <a:cs typeface="Courier New" pitchFamily="34" charset="-120"/>
              </a:rPr>
              <a:t>2</a:t>
            </a:r>
            <a:endParaRPr lang="en-US" sz="2550" dirty="0"/>
          </a:p>
        </p:txBody>
      </p:sp>
      <p:sp>
        <p:nvSpPr>
          <p:cNvPr id="11" name="Shape 9"/>
          <p:cNvSpPr/>
          <p:nvPr/>
        </p:nvSpPr>
        <p:spPr>
          <a:xfrm>
            <a:off x="2049780" y="4375785"/>
            <a:ext cx="15285720" cy="9525"/>
          </a:xfrm>
          <a:prstGeom prst="rect">
            <a:avLst/>
          </a:prstGeom>
          <a:solidFill>
            <a:srgbClr val="CEC4AD"/>
          </a:solidFill>
          <a:ln/>
        </p:spPr>
      </p:sp>
      <p:sp>
        <p:nvSpPr>
          <p:cNvPr id="12" name="Text 10"/>
          <p:cNvSpPr/>
          <p:nvPr/>
        </p:nvSpPr>
        <p:spPr>
          <a:xfrm>
            <a:off x="2049780" y="3846195"/>
            <a:ext cx="15744292" cy="396240"/>
          </a:xfrm>
          <a:prstGeom prst="rect">
            <a:avLst/>
          </a:prstGeom>
          <a:noFill/>
          <a:ln/>
        </p:spPr>
        <p:txBody>
          <a:bodyPr wrap="square" lIns="25400" tIns="25400" rIns="25400" bIns="25400" rtlCol="0" anchor="t">
            <a:normAutofit/>
          </a:bodyPr>
          <a:lstStyle/>
          <a:p>
            <a:pPr algn="l" indent="0" marL="0">
              <a:buNone/>
            </a:pPr>
            <a:r>
              <a:rPr lang="en-US" sz="2175" dirty="0">
                <a:solidFill>
                  <a:srgbClr val="211C14"/>
                </a:solidFill>
                <a:latin typeface="Arial" pitchFamily="34" charset="0"/>
                <a:ea typeface="Arial" pitchFamily="34" charset="-122"/>
                <a:cs typeface="Arial" pitchFamily="34" charset="-120"/>
              </a:rPr>
              <a:t>Read the incoming process's context block, restore its registers</a:t>
            </a:r>
            <a:endParaRPr lang="en-US" sz="2175" dirty="0"/>
          </a:p>
        </p:txBody>
      </p:sp>
      <p:sp>
        <p:nvSpPr>
          <p:cNvPr id="13" name="Shape 11"/>
          <p:cNvSpPr/>
          <p:nvPr/>
        </p:nvSpPr>
        <p:spPr>
          <a:xfrm>
            <a:off x="952500" y="4615815"/>
            <a:ext cx="868680" cy="868680"/>
          </a:xfrm>
          <a:prstGeom prst="rect">
            <a:avLst/>
          </a:prstGeom>
          <a:ln w="15240">
            <a:solidFill>
              <a:srgbClr val="211C14"/>
            </a:solidFill>
            <a:prstDash val="solid"/>
          </a:ln>
        </p:spPr>
      </p:sp>
      <p:sp>
        <p:nvSpPr>
          <p:cNvPr id="14" name="Text 12"/>
          <p:cNvSpPr/>
          <p:nvPr/>
        </p:nvSpPr>
        <p:spPr>
          <a:xfrm>
            <a:off x="929640" y="4631055"/>
            <a:ext cx="914400" cy="876300"/>
          </a:xfrm>
          <a:prstGeom prst="rect">
            <a:avLst/>
          </a:prstGeom>
          <a:noFill/>
          <a:ln/>
        </p:spPr>
        <p:txBody>
          <a:bodyPr wrap="square" lIns="25400" tIns="25400" rIns="25400" bIns="25400" rtlCol="0" anchor="ctr">
            <a:normAutofit/>
          </a:bodyPr>
          <a:lstStyle/>
          <a:p>
            <a:pPr algn="ctr" indent="0" marL="0">
              <a:buNone/>
            </a:pPr>
            <a:r>
              <a:rPr lang="en-US" sz="2550" b="1" dirty="0">
                <a:solidFill>
                  <a:srgbClr val="211C14"/>
                </a:solidFill>
                <a:latin typeface="Courier New" pitchFamily="34" charset="0"/>
                <a:ea typeface="Courier New" pitchFamily="34" charset="-122"/>
                <a:cs typeface="Courier New" pitchFamily="34" charset="-120"/>
              </a:rPr>
              <a:t>3</a:t>
            </a:r>
            <a:endParaRPr lang="en-US" sz="2550" dirty="0"/>
          </a:p>
        </p:txBody>
      </p:sp>
      <p:sp>
        <p:nvSpPr>
          <p:cNvPr id="15" name="Shape 13"/>
          <p:cNvSpPr/>
          <p:nvPr/>
        </p:nvSpPr>
        <p:spPr>
          <a:xfrm>
            <a:off x="2049780" y="5396865"/>
            <a:ext cx="15285720" cy="9525"/>
          </a:xfrm>
          <a:prstGeom prst="rect">
            <a:avLst/>
          </a:prstGeom>
          <a:solidFill>
            <a:srgbClr val="CEC4AD"/>
          </a:solidFill>
          <a:ln/>
        </p:spPr>
      </p:sp>
      <p:sp>
        <p:nvSpPr>
          <p:cNvPr id="16" name="Text 14"/>
          <p:cNvSpPr/>
          <p:nvPr/>
        </p:nvSpPr>
        <p:spPr>
          <a:xfrm>
            <a:off x="2049780" y="4867275"/>
            <a:ext cx="15744292" cy="396240"/>
          </a:xfrm>
          <a:prstGeom prst="rect">
            <a:avLst/>
          </a:prstGeom>
          <a:noFill/>
          <a:ln/>
        </p:spPr>
        <p:txBody>
          <a:bodyPr wrap="square" lIns="25400" tIns="25400" rIns="25400" bIns="25400" rtlCol="0" anchor="t">
            <a:normAutofit/>
          </a:bodyPr>
          <a:lstStyle/>
          <a:p>
            <a:pPr algn="l" indent="0" marL="0">
              <a:buNone/>
            </a:pPr>
            <a:r>
              <a:rPr lang="en-US" sz="2175" dirty="0">
                <a:solidFill>
                  <a:srgbClr val="211C14"/>
                </a:solidFill>
                <a:latin typeface="Arial" pitchFamily="34" charset="0"/>
                <a:ea typeface="Arial" pitchFamily="34" charset="-122"/>
                <a:cs typeface="Arial" pitchFamily="34" charset="-120"/>
              </a:rPr>
              <a:t>For each of 8 pages: </a:t>
            </a:r>
            <a:pPr algn="l" indent="0" marL="0">
              <a:buNone/>
            </a:pPr>
            <a:r>
              <a:rPr lang="en-US" sz="2175" b="1" dirty="0">
                <a:solidFill>
                  <a:srgbClr val="211C14"/>
                </a:solidFill>
                <a:latin typeface="Arial" pitchFamily="34" charset="0"/>
                <a:ea typeface="Arial" pitchFamily="34" charset="-122"/>
                <a:cs typeface="Arial" pitchFamily="34" charset="-120"/>
              </a:rPr>
              <a:t>write out </a:t>
            </a:r>
            <a:pPr algn="l" indent="0" marL="0">
              <a:buNone/>
            </a:pPr>
            <a:r>
              <a:rPr lang="en-US" sz="2175" dirty="0">
                <a:solidFill>
                  <a:srgbClr val="211C14"/>
                </a:solidFill>
                <a:latin typeface="Arial" pitchFamily="34" charset="0"/>
                <a:ea typeface="Arial" pitchFamily="34" charset="-122"/>
                <a:cs typeface="Arial" pitchFamily="34" charset="-120"/>
              </a:rPr>
              <a:t>conflicting read/write pages </a:t>
            </a:r>
            <a:pPr algn="l" indent="0" marL="0">
              <a:buNone/>
            </a:pPr>
            <a:r>
              <a:rPr lang="en-US" sz="1950" dirty="0">
                <a:solidFill>
                  <a:srgbClr val="211C14"/>
                </a:solidFill>
                <a:latin typeface="Courier New" pitchFamily="34" charset="0"/>
                <a:ea typeface="Courier New" pitchFamily="34" charset="-122"/>
                <a:cs typeface="Courier New" pitchFamily="34" charset="-120"/>
              </a:rPr>
              <a:t>(MD=3)</a:t>
            </a:r>
            <a:pPr algn="l" indent="0" marL="0">
              <a:buNone/>
            </a:pPr>
            <a:r>
              <a:rPr lang="en-US" sz="2175" dirty="0">
                <a:solidFill>
                  <a:srgbClr val="211C14"/>
                </a:solidFill>
                <a:latin typeface="Arial" pitchFamily="34" charset="0"/>
                <a:ea typeface="Arial" pitchFamily="34" charset="-122"/>
                <a:cs typeface="Arial" pitchFamily="34" charset="-120"/>
              </a:rPr>
              <a:t>, keep matching ones, delete abandoned ones</a:t>
            </a:r>
            <a:endParaRPr lang="en-US" sz="2175" dirty="0"/>
          </a:p>
        </p:txBody>
      </p:sp>
      <p:sp>
        <p:nvSpPr>
          <p:cNvPr id="17" name="Shape 15"/>
          <p:cNvSpPr/>
          <p:nvPr/>
        </p:nvSpPr>
        <p:spPr>
          <a:xfrm>
            <a:off x="952500" y="5636895"/>
            <a:ext cx="868680" cy="868680"/>
          </a:xfrm>
          <a:prstGeom prst="rect">
            <a:avLst/>
          </a:prstGeom>
          <a:ln w="15240">
            <a:solidFill>
              <a:srgbClr val="211C14"/>
            </a:solidFill>
            <a:prstDash val="solid"/>
          </a:ln>
        </p:spPr>
      </p:sp>
      <p:sp>
        <p:nvSpPr>
          <p:cNvPr id="18" name="Text 16"/>
          <p:cNvSpPr/>
          <p:nvPr/>
        </p:nvSpPr>
        <p:spPr>
          <a:xfrm>
            <a:off x="929640" y="5652135"/>
            <a:ext cx="914400" cy="876300"/>
          </a:xfrm>
          <a:prstGeom prst="rect">
            <a:avLst/>
          </a:prstGeom>
          <a:noFill/>
          <a:ln/>
        </p:spPr>
        <p:txBody>
          <a:bodyPr wrap="square" lIns="25400" tIns="25400" rIns="25400" bIns="25400" rtlCol="0" anchor="ctr">
            <a:normAutofit/>
          </a:bodyPr>
          <a:lstStyle/>
          <a:p>
            <a:pPr algn="ctr" indent="0" marL="0">
              <a:buNone/>
            </a:pPr>
            <a:r>
              <a:rPr lang="en-US" sz="2550" b="1" dirty="0">
                <a:solidFill>
                  <a:srgbClr val="211C14"/>
                </a:solidFill>
                <a:latin typeface="Courier New" pitchFamily="34" charset="0"/>
                <a:ea typeface="Courier New" pitchFamily="34" charset="-122"/>
                <a:cs typeface="Courier New" pitchFamily="34" charset="-120"/>
              </a:rPr>
              <a:t>4</a:t>
            </a:r>
            <a:endParaRPr lang="en-US" sz="2550" dirty="0"/>
          </a:p>
        </p:txBody>
      </p:sp>
      <p:sp>
        <p:nvSpPr>
          <p:cNvPr id="19" name="Shape 17"/>
          <p:cNvSpPr/>
          <p:nvPr/>
        </p:nvSpPr>
        <p:spPr>
          <a:xfrm>
            <a:off x="2049780" y="6417945"/>
            <a:ext cx="15285720" cy="9525"/>
          </a:xfrm>
          <a:prstGeom prst="rect">
            <a:avLst/>
          </a:prstGeom>
          <a:solidFill>
            <a:srgbClr val="CEC4AD"/>
          </a:solidFill>
          <a:ln/>
        </p:spPr>
      </p:sp>
      <p:sp>
        <p:nvSpPr>
          <p:cNvPr id="20" name="Text 18"/>
          <p:cNvSpPr/>
          <p:nvPr/>
        </p:nvSpPr>
        <p:spPr>
          <a:xfrm>
            <a:off x="2049780" y="5888355"/>
            <a:ext cx="15744292" cy="396240"/>
          </a:xfrm>
          <a:prstGeom prst="rect">
            <a:avLst/>
          </a:prstGeom>
          <a:noFill/>
          <a:ln/>
        </p:spPr>
        <p:txBody>
          <a:bodyPr wrap="square" lIns="25400" tIns="25400" rIns="25400" bIns="25400" rtlCol="0" anchor="t">
            <a:normAutofit/>
          </a:bodyPr>
          <a:lstStyle/>
          <a:p>
            <a:pPr algn="l" indent="0" marL="0">
              <a:buNone/>
            </a:pPr>
            <a:r>
              <a:rPr lang="en-US" sz="2175" b="1" dirty="0">
                <a:solidFill>
                  <a:srgbClr val="211C14"/>
                </a:solidFill>
                <a:latin typeface="Arial" pitchFamily="34" charset="0"/>
                <a:ea typeface="Arial" pitchFamily="34" charset="-122"/>
                <a:cs typeface="Arial" pitchFamily="34" charset="-120"/>
              </a:rPr>
              <a:t>Read in </a:t>
            </a:r>
            <a:pPr algn="l" indent="0" marL="0">
              <a:buNone/>
            </a:pPr>
            <a:r>
              <a:rPr lang="en-US" sz="2175" dirty="0">
                <a:solidFill>
                  <a:srgbClr val="211C14"/>
                </a:solidFill>
                <a:latin typeface="Arial" pitchFamily="34" charset="0"/>
                <a:ea typeface="Arial" pitchFamily="34" charset="-122"/>
                <a:cs typeface="Arial" pitchFamily="34" charset="-120"/>
              </a:rPr>
              <a:t>required pages — a shared read-only page already in the pool is reused by bumping </a:t>
            </a:r>
            <a:pPr algn="l" indent="0" marL="0">
              <a:buNone/>
            </a:pPr>
            <a:r>
              <a:rPr lang="en-US" sz="1950" dirty="0">
                <a:solidFill>
                  <a:srgbClr val="211C14"/>
                </a:solidFill>
                <a:latin typeface="Courier New" pitchFamily="34" charset="0"/>
                <a:ea typeface="Courier New" pitchFamily="34" charset="-122"/>
                <a:cs typeface="Courier New" pitchFamily="34" charset="-120"/>
              </a:rPr>
              <a:t>PDTBL[j]$COUNT</a:t>
            </a:r>
            <a:pPr algn="l" indent="0" marL="0">
              <a:buNone/>
            </a:pPr>
            <a:r>
              <a:rPr lang="en-US" sz="2175" dirty="0">
                <a:solidFill>
                  <a:srgbClr val="211C14"/>
                </a:solidFill>
                <a:latin typeface="Arial" pitchFamily="34" charset="0"/>
                <a:ea typeface="Arial" pitchFamily="34" charset="-122"/>
                <a:cs typeface="Arial" pitchFamily="34" charset="-120"/>
              </a:rPr>
              <a:t>, never copied</a:t>
            </a:r>
            <a:endParaRPr lang="en-US" sz="2175" dirty="0"/>
          </a:p>
        </p:txBody>
      </p:sp>
      <p:sp>
        <p:nvSpPr>
          <p:cNvPr id="21" name="Shape 19"/>
          <p:cNvSpPr/>
          <p:nvPr/>
        </p:nvSpPr>
        <p:spPr>
          <a:xfrm>
            <a:off x="952500" y="6757035"/>
            <a:ext cx="868680" cy="868680"/>
          </a:xfrm>
          <a:prstGeom prst="rect">
            <a:avLst/>
          </a:prstGeom>
          <a:ln w="15240">
            <a:solidFill>
              <a:srgbClr val="C8501E"/>
            </a:solidFill>
            <a:prstDash val="solid"/>
          </a:ln>
        </p:spPr>
      </p:sp>
      <p:sp>
        <p:nvSpPr>
          <p:cNvPr id="22" name="Text 20"/>
          <p:cNvSpPr/>
          <p:nvPr/>
        </p:nvSpPr>
        <p:spPr>
          <a:xfrm>
            <a:off x="929640" y="6772275"/>
            <a:ext cx="914400" cy="876300"/>
          </a:xfrm>
          <a:prstGeom prst="rect">
            <a:avLst/>
          </a:prstGeom>
          <a:noFill/>
          <a:ln/>
        </p:spPr>
        <p:txBody>
          <a:bodyPr wrap="square" lIns="25400" tIns="25400" rIns="25400" bIns="25400" rtlCol="0" anchor="ctr">
            <a:normAutofit/>
          </a:bodyPr>
          <a:lstStyle/>
          <a:p>
            <a:pPr algn="ctr" indent="0" marL="0">
              <a:buNone/>
            </a:pPr>
            <a:r>
              <a:rPr lang="en-US" sz="2550" b="1" dirty="0">
                <a:solidFill>
                  <a:srgbClr val="A03E14"/>
                </a:solidFill>
                <a:latin typeface="Courier New" pitchFamily="34" charset="0"/>
                <a:ea typeface="Courier New" pitchFamily="34" charset="-122"/>
                <a:cs typeface="Courier New" pitchFamily="34" charset="-120"/>
              </a:rPr>
              <a:t>5</a:t>
            </a:r>
            <a:endParaRPr lang="en-US" sz="2550" dirty="0"/>
          </a:p>
        </p:txBody>
      </p:sp>
      <p:sp>
        <p:nvSpPr>
          <p:cNvPr id="23" name="Text 21"/>
          <p:cNvSpPr/>
          <p:nvPr/>
        </p:nvSpPr>
        <p:spPr>
          <a:xfrm>
            <a:off x="2049780" y="6829425"/>
            <a:ext cx="15744292" cy="762000"/>
          </a:xfrm>
          <a:prstGeom prst="rect">
            <a:avLst/>
          </a:prstGeom>
          <a:noFill/>
          <a:ln/>
        </p:spPr>
        <p:txBody>
          <a:bodyPr wrap="square" lIns="25400" tIns="25400" rIns="25400" bIns="25400" rtlCol="0" anchor="t">
            <a:normAutofit/>
          </a:bodyPr>
          <a:lstStyle/>
          <a:p>
            <a:pPr algn="l" indent="0" marL="0">
              <a:buNone/>
            </a:pPr>
            <a:r>
              <a:rPr lang="en-US" sz="2175" dirty="0">
                <a:solidFill>
                  <a:srgbClr val="211C14"/>
                </a:solidFill>
                <a:latin typeface="Arial" pitchFamily="34" charset="0"/>
                <a:ea typeface="Arial" pitchFamily="34" charset="-122"/>
                <a:cs typeface="Arial" pitchFamily="34" charset="-120"/>
              </a:rPr>
              <a:t>Every transfer goes through one routine: </a:t>
            </a:r>
            <a:pPr algn="l" indent="0" marL="0">
              <a:buNone/>
            </a:pPr>
            <a:r>
              <a:rPr lang="en-US" sz="2175" b="1" dirty="0">
                <a:solidFill>
                  <a:srgbClr val="A03E14"/>
                </a:solidFill>
                <a:latin typeface="Courier New" pitchFamily="34" charset="0"/>
                <a:ea typeface="Courier New" pitchFamily="34" charset="-122"/>
                <a:cs typeface="Courier New" pitchFamily="34" charset="-120"/>
              </a:rPr>
              <a:t>TRSFR </a:t>
            </a:r>
            <a:pPr algn="l" indent="0" marL="0">
              <a:buNone/>
            </a:pPr>
            <a:r>
              <a:rPr lang="en-US" sz="2175" dirty="0">
                <a:solidFill>
                  <a:srgbClr val="211C14"/>
                </a:solidFill>
                <a:latin typeface="Arial" pitchFamily="34" charset="0"/>
                <a:ea typeface="Arial" pitchFamily="34" charset="-122"/>
                <a:cs typeface="Arial" pitchFamily="34" charset="-120"/>
              </a:rPr>
              <a:t>— 2K words between core and swap space. </a:t>
            </a:r>
            <a:pPr algn="l" indent="0" marL="0">
              <a:buNone/>
            </a:pPr>
            <a:r>
              <a:rPr lang="en-US" sz="2175" i="1" dirty="0">
                <a:solidFill>
                  <a:srgbClr val="211C14"/>
                </a:solidFill>
                <a:latin typeface="Arial" pitchFamily="34" charset="0"/>
                <a:ea typeface="Arial" pitchFamily="34" charset="-122"/>
                <a:cs typeface="Arial" pitchFamily="34" charset="-120"/>
              </a:rPr>
              <a:t>That routine is where the drum plugs in (S04).</a:t>
            </a:r>
            <a:endParaRPr lang="en-US" sz="21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EDE1"/>
        </a:solidFill>
      </p:bgPr>
    </p:bg>
    <p:spTree>
      <p:nvGrpSpPr>
        <p:cNvPr id="1" name=""/>
        <p:cNvGrpSpPr/>
        <p:nvPr/>
      </p:nvGrpSpPr>
      <p:grpSpPr>
        <a:xfrm>
          <a:off x="0" y="0"/>
          <a:ext cx="0" cy="0"/>
          <a:chOff x="0" y="0"/>
          <a:chExt cx="0" cy="0"/>
        </a:xfrm>
      </p:grpSpPr>
      <p:sp>
        <p:nvSpPr>
          <p:cNvPr id="2" name="Text 0"/>
          <p:cNvSpPr/>
          <p:nvPr/>
        </p:nvSpPr>
        <p:spPr>
          <a:xfrm>
            <a:off x="952500" y="857250"/>
            <a:ext cx="18021300" cy="33528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C8501E"/>
                </a:solidFill>
                <a:latin typeface="Courier New" pitchFamily="34" charset="0"/>
                <a:ea typeface="Courier New" pitchFamily="34" charset="-122"/>
                <a:cs typeface="Courier New" pitchFamily="34" charset="-120"/>
              </a:rPr>
              <a:t>SECTION 01 · KERNEL</a:t>
            </a:r>
            <a:endParaRPr lang="en-US" sz="1800" dirty="0"/>
          </a:p>
        </p:txBody>
      </p:sp>
      <p:sp>
        <p:nvSpPr>
          <p:cNvPr id="3" name="Text 1"/>
          <p:cNvSpPr/>
          <p:nvPr/>
        </p:nvSpPr>
        <p:spPr>
          <a:xfrm>
            <a:off x="952500" y="1306830"/>
            <a:ext cx="18021300" cy="666750"/>
          </a:xfrm>
          <a:prstGeom prst="rect">
            <a:avLst/>
          </a:prstGeom>
          <a:noFill/>
          <a:ln/>
        </p:spPr>
        <p:txBody>
          <a:bodyPr wrap="square" lIns="25400" tIns="25400" rIns="25400" bIns="25400" rtlCol="0" anchor="t">
            <a:normAutofit/>
          </a:bodyPr>
          <a:lstStyle/>
          <a:p>
            <a:pPr algn="l" indent="0" marL="0">
              <a:lnSpc>
                <a:spcPct val="97059"/>
              </a:lnSpc>
              <a:buNone/>
            </a:pPr>
            <a:r>
              <a:rPr lang="en-US" sz="4500" b="1" dirty="0">
                <a:solidFill>
                  <a:srgbClr val="211C14"/>
                </a:solidFill>
                <a:latin typeface="Courier New" pitchFamily="34" charset="0"/>
                <a:ea typeface="Courier New" pitchFamily="34" charset="-122"/>
                <a:cs typeface="Courier New" pitchFamily="34" charset="-120"/>
              </a:rPr>
              <a:t>Monitor Calls</a:t>
            </a:r>
            <a:endParaRPr lang="en-US" sz="4500" dirty="0"/>
          </a:p>
        </p:txBody>
      </p:sp>
      <p:sp>
        <p:nvSpPr>
          <p:cNvPr id="4" name="Shape 2"/>
          <p:cNvSpPr/>
          <p:nvPr/>
        </p:nvSpPr>
        <p:spPr>
          <a:xfrm>
            <a:off x="952500" y="2087880"/>
            <a:ext cx="16383000" cy="28575"/>
          </a:xfrm>
          <a:prstGeom prst="rect">
            <a:avLst/>
          </a:prstGeom>
          <a:solidFill>
            <a:srgbClr val="211C14"/>
          </a:solidFill>
          <a:ln/>
        </p:spPr>
      </p:sp>
      <p:sp>
        <p:nvSpPr>
          <p:cNvPr id="5" name="Text 3"/>
          <p:cNvSpPr/>
          <p:nvPr/>
        </p:nvSpPr>
        <p:spPr>
          <a:xfrm>
            <a:off x="952500" y="2573655"/>
            <a:ext cx="8044815" cy="1303973"/>
          </a:xfrm>
          <a:prstGeom prst="rect">
            <a:avLst/>
          </a:prstGeom>
          <a:noFill/>
          <a:ln/>
        </p:spPr>
        <p:txBody>
          <a:bodyPr wrap="square" lIns="25400" tIns="25400" rIns="25400" bIns="25400" rtlCol="0" anchor="t">
            <a:normAutofit/>
          </a:bodyPr>
          <a:lstStyle/>
          <a:p>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A user program executes a monitor-call opcode → </a:t>
            </a:r>
            <a:pPr algn="l" indent="0" marL="0">
              <a:lnSpc>
                <a:spcPct val="129464"/>
              </a:lnSpc>
              <a:buNone/>
            </a:pPr>
            <a:r>
              <a:rPr lang="en-US" sz="2175" b="1" dirty="0">
                <a:solidFill>
                  <a:srgbClr val="211C14"/>
                </a:solidFill>
                <a:latin typeface="Arial" pitchFamily="34" charset="0"/>
                <a:ea typeface="Arial" pitchFamily="34" charset="-122"/>
                <a:cs typeface="Arial" pitchFamily="34" charset="-120"/>
              </a:rPr>
              <a:t>trap on level 14 </a:t>
            </a:r>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 the call number indexes </a:t>
            </a:r>
            <a:pPr algn="l" indent="0" marL="0">
              <a:lnSpc>
                <a:spcPct val="129464"/>
              </a:lnSpc>
              <a:buNone/>
            </a:pPr>
            <a:r>
              <a:rPr lang="en-US" sz="2175" dirty="0">
                <a:solidFill>
                  <a:srgbClr val="211C14"/>
                </a:solidFill>
                <a:latin typeface="Courier New" pitchFamily="34" charset="0"/>
                <a:ea typeface="Courier New" pitchFamily="34" charset="-122"/>
                <a:cs typeface="Courier New" pitchFamily="34" charset="-120"/>
              </a:rPr>
              <a:t>MCTBL </a:t>
            </a:r>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 the handler runs on </a:t>
            </a:r>
            <a:pPr algn="l" indent="0" marL="0">
              <a:lnSpc>
                <a:spcPct val="129464"/>
              </a:lnSpc>
              <a:buNone/>
            </a:pPr>
            <a:r>
              <a:rPr lang="en-US" sz="2175" b="1" dirty="0">
                <a:solidFill>
                  <a:srgbClr val="211C14"/>
                </a:solidFill>
                <a:latin typeface="Arial" pitchFamily="34" charset="0"/>
                <a:ea typeface="Arial" pitchFamily="34" charset="-122"/>
                <a:cs typeface="Arial" pitchFamily="34" charset="-120"/>
              </a:rPr>
              <a:t>level 3 </a:t>
            </a:r>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with the user's registers.</a:t>
            </a:r>
            <a:endParaRPr lang="en-US" sz="2175" dirty="0"/>
          </a:p>
        </p:txBody>
      </p:sp>
      <p:sp>
        <p:nvSpPr>
          <p:cNvPr id="6" name="Text 4"/>
          <p:cNvSpPr/>
          <p:nvPr/>
        </p:nvSpPr>
        <p:spPr>
          <a:xfrm>
            <a:off x="952500" y="4087178"/>
            <a:ext cx="8044815" cy="1281113"/>
          </a:xfrm>
          <a:prstGeom prst="rect">
            <a:avLst/>
          </a:prstGeom>
          <a:noFill/>
          <a:ln/>
        </p:spPr>
        <p:txBody>
          <a:bodyPr wrap="square" lIns="25400" tIns="25400" rIns="25400" bIns="25400" rtlCol="0" anchor="t">
            <a:normAutofit/>
          </a:bodyPr>
          <a:lstStyle/>
          <a:p>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Three return styles: normal, skip return (success/failure), and double-skip — the caller places its error handling right after the call, like the device drivers do.</a:t>
            </a:r>
            <a:endParaRPr lang="en-US" sz="2175" dirty="0"/>
          </a:p>
        </p:txBody>
      </p:sp>
      <p:sp>
        <p:nvSpPr>
          <p:cNvPr id="7" name="Text 5"/>
          <p:cNvSpPr/>
          <p:nvPr/>
        </p:nvSpPr>
        <p:spPr>
          <a:xfrm>
            <a:off x="952500" y="5577840"/>
            <a:ext cx="8044815" cy="1160145"/>
          </a:xfrm>
          <a:prstGeom prst="rect">
            <a:avLst/>
          </a:prstGeom>
          <a:noFill/>
          <a:ln/>
        </p:spPr>
        <p:txBody>
          <a:bodyPr wrap="square" lIns="25400" tIns="25400" rIns="25400" bIns="25400" rtlCol="0" anchor="t">
            <a:normAutofit/>
          </a:bodyPr>
          <a:lstStyle/>
          <a:p>
            <a:pPr algn="l" indent="0" marL="0">
              <a:lnSpc>
                <a:spcPct val="131757"/>
              </a:lnSpc>
              <a:buNone/>
            </a:pPr>
            <a:r>
              <a:rPr lang="en-US" sz="1950" dirty="0">
                <a:solidFill>
                  <a:srgbClr val="6B6252"/>
                </a:solidFill>
                <a:latin typeface="Arial" pitchFamily="34" charset="0"/>
                <a:ea typeface="Arial" pitchFamily="34" charset="-122"/>
                <a:cs typeface="Arial" pitchFamily="34" charset="-120"/>
              </a:rPr>
              <a:t>Level 14 also </a:t>
            </a:r>
            <a:pPr algn="l" indent="0" marL="0">
              <a:lnSpc>
                <a:spcPct val="131757"/>
              </a:lnSpc>
              <a:buNone/>
            </a:pPr>
            <a:r>
              <a:rPr lang="en-US" sz="1950" b="1" dirty="0">
                <a:solidFill>
                  <a:srgbClr val="6B6252"/>
                </a:solidFill>
                <a:latin typeface="Arial" pitchFamily="34" charset="0"/>
                <a:ea typeface="Arial" pitchFamily="34" charset="-122"/>
                <a:cs typeface="Arial" pitchFamily="34" charset="-120"/>
              </a:rPr>
              <a:t>emulates missing hardware </a:t>
            </a:r>
            <a:pPr algn="l" indent="0" marL="0">
              <a:lnSpc>
                <a:spcPct val="131757"/>
              </a:lnSpc>
              <a:buNone/>
            </a:pPr>
            <a:r>
              <a:rPr lang="en-US" sz="1950" dirty="0">
                <a:solidFill>
                  <a:srgbClr val="6B6252"/>
                </a:solidFill>
                <a:latin typeface="Arial" pitchFamily="34" charset="0"/>
                <a:ea typeface="Arial" pitchFamily="34" charset="-122"/>
                <a:cs typeface="Arial" pitchFamily="34" charset="-120"/>
              </a:rPr>
              <a:t>: LBYTE, SBYTE, register multiply / divide, EXRG — so one binary runs on differently-equipped machines.</a:t>
            </a:r>
            <a:endParaRPr lang="en-US" sz="1950" dirty="0"/>
          </a:p>
        </p:txBody>
      </p:sp>
      <p:sp>
        <p:nvSpPr>
          <p:cNvPr id="8" name="Shape 6"/>
          <p:cNvSpPr/>
          <p:nvPr/>
        </p:nvSpPr>
        <p:spPr>
          <a:xfrm>
            <a:off x="9525000" y="2573655"/>
            <a:ext cx="7810500" cy="4267200"/>
          </a:xfrm>
          <a:prstGeom prst="rect">
            <a:avLst/>
          </a:prstGeom>
          <a:solidFill>
            <a:srgbClr val="2A2620"/>
          </a:solidFill>
          <a:ln/>
        </p:spPr>
      </p:sp>
      <p:sp>
        <p:nvSpPr>
          <p:cNvPr id="9" name="Text 7"/>
          <p:cNvSpPr/>
          <p:nvPr/>
        </p:nvSpPr>
        <p:spPr>
          <a:xfrm>
            <a:off x="9867900" y="2859405"/>
            <a:ext cx="7338441" cy="438150"/>
          </a:xfrm>
          <a:prstGeom prst="rect">
            <a:avLst/>
          </a:prstGeom>
          <a:noFill/>
          <a:ln/>
        </p:spPr>
        <p:txBody>
          <a:bodyPr wrap="square" lIns="25400" tIns="25400" rIns="25400" bIns="25400" rtlCol="0" anchor="t">
            <a:normAutofit/>
          </a:bodyPr>
          <a:lstStyle/>
          <a:p>
            <a:pPr algn="l" indent="0" marL="0">
              <a:lnSpc>
                <a:spcPct val="154412"/>
              </a:lnSpc>
              <a:buNone/>
            </a:pPr>
            <a:r>
              <a:rPr lang="en-US" sz="1800" dirty="0">
                <a:solidFill>
                  <a:srgbClr val="E8935A"/>
                </a:solidFill>
                <a:latin typeface="Courier New" pitchFamily="34" charset="0"/>
                <a:ea typeface="Courier New" pitchFamily="34" charset="-122"/>
                <a:cs typeface="Courier New" pitchFamily="34" charset="-120"/>
              </a:rPr>
              <a:t>% MCTBL — 81 ENTRIES, BY THEME</a:t>
            </a:r>
            <a:endParaRPr lang="en-US" sz="1800" dirty="0"/>
          </a:p>
        </p:txBody>
      </p:sp>
      <p:sp>
        <p:nvSpPr>
          <p:cNvPr id="10" name="Text 8"/>
          <p:cNvSpPr/>
          <p:nvPr/>
        </p:nvSpPr>
        <p:spPr>
          <a:xfrm>
            <a:off x="9867900" y="3354705"/>
            <a:ext cx="7338441" cy="438150"/>
          </a:xfrm>
          <a:prstGeom prst="rect">
            <a:avLst/>
          </a:prstGeom>
          <a:noFill/>
          <a:ln/>
        </p:spPr>
        <p:txBody>
          <a:bodyPr wrap="square" lIns="25400" tIns="25400" rIns="25400" bIns="25400" rtlCol="0" anchor="t">
            <a:normAutofit/>
          </a:bodyPr>
          <a:lstStyle/>
          <a:p>
            <a:pPr algn="l" indent="0" marL="0">
              <a:lnSpc>
                <a:spcPct val="154412"/>
              </a:lnSpc>
              <a:buNone/>
            </a:pPr>
            <a:r>
              <a:rPr lang="en-US" sz="1800" dirty="0">
                <a:solidFill>
                  <a:srgbClr val="E8935A"/>
                </a:solidFill>
                <a:latin typeface="Courier New" pitchFamily="34" charset="0"/>
                <a:ea typeface="Courier New" pitchFamily="34" charset="-122"/>
                <a:cs typeface="Courier New" pitchFamily="34" charset="-120"/>
              </a:rPr>
              <a:t>CHAR I/O </a:t>
            </a:r>
            <a:pPr algn="l" indent="0" marL="0">
              <a:lnSpc>
                <a:spcPct val="154412"/>
              </a:lnSpc>
              <a:buNone/>
            </a:pPr>
            <a:r>
              <a:rPr lang="en-US" sz="1800" dirty="0">
                <a:solidFill>
                  <a:srgbClr val="E6DEC9"/>
                </a:solidFill>
                <a:latin typeface="Courier New" pitchFamily="34" charset="0"/>
                <a:ea typeface="Courier New" pitchFamily="34" charset="-122"/>
                <a:cs typeface="Courier New" pitchFamily="34" charset="-120"/>
              </a:rPr>
              <a:t>INBT OUTBT ECHOM BRKM</a:t>
            </a:r>
            <a:endParaRPr lang="en-US" sz="1800" dirty="0"/>
          </a:p>
        </p:txBody>
      </p:sp>
      <p:sp>
        <p:nvSpPr>
          <p:cNvPr id="11" name="Text 9"/>
          <p:cNvSpPr/>
          <p:nvPr/>
        </p:nvSpPr>
        <p:spPr>
          <a:xfrm>
            <a:off x="9867900" y="3754755"/>
            <a:ext cx="7338441" cy="438150"/>
          </a:xfrm>
          <a:prstGeom prst="rect">
            <a:avLst/>
          </a:prstGeom>
          <a:noFill/>
          <a:ln/>
        </p:spPr>
        <p:txBody>
          <a:bodyPr wrap="square" lIns="25400" tIns="25400" rIns="25400" bIns="25400" rtlCol="0" anchor="t">
            <a:normAutofit/>
          </a:bodyPr>
          <a:lstStyle/>
          <a:p>
            <a:pPr algn="l" indent="0" marL="0">
              <a:lnSpc>
                <a:spcPct val="154412"/>
              </a:lnSpc>
              <a:buNone/>
            </a:pPr>
            <a:r>
              <a:rPr lang="en-US" sz="1800" dirty="0">
                <a:solidFill>
                  <a:srgbClr val="E8935A"/>
                </a:solidFill>
                <a:latin typeface="Courier New" pitchFamily="34" charset="0"/>
                <a:ea typeface="Courier New" pitchFamily="34" charset="-122"/>
                <a:cs typeface="Courier New" pitchFamily="34" charset="-120"/>
              </a:rPr>
              <a:t>FILES </a:t>
            </a:r>
            <a:pPr algn="l" indent="0" marL="0">
              <a:lnSpc>
                <a:spcPct val="154412"/>
              </a:lnSpc>
              <a:buNone/>
            </a:pPr>
            <a:r>
              <a:rPr lang="en-US" sz="1800" dirty="0">
                <a:solidFill>
                  <a:srgbClr val="E6DEC9"/>
                </a:solidFill>
                <a:latin typeface="Courier New" pitchFamily="34" charset="0"/>
                <a:ea typeface="Courier New" pitchFamily="34" charset="-122"/>
                <a:cs typeface="Courier New" pitchFamily="34" charset="-120"/>
              </a:rPr>
              <a:t>OPEN CFILE ISIZE OSIZE</a:t>
            </a:r>
            <a:endParaRPr lang="en-US" sz="1800" dirty="0"/>
          </a:p>
        </p:txBody>
      </p:sp>
      <p:sp>
        <p:nvSpPr>
          <p:cNvPr id="12" name="Text 10"/>
          <p:cNvSpPr/>
          <p:nvPr/>
        </p:nvSpPr>
        <p:spPr>
          <a:xfrm>
            <a:off x="9867900" y="4154805"/>
            <a:ext cx="7338441" cy="438150"/>
          </a:xfrm>
          <a:prstGeom prst="rect">
            <a:avLst/>
          </a:prstGeom>
          <a:noFill/>
          <a:ln/>
        </p:spPr>
        <p:txBody>
          <a:bodyPr wrap="square" lIns="25400" tIns="25400" rIns="25400" bIns="25400" rtlCol="0" anchor="t">
            <a:normAutofit/>
          </a:bodyPr>
          <a:lstStyle/>
          <a:p>
            <a:pPr algn="l" indent="0" marL="0">
              <a:lnSpc>
                <a:spcPct val="154412"/>
              </a:lnSpc>
              <a:buNone/>
            </a:pPr>
            <a:r>
              <a:rPr lang="en-US" sz="1800" dirty="0">
                <a:solidFill>
                  <a:srgbClr val="E8935A"/>
                </a:solidFill>
                <a:latin typeface="Courier New" pitchFamily="34" charset="0"/>
                <a:ea typeface="Courier New" pitchFamily="34" charset="-122"/>
                <a:cs typeface="Courier New" pitchFamily="34" charset="-120"/>
              </a:rPr>
              <a:t>DISK </a:t>
            </a:r>
            <a:pPr algn="l" indent="0" marL="0">
              <a:lnSpc>
                <a:spcPct val="154412"/>
              </a:lnSpc>
              <a:buNone/>
            </a:pPr>
            <a:r>
              <a:rPr lang="en-US" sz="1800" dirty="0">
                <a:solidFill>
                  <a:srgbClr val="E6DEC9"/>
                </a:solidFill>
                <a:latin typeface="Courier New" pitchFamily="34" charset="0"/>
                <a:ea typeface="Courier New" pitchFamily="34" charset="-122"/>
                <a:cs typeface="Courier New" pitchFamily="34" charset="-120"/>
              </a:rPr>
              <a:t>RDISK WDISK RPAG WPAG</a:t>
            </a:r>
            <a:endParaRPr lang="en-US" sz="1800" dirty="0"/>
          </a:p>
        </p:txBody>
      </p:sp>
      <p:sp>
        <p:nvSpPr>
          <p:cNvPr id="13" name="Text 11"/>
          <p:cNvSpPr/>
          <p:nvPr/>
        </p:nvSpPr>
        <p:spPr>
          <a:xfrm>
            <a:off x="9867900" y="4554855"/>
            <a:ext cx="7338441" cy="438150"/>
          </a:xfrm>
          <a:prstGeom prst="rect">
            <a:avLst/>
          </a:prstGeom>
          <a:noFill/>
          <a:ln/>
        </p:spPr>
        <p:txBody>
          <a:bodyPr wrap="square" lIns="25400" tIns="25400" rIns="25400" bIns="25400" rtlCol="0" anchor="t">
            <a:normAutofit/>
          </a:bodyPr>
          <a:lstStyle/>
          <a:p>
            <a:pPr algn="l" indent="0" marL="0">
              <a:lnSpc>
                <a:spcPct val="154412"/>
              </a:lnSpc>
              <a:buNone/>
            </a:pPr>
            <a:r>
              <a:rPr lang="en-US" sz="1800" dirty="0">
                <a:solidFill>
                  <a:srgbClr val="E8935A"/>
                </a:solidFill>
                <a:latin typeface="Courier New" pitchFamily="34" charset="0"/>
                <a:ea typeface="Courier New" pitchFamily="34" charset="-122"/>
                <a:cs typeface="Courier New" pitchFamily="34" charset="-120"/>
              </a:rPr>
              <a:t>STRINGS </a:t>
            </a:r>
            <a:pPr algn="l" indent="0" marL="0">
              <a:lnSpc>
                <a:spcPct val="154412"/>
              </a:lnSpc>
              <a:buNone/>
            </a:pPr>
            <a:r>
              <a:rPr lang="en-US" sz="1800" dirty="0">
                <a:solidFill>
                  <a:srgbClr val="E6DEC9"/>
                </a:solidFill>
                <a:latin typeface="Courier New" pitchFamily="34" charset="0"/>
                <a:ea typeface="Courier New" pitchFamily="34" charset="-122"/>
                <a:cs typeface="Courier New" pitchFamily="34" charset="-120"/>
              </a:rPr>
              <a:t>SETUP GCI WCI TRIM CNS</a:t>
            </a:r>
            <a:endParaRPr lang="en-US" sz="1800" dirty="0"/>
          </a:p>
        </p:txBody>
      </p:sp>
      <p:sp>
        <p:nvSpPr>
          <p:cNvPr id="14" name="Text 12"/>
          <p:cNvSpPr/>
          <p:nvPr/>
        </p:nvSpPr>
        <p:spPr>
          <a:xfrm>
            <a:off x="9867900" y="4954905"/>
            <a:ext cx="7338441" cy="438150"/>
          </a:xfrm>
          <a:prstGeom prst="rect">
            <a:avLst/>
          </a:prstGeom>
          <a:noFill/>
          <a:ln/>
        </p:spPr>
        <p:txBody>
          <a:bodyPr wrap="square" lIns="25400" tIns="25400" rIns="25400" bIns="25400" rtlCol="0" anchor="t">
            <a:normAutofit/>
          </a:bodyPr>
          <a:lstStyle/>
          <a:p>
            <a:pPr algn="l" indent="0" marL="0">
              <a:lnSpc>
                <a:spcPct val="154412"/>
              </a:lnSpc>
              <a:buNone/>
            </a:pPr>
            <a:r>
              <a:rPr lang="en-US" sz="1800" dirty="0">
                <a:solidFill>
                  <a:srgbClr val="E8935A"/>
                </a:solidFill>
                <a:latin typeface="Courier New" pitchFamily="34" charset="0"/>
                <a:ea typeface="Courier New" pitchFamily="34" charset="-122"/>
                <a:cs typeface="Courier New" pitchFamily="34" charset="-120"/>
              </a:rPr>
              <a:t>USERS </a:t>
            </a:r>
            <a:pPr algn="l" indent="0" marL="0">
              <a:lnSpc>
                <a:spcPct val="154412"/>
              </a:lnSpc>
              <a:buNone/>
            </a:pPr>
            <a:r>
              <a:rPr lang="en-US" sz="1800" dirty="0">
                <a:solidFill>
                  <a:srgbClr val="E6DEC9"/>
                </a:solidFill>
                <a:latin typeface="Courier New" pitchFamily="34" charset="0"/>
                <a:ea typeface="Courier New" pitchFamily="34" charset="-122"/>
                <a:cs typeface="Courier New" pitchFamily="34" charset="-120"/>
              </a:rPr>
              <a:t>GUNUM GUNAM WHUSR EXEC</a:t>
            </a:r>
            <a:endParaRPr lang="en-US" sz="1800" dirty="0"/>
          </a:p>
        </p:txBody>
      </p:sp>
      <p:sp>
        <p:nvSpPr>
          <p:cNvPr id="15" name="Text 13"/>
          <p:cNvSpPr/>
          <p:nvPr/>
        </p:nvSpPr>
        <p:spPr>
          <a:xfrm>
            <a:off x="9867900" y="5354955"/>
            <a:ext cx="7338441" cy="438150"/>
          </a:xfrm>
          <a:prstGeom prst="rect">
            <a:avLst/>
          </a:prstGeom>
          <a:noFill/>
          <a:ln/>
        </p:spPr>
        <p:txBody>
          <a:bodyPr wrap="square" lIns="25400" tIns="25400" rIns="25400" bIns="25400" rtlCol="0" anchor="t">
            <a:normAutofit/>
          </a:bodyPr>
          <a:lstStyle/>
          <a:p>
            <a:pPr algn="l" indent="0" marL="0">
              <a:lnSpc>
                <a:spcPct val="154412"/>
              </a:lnSpc>
              <a:buNone/>
            </a:pPr>
            <a:r>
              <a:rPr lang="en-US" sz="1800" dirty="0">
                <a:solidFill>
                  <a:srgbClr val="E8935A"/>
                </a:solidFill>
                <a:latin typeface="Courier New" pitchFamily="34" charset="0"/>
                <a:ea typeface="Courier New" pitchFamily="34" charset="-122"/>
                <a:cs typeface="Courier New" pitchFamily="34" charset="-120"/>
              </a:rPr>
              <a:t>MAIL </a:t>
            </a:r>
            <a:pPr algn="l" indent="0" marL="0">
              <a:lnSpc>
                <a:spcPct val="154412"/>
              </a:lnSpc>
              <a:buNone/>
            </a:pPr>
            <a:r>
              <a:rPr lang="en-US" sz="1800" dirty="0">
                <a:solidFill>
                  <a:srgbClr val="E6DEC9"/>
                </a:solidFill>
                <a:latin typeface="Courier New" pitchFamily="34" charset="0"/>
                <a:ea typeface="Courier New" pitchFamily="34" charset="-122"/>
                <a:cs typeface="Courier New" pitchFamily="34" charset="-120"/>
              </a:rPr>
              <a:t>IMAIL GMAIL BROAD MSG</a:t>
            </a:r>
            <a:endParaRPr lang="en-US" sz="1800" dirty="0"/>
          </a:p>
        </p:txBody>
      </p:sp>
      <p:sp>
        <p:nvSpPr>
          <p:cNvPr id="16" name="Text 14"/>
          <p:cNvSpPr/>
          <p:nvPr/>
        </p:nvSpPr>
        <p:spPr>
          <a:xfrm>
            <a:off x="9867900" y="5755005"/>
            <a:ext cx="7338441" cy="438150"/>
          </a:xfrm>
          <a:prstGeom prst="rect">
            <a:avLst/>
          </a:prstGeom>
          <a:noFill/>
          <a:ln/>
        </p:spPr>
        <p:txBody>
          <a:bodyPr wrap="square" lIns="25400" tIns="25400" rIns="25400" bIns="25400" rtlCol="0" anchor="t">
            <a:normAutofit/>
          </a:bodyPr>
          <a:lstStyle/>
          <a:p>
            <a:pPr algn="l" indent="0" marL="0">
              <a:lnSpc>
                <a:spcPct val="154412"/>
              </a:lnSpc>
              <a:buNone/>
            </a:pPr>
            <a:r>
              <a:rPr lang="en-US" sz="1800" dirty="0">
                <a:solidFill>
                  <a:srgbClr val="E8935A"/>
                </a:solidFill>
                <a:latin typeface="Courier New" pitchFamily="34" charset="0"/>
                <a:ea typeface="Courier New" pitchFamily="34" charset="-122"/>
                <a:cs typeface="Courier New" pitchFamily="34" charset="-120"/>
              </a:rPr>
              <a:t>TIME </a:t>
            </a:r>
            <a:pPr algn="l" indent="0" marL="0">
              <a:lnSpc>
                <a:spcPct val="154412"/>
              </a:lnSpc>
              <a:buNone/>
            </a:pPr>
            <a:r>
              <a:rPr lang="en-US" sz="1800" dirty="0">
                <a:solidFill>
                  <a:srgbClr val="E6DEC9"/>
                </a:solidFill>
                <a:latin typeface="Courier New" pitchFamily="34" charset="0"/>
                <a:ea typeface="Courier New" pitchFamily="34" charset="-122"/>
                <a:cs typeface="Courier New" pitchFamily="34" charset="-120"/>
              </a:rPr>
              <a:t>RKLOK RDATE TTIM RCTIM</a:t>
            </a:r>
            <a:endParaRPr lang="en-US" sz="1800" dirty="0"/>
          </a:p>
        </p:txBody>
      </p:sp>
      <p:sp>
        <p:nvSpPr>
          <p:cNvPr id="17" name="Text 15"/>
          <p:cNvSpPr/>
          <p:nvPr/>
        </p:nvSpPr>
        <p:spPr>
          <a:xfrm>
            <a:off x="9867900" y="6155055"/>
            <a:ext cx="7338441" cy="438150"/>
          </a:xfrm>
          <a:prstGeom prst="rect">
            <a:avLst/>
          </a:prstGeom>
          <a:noFill/>
          <a:ln/>
        </p:spPr>
        <p:txBody>
          <a:bodyPr wrap="square" lIns="25400" tIns="25400" rIns="25400" bIns="25400" rtlCol="0" anchor="t">
            <a:normAutofit/>
          </a:bodyPr>
          <a:lstStyle/>
          <a:p>
            <a:pPr algn="l" indent="0" marL="0">
              <a:lnSpc>
                <a:spcPct val="154412"/>
              </a:lnSpc>
              <a:buNone/>
            </a:pPr>
            <a:r>
              <a:rPr lang="en-US" sz="1800" dirty="0">
                <a:solidFill>
                  <a:srgbClr val="E8935A"/>
                </a:solidFill>
                <a:latin typeface="Courier New" pitchFamily="34" charset="0"/>
                <a:ea typeface="Courier New" pitchFamily="34" charset="-122"/>
                <a:cs typeface="Courier New" pitchFamily="34" charset="-120"/>
              </a:rPr>
              <a:t>CONTROL </a:t>
            </a:r>
            <a:pPr algn="l" indent="0" marL="0">
              <a:lnSpc>
                <a:spcPct val="154412"/>
              </a:lnSpc>
              <a:buNone/>
            </a:pPr>
            <a:r>
              <a:rPr lang="en-US" sz="1800" dirty="0">
                <a:solidFill>
                  <a:srgbClr val="E6DEC9"/>
                </a:solidFill>
                <a:latin typeface="Courier New" pitchFamily="34" charset="0"/>
                <a:ea typeface="Courier New" pitchFamily="34" charset="-122"/>
                <a:cs typeface="Courier New" pitchFamily="34" charset="-120"/>
              </a:rPr>
              <a:t>LEAVE RESUM ESCTR DBRK</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EDE1"/>
        </a:solidFill>
      </p:bgPr>
    </p:bg>
    <p:spTree>
      <p:nvGrpSpPr>
        <p:cNvPr id="1" name=""/>
        <p:cNvGrpSpPr/>
        <p:nvPr/>
      </p:nvGrpSpPr>
      <p:grpSpPr>
        <a:xfrm>
          <a:off x="0" y="0"/>
          <a:ext cx="0" cy="0"/>
          <a:chOff x="0" y="0"/>
          <a:chExt cx="0" cy="0"/>
        </a:xfrm>
      </p:grpSpPr>
      <p:sp>
        <p:nvSpPr>
          <p:cNvPr id="2" name="Text 0"/>
          <p:cNvSpPr/>
          <p:nvPr/>
        </p:nvSpPr>
        <p:spPr>
          <a:xfrm>
            <a:off x="952500" y="857250"/>
            <a:ext cx="18021300" cy="33528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C8501E"/>
                </a:solidFill>
                <a:latin typeface="Courier New" pitchFamily="34" charset="0"/>
                <a:ea typeface="Courier New" pitchFamily="34" charset="-122"/>
                <a:cs typeface="Courier New" pitchFamily="34" charset="-120"/>
              </a:rPr>
              <a:t>SECTION 01 · KERNEL</a:t>
            </a:r>
            <a:endParaRPr lang="en-US" sz="1800" dirty="0"/>
          </a:p>
        </p:txBody>
      </p:sp>
      <p:sp>
        <p:nvSpPr>
          <p:cNvPr id="3" name="Text 1"/>
          <p:cNvSpPr/>
          <p:nvPr/>
        </p:nvSpPr>
        <p:spPr>
          <a:xfrm>
            <a:off x="952500" y="1306830"/>
            <a:ext cx="18021300" cy="666750"/>
          </a:xfrm>
          <a:prstGeom prst="rect">
            <a:avLst/>
          </a:prstGeom>
          <a:noFill/>
          <a:ln/>
        </p:spPr>
        <p:txBody>
          <a:bodyPr wrap="square" lIns="25400" tIns="25400" rIns="25400" bIns="25400" rtlCol="0" anchor="t">
            <a:normAutofit/>
          </a:bodyPr>
          <a:lstStyle/>
          <a:p>
            <a:pPr algn="l" indent="0" marL="0">
              <a:lnSpc>
                <a:spcPct val="97059"/>
              </a:lnSpc>
              <a:buNone/>
            </a:pPr>
            <a:r>
              <a:rPr lang="en-US" sz="4500" b="1" dirty="0">
                <a:solidFill>
                  <a:srgbClr val="211C14"/>
                </a:solidFill>
                <a:latin typeface="Courier New" pitchFamily="34" charset="0"/>
                <a:ea typeface="Courier New" pitchFamily="34" charset="-122"/>
                <a:cs typeface="Courier New" pitchFamily="34" charset="-120"/>
              </a:rPr>
              <a:t>Buffers &amp; the Driver Pattern</a:t>
            </a:r>
            <a:endParaRPr lang="en-US" sz="4500" dirty="0"/>
          </a:p>
        </p:txBody>
      </p:sp>
      <p:sp>
        <p:nvSpPr>
          <p:cNvPr id="4" name="Shape 2"/>
          <p:cNvSpPr/>
          <p:nvPr/>
        </p:nvSpPr>
        <p:spPr>
          <a:xfrm>
            <a:off x="952500" y="2087880"/>
            <a:ext cx="16383000" cy="28575"/>
          </a:xfrm>
          <a:prstGeom prst="rect">
            <a:avLst/>
          </a:prstGeom>
          <a:solidFill>
            <a:srgbClr val="211C14"/>
          </a:solidFill>
          <a:ln/>
        </p:spPr>
      </p:sp>
      <p:sp>
        <p:nvSpPr>
          <p:cNvPr id="5" name="Text 3"/>
          <p:cNvSpPr/>
          <p:nvPr/>
        </p:nvSpPr>
        <p:spPr>
          <a:xfrm>
            <a:off x="952500" y="2535555"/>
            <a:ext cx="9418320" cy="874395"/>
          </a:xfrm>
          <a:prstGeom prst="rect">
            <a:avLst/>
          </a:prstGeom>
          <a:noFill/>
          <a:ln/>
        </p:spPr>
        <p:txBody>
          <a:bodyPr wrap="square" lIns="25400" tIns="25400" rIns="25400" bIns="25400" rtlCol="0" anchor="t">
            <a:normAutofit/>
          </a:bodyPr>
          <a:lstStyle/>
          <a:p>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Every character device owns a </a:t>
            </a:r>
            <a:pPr algn="l" indent="0" marL="0">
              <a:lnSpc>
                <a:spcPct val="129464"/>
              </a:lnSpc>
              <a:buNone/>
            </a:pPr>
            <a:r>
              <a:rPr lang="en-US" sz="2175" b="1" dirty="0">
                <a:solidFill>
                  <a:srgbClr val="211C14"/>
                </a:solidFill>
                <a:latin typeface="Arial" pitchFamily="34" charset="0"/>
                <a:ea typeface="Arial" pitchFamily="34" charset="-122"/>
                <a:cs typeface="Arial" pitchFamily="34" charset="-120"/>
              </a:rPr>
              <a:t>ring buffer </a:t>
            </a:r>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(two 8-bit chars per 16-bit word), created by </a:t>
            </a:r>
            <a:pPr algn="l" indent="0" marL="0">
              <a:lnSpc>
                <a:spcPct val="129464"/>
              </a:lnSpc>
              <a:buNone/>
            </a:pPr>
            <a:r>
              <a:rPr lang="en-US" sz="2175" dirty="0">
                <a:solidFill>
                  <a:srgbClr val="211C14"/>
                </a:solidFill>
                <a:latin typeface="Courier New" pitchFamily="34" charset="0"/>
                <a:ea typeface="Courier New" pitchFamily="34" charset="-122"/>
                <a:cs typeface="Courier New" pitchFamily="34" charset="-120"/>
              </a:rPr>
              <a:t>IBUF </a:t>
            </a:r>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and reached only through </a:t>
            </a:r>
            <a:pPr algn="l" indent="0" marL="0">
              <a:lnSpc>
                <a:spcPct val="129464"/>
              </a:lnSpc>
              <a:buNone/>
            </a:pPr>
            <a:r>
              <a:rPr lang="en-US" sz="2175" dirty="0">
                <a:solidFill>
                  <a:srgbClr val="211C14"/>
                </a:solidFill>
                <a:latin typeface="Courier New" pitchFamily="34" charset="0"/>
                <a:ea typeface="Courier New" pitchFamily="34" charset="-122"/>
                <a:cs typeface="Courier New" pitchFamily="34" charset="-120"/>
              </a:rPr>
              <a:t>WBUF </a:t>
            </a:r>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 </a:t>
            </a:r>
            <a:pPr algn="l" indent="0" marL="0">
              <a:lnSpc>
                <a:spcPct val="129464"/>
              </a:lnSpc>
              <a:buNone/>
            </a:pPr>
            <a:r>
              <a:rPr lang="en-US" sz="2175" dirty="0">
                <a:solidFill>
                  <a:srgbClr val="211C14"/>
                </a:solidFill>
                <a:latin typeface="Courier New" pitchFamily="34" charset="0"/>
                <a:ea typeface="Courier New" pitchFamily="34" charset="-122"/>
                <a:cs typeface="Courier New" pitchFamily="34" charset="-120"/>
              </a:rPr>
              <a:t>RBUF</a:t>
            </a:r>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a:t>
            </a:r>
            <a:endParaRPr lang="en-US" sz="2175" dirty="0"/>
          </a:p>
        </p:txBody>
      </p:sp>
      <p:sp>
        <p:nvSpPr>
          <p:cNvPr id="6" name="Text 4"/>
          <p:cNvSpPr/>
          <p:nvPr/>
        </p:nvSpPr>
        <p:spPr>
          <a:xfrm>
            <a:off x="952500" y="3619500"/>
            <a:ext cx="9418320" cy="1296353"/>
          </a:xfrm>
          <a:prstGeom prst="rect">
            <a:avLst/>
          </a:prstGeom>
          <a:noFill/>
          <a:ln/>
        </p:spPr>
        <p:txBody>
          <a:bodyPr wrap="square" lIns="25400" tIns="25400" rIns="25400" bIns="25400" rtlCol="0" anchor="t">
            <a:normAutofit/>
          </a:bodyPr>
          <a:lstStyle/>
          <a:p>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Drivers split in two halves that meet in the buffer: an </a:t>
            </a:r>
            <a:pPr algn="l" indent="0" marL="0">
              <a:lnSpc>
                <a:spcPct val="129464"/>
              </a:lnSpc>
              <a:buNone/>
            </a:pPr>
            <a:r>
              <a:rPr lang="en-US" sz="2175" b="1" dirty="0">
                <a:solidFill>
                  <a:srgbClr val="211C14"/>
                </a:solidFill>
                <a:latin typeface="Arial" pitchFamily="34" charset="0"/>
                <a:ea typeface="Arial" pitchFamily="34" charset="-122"/>
                <a:cs typeface="Arial" pitchFamily="34" charset="-120"/>
              </a:rPr>
              <a:t>interrupt half </a:t>
            </a:r>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on the device level (TTYDI, READR, CARD1, PNTDR…) and a </a:t>
            </a:r>
            <a:pPr algn="l" indent="0" marL="0">
              <a:lnSpc>
                <a:spcPct val="129464"/>
              </a:lnSpc>
              <a:buNone/>
            </a:pPr>
            <a:r>
              <a:rPr lang="en-US" sz="2175" b="1" dirty="0">
                <a:solidFill>
                  <a:srgbClr val="211C14"/>
                </a:solidFill>
                <a:latin typeface="Arial" pitchFamily="34" charset="0"/>
                <a:ea typeface="Arial" pitchFamily="34" charset="-122"/>
                <a:cs typeface="Arial" pitchFamily="34" charset="-120"/>
              </a:rPr>
              <a:t>process half </a:t>
            </a:r>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called via monitor calls (RTTY, WTTY, RREA, WPRNT…).</a:t>
            </a:r>
            <a:endParaRPr lang="en-US" sz="2175" dirty="0"/>
          </a:p>
        </p:txBody>
      </p:sp>
      <p:sp>
        <p:nvSpPr>
          <p:cNvPr id="7" name="Text 5"/>
          <p:cNvSpPr/>
          <p:nvPr/>
        </p:nvSpPr>
        <p:spPr>
          <a:xfrm>
            <a:off x="952500" y="5125403"/>
            <a:ext cx="9418320" cy="1288733"/>
          </a:xfrm>
          <a:prstGeom prst="rect">
            <a:avLst/>
          </a:prstGeom>
          <a:noFill/>
          <a:ln/>
        </p:spPr>
        <p:txBody>
          <a:bodyPr wrap="square" lIns="25400" tIns="25400" rIns="25400" bIns="25400" rtlCol="0" anchor="t">
            <a:normAutofit/>
          </a:bodyPr>
          <a:lstStyle/>
          <a:p>
            <a:pPr algn="l" indent="0" marL="0">
              <a:lnSpc>
                <a:spcPct val="129464"/>
              </a:lnSpc>
              <a:buNone/>
            </a:pPr>
            <a:r>
              <a:rPr lang="en-US" sz="2175" b="1" dirty="0">
                <a:solidFill>
                  <a:srgbClr val="211C14"/>
                </a:solidFill>
                <a:latin typeface="Arial" pitchFamily="34" charset="0"/>
                <a:ea typeface="Arial" pitchFamily="34" charset="-122"/>
                <a:cs typeface="Arial" pitchFamily="34" charset="-120"/>
              </a:rPr>
              <a:t>Skip-return convention </a:t>
            </a:r>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 a routine returns to the instruction after the call on failure, skips one on success — callers write their error handling in line, no flags.</a:t>
            </a:r>
            <a:endParaRPr lang="en-US" sz="2175" dirty="0"/>
          </a:p>
        </p:txBody>
      </p:sp>
      <p:sp>
        <p:nvSpPr>
          <p:cNvPr id="8" name="Text 6"/>
          <p:cNvSpPr/>
          <p:nvPr/>
        </p:nvSpPr>
        <p:spPr>
          <a:xfrm>
            <a:off x="952500" y="6623685"/>
            <a:ext cx="9418320" cy="874395"/>
          </a:xfrm>
          <a:prstGeom prst="rect">
            <a:avLst/>
          </a:prstGeom>
          <a:noFill/>
          <a:ln/>
        </p:spPr>
        <p:txBody>
          <a:bodyPr wrap="square" lIns="25400" tIns="25400" rIns="25400" bIns="25400" rtlCol="0" anchor="t">
            <a:normAutofit/>
          </a:bodyPr>
          <a:lstStyle/>
          <a:p>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A </a:t>
            </a:r>
            <a:pPr algn="l" indent="0" marL="0">
              <a:lnSpc>
                <a:spcPct val="129464"/>
              </a:lnSpc>
              <a:buNone/>
            </a:pPr>
            <a:r>
              <a:rPr lang="en-US" sz="2175" b="1" dirty="0">
                <a:solidFill>
                  <a:srgbClr val="211C14"/>
                </a:solidFill>
                <a:latin typeface="Arial" pitchFamily="34" charset="0"/>
                <a:ea typeface="Arial" pitchFamily="34" charset="-122"/>
                <a:cs typeface="Arial" pitchFamily="34" charset="-120"/>
              </a:rPr>
              <a:t>busy flag </a:t>
            </a:r>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per buffer marks a transfer in flight; a full output buffer </a:t>
            </a:r>
            <a:pPr algn="l" indent="0" marL="0">
              <a:lnSpc>
                <a:spcPct val="129464"/>
              </a:lnSpc>
              <a:buNone/>
            </a:pPr>
            <a:r>
              <a:rPr lang="en-US" sz="2175" i="1" dirty="0">
                <a:solidFill>
                  <a:srgbClr val="211C14"/>
                </a:solidFill>
                <a:latin typeface="Arial" pitchFamily="34" charset="0"/>
                <a:ea typeface="Arial" pitchFamily="34" charset="-122"/>
                <a:cs typeface="Arial" pitchFamily="34" charset="-120"/>
              </a:rPr>
              <a:t>blocks </a:t>
            </a:r>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the process (PRT status bit) until the drain interrupt wakes it.</a:t>
            </a:r>
            <a:endParaRPr lang="en-US" sz="2175" dirty="0"/>
          </a:p>
        </p:txBody>
      </p:sp>
      <p:sp>
        <p:nvSpPr>
          <p:cNvPr id="9" name="Shape 7"/>
          <p:cNvSpPr/>
          <p:nvPr/>
        </p:nvSpPr>
        <p:spPr>
          <a:xfrm>
            <a:off x="10668000" y="2535555"/>
            <a:ext cx="6667500" cy="4991100"/>
          </a:xfrm>
          <a:prstGeom prst="rect">
            <a:avLst/>
          </a:prstGeom>
          <a:solidFill>
            <a:srgbClr val="2A2620"/>
          </a:solidFill>
          <a:ln/>
        </p:spPr>
      </p:sp>
      <p:sp>
        <p:nvSpPr>
          <p:cNvPr id="10" name="Text 8"/>
          <p:cNvSpPr/>
          <p:nvPr/>
        </p:nvSpPr>
        <p:spPr>
          <a:xfrm>
            <a:off x="11029950" y="2840355"/>
            <a:ext cx="6121908" cy="449580"/>
          </a:xfrm>
          <a:prstGeom prst="rect">
            <a:avLst/>
          </a:prstGeom>
          <a:noFill/>
          <a:ln/>
        </p:spPr>
        <p:txBody>
          <a:bodyPr wrap="square" lIns="25400" tIns="25400" rIns="25400" bIns="25400" rtlCol="0" anchor="t">
            <a:normAutofit/>
          </a:bodyPr>
          <a:lstStyle/>
          <a:p>
            <a:pPr algn="l" indent="0" marL="0">
              <a:lnSpc>
                <a:spcPct val="158824"/>
              </a:lnSpc>
              <a:buNone/>
            </a:pPr>
            <a:r>
              <a:rPr lang="en-US" sz="1800" dirty="0">
                <a:solidFill>
                  <a:srgbClr val="E8935A"/>
                </a:solidFill>
                <a:latin typeface="Courier New" pitchFamily="34" charset="0"/>
                <a:ea typeface="Courier New" pitchFamily="34" charset="-122"/>
                <a:cs typeface="Courier New" pitchFamily="34" charset="-120"/>
              </a:rPr>
              <a:t>% OUTPUT PATH, e.g. WTTY</a:t>
            </a:r>
            <a:endParaRPr lang="en-US" sz="1800" dirty="0"/>
          </a:p>
        </p:txBody>
      </p:sp>
      <p:sp>
        <p:nvSpPr>
          <p:cNvPr id="11" name="Text 9"/>
          <p:cNvSpPr/>
          <p:nvPr/>
        </p:nvSpPr>
        <p:spPr>
          <a:xfrm>
            <a:off x="11029950" y="3251835"/>
            <a:ext cx="6121908" cy="449580"/>
          </a:xfrm>
          <a:prstGeom prst="rect">
            <a:avLst/>
          </a:prstGeom>
          <a:noFill/>
          <a:ln/>
        </p:spPr>
        <p:txBody>
          <a:bodyPr wrap="square" lIns="25400" tIns="25400" rIns="25400" bIns="25400" rtlCol="0" anchor="t">
            <a:normAutofit/>
          </a:bodyPr>
          <a:lstStyle/>
          <a:p>
            <a:pPr algn="l" indent="0" marL="0">
              <a:lnSpc>
                <a:spcPct val="158824"/>
              </a:lnSpc>
              <a:buNone/>
            </a:pPr>
            <a:r>
              <a:rPr lang="en-US" sz="1800" dirty="0">
                <a:solidFill>
                  <a:srgbClr val="E6DEC9"/>
                </a:solidFill>
                <a:latin typeface="Courier New" pitchFamily="34" charset="0"/>
                <a:ea typeface="Courier New" pitchFamily="34" charset="-122"/>
                <a:cs typeface="Courier New" pitchFamily="34" charset="-120"/>
              </a:rPr>
              <a:t>PROCESS: WTTY → BUSY?</a:t>
            </a:r>
            <a:endParaRPr lang="en-US" sz="1800" dirty="0"/>
          </a:p>
        </p:txBody>
      </p:sp>
      <p:sp>
        <p:nvSpPr>
          <p:cNvPr id="12" name="Text 10"/>
          <p:cNvSpPr/>
          <p:nvPr/>
        </p:nvSpPr>
        <p:spPr>
          <a:xfrm>
            <a:off x="11029950" y="3663315"/>
            <a:ext cx="6121908" cy="449580"/>
          </a:xfrm>
          <a:prstGeom prst="rect">
            <a:avLst/>
          </a:prstGeom>
          <a:noFill/>
          <a:ln/>
        </p:spPr>
        <p:txBody>
          <a:bodyPr wrap="square" lIns="25400" tIns="25400" rIns="25400" bIns="25400" rtlCol="0" anchor="t">
            <a:normAutofit/>
          </a:bodyPr>
          <a:lstStyle/>
          <a:p>
            <a:pPr algn="l" indent="0" marL="0">
              <a:lnSpc>
                <a:spcPct val="158824"/>
              </a:lnSpc>
              <a:buNone/>
            </a:pPr>
            <a:r>
              <a:rPr lang="en-US" sz="1800" dirty="0">
                <a:solidFill>
                  <a:srgbClr val="E6DEC9"/>
                </a:solidFill>
                <a:latin typeface="Courier New" pitchFamily="34" charset="0"/>
                <a:ea typeface="Courier New" pitchFamily="34" charset="-122"/>
                <a:cs typeface="Courier New" pitchFamily="34" charset="-120"/>
              </a:rPr>
              <a:t>NO → IOX WDR (START DEVICE)</a:t>
            </a:r>
            <a:endParaRPr lang="en-US" sz="1800" dirty="0"/>
          </a:p>
        </p:txBody>
      </p:sp>
      <p:sp>
        <p:nvSpPr>
          <p:cNvPr id="13" name="Text 11"/>
          <p:cNvSpPr/>
          <p:nvPr/>
        </p:nvSpPr>
        <p:spPr>
          <a:xfrm>
            <a:off x="11029950" y="4074795"/>
            <a:ext cx="6121908" cy="449580"/>
          </a:xfrm>
          <a:prstGeom prst="rect">
            <a:avLst/>
          </a:prstGeom>
          <a:noFill/>
          <a:ln/>
        </p:spPr>
        <p:txBody>
          <a:bodyPr wrap="square" lIns="25400" tIns="25400" rIns="25400" bIns="25400" rtlCol="0" anchor="t">
            <a:normAutofit/>
          </a:bodyPr>
          <a:lstStyle/>
          <a:p>
            <a:pPr algn="l" indent="0" marL="0">
              <a:lnSpc>
                <a:spcPct val="158824"/>
              </a:lnSpc>
              <a:buNone/>
            </a:pPr>
            <a:r>
              <a:rPr lang="en-US" sz="1800" dirty="0">
                <a:solidFill>
                  <a:srgbClr val="E6DEC9"/>
                </a:solidFill>
                <a:latin typeface="Courier New" pitchFamily="34" charset="0"/>
                <a:ea typeface="Courier New" pitchFamily="34" charset="-122"/>
                <a:cs typeface="Courier New" pitchFamily="34" charset="-120"/>
              </a:rPr>
              <a:t>YES → WBUF (QUEUE CHAR)</a:t>
            </a:r>
            <a:endParaRPr lang="en-US" sz="1800" dirty="0"/>
          </a:p>
        </p:txBody>
      </p:sp>
      <p:sp>
        <p:nvSpPr>
          <p:cNvPr id="14" name="Text 12"/>
          <p:cNvSpPr/>
          <p:nvPr/>
        </p:nvSpPr>
        <p:spPr>
          <a:xfrm>
            <a:off x="11029950" y="4486275"/>
            <a:ext cx="6121908" cy="449580"/>
          </a:xfrm>
          <a:prstGeom prst="rect">
            <a:avLst/>
          </a:prstGeom>
          <a:noFill/>
          <a:ln/>
        </p:spPr>
        <p:txBody>
          <a:bodyPr wrap="square" lIns="25400" tIns="25400" rIns="25400" bIns="25400" rtlCol="0" anchor="t">
            <a:normAutofit/>
          </a:bodyPr>
          <a:lstStyle/>
          <a:p>
            <a:pPr algn="l" indent="0" marL="0">
              <a:lnSpc>
                <a:spcPct val="158824"/>
              </a:lnSpc>
              <a:buNone/>
            </a:pPr>
            <a:r>
              <a:rPr lang="en-US" sz="1800" dirty="0">
                <a:solidFill>
                  <a:srgbClr val="E6DEC9"/>
                </a:solidFill>
                <a:latin typeface="Courier New" pitchFamily="34" charset="0"/>
                <a:ea typeface="Courier New" pitchFamily="34" charset="-122"/>
                <a:cs typeface="Courier New" pitchFamily="34" charset="-120"/>
              </a:rPr>
              <a:t>FULL → BLOCK PROCESS</a:t>
            </a:r>
            <a:endParaRPr lang="en-US" sz="1800" dirty="0"/>
          </a:p>
        </p:txBody>
      </p:sp>
      <p:sp>
        <p:nvSpPr>
          <p:cNvPr id="15" name="Text 13"/>
          <p:cNvSpPr/>
          <p:nvPr/>
        </p:nvSpPr>
        <p:spPr>
          <a:xfrm>
            <a:off x="11029950" y="5031105"/>
            <a:ext cx="6121908" cy="449580"/>
          </a:xfrm>
          <a:prstGeom prst="rect">
            <a:avLst/>
          </a:prstGeom>
          <a:noFill/>
          <a:ln/>
        </p:spPr>
        <p:txBody>
          <a:bodyPr wrap="square" lIns="25400" tIns="25400" rIns="25400" bIns="25400" rtlCol="0" anchor="t">
            <a:normAutofit/>
          </a:bodyPr>
          <a:lstStyle/>
          <a:p>
            <a:pPr algn="l" indent="0" marL="0">
              <a:lnSpc>
                <a:spcPct val="158824"/>
              </a:lnSpc>
              <a:buNone/>
            </a:pPr>
            <a:r>
              <a:rPr lang="en-US" sz="1800" dirty="0">
                <a:solidFill>
                  <a:srgbClr val="E8935A"/>
                </a:solidFill>
                <a:latin typeface="Courier New" pitchFamily="34" charset="0"/>
                <a:ea typeface="Courier New" pitchFamily="34" charset="-122"/>
                <a:cs typeface="Courier New" pitchFamily="34" charset="-120"/>
              </a:rPr>
              <a:t>% INTERRUPT (LEVEL 10)</a:t>
            </a:r>
            <a:endParaRPr lang="en-US" sz="1800" dirty="0"/>
          </a:p>
        </p:txBody>
      </p:sp>
      <p:sp>
        <p:nvSpPr>
          <p:cNvPr id="16" name="Text 14"/>
          <p:cNvSpPr/>
          <p:nvPr/>
        </p:nvSpPr>
        <p:spPr>
          <a:xfrm>
            <a:off x="11029950" y="5442585"/>
            <a:ext cx="6121908" cy="449580"/>
          </a:xfrm>
          <a:prstGeom prst="rect">
            <a:avLst/>
          </a:prstGeom>
          <a:noFill/>
          <a:ln/>
        </p:spPr>
        <p:txBody>
          <a:bodyPr wrap="square" lIns="25400" tIns="25400" rIns="25400" bIns="25400" rtlCol="0" anchor="t">
            <a:normAutofit/>
          </a:bodyPr>
          <a:lstStyle/>
          <a:p>
            <a:pPr algn="l" indent="0" marL="0">
              <a:lnSpc>
                <a:spcPct val="158824"/>
              </a:lnSpc>
              <a:buNone/>
            </a:pPr>
            <a:r>
              <a:rPr lang="en-US" sz="1800" dirty="0">
                <a:solidFill>
                  <a:srgbClr val="E6DEC9"/>
                </a:solidFill>
                <a:latin typeface="Courier New" pitchFamily="34" charset="0"/>
                <a:ea typeface="Courier New" pitchFamily="34" charset="-122"/>
                <a:cs typeface="Courier New" pitchFamily="34" charset="-120"/>
              </a:rPr>
              <a:t>TTYDO: RBUF → IOX WDR</a:t>
            </a:r>
            <a:endParaRPr lang="en-US" sz="1800" dirty="0"/>
          </a:p>
        </p:txBody>
      </p:sp>
      <p:sp>
        <p:nvSpPr>
          <p:cNvPr id="17" name="Text 15"/>
          <p:cNvSpPr/>
          <p:nvPr/>
        </p:nvSpPr>
        <p:spPr>
          <a:xfrm>
            <a:off x="11029950" y="5854065"/>
            <a:ext cx="6121908" cy="449580"/>
          </a:xfrm>
          <a:prstGeom prst="rect">
            <a:avLst/>
          </a:prstGeom>
          <a:noFill/>
          <a:ln/>
        </p:spPr>
        <p:txBody>
          <a:bodyPr wrap="square" lIns="25400" tIns="25400" rIns="25400" bIns="25400" rtlCol="0" anchor="t">
            <a:normAutofit/>
          </a:bodyPr>
          <a:lstStyle/>
          <a:p>
            <a:pPr algn="l" indent="0" marL="0">
              <a:lnSpc>
                <a:spcPct val="158824"/>
              </a:lnSpc>
              <a:buNone/>
            </a:pPr>
            <a:r>
              <a:rPr lang="en-US" sz="1800" dirty="0">
                <a:solidFill>
                  <a:srgbClr val="E6DEC9"/>
                </a:solidFill>
                <a:latin typeface="Courier New" pitchFamily="34" charset="0"/>
                <a:ea typeface="Courier New" pitchFamily="34" charset="-122"/>
                <a:cs typeface="Courier New" pitchFamily="34" charset="-120"/>
              </a:rPr>
              <a:t>EMPTY → BUSZR, UNBLOCK</a:t>
            </a:r>
            <a:endParaRPr lang="en-US" sz="1800" dirty="0"/>
          </a:p>
        </p:txBody>
      </p:sp>
      <p:sp>
        <p:nvSpPr>
          <p:cNvPr id="18" name="Text 16"/>
          <p:cNvSpPr/>
          <p:nvPr/>
        </p:nvSpPr>
        <p:spPr>
          <a:xfrm>
            <a:off x="11029950" y="6398895"/>
            <a:ext cx="6121908" cy="449580"/>
          </a:xfrm>
          <a:prstGeom prst="rect">
            <a:avLst/>
          </a:prstGeom>
          <a:noFill/>
          <a:ln/>
        </p:spPr>
        <p:txBody>
          <a:bodyPr wrap="square" lIns="25400" tIns="25400" rIns="25400" bIns="25400" rtlCol="0" anchor="t">
            <a:normAutofit/>
          </a:bodyPr>
          <a:lstStyle/>
          <a:p>
            <a:pPr algn="l" indent="0" marL="0">
              <a:lnSpc>
                <a:spcPct val="158824"/>
              </a:lnSpc>
              <a:buNone/>
            </a:pPr>
            <a:r>
              <a:rPr lang="en-US" sz="1800" dirty="0">
                <a:solidFill>
                  <a:srgbClr val="E8935A"/>
                </a:solidFill>
                <a:latin typeface="Courier New" pitchFamily="34" charset="0"/>
                <a:ea typeface="Courier New" pitchFamily="34" charset="-122"/>
                <a:cs typeface="Courier New" pitchFamily="34" charset="-120"/>
              </a:rPr>
              <a:t>% INPUT MIRRORS IT ON LEVEL 12</a:t>
            </a:r>
            <a:endParaRPr lang="en-US" sz="1800" dirty="0"/>
          </a:p>
        </p:txBody>
      </p:sp>
      <p:sp>
        <p:nvSpPr>
          <p:cNvPr id="19" name="Text 17"/>
          <p:cNvSpPr/>
          <p:nvPr/>
        </p:nvSpPr>
        <p:spPr>
          <a:xfrm>
            <a:off x="11029950" y="6810375"/>
            <a:ext cx="6121908" cy="449580"/>
          </a:xfrm>
          <a:prstGeom prst="rect">
            <a:avLst/>
          </a:prstGeom>
          <a:noFill/>
          <a:ln/>
        </p:spPr>
        <p:txBody>
          <a:bodyPr wrap="square" lIns="25400" tIns="25400" rIns="25400" bIns="25400" rtlCol="0" anchor="t">
            <a:normAutofit/>
          </a:bodyPr>
          <a:lstStyle/>
          <a:p>
            <a:pPr algn="l" indent="0" marL="0">
              <a:lnSpc>
                <a:spcPct val="158824"/>
              </a:lnSpc>
              <a:buNone/>
            </a:pPr>
            <a:r>
              <a:rPr lang="en-US" sz="1800" dirty="0">
                <a:solidFill>
                  <a:srgbClr val="E6DEC9"/>
                </a:solidFill>
                <a:latin typeface="Courier New" pitchFamily="34" charset="0"/>
                <a:ea typeface="Courier New" pitchFamily="34" charset="-122"/>
                <a:cs typeface="Courier New" pitchFamily="34" charset="-120"/>
              </a:rPr>
              <a:t>TTYDI: IOX RDR → WBUF → BRKCH</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EDE1"/>
        </a:solidFill>
      </p:bgPr>
    </p:bg>
    <p:spTree>
      <p:nvGrpSpPr>
        <p:cNvPr id="1" name=""/>
        <p:cNvGrpSpPr/>
        <p:nvPr/>
      </p:nvGrpSpPr>
      <p:grpSpPr>
        <a:xfrm>
          <a:off x="0" y="0"/>
          <a:ext cx="0" cy="0"/>
          <a:chOff x="0" y="0"/>
          <a:chExt cx="0" cy="0"/>
        </a:xfrm>
      </p:grpSpPr>
      <p:sp>
        <p:nvSpPr>
          <p:cNvPr id="2" name="Text 0"/>
          <p:cNvSpPr/>
          <p:nvPr/>
        </p:nvSpPr>
        <p:spPr>
          <a:xfrm>
            <a:off x="952500" y="857250"/>
            <a:ext cx="18021300" cy="33528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C8501E"/>
                </a:solidFill>
                <a:latin typeface="Courier New" pitchFamily="34" charset="0"/>
                <a:ea typeface="Courier New" pitchFamily="34" charset="-122"/>
                <a:cs typeface="Courier New" pitchFamily="34" charset="-120"/>
              </a:rPr>
              <a:t>SECTION 01 · KERNEL</a:t>
            </a:r>
            <a:endParaRPr lang="en-US" sz="1800" dirty="0"/>
          </a:p>
        </p:txBody>
      </p:sp>
      <p:sp>
        <p:nvSpPr>
          <p:cNvPr id="3" name="Text 1"/>
          <p:cNvSpPr/>
          <p:nvPr/>
        </p:nvSpPr>
        <p:spPr>
          <a:xfrm>
            <a:off x="952500" y="1306830"/>
            <a:ext cx="18021300" cy="666750"/>
          </a:xfrm>
          <a:prstGeom prst="rect">
            <a:avLst/>
          </a:prstGeom>
          <a:noFill/>
          <a:ln/>
        </p:spPr>
        <p:txBody>
          <a:bodyPr wrap="square" lIns="25400" tIns="25400" rIns="25400" bIns="25400" rtlCol="0" anchor="t">
            <a:normAutofit/>
          </a:bodyPr>
          <a:lstStyle/>
          <a:p>
            <a:pPr algn="l" indent="0" marL="0">
              <a:lnSpc>
                <a:spcPct val="97059"/>
              </a:lnSpc>
              <a:buNone/>
            </a:pPr>
            <a:r>
              <a:rPr lang="en-US" sz="4500" b="1" dirty="0">
                <a:solidFill>
                  <a:srgbClr val="211C14"/>
                </a:solidFill>
                <a:latin typeface="Courier New" pitchFamily="34" charset="0"/>
                <a:ea typeface="Courier New" pitchFamily="34" charset="-122"/>
                <a:cs typeface="Courier New" pitchFamily="34" charset="-120"/>
              </a:rPr>
              <a:t>The File System</a:t>
            </a:r>
            <a:endParaRPr lang="en-US" sz="4500" dirty="0"/>
          </a:p>
        </p:txBody>
      </p:sp>
      <p:sp>
        <p:nvSpPr>
          <p:cNvPr id="4" name="Shape 2"/>
          <p:cNvSpPr/>
          <p:nvPr/>
        </p:nvSpPr>
        <p:spPr>
          <a:xfrm>
            <a:off x="952500" y="2087880"/>
            <a:ext cx="16383000" cy="28575"/>
          </a:xfrm>
          <a:prstGeom prst="rect">
            <a:avLst/>
          </a:prstGeom>
          <a:solidFill>
            <a:srgbClr val="211C14"/>
          </a:solidFill>
          <a:ln/>
        </p:spPr>
      </p:sp>
      <p:sp>
        <p:nvSpPr>
          <p:cNvPr id="5" name="Text 3"/>
          <p:cNvSpPr/>
          <p:nvPr/>
        </p:nvSpPr>
        <p:spPr>
          <a:xfrm>
            <a:off x="952500" y="2573655"/>
            <a:ext cx="8044815" cy="1288733"/>
          </a:xfrm>
          <a:prstGeom prst="rect">
            <a:avLst/>
          </a:prstGeom>
          <a:noFill/>
          <a:ln/>
        </p:spPr>
        <p:txBody>
          <a:bodyPr wrap="square" lIns="25400" tIns="25400" rIns="25400" bIns="25400" rtlCol="0" anchor="t">
            <a:normAutofit/>
          </a:bodyPr>
          <a:lstStyle/>
          <a:p>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Storage past </a:t>
            </a:r>
            <a:pPr algn="l" indent="0" marL="0">
              <a:lnSpc>
                <a:spcPct val="129464"/>
              </a:lnSpc>
              <a:buNone/>
            </a:pPr>
            <a:r>
              <a:rPr lang="en-US" sz="2175" dirty="0">
                <a:solidFill>
                  <a:srgbClr val="211C14"/>
                </a:solidFill>
                <a:latin typeface="Courier New" pitchFamily="34" charset="0"/>
                <a:ea typeface="Courier New" pitchFamily="34" charset="-122"/>
                <a:cs typeface="Courier New" pitchFamily="34" charset="-120"/>
              </a:rPr>
              <a:t>FSYS </a:t>
            </a:r>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is allocated in </a:t>
            </a:r>
            <a:pPr algn="l" indent="0" marL="0">
              <a:lnSpc>
                <a:spcPct val="129464"/>
              </a:lnSpc>
              <a:buNone/>
            </a:pPr>
            <a:r>
              <a:rPr lang="en-US" sz="2175" b="1" dirty="0">
                <a:solidFill>
                  <a:srgbClr val="211C14"/>
                </a:solidFill>
                <a:latin typeface="Arial" pitchFamily="34" charset="0"/>
                <a:ea typeface="Arial" pitchFamily="34" charset="-122"/>
                <a:cs typeface="Arial" pitchFamily="34" charset="-120"/>
              </a:rPr>
              <a:t>tracks </a:t>
            </a:r>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through a bit table ( </a:t>
            </a:r>
            <a:pPr algn="l" indent="0" marL="0">
              <a:lnSpc>
                <a:spcPct val="129464"/>
              </a:lnSpc>
              <a:buNone/>
            </a:pPr>
            <a:r>
              <a:rPr lang="en-US" sz="2175" dirty="0">
                <a:solidFill>
                  <a:srgbClr val="211C14"/>
                </a:solidFill>
                <a:latin typeface="Courier New" pitchFamily="34" charset="0"/>
                <a:ea typeface="Courier New" pitchFamily="34" charset="-122"/>
                <a:cs typeface="Courier New" pitchFamily="34" charset="-120"/>
              </a:rPr>
              <a:t>BITBL</a:t>
            </a:r>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 400₈ words) in the master information block — </a:t>
            </a:r>
            <a:pPr algn="l" indent="0" marL="0">
              <a:lnSpc>
                <a:spcPct val="129464"/>
              </a:lnSpc>
              <a:buNone/>
            </a:pPr>
            <a:r>
              <a:rPr lang="en-US" sz="2175" dirty="0">
                <a:solidFill>
                  <a:srgbClr val="211C14"/>
                </a:solidFill>
                <a:latin typeface="Courier New" pitchFamily="34" charset="0"/>
                <a:ea typeface="Courier New" pitchFamily="34" charset="-122"/>
                <a:cs typeface="Courier New" pitchFamily="34" charset="-120"/>
              </a:rPr>
              <a:t>GTRK </a:t>
            </a:r>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grabs a track, </a:t>
            </a:r>
            <a:pPr algn="l" indent="0" marL="0">
              <a:lnSpc>
                <a:spcPct val="129464"/>
              </a:lnSpc>
              <a:buNone/>
            </a:pPr>
            <a:r>
              <a:rPr lang="en-US" sz="2175" dirty="0">
                <a:solidFill>
                  <a:srgbClr val="211C14"/>
                </a:solidFill>
                <a:latin typeface="Courier New" pitchFamily="34" charset="0"/>
                <a:ea typeface="Courier New" pitchFamily="34" charset="-122"/>
                <a:cs typeface="Courier New" pitchFamily="34" charset="-120"/>
              </a:rPr>
              <a:t>RTRK </a:t>
            </a:r>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returns it.</a:t>
            </a:r>
            <a:endParaRPr lang="en-US" sz="2175" dirty="0"/>
          </a:p>
        </p:txBody>
      </p:sp>
      <p:sp>
        <p:nvSpPr>
          <p:cNvPr id="6" name="Text 4"/>
          <p:cNvSpPr/>
          <p:nvPr/>
        </p:nvSpPr>
        <p:spPr>
          <a:xfrm>
            <a:off x="952500" y="4071938"/>
            <a:ext cx="8044815" cy="882015"/>
          </a:xfrm>
          <a:prstGeom prst="rect">
            <a:avLst/>
          </a:prstGeom>
          <a:noFill/>
          <a:ln/>
        </p:spPr>
        <p:txBody>
          <a:bodyPr wrap="square" lIns="25400" tIns="25400" rIns="25400" bIns="25400" rtlCol="0" anchor="t">
            <a:normAutofit/>
          </a:bodyPr>
          <a:lstStyle/>
          <a:p>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The </a:t>
            </a:r>
            <a:pPr algn="l" indent="0" marL="0">
              <a:lnSpc>
                <a:spcPct val="129464"/>
              </a:lnSpc>
              <a:buNone/>
            </a:pPr>
            <a:r>
              <a:rPr lang="en-US" sz="2175" b="1" dirty="0">
                <a:solidFill>
                  <a:srgbClr val="211C14"/>
                </a:solidFill>
                <a:latin typeface="Arial" pitchFamily="34" charset="0"/>
                <a:ea typeface="Arial" pitchFamily="34" charset="-122"/>
                <a:cs typeface="Arial" pitchFamily="34" charset="-120"/>
              </a:rPr>
              <a:t>user table </a:t>
            </a:r>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a:t>
            </a:r>
            <a:pPr algn="l" indent="0" marL="0">
              <a:lnSpc>
                <a:spcPct val="129464"/>
              </a:lnSpc>
              <a:buNone/>
            </a:pPr>
            <a:r>
              <a:rPr lang="en-US" sz="2175" dirty="0">
                <a:solidFill>
                  <a:srgbClr val="211C14"/>
                </a:solidFill>
                <a:latin typeface="Courier New" pitchFamily="34" charset="0"/>
                <a:ea typeface="Courier New" pitchFamily="34" charset="-122"/>
                <a:cs typeface="Courier New" pitchFamily="34" charset="-120"/>
              </a:rPr>
              <a:t>USTBL</a:t>
            </a:r>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 maps users to their file directories; </a:t>
            </a:r>
            <a:pPr algn="l" indent="0" marL="0">
              <a:lnSpc>
                <a:spcPct val="129464"/>
              </a:lnSpc>
              <a:buNone/>
            </a:pPr>
            <a:r>
              <a:rPr lang="en-US" sz="2175" dirty="0">
                <a:solidFill>
                  <a:srgbClr val="211C14"/>
                </a:solidFill>
                <a:latin typeface="Courier New" pitchFamily="34" charset="0"/>
                <a:ea typeface="Courier New" pitchFamily="34" charset="-122"/>
                <a:cs typeface="Courier New" pitchFamily="34" charset="-120"/>
              </a:rPr>
              <a:t>OBT </a:t>
            </a:r>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tracks up to </a:t>
            </a:r>
            <a:pPr algn="l" indent="0" marL="0">
              <a:lnSpc>
                <a:spcPct val="129464"/>
              </a:lnSpc>
              <a:buNone/>
            </a:pPr>
            <a:r>
              <a:rPr lang="en-US" sz="2175" b="1" dirty="0">
                <a:solidFill>
                  <a:srgbClr val="211C14"/>
                </a:solidFill>
                <a:latin typeface="Arial" pitchFamily="34" charset="0"/>
                <a:ea typeface="Arial" pitchFamily="34" charset="-122"/>
                <a:cs typeface="Arial" pitchFamily="34" charset="-120"/>
              </a:rPr>
              <a:t>NOPEN=16 open files </a:t>
            </a:r>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(64 words of state each).</a:t>
            </a:r>
            <a:endParaRPr lang="en-US" sz="2175" dirty="0"/>
          </a:p>
        </p:txBody>
      </p:sp>
      <p:sp>
        <p:nvSpPr>
          <p:cNvPr id="7" name="Text 5"/>
          <p:cNvSpPr/>
          <p:nvPr/>
        </p:nvSpPr>
        <p:spPr>
          <a:xfrm>
            <a:off x="952500" y="5163503"/>
            <a:ext cx="8044815" cy="874395"/>
          </a:xfrm>
          <a:prstGeom prst="rect">
            <a:avLst/>
          </a:prstGeom>
          <a:noFill/>
          <a:ln/>
        </p:spPr>
        <p:txBody>
          <a:bodyPr wrap="square" lIns="25400" tIns="25400" rIns="25400" bIns="25400" rtlCol="0" anchor="t">
            <a:normAutofit/>
          </a:bodyPr>
          <a:lstStyle/>
          <a:p>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Every file-system transfer moves </a:t>
            </a:r>
            <a:pPr algn="l" indent="0" marL="0">
              <a:lnSpc>
                <a:spcPct val="129464"/>
              </a:lnSpc>
              <a:buNone/>
            </a:pPr>
            <a:r>
              <a:rPr lang="en-US" sz="2175" b="1" dirty="0">
                <a:solidFill>
                  <a:srgbClr val="211C14"/>
                </a:solidFill>
                <a:latin typeface="Arial" pitchFamily="34" charset="0"/>
                <a:ea typeface="Arial" pitchFamily="34" charset="-122"/>
                <a:cs typeface="Arial" pitchFamily="34" charset="-120"/>
              </a:rPr>
              <a:t>2K words </a:t>
            </a:r>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through </a:t>
            </a:r>
            <a:pPr algn="l" indent="0" marL="0">
              <a:lnSpc>
                <a:spcPct val="129464"/>
              </a:lnSpc>
              <a:buNone/>
            </a:pPr>
            <a:r>
              <a:rPr lang="en-US" sz="2175" dirty="0">
                <a:solidFill>
                  <a:srgbClr val="211C14"/>
                </a:solidFill>
                <a:latin typeface="Courier New" pitchFamily="34" charset="0"/>
                <a:ea typeface="Courier New" pitchFamily="34" charset="-122"/>
                <a:cs typeface="Courier New" pitchFamily="34" charset="-120"/>
              </a:rPr>
              <a:t>TRXX </a:t>
            </a:r>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 the CDC disk driver — the same size as a swap page.</a:t>
            </a:r>
            <a:endParaRPr lang="en-US" sz="2175" dirty="0"/>
          </a:p>
        </p:txBody>
      </p:sp>
      <p:sp>
        <p:nvSpPr>
          <p:cNvPr id="8" name="Shape 6"/>
          <p:cNvSpPr/>
          <p:nvPr/>
        </p:nvSpPr>
        <p:spPr>
          <a:xfrm>
            <a:off x="9525000" y="2573655"/>
            <a:ext cx="7810500" cy="2533650"/>
          </a:xfrm>
          <a:prstGeom prst="rect">
            <a:avLst/>
          </a:prstGeom>
          <a:solidFill>
            <a:srgbClr val="2A2620"/>
          </a:solidFill>
          <a:ln/>
        </p:spPr>
      </p:sp>
      <p:sp>
        <p:nvSpPr>
          <p:cNvPr id="9" name="Text 7"/>
          <p:cNvSpPr/>
          <p:nvPr/>
        </p:nvSpPr>
        <p:spPr>
          <a:xfrm>
            <a:off x="9848850" y="2840355"/>
            <a:ext cx="7377684" cy="438150"/>
          </a:xfrm>
          <a:prstGeom prst="rect">
            <a:avLst/>
          </a:prstGeom>
          <a:noFill/>
          <a:ln/>
        </p:spPr>
        <p:txBody>
          <a:bodyPr wrap="square" lIns="25400" tIns="25400" rIns="25400" bIns="25400" rtlCol="0" anchor="t">
            <a:normAutofit/>
          </a:bodyPr>
          <a:lstStyle/>
          <a:p>
            <a:pPr algn="l" indent="0" marL="0">
              <a:lnSpc>
                <a:spcPct val="154412"/>
              </a:lnSpc>
              <a:buNone/>
            </a:pPr>
            <a:r>
              <a:rPr lang="en-US" sz="1800" dirty="0">
                <a:solidFill>
                  <a:srgbClr val="E8935A"/>
                </a:solidFill>
                <a:latin typeface="Courier New" pitchFamily="34" charset="0"/>
                <a:ea typeface="Courier New" pitchFamily="34" charset="-122"/>
                <a:cs typeface="Courier New" pitchFamily="34" charset="-120"/>
              </a:rPr>
              <a:t>% DEFAULT FILE TYPES</a:t>
            </a:r>
            <a:endParaRPr lang="en-US" sz="1800" dirty="0"/>
          </a:p>
        </p:txBody>
      </p:sp>
      <p:sp>
        <p:nvSpPr>
          <p:cNvPr id="10" name="Text 8"/>
          <p:cNvSpPr/>
          <p:nvPr/>
        </p:nvSpPr>
        <p:spPr>
          <a:xfrm>
            <a:off x="9848850" y="3240405"/>
            <a:ext cx="7377684" cy="438150"/>
          </a:xfrm>
          <a:prstGeom prst="rect">
            <a:avLst/>
          </a:prstGeom>
          <a:noFill/>
          <a:ln/>
        </p:spPr>
        <p:txBody>
          <a:bodyPr wrap="square" lIns="25400" tIns="25400" rIns="25400" bIns="25400" rtlCol="0" anchor="t">
            <a:normAutofit/>
          </a:bodyPr>
          <a:lstStyle/>
          <a:p>
            <a:pPr algn="l" indent="0" marL="0">
              <a:lnSpc>
                <a:spcPct val="154412"/>
              </a:lnSpc>
              <a:buNone/>
            </a:pPr>
            <a:r>
              <a:rPr lang="en-US" sz="1800" dirty="0">
                <a:solidFill>
                  <a:srgbClr val="E6DEC9"/>
                </a:solidFill>
                <a:latin typeface="Courier New" pitchFamily="34" charset="0"/>
                <a:ea typeface="Courier New" pitchFamily="34" charset="-122"/>
                <a:cs typeface="Courier New" pitchFamily="34" charset="-120"/>
              </a:rPr>
              <a:t>'BIN' BINARY 'PROG' DUMPS</a:t>
            </a:r>
            <a:endParaRPr lang="en-US" sz="1800" dirty="0"/>
          </a:p>
        </p:txBody>
      </p:sp>
      <p:sp>
        <p:nvSpPr>
          <p:cNvPr id="11" name="Text 9"/>
          <p:cNvSpPr/>
          <p:nvPr/>
        </p:nvSpPr>
        <p:spPr>
          <a:xfrm>
            <a:off x="9848850" y="3640455"/>
            <a:ext cx="7377684" cy="438150"/>
          </a:xfrm>
          <a:prstGeom prst="rect">
            <a:avLst/>
          </a:prstGeom>
          <a:noFill/>
          <a:ln/>
        </p:spPr>
        <p:txBody>
          <a:bodyPr wrap="square" lIns="25400" tIns="25400" rIns="25400" bIns="25400" rtlCol="0" anchor="t">
            <a:normAutofit/>
          </a:bodyPr>
          <a:lstStyle/>
          <a:p>
            <a:pPr algn="l" indent="0" marL="0">
              <a:lnSpc>
                <a:spcPct val="154412"/>
              </a:lnSpc>
              <a:buNone/>
            </a:pPr>
            <a:r>
              <a:rPr lang="en-US" sz="1800" dirty="0">
                <a:solidFill>
                  <a:srgbClr val="E6DEC9"/>
                </a:solidFill>
                <a:latin typeface="Courier New" pitchFamily="34" charset="0"/>
                <a:ea typeface="Courier New" pitchFamily="34" charset="-122"/>
                <a:cs typeface="Courier New" pitchFamily="34" charset="-120"/>
              </a:rPr>
              <a:t>'BRF' RELOC. 'SYMB' SOURCE</a:t>
            </a:r>
            <a:endParaRPr lang="en-US" sz="1800" dirty="0"/>
          </a:p>
        </p:txBody>
      </p:sp>
      <p:sp>
        <p:nvSpPr>
          <p:cNvPr id="12" name="Text 10"/>
          <p:cNvSpPr/>
          <p:nvPr/>
        </p:nvSpPr>
        <p:spPr>
          <a:xfrm>
            <a:off x="9848850" y="4040505"/>
            <a:ext cx="7377684" cy="438150"/>
          </a:xfrm>
          <a:prstGeom prst="rect">
            <a:avLst/>
          </a:prstGeom>
          <a:noFill/>
          <a:ln/>
        </p:spPr>
        <p:txBody>
          <a:bodyPr wrap="square" lIns="25400" tIns="25400" rIns="25400" bIns="25400" rtlCol="0" anchor="t">
            <a:normAutofit/>
          </a:bodyPr>
          <a:lstStyle/>
          <a:p>
            <a:pPr algn="l" indent="0" marL="0">
              <a:lnSpc>
                <a:spcPct val="154412"/>
              </a:lnSpc>
              <a:buNone/>
            </a:pPr>
            <a:r>
              <a:rPr lang="en-US" sz="1800" dirty="0">
                <a:solidFill>
                  <a:srgbClr val="E6DEC9"/>
                </a:solidFill>
                <a:latin typeface="Courier New" pitchFamily="34" charset="0"/>
                <a:ea typeface="Courier New" pitchFamily="34" charset="-122"/>
                <a:cs typeface="Courier New" pitchFamily="34" charset="-120"/>
              </a:rPr>
              <a:t>'DATA' DATA 'CORE' SAVES</a:t>
            </a:r>
            <a:endParaRPr lang="en-US" sz="1800" dirty="0"/>
          </a:p>
        </p:txBody>
      </p:sp>
      <p:sp>
        <p:nvSpPr>
          <p:cNvPr id="13" name="Text 11"/>
          <p:cNvSpPr/>
          <p:nvPr/>
        </p:nvSpPr>
        <p:spPr>
          <a:xfrm>
            <a:off x="9848850" y="4440555"/>
            <a:ext cx="7377684" cy="438150"/>
          </a:xfrm>
          <a:prstGeom prst="rect">
            <a:avLst/>
          </a:prstGeom>
          <a:noFill/>
          <a:ln/>
        </p:spPr>
        <p:txBody>
          <a:bodyPr wrap="square" lIns="25400" tIns="25400" rIns="25400" bIns="25400" rtlCol="0" anchor="t">
            <a:normAutofit/>
          </a:bodyPr>
          <a:lstStyle/>
          <a:p>
            <a:pPr algn="l" indent="0" marL="0">
              <a:lnSpc>
                <a:spcPct val="154412"/>
              </a:lnSpc>
              <a:buNone/>
            </a:pPr>
            <a:r>
              <a:rPr lang="en-US" sz="1800" dirty="0">
                <a:solidFill>
                  <a:srgbClr val="E6DEC9"/>
                </a:solidFill>
                <a:latin typeface="Courier New" pitchFamily="34" charset="0"/>
                <a:ea typeface="Courier New" pitchFamily="34" charset="-122"/>
                <a:cs typeface="Courier New" pitchFamily="34" charset="-120"/>
              </a:rPr>
              <a:t>'RB' RB FILES</a:t>
            </a:r>
            <a:endParaRPr lang="en-US" sz="1800" dirty="0"/>
          </a:p>
        </p:txBody>
      </p:sp>
      <p:sp>
        <p:nvSpPr>
          <p:cNvPr id="14" name="Shape 12"/>
          <p:cNvSpPr/>
          <p:nvPr/>
        </p:nvSpPr>
        <p:spPr>
          <a:xfrm>
            <a:off x="9525000" y="5354955"/>
            <a:ext cx="7810500" cy="1602105"/>
          </a:xfrm>
          <a:prstGeom prst="rect">
            <a:avLst/>
          </a:prstGeom>
          <a:solidFill>
            <a:srgbClr val="E9E2CF"/>
          </a:solidFill>
          <a:ln w="15240">
            <a:solidFill>
              <a:srgbClr val="211C14"/>
            </a:solidFill>
            <a:prstDash val="solid"/>
          </a:ln>
        </p:spPr>
      </p:sp>
      <p:sp>
        <p:nvSpPr>
          <p:cNvPr id="15" name="Text 13"/>
          <p:cNvSpPr/>
          <p:nvPr/>
        </p:nvSpPr>
        <p:spPr>
          <a:xfrm>
            <a:off x="9825990" y="5598795"/>
            <a:ext cx="7442835" cy="1152525"/>
          </a:xfrm>
          <a:prstGeom prst="rect">
            <a:avLst/>
          </a:prstGeom>
          <a:noFill/>
          <a:ln/>
        </p:spPr>
        <p:txBody>
          <a:bodyPr wrap="square" lIns="25400" tIns="25400" rIns="25400" bIns="25400" rtlCol="0" anchor="t">
            <a:normAutofit/>
          </a:bodyPr>
          <a:lstStyle/>
          <a:p>
            <a:pPr algn="l" indent="0" marL="0">
              <a:lnSpc>
                <a:spcPct val="131757"/>
              </a:lnSpc>
              <a:buNone/>
            </a:pPr>
            <a:r>
              <a:rPr lang="en-US" sz="1950" dirty="0">
                <a:solidFill>
                  <a:srgbClr val="4A4335"/>
                </a:solidFill>
                <a:highlight>
                  <a:srgbClr val="E9E2CF"/>
                </a:highlight>
                <a:latin typeface="Arial" pitchFamily="34" charset="0"/>
                <a:ea typeface="Arial" pitchFamily="34" charset="-122"/>
                <a:cs typeface="Arial" pitchFamily="34" charset="-120"/>
              </a:rPr>
              <a:t>In-core caches with lock words: </a:t>
            </a:r>
            <a:pPr algn="l" indent="0" marL="0">
              <a:lnSpc>
                <a:spcPct val="131757"/>
              </a:lnSpc>
              <a:buNone/>
            </a:pPr>
            <a:r>
              <a:rPr lang="en-US" sz="1950" dirty="0">
                <a:solidFill>
                  <a:srgbClr val="4A4335"/>
                </a:solidFill>
                <a:latin typeface="Courier New" pitchFamily="34" charset="0"/>
                <a:ea typeface="Courier New" pitchFamily="34" charset="-122"/>
                <a:cs typeface="Courier New" pitchFamily="34" charset="-120"/>
              </a:rPr>
              <a:t>BITBL </a:t>
            </a:r>
            <a:pPr algn="l" indent="0" marL="0">
              <a:lnSpc>
                <a:spcPct val="131757"/>
              </a:lnSpc>
              <a:buNone/>
            </a:pPr>
            <a:r>
              <a:rPr lang="en-US" sz="1950" dirty="0">
                <a:solidFill>
                  <a:srgbClr val="4A4335"/>
                </a:solidFill>
                <a:highlight>
                  <a:srgbClr val="E9E2CF"/>
                </a:highlight>
                <a:latin typeface="Arial" pitchFamily="34" charset="0"/>
                <a:ea typeface="Arial" pitchFamily="34" charset="-122"/>
                <a:cs typeface="Arial" pitchFamily="34" charset="-120"/>
              </a:rPr>
              <a:t>/ </a:t>
            </a:r>
            <a:pPr algn="l" indent="0" marL="0">
              <a:lnSpc>
                <a:spcPct val="131757"/>
              </a:lnSpc>
              <a:buNone/>
            </a:pPr>
            <a:r>
              <a:rPr lang="en-US" sz="1950" dirty="0">
                <a:solidFill>
                  <a:srgbClr val="4A4335"/>
                </a:solidFill>
                <a:latin typeface="Courier New" pitchFamily="34" charset="0"/>
                <a:ea typeface="Courier New" pitchFamily="34" charset="-122"/>
                <a:cs typeface="Courier New" pitchFamily="34" charset="-120"/>
              </a:rPr>
              <a:t>USTBL </a:t>
            </a:r>
            <a:pPr algn="l" indent="0" marL="0">
              <a:lnSpc>
                <a:spcPct val="131757"/>
              </a:lnSpc>
              <a:buNone/>
            </a:pPr>
            <a:r>
              <a:rPr lang="en-US" sz="1950" dirty="0">
                <a:solidFill>
                  <a:srgbClr val="4A4335"/>
                </a:solidFill>
                <a:highlight>
                  <a:srgbClr val="E9E2CF"/>
                </a:highlight>
                <a:latin typeface="Arial" pitchFamily="34" charset="0"/>
                <a:ea typeface="Arial" pitchFamily="34" charset="-122"/>
                <a:cs typeface="Arial" pitchFamily="34" charset="-120"/>
              </a:rPr>
              <a:t>/ </a:t>
            </a:r>
            <a:pPr algn="l" indent="0" marL="0">
              <a:lnSpc>
                <a:spcPct val="131757"/>
              </a:lnSpc>
              <a:buNone/>
            </a:pPr>
            <a:r>
              <a:rPr lang="en-US" sz="1950" dirty="0">
                <a:solidFill>
                  <a:srgbClr val="4A4335"/>
                </a:solidFill>
                <a:latin typeface="Courier New" pitchFamily="34" charset="0"/>
                <a:ea typeface="Courier New" pitchFamily="34" charset="-122"/>
                <a:cs typeface="Courier New" pitchFamily="34" charset="-120"/>
              </a:rPr>
              <a:t>BTEMP </a:t>
            </a:r>
            <a:pPr algn="l" indent="0" marL="0">
              <a:lnSpc>
                <a:spcPct val="131757"/>
              </a:lnSpc>
              <a:buNone/>
            </a:pPr>
            <a:r>
              <a:rPr lang="en-US" sz="1950" dirty="0">
                <a:solidFill>
                  <a:srgbClr val="4A4335"/>
                </a:solidFill>
                <a:highlight>
                  <a:srgbClr val="E9E2CF"/>
                </a:highlight>
                <a:latin typeface="Arial" pitchFamily="34" charset="0"/>
                <a:ea typeface="Arial" pitchFamily="34" charset="-122"/>
                <a:cs typeface="Arial" pitchFamily="34" charset="-120"/>
              </a:rPr>
              <a:t>each carry LOCK · IN-CORE FLAG · DEVICE ID headers — one 256-word disk sector cached at a time.</a:t>
            </a:r>
            <a:endParaRPr lang="en-US" sz="1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3201A"/>
        </a:solidFill>
      </p:bgPr>
    </p:bg>
    <p:spTree>
      <p:nvGrpSpPr>
        <p:cNvPr id="1" name=""/>
        <p:cNvGrpSpPr/>
        <p:nvPr/>
      </p:nvGrpSpPr>
      <p:grpSpPr>
        <a:xfrm>
          <a:off x="0" y="0"/>
          <a:ext cx="0" cy="0"/>
          <a:chOff x="0" y="0"/>
          <a:chExt cx="0" cy="0"/>
        </a:xfrm>
      </p:grpSpPr>
      <p:sp>
        <p:nvSpPr>
          <p:cNvPr id="2" name="Text 0"/>
          <p:cNvSpPr/>
          <p:nvPr/>
        </p:nvSpPr>
        <p:spPr>
          <a:xfrm>
            <a:off x="952500" y="3055620"/>
            <a:ext cx="18021300" cy="1466850"/>
          </a:xfrm>
          <a:prstGeom prst="rect">
            <a:avLst/>
          </a:prstGeom>
          <a:noFill/>
          <a:ln/>
        </p:spPr>
        <p:txBody>
          <a:bodyPr wrap="square" lIns="25400" tIns="25400" rIns="25400" bIns="25400" rtlCol="0" anchor="t">
            <a:normAutofit/>
          </a:bodyPr>
          <a:lstStyle/>
          <a:p>
            <a:pPr algn="l" indent="0" marL="0">
              <a:lnSpc>
                <a:spcPct val="88443"/>
              </a:lnSpc>
              <a:buNone/>
            </a:pPr>
            <a:r>
              <a:rPr lang="en-US" sz="11250" b="1" dirty="0">
                <a:solidFill>
                  <a:srgbClr val="C8501E"/>
                </a:solidFill>
                <a:latin typeface="Courier New" pitchFamily="34" charset="0"/>
                <a:ea typeface="Courier New" pitchFamily="34" charset="-122"/>
                <a:cs typeface="Courier New" pitchFamily="34" charset="-120"/>
              </a:rPr>
              <a:t>02</a:t>
            </a:r>
            <a:endParaRPr lang="en-US" sz="11250" dirty="0"/>
          </a:p>
        </p:txBody>
      </p:sp>
      <p:sp>
        <p:nvSpPr>
          <p:cNvPr id="3" name="Text 1"/>
          <p:cNvSpPr/>
          <p:nvPr/>
        </p:nvSpPr>
        <p:spPr>
          <a:xfrm>
            <a:off x="952500" y="4770120"/>
            <a:ext cx="18021300" cy="918210"/>
          </a:xfrm>
          <a:prstGeom prst="rect">
            <a:avLst/>
          </a:prstGeom>
          <a:noFill/>
          <a:ln/>
        </p:spPr>
        <p:txBody>
          <a:bodyPr wrap="square" lIns="25400" tIns="25400" rIns="25400" bIns="25400" rtlCol="0" anchor="t">
            <a:normAutofit/>
          </a:bodyPr>
          <a:lstStyle/>
          <a:p>
            <a:pPr algn="l" indent="0" marL="0">
              <a:lnSpc>
                <a:spcPct val="97059"/>
              </a:lnSpc>
              <a:buNone/>
            </a:pPr>
            <a:r>
              <a:rPr lang="en-US" sz="6300" b="1" dirty="0">
                <a:solidFill>
                  <a:srgbClr val="ECE5D3"/>
                </a:solidFill>
                <a:latin typeface="Courier New" pitchFamily="34" charset="0"/>
                <a:ea typeface="Courier New" pitchFamily="34" charset="-122"/>
                <a:cs typeface="Courier New" pitchFamily="34" charset="-120"/>
              </a:rPr>
              <a:t>User Space</a:t>
            </a:r>
            <a:endParaRPr lang="en-US" sz="6300" dirty="0"/>
          </a:p>
        </p:txBody>
      </p:sp>
      <p:sp>
        <p:nvSpPr>
          <p:cNvPr id="4" name="Shape 2"/>
          <p:cNvSpPr/>
          <p:nvPr/>
        </p:nvSpPr>
        <p:spPr>
          <a:xfrm>
            <a:off x="952500" y="5935980"/>
            <a:ext cx="2667000" cy="38100"/>
          </a:xfrm>
          <a:prstGeom prst="rect">
            <a:avLst/>
          </a:prstGeom>
          <a:solidFill>
            <a:srgbClr val="C8501E"/>
          </a:solidFill>
          <a:ln/>
        </p:spPr>
      </p:sp>
      <p:sp>
        <p:nvSpPr>
          <p:cNvPr id="5" name="Text 3"/>
          <p:cNvSpPr/>
          <p:nvPr/>
        </p:nvSpPr>
        <p:spPr>
          <a:xfrm>
            <a:off x="952500" y="6259830"/>
            <a:ext cx="11772900" cy="1009650"/>
          </a:xfrm>
          <a:prstGeom prst="rect">
            <a:avLst/>
          </a:prstGeom>
          <a:noFill/>
          <a:ln/>
        </p:spPr>
        <p:txBody>
          <a:bodyPr wrap="square" lIns="25400" tIns="25400" rIns="25400" bIns="25400" rtlCol="0" anchor="t">
            <a:normAutofit/>
          </a:bodyPr>
          <a:lstStyle/>
          <a:p>
            <a:pPr algn="l" indent="0" marL="0">
              <a:lnSpc>
                <a:spcPct val="132812"/>
              </a:lnSpc>
              <a:buNone/>
            </a:pPr>
            <a:r>
              <a:rPr lang="en-US" sz="2550" dirty="0">
                <a:solidFill>
                  <a:srgbClr val="C7BDA6"/>
                </a:solidFill>
                <a:latin typeface="Arial" pitchFamily="34" charset="0"/>
                <a:ea typeface="Arial" pitchFamily="34" charset="-122"/>
                <a:cs typeface="Arial" pitchFamily="34" charset="-120"/>
              </a:rPr>
              <a:t>Command processor, utility overlays, and user programs — the swapped world above 40000₈.</a:t>
            </a:r>
            <a:endParaRPr lang="en-US" sz="2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EDE1"/>
        </a:solidFill>
      </p:bgPr>
    </p:bg>
    <p:spTree>
      <p:nvGrpSpPr>
        <p:cNvPr id="1" name=""/>
        <p:cNvGrpSpPr/>
        <p:nvPr/>
      </p:nvGrpSpPr>
      <p:grpSpPr>
        <a:xfrm>
          <a:off x="0" y="0"/>
          <a:ext cx="0" cy="0"/>
          <a:chOff x="0" y="0"/>
          <a:chExt cx="0" cy="0"/>
        </a:xfrm>
      </p:grpSpPr>
      <p:sp>
        <p:nvSpPr>
          <p:cNvPr id="2" name="Text 0"/>
          <p:cNvSpPr/>
          <p:nvPr/>
        </p:nvSpPr>
        <p:spPr>
          <a:xfrm>
            <a:off x="952500" y="857250"/>
            <a:ext cx="18021300" cy="33528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C8501E"/>
                </a:solidFill>
                <a:latin typeface="Courier New" pitchFamily="34" charset="0"/>
                <a:ea typeface="Courier New" pitchFamily="34" charset="-122"/>
                <a:cs typeface="Courier New" pitchFamily="34" charset="-120"/>
              </a:rPr>
              <a:t>SECTION 02 · USER SPACE</a:t>
            </a:r>
            <a:endParaRPr lang="en-US" sz="1800" dirty="0"/>
          </a:p>
        </p:txBody>
      </p:sp>
      <p:sp>
        <p:nvSpPr>
          <p:cNvPr id="3" name="Text 1"/>
          <p:cNvSpPr/>
          <p:nvPr/>
        </p:nvSpPr>
        <p:spPr>
          <a:xfrm>
            <a:off x="952500" y="1306830"/>
            <a:ext cx="18021300" cy="666750"/>
          </a:xfrm>
          <a:prstGeom prst="rect">
            <a:avLst/>
          </a:prstGeom>
          <a:noFill/>
          <a:ln/>
        </p:spPr>
        <p:txBody>
          <a:bodyPr wrap="square" lIns="25400" tIns="25400" rIns="25400" bIns="25400" rtlCol="0" anchor="t">
            <a:normAutofit/>
          </a:bodyPr>
          <a:lstStyle/>
          <a:p>
            <a:pPr algn="l" indent="0" marL="0">
              <a:lnSpc>
                <a:spcPct val="97059"/>
              </a:lnSpc>
              <a:buNone/>
            </a:pPr>
            <a:r>
              <a:rPr lang="en-US" sz="4500" b="1" dirty="0">
                <a:solidFill>
                  <a:srgbClr val="211C14"/>
                </a:solidFill>
                <a:latin typeface="Courier New" pitchFamily="34" charset="0"/>
                <a:ea typeface="Courier New" pitchFamily="34" charset="-122"/>
                <a:cs typeface="Courier New" pitchFamily="34" charset="-120"/>
              </a:rPr>
              <a:t>Logon &amp; the Command Processor</a:t>
            </a:r>
            <a:endParaRPr lang="en-US" sz="4500" dirty="0"/>
          </a:p>
        </p:txBody>
      </p:sp>
      <p:sp>
        <p:nvSpPr>
          <p:cNvPr id="4" name="Shape 2"/>
          <p:cNvSpPr/>
          <p:nvPr/>
        </p:nvSpPr>
        <p:spPr>
          <a:xfrm>
            <a:off x="952500" y="2087880"/>
            <a:ext cx="16383000" cy="28575"/>
          </a:xfrm>
          <a:prstGeom prst="rect">
            <a:avLst/>
          </a:prstGeom>
          <a:solidFill>
            <a:srgbClr val="211C14"/>
          </a:solidFill>
          <a:ln/>
        </p:spPr>
      </p:sp>
      <p:sp>
        <p:nvSpPr>
          <p:cNvPr id="5" name="Text 3"/>
          <p:cNvSpPr/>
          <p:nvPr/>
        </p:nvSpPr>
        <p:spPr>
          <a:xfrm>
            <a:off x="952500" y="2573655"/>
            <a:ext cx="8044815" cy="1718310"/>
          </a:xfrm>
          <a:prstGeom prst="rect">
            <a:avLst/>
          </a:prstGeom>
          <a:noFill/>
          <a:ln/>
        </p:spPr>
        <p:txBody>
          <a:bodyPr wrap="square" lIns="25400" tIns="25400" rIns="25400" bIns="25400" rtlCol="0" anchor="t">
            <a:normAutofit/>
          </a:bodyPr>
          <a:lstStyle/>
          <a:p>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A keypress on a </a:t>
            </a:r>
            <a:pPr algn="l" indent="0" marL="0">
              <a:lnSpc>
                <a:spcPct val="129464"/>
              </a:lnSpc>
              <a:buNone/>
            </a:pPr>
            <a:r>
              <a:rPr lang="en-US" sz="2175" b="1" dirty="0">
                <a:solidFill>
                  <a:srgbClr val="211C14"/>
                </a:solidFill>
                <a:latin typeface="Arial" pitchFamily="34" charset="0"/>
                <a:ea typeface="Arial" pitchFamily="34" charset="-122"/>
                <a:cs typeface="Arial" pitchFamily="34" charset="-120"/>
              </a:rPr>
              <a:t>dead terminal </a:t>
            </a:r>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wakes the level-6 scanner → the scheduler initializes the process → SWAPR's cold path ( </a:t>
            </a:r>
            <a:pPr algn="l" indent="0" marL="0">
              <a:lnSpc>
                <a:spcPct val="129464"/>
              </a:lnSpc>
              <a:buNone/>
            </a:pPr>
            <a:r>
              <a:rPr lang="en-US" sz="2175" dirty="0">
                <a:solidFill>
                  <a:srgbClr val="211C14"/>
                </a:solidFill>
                <a:latin typeface="Courier New" pitchFamily="34" charset="0"/>
                <a:ea typeface="Courier New" pitchFamily="34" charset="-122"/>
                <a:cs typeface="Courier New" pitchFamily="34" charset="-120"/>
              </a:rPr>
              <a:t>S10 </a:t>
            </a:r>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 acquires a context block, sets </a:t>
            </a:r>
            <a:pPr algn="l" indent="0" marL="0">
              <a:lnSpc>
                <a:spcPct val="129464"/>
              </a:lnSpc>
              <a:buNone/>
            </a:pPr>
            <a:r>
              <a:rPr lang="en-US" sz="2175" b="1" dirty="0">
                <a:solidFill>
                  <a:srgbClr val="211C14"/>
                </a:solidFill>
                <a:latin typeface="Arial" pitchFamily="34" charset="0"/>
                <a:ea typeface="Arial" pitchFamily="34" charset="-122"/>
                <a:cs typeface="Arial" pitchFamily="34" charset="-120"/>
              </a:rPr>
              <a:t>logon mode </a:t>
            </a:r>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 and loads the command processor from the </a:t>
            </a:r>
            <a:pPr algn="l" indent="0" marL="0">
              <a:lnSpc>
                <a:spcPct val="129464"/>
              </a:lnSpc>
              <a:buNone/>
            </a:pPr>
            <a:r>
              <a:rPr lang="en-US" sz="2175" b="1" dirty="0">
                <a:solidFill>
                  <a:srgbClr val="211C14"/>
                </a:solidFill>
                <a:latin typeface="Arial" pitchFamily="34" charset="0"/>
                <a:ea typeface="Arial" pitchFamily="34" charset="-122"/>
                <a:cs typeface="Arial" pitchFamily="34" charset="-120"/>
              </a:rPr>
              <a:t>coreload </a:t>
            </a:r>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area (CORL1 / CORL2).</a:t>
            </a:r>
            <a:endParaRPr lang="en-US" sz="2175" dirty="0"/>
          </a:p>
        </p:txBody>
      </p:sp>
      <p:sp>
        <p:nvSpPr>
          <p:cNvPr id="6" name="Text 4"/>
          <p:cNvSpPr/>
          <p:nvPr/>
        </p:nvSpPr>
        <p:spPr>
          <a:xfrm>
            <a:off x="952500" y="4501515"/>
            <a:ext cx="8044815" cy="874395"/>
          </a:xfrm>
          <a:prstGeom prst="rect">
            <a:avLst/>
          </a:prstGeom>
          <a:noFill/>
          <a:ln/>
        </p:spPr>
        <p:txBody>
          <a:bodyPr wrap="square" lIns="25400" tIns="25400" rIns="25400" bIns="25400" rtlCol="0" anchor="t">
            <a:normAutofit/>
          </a:bodyPr>
          <a:lstStyle/>
          <a:p>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Commands parse through the string machinery (</a:t>
            </a:r>
            <a:pPr algn="l" indent="0" marL="0">
              <a:lnSpc>
                <a:spcPct val="129464"/>
              </a:lnSpc>
              <a:buNone/>
            </a:pPr>
            <a:r>
              <a:rPr lang="en-US" sz="2175" dirty="0">
                <a:solidFill>
                  <a:srgbClr val="211C14"/>
                </a:solidFill>
                <a:latin typeface="Courier New" pitchFamily="34" charset="0"/>
                <a:ea typeface="Courier New" pitchFamily="34" charset="-122"/>
                <a:cs typeface="Courier New" pitchFamily="34" charset="-120"/>
              </a:rPr>
              <a:t>CMDLN </a:t>
            </a:r>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 GCMD, PCF) and either run in-line or pull a </a:t>
            </a:r>
            <a:pPr algn="l" indent="0" marL="0">
              <a:lnSpc>
                <a:spcPct val="129464"/>
              </a:lnSpc>
              <a:buNone/>
            </a:pPr>
            <a:r>
              <a:rPr lang="en-US" sz="2175" b="1" dirty="0">
                <a:solidFill>
                  <a:srgbClr val="211C14"/>
                </a:solidFill>
                <a:latin typeface="Arial" pitchFamily="34" charset="0"/>
                <a:ea typeface="Arial" pitchFamily="34" charset="-122"/>
                <a:cs typeface="Arial" pitchFamily="34" charset="-120"/>
              </a:rPr>
              <a:t>utility overlay</a:t>
            </a:r>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a:t>
            </a:r>
            <a:endParaRPr lang="en-US" sz="2175" dirty="0"/>
          </a:p>
        </p:txBody>
      </p:sp>
      <p:sp>
        <p:nvSpPr>
          <p:cNvPr id="7" name="Text 5"/>
          <p:cNvSpPr/>
          <p:nvPr/>
        </p:nvSpPr>
        <p:spPr>
          <a:xfrm>
            <a:off x="952500" y="5585460"/>
            <a:ext cx="8044815" cy="1288733"/>
          </a:xfrm>
          <a:prstGeom prst="rect">
            <a:avLst/>
          </a:prstGeom>
          <a:noFill/>
          <a:ln/>
        </p:spPr>
        <p:txBody>
          <a:bodyPr wrap="square" lIns="25400" tIns="25400" rIns="25400" bIns="25400" rtlCol="0" anchor="t">
            <a:normAutofit/>
          </a:bodyPr>
          <a:lstStyle/>
          <a:p>
            <a:pPr algn="l" indent="0" marL="0">
              <a:lnSpc>
                <a:spcPct val="129464"/>
              </a:lnSpc>
              <a:buNone/>
            </a:pPr>
            <a:r>
              <a:rPr lang="en-US" sz="2175" b="1" dirty="0">
                <a:solidFill>
                  <a:srgbClr val="211C14"/>
                </a:solidFill>
                <a:latin typeface="Arial" pitchFamily="34" charset="0"/>
                <a:ea typeface="Arial" pitchFamily="34" charset="-122"/>
                <a:cs typeface="Arial" pitchFamily="34" charset="-120"/>
              </a:rPr>
              <a:t>RUBOUT / ESC </a:t>
            </a:r>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is sacred: it fires the break logic, </a:t>
            </a:r>
            <a:pPr algn="l" indent="0" marL="0">
              <a:lnSpc>
                <a:spcPct val="129464"/>
              </a:lnSpc>
              <a:buNone/>
            </a:pPr>
            <a:r>
              <a:rPr lang="en-US" sz="2175" dirty="0">
                <a:solidFill>
                  <a:srgbClr val="211C14"/>
                </a:solidFill>
                <a:latin typeface="Courier New" pitchFamily="34" charset="0"/>
                <a:ea typeface="Courier New" pitchFamily="34" charset="-122"/>
                <a:cs typeface="Courier New" pitchFamily="34" charset="-120"/>
              </a:rPr>
              <a:t>RSLK </a:t>
            </a:r>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releases every lock, and the utility restarts — the guaranteed way out of anything.</a:t>
            </a:r>
            <a:endParaRPr lang="en-US" sz="2175" dirty="0"/>
          </a:p>
        </p:txBody>
      </p:sp>
      <p:sp>
        <p:nvSpPr>
          <p:cNvPr id="8" name="Shape 6"/>
          <p:cNvSpPr/>
          <p:nvPr/>
        </p:nvSpPr>
        <p:spPr>
          <a:xfrm>
            <a:off x="9525000" y="2573655"/>
            <a:ext cx="7810500" cy="3333750"/>
          </a:xfrm>
          <a:prstGeom prst="rect">
            <a:avLst/>
          </a:prstGeom>
          <a:solidFill>
            <a:srgbClr val="2A2620"/>
          </a:solidFill>
          <a:ln/>
        </p:spPr>
      </p:sp>
      <p:sp>
        <p:nvSpPr>
          <p:cNvPr id="9" name="Text 7"/>
          <p:cNvSpPr/>
          <p:nvPr/>
        </p:nvSpPr>
        <p:spPr>
          <a:xfrm>
            <a:off x="9848850" y="2840355"/>
            <a:ext cx="7377684" cy="438150"/>
          </a:xfrm>
          <a:prstGeom prst="rect">
            <a:avLst/>
          </a:prstGeom>
          <a:noFill/>
          <a:ln/>
        </p:spPr>
        <p:txBody>
          <a:bodyPr wrap="square" lIns="25400" tIns="25400" rIns="25400" bIns="25400" rtlCol="0" anchor="t">
            <a:normAutofit/>
          </a:bodyPr>
          <a:lstStyle/>
          <a:p>
            <a:pPr algn="l" indent="0" marL="0">
              <a:lnSpc>
                <a:spcPct val="154412"/>
              </a:lnSpc>
              <a:buNone/>
            </a:pPr>
            <a:r>
              <a:rPr lang="en-US" sz="1800" dirty="0">
                <a:solidFill>
                  <a:srgbClr val="E8935A"/>
                </a:solidFill>
                <a:latin typeface="Courier New" pitchFamily="34" charset="0"/>
                <a:ea typeface="Courier New" pitchFamily="34" charset="-122"/>
                <a:cs typeface="Courier New" pitchFamily="34" charset="-120"/>
              </a:rPr>
              <a:t>% PER-PROCESS STATE (TSS2)</a:t>
            </a:r>
            <a:endParaRPr lang="en-US" sz="1800" dirty="0"/>
          </a:p>
        </p:txBody>
      </p:sp>
      <p:sp>
        <p:nvSpPr>
          <p:cNvPr id="10" name="Text 8"/>
          <p:cNvSpPr/>
          <p:nvPr/>
        </p:nvSpPr>
        <p:spPr>
          <a:xfrm>
            <a:off x="9848850" y="3240405"/>
            <a:ext cx="7377684" cy="438150"/>
          </a:xfrm>
          <a:prstGeom prst="rect">
            <a:avLst/>
          </a:prstGeom>
          <a:noFill/>
          <a:ln/>
        </p:spPr>
        <p:txBody>
          <a:bodyPr wrap="square" lIns="25400" tIns="25400" rIns="25400" bIns="25400" rtlCol="0" anchor="t">
            <a:normAutofit/>
          </a:bodyPr>
          <a:lstStyle/>
          <a:p>
            <a:pPr algn="l" indent="0" marL="0">
              <a:lnSpc>
                <a:spcPct val="154412"/>
              </a:lnSpc>
              <a:buNone/>
            </a:pPr>
            <a:r>
              <a:rPr lang="en-US" sz="1800" dirty="0">
                <a:solidFill>
                  <a:srgbClr val="E6DEC9"/>
                </a:solidFill>
                <a:latin typeface="Courier New" pitchFamily="34" charset="0"/>
                <a:ea typeface="Courier New" pitchFamily="34" charset="-122"/>
                <a:cs typeface="Courier New" pitchFamily="34" charset="-120"/>
              </a:rPr>
              <a:t>CMDLN COMMAND LINE BUFFER</a:t>
            </a:r>
            <a:endParaRPr lang="en-US" sz="1800" dirty="0"/>
          </a:p>
        </p:txBody>
      </p:sp>
      <p:sp>
        <p:nvSpPr>
          <p:cNvPr id="11" name="Text 9"/>
          <p:cNvSpPr/>
          <p:nvPr/>
        </p:nvSpPr>
        <p:spPr>
          <a:xfrm>
            <a:off x="9848850" y="3640455"/>
            <a:ext cx="7377684" cy="438150"/>
          </a:xfrm>
          <a:prstGeom prst="rect">
            <a:avLst/>
          </a:prstGeom>
          <a:noFill/>
          <a:ln/>
        </p:spPr>
        <p:txBody>
          <a:bodyPr wrap="square" lIns="25400" tIns="25400" rIns="25400" bIns="25400" rtlCol="0" anchor="t">
            <a:normAutofit/>
          </a:bodyPr>
          <a:lstStyle/>
          <a:p>
            <a:pPr algn="l" indent="0" marL="0">
              <a:lnSpc>
                <a:spcPct val="154412"/>
              </a:lnSpc>
              <a:buNone/>
            </a:pPr>
            <a:r>
              <a:rPr lang="en-US" sz="1800" dirty="0">
                <a:solidFill>
                  <a:srgbClr val="E6DEC9"/>
                </a:solidFill>
                <a:latin typeface="Courier New" pitchFamily="34" charset="0"/>
                <a:ea typeface="Courier New" pitchFamily="34" charset="-122"/>
                <a:cs typeface="Courier New" pitchFamily="34" charset="-120"/>
              </a:rPr>
              <a:t>RUBAD ESCAPE TRAP ADDRESS</a:t>
            </a:r>
            <a:endParaRPr lang="en-US" sz="1800" dirty="0"/>
          </a:p>
        </p:txBody>
      </p:sp>
      <p:sp>
        <p:nvSpPr>
          <p:cNvPr id="12" name="Text 10"/>
          <p:cNvSpPr/>
          <p:nvPr/>
        </p:nvSpPr>
        <p:spPr>
          <a:xfrm>
            <a:off x="9848850" y="4040505"/>
            <a:ext cx="7377684" cy="438150"/>
          </a:xfrm>
          <a:prstGeom prst="rect">
            <a:avLst/>
          </a:prstGeom>
          <a:noFill/>
          <a:ln/>
        </p:spPr>
        <p:txBody>
          <a:bodyPr wrap="square" lIns="25400" tIns="25400" rIns="25400" bIns="25400" rtlCol="0" anchor="t">
            <a:normAutofit/>
          </a:bodyPr>
          <a:lstStyle/>
          <a:p>
            <a:pPr algn="l" indent="0" marL="0">
              <a:lnSpc>
                <a:spcPct val="154412"/>
              </a:lnSpc>
              <a:buNone/>
            </a:pPr>
            <a:r>
              <a:rPr lang="en-US" sz="1800" dirty="0">
                <a:solidFill>
                  <a:srgbClr val="E6DEC9"/>
                </a:solidFill>
                <a:latin typeface="Courier New" pitchFamily="34" charset="0"/>
                <a:ea typeface="Courier New" pitchFamily="34" charset="-122"/>
                <a:cs typeface="Courier New" pitchFamily="34" charset="-120"/>
              </a:rPr>
              <a:t>RUBPR SAVED P AT RUBOUT</a:t>
            </a:r>
            <a:endParaRPr lang="en-US" sz="1800" dirty="0"/>
          </a:p>
        </p:txBody>
      </p:sp>
      <p:sp>
        <p:nvSpPr>
          <p:cNvPr id="13" name="Text 11"/>
          <p:cNvSpPr/>
          <p:nvPr/>
        </p:nvSpPr>
        <p:spPr>
          <a:xfrm>
            <a:off x="9848850" y="4440555"/>
            <a:ext cx="7377684" cy="438150"/>
          </a:xfrm>
          <a:prstGeom prst="rect">
            <a:avLst/>
          </a:prstGeom>
          <a:noFill/>
          <a:ln/>
        </p:spPr>
        <p:txBody>
          <a:bodyPr wrap="square" lIns="25400" tIns="25400" rIns="25400" bIns="25400" rtlCol="0" anchor="t">
            <a:normAutofit/>
          </a:bodyPr>
          <a:lstStyle/>
          <a:p>
            <a:pPr algn="l" indent="0" marL="0">
              <a:lnSpc>
                <a:spcPct val="154412"/>
              </a:lnSpc>
              <a:buNone/>
            </a:pPr>
            <a:r>
              <a:rPr lang="en-US" sz="1800" dirty="0">
                <a:solidFill>
                  <a:srgbClr val="E6DEC9"/>
                </a:solidFill>
                <a:latin typeface="Courier New" pitchFamily="34" charset="0"/>
                <a:ea typeface="Courier New" pitchFamily="34" charset="-122"/>
                <a:cs typeface="Courier New" pitchFamily="34" charset="-120"/>
              </a:rPr>
              <a:t>RMODE 0 NORMAL / -1 LOGON</a:t>
            </a:r>
            <a:endParaRPr lang="en-US" sz="1800" dirty="0"/>
          </a:p>
        </p:txBody>
      </p:sp>
      <p:sp>
        <p:nvSpPr>
          <p:cNvPr id="14" name="Text 12"/>
          <p:cNvSpPr/>
          <p:nvPr/>
        </p:nvSpPr>
        <p:spPr>
          <a:xfrm>
            <a:off x="9848850" y="4840605"/>
            <a:ext cx="7377684" cy="438150"/>
          </a:xfrm>
          <a:prstGeom prst="rect">
            <a:avLst/>
          </a:prstGeom>
          <a:noFill/>
          <a:ln/>
        </p:spPr>
        <p:txBody>
          <a:bodyPr wrap="square" lIns="25400" tIns="25400" rIns="25400" bIns="25400" rtlCol="0" anchor="t">
            <a:normAutofit/>
          </a:bodyPr>
          <a:lstStyle/>
          <a:p>
            <a:pPr algn="l" indent="0" marL="0">
              <a:lnSpc>
                <a:spcPct val="154412"/>
              </a:lnSpc>
              <a:buNone/>
            </a:pPr>
            <a:r>
              <a:rPr lang="en-US" sz="1800" dirty="0">
                <a:solidFill>
                  <a:srgbClr val="E6DEC9"/>
                </a:solidFill>
                <a:latin typeface="Courier New" pitchFamily="34" charset="0"/>
                <a:ea typeface="Courier New" pitchFamily="34" charset="-122"/>
                <a:cs typeface="Courier New" pitchFamily="34" charset="-120"/>
              </a:rPr>
              <a:t>OVLAY CURRENT USER OVERLAY</a:t>
            </a:r>
            <a:endParaRPr lang="en-US" sz="1800" dirty="0"/>
          </a:p>
        </p:txBody>
      </p:sp>
      <p:sp>
        <p:nvSpPr>
          <p:cNvPr id="15" name="Text 13"/>
          <p:cNvSpPr/>
          <p:nvPr/>
        </p:nvSpPr>
        <p:spPr>
          <a:xfrm>
            <a:off x="9848850" y="5240655"/>
            <a:ext cx="7377684" cy="438150"/>
          </a:xfrm>
          <a:prstGeom prst="rect">
            <a:avLst/>
          </a:prstGeom>
          <a:noFill/>
          <a:ln/>
        </p:spPr>
        <p:txBody>
          <a:bodyPr wrap="square" lIns="25400" tIns="25400" rIns="25400" bIns="25400" rtlCol="0" anchor="t">
            <a:normAutofit/>
          </a:bodyPr>
          <a:lstStyle/>
          <a:p>
            <a:pPr algn="l" indent="0" marL="0">
              <a:lnSpc>
                <a:spcPct val="154412"/>
              </a:lnSpc>
              <a:buNone/>
            </a:pPr>
            <a:r>
              <a:rPr lang="en-US" sz="1800" dirty="0">
                <a:solidFill>
                  <a:srgbClr val="E6DEC9"/>
                </a:solidFill>
                <a:latin typeface="Courier New" pitchFamily="34" charset="0"/>
                <a:ea typeface="Courier New" pitchFamily="34" charset="-122"/>
                <a:cs typeface="Courier New" pitchFamily="34" charset="-120"/>
              </a:rPr>
              <a:t>PRNUM PROJECT NUMBER</a:t>
            </a:r>
            <a:endParaRPr lang="en-US" sz="1800" dirty="0"/>
          </a:p>
        </p:txBody>
      </p:sp>
      <p:sp>
        <p:nvSpPr>
          <p:cNvPr id="16" name="Shape 14"/>
          <p:cNvSpPr/>
          <p:nvPr/>
        </p:nvSpPr>
        <p:spPr>
          <a:xfrm>
            <a:off x="9525000" y="6155055"/>
            <a:ext cx="7810500" cy="1245870"/>
          </a:xfrm>
          <a:prstGeom prst="rect">
            <a:avLst/>
          </a:prstGeom>
          <a:solidFill>
            <a:srgbClr val="E9E2CF"/>
          </a:solidFill>
          <a:ln w="15240">
            <a:solidFill>
              <a:srgbClr val="211C14"/>
            </a:solidFill>
            <a:prstDash val="solid"/>
          </a:ln>
        </p:spPr>
      </p:sp>
      <p:sp>
        <p:nvSpPr>
          <p:cNvPr id="17" name="Text 15"/>
          <p:cNvSpPr/>
          <p:nvPr/>
        </p:nvSpPr>
        <p:spPr>
          <a:xfrm>
            <a:off x="9825990" y="6398895"/>
            <a:ext cx="7442835" cy="796290"/>
          </a:xfrm>
          <a:prstGeom prst="rect">
            <a:avLst/>
          </a:prstGeom>
          <a:noFill/>
          <a:ln/>
        </p:spPr>
        <p:txBody>
          <a:bodyPr wrap="square" lIns="25400" tIns="25400" rIns="25400" bIns="25400" rtlCol="0" anchor="t">
            <a:normAutofit/>
          </a:bodyPr>
          <a:lstStyle/>
          <a:p>
            <a:pPr algn="l" indent="0" marL="0">
              <a:lnSpc>
                <a:spcPct val="131757"/>
              </a:lnSpc>
              <a:buNone/>
            </a:pPr>
            <a:r>
              <a:rPr lang="en-US" sz="1950" dirty="0">
                <a:solidFill>
                  <a:srgbClr val="4A4335"/>
                </a:solidFill>
                <a:highlight>
                  <a:srgbClr val="E9E2CF"/>
                </a:highlight>
                <a:latin typeface="Arial" pitchFamily="34" charset="0"/>
                <a:ea typeface="Arial" pitchFamily="34" charset="-122"/>
                <a:cs typeface="Arial" pitchFamily="34" charset="-120"/>
              </a:rPr>
              <a:t>TSS measures itself: RSTIM / RSNUM accumulate </a:t>
            </a:r>
            <a:pPr algn="l" indent="0" marL="0">
              <a:lnSpc>
                <a:spcPct val="131757"/>
              </a:lnSpc>
              <a:buNone/>
            </a:pPr>
            <a:r>
              <a:rPr lang="en-US" sz="1950" b="1" dirty="0">
                <a:solidFill>
                  <a:srgbClr val="4A4335"/>
                </a:solidFill>
                <a:latin typeface="Arial" pitchFamily="34" charset="0"/>
                <a:ea typeface="Arial" pitchFamily="34" charset="-122"/>
                <a:cs typeface="Arial" pitchFamily="34" charset="-120"/>
              </a:rPr>
              <a:t>response time per break character </a:t>
            </a:r>
            <a:pPr algn="l" indent="0" marL="0">
              <a:lnSpc>
                <a:spcPct val="131757"/>
              </a:lnSpc>
              <a:buNone/>
            </a:pPr>
            <a:r>
              <a:rPr lang="en-US" sz="1950" dirty="0">
                <a:solidFill>
                  <a:srgbClr val="4A4335"/>
                </a:solidFill>
                <a:highlight>
                  <a:srgbClr val="E9E2CF"/>
                </a:highlight>
                <a:latin typeface="Arial" pitchFamily="34" charset="0"/>
                <a:ea typeface="Arial" pitchFamily="34" charset="-122"/>
                <a:cs typeface="Arial" pitchFamily="34" charset="-120"/>
              </a:rPr>
              <a:t>— 1970s telemetry.</a:t>
            </a:r>
            <a:endParaRPr lang="en-US" sz="1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EDE1"/>
        </a:solidFill>
      </p:bgPr>
    </p:bg>
    <p:spTree>
      <p:nvGrpSpPr>
        <p:cNvPr id="1" name=""/>
        <p:cNvGrpSpPr/>
        <p:nvPr/>
      </p:nvGrpSpPr>
      <p:grpSpPr>
        <a:xfrm>
          <a:off x="0" y="0"/>
          <a:ext cx="0" cy="0"/>
          <a:chOff x="0" y="0"/>
          <a:chExt cx="0" cy="0"/>
        </a:xfrm>
      </p:grpSpPr>
      <p:sp>
        <p:nvSpPr>
          <p:cNvPr id="2" name="Text 0"/>
          <p:cNvSpPr/>
          <p:nvPr/>
        </p:nvSpPr>
        <p:spPr>
          <a:xfrm>
            <a:off x="952500" y="857250"/>
            <a:ext cx="18021300" cy="33528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C8501E"/>
                </a:solidFill>
                <a:latin typeface="Courier New" pitchFamily="34" charset="0"/>
                <a:ea typeface="Courier New" pitchFamily="34" charset="-122"/>
                <a:cs typeface="Courier New" pitchFamily="34" charset="-120"/>
              </a:rPr>
              <a:t>SECTION 02 · USER SPACE</a:t>
            </a:r>
            <a:endParaRPr lang="en-US" sz="1800" dirty="0"/>
          </a:p>
        </p:txBody>
      </p:sp>
      <p:sp>
        <p:nvSpPr>
          <p:cNvPr id="3" name="Text 1"/>
          <p:cNvSpPr/>
          <p:nvPr/>
        </p:nvSpPr>
        <p:spPr>
          <a:xfrm>
            <a:off x="952500" y="1306830"/>
            <a:ext cx="18021300" cy="666750"/>
          </a:xfrm>
          <a:prstGeom prst="rect">
            <a:avLst/>
          </a:prstGeom>
          <a:noFill/>
          <a:ln/>
        </p:spPr>
        <p:txBody>
          <a:bodyPr wrap="square" lIns="25400" tIns="25400" rIns="25400" bIns="25400" rtlCol="0" anchor="t">
            <a:normAutofit/>
          </a:bodyPr>
          <a:lstStyle/>
          <a:p>
            <a:pPr algn="l" indent="0" marL="0">
              <a:lnSpc>
                <a:spcPct val="97059"/>
              </a:lnSpc>
              <a:buNone/>
            </a:pPr>
            <a:r>
              <a:rPr lang="en-US" sz="4500" b="1" dirty="0">
                <a:solidFill>
                  <a:srgbClr val="211C14"/>
                </a:solidFill>
                <a:latin typeface="Courier New" pitchFamily="34" charset="0"/>
                <a:ea typeface="Courier New" pitchFamily="34" charset="-122"/>
                <a:cs typeface="Courier New" pitchFamily="34" charset="-120"/>
              </a:rPr>
              <a:t>Utility Overlays &amp; User Programs</a:t>
            </a:r>
            <a:endParaRPr lang="en-US" sz="4500" dirty="0"/>
          </a:p>
        </p:txBody>
      </p:sp>
      <p:sp>
        <p:nvSpPr>
          <p:cNvPr id="4" name="Shape 2"/>
          <p:cNvSpPr/>
          <p:nvPr/>
        </p:nvSpPr>
        <p:spPr>
          <a:xfrm>
            <a:off x="952500" y="2087880"/>
            <a:ext cx="16383000" cy="28575"/>
          </a:xfrm>
          <a:prstGeom prst="rect">
            <a:avLst/>
          </a:prstGeom>
          <a:solidFill>
            <a:srgbClr val="211C14"/>
          </a:solidFill>
          <a:ln/>
        </p:spPr>
      </p:sp>
      <p:sp>
        <p:nvSpPr>
          <p:cNvPr id="5" name="Text 3"/>
          <p:cNvSpPr/>
          <p:nvPr/>
        </p:nvSpPr>
        <p:spPr>
          <a:xfrm>
            <a:off x="952500" y="2573655"/>
            <a:ext cx="8044815" cy="1288733"/>
          </a:xfrm>
          <a:prstGeom prst="rect">
            <a:avLst/>
          </a:prstGeom>
          <a:noFill/>
          <a:ln/>
        </p:spPr>
        <p:txBody>
          <a:bodyPr wrap="square" lIns="25400" tIns="25400" rIns="25400" bIns="25400" rtlCol="0" anchor="t">
            <a:normAutofit/>
          </a:bodyPr>
          <a:lstStyle/>
          <a:p>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Utilities live as </a:t>
            </a:r>
            <a:pPr algn="l" indent="0" marL="0">
              <a:lnSpc>
                <a:spcPct val="129464"/>
              </a:lnSpc>
              <a:buNone/>
            </a:pPr>
            <a:r>
              <a:rPr lang="en-US" sz="2175" b="1" dirty="0">
                <a:solidFill>
                  <a:srgbClr val="211C14"/>
                </a:solidFill>
                <a:latin typeface="Arial" pitchFamily="34" charset="0"/>
                <a:ea typeface="Arial" pitchFamily="34" charset="-122"/>
                <a:cs typeface="Arial" pitchFamily="34" charset="-120"/>
              </a:rPr>
              <a:t>1000₈-word overlays </a:t>
            </a:r>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in OVDK on disk. Calling one is a macro: </a:t>
            </a:r>
            <a:pPr algn="l" indent="0" marL="0">
              <a:lnSpc>
                <a:spcPct val="129464"/>
              </a:lnSpc>
              <a:buNone/>
            </a:pPr>
            <a:r>
              <a:rPr lang="en-US" sz="2175" dirty="0">
                <a:solidFill>
                  <a:srgbClr val="211C14"/>
                </a:solidFill>
                <a:latin typeface="Courier New" pitchFamily="34" charset="0"/>
                <a:ea typeface="Courier New" pitchFamily="34" charset="-122"/>
                <a:cs typeface="Courier New" pitchFamily="34" charset="-120"/>
              </a:rPr>
              <a:t>GOVER </a:t>
            </a:r>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traps to the loader, which swaps the overlay into the </a:t>
            </a:r>
            <a:pPr algn="l" indent="0" marL="0">
              <a:lnSpc>
                <a:spcPct val="129464"/>
              </a:lnSpc>
              <a:buNone/>
            </a:pPr>
            <a:r>
              <a:rPr lang="en-US" sz="2175" dirty="0">
                <a:solidFill>
                  <a:srgbClr val="211C14"/>
                </a:solidFill>
                <a:latin typeface="Courier New" pitchFamily="34" charset="0"/>
                <a:ea typeface="Courier New" pitchFamily="34" charset="-122"/>
                <a:cs typeface="Courier New" pitchFamily="34" charset="-120"/>
              </a:rPr>
              <a:t>ROVER </a:t>
            </a:r>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window and jumps in.</a:t>
            </a:r>
            <a:endParaRPr lang="en-US" sz="2175" dirty="0"/>
          </a:p>
        </p:txBody>
      </p:sp>
      <p:sp>
        <p:nvSpPr>
          <p:cNvPr id="6" name="Text 4"/>
          <p:cNvSpPr/>
          <p:nvPr/>
        </p:nvSpPr>
        <p:spPr>
          <a:xfrm>
            <a:off x="952500" y="4071938"/>
            <a:ext cx="8044815" cy="882015"/>
          </a:xfrm>
          <a:prstGeom prst="rect">
            <a:avLst/>
          </a:prstGeom>
          <a:noFill/>
          <a:ln/>
        </p:spPr>
        <p:txBody>
          <a:bodyPr wrap="square" lIns="25400" tIns="25400" rIns="25400" bIns="25400" rtlCol="0" anchor="t">
            <a:normAutofit/>
          </a:bodyPr>
          <a:lstStyle/>
          <a:p>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The build trick: </a:t>
            </a:r>
            <a:pPr algn="l" indent="0" marL="0">
              <a:lnSpc>
                <a:spcPct val="129464"/>
              </a:lnSpc>
              <a:buNone/>
            </a:pPr>
            <a:r>
              <a:rPr lang="en-US" sz="2175" dirty="0">
                <a:solidFill>
                  <a:srgbClr val="211C14"/>
                </a:solidFill>
                <a:latin typeface="Courier New" pitchFamily="34" charset="0"/>
                <a:ea typeface="Courier New" pitchFamily="34" charset="-122"/>
                <a:cs typeface="Courier New" pitchFamily="34" charset="-120"/>
              </a:rPr>
              <a:t>OVERX </a:t>
            </a:r>
            <a:pPr algn="l" indent="0" marL="0">
              <a:lnSpc>
                <a:spcPct val="129464"/>
              </a:lnSpc>
              <a:buNone/>
            </a:pPr>
            <a:r>
              <a:rPr lang="en-US" sz="2175" b="1" dirty="0">
                <a:solidFill>
                  <a:srgbClr val="211C14"/>
                </a:solidFill>
                <a:latin typeface="Arial" pitchFamily="34" charset="0"/>
                <a:ea typeface="Arial" pitchFamily="34" charset="-122"/>
                <a:cs typeface="Arial" pitchFamily="34" charset="-120"/>
              </a:rPr>
              <a:t>writes each overlay to disk while MAC is still assembling </a:t>
            </a:r>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 assembly and installation are the same act.</a:t>
            </a:r>
            <a:endParaRPr lang="en-US" sz="2175" dirty="0"/>
          </a:p>
        </p:txBody>
      </p:sp>
      <p:sp>
        <p:nvSpPr>
          <p:cNvPr id="7" name="Text 5"/>
          <p:cNvSpPr/>
          <p:nvPr/>
        </p:nvSpPr>
        <p:spPr>
          <a:xfrm>
            <a:off x="952500" y="5163503"/>
            <a:ext cx="8044815" cy="866775"/>
          </a:xfrm>
          <a:prstGeom prst="rect">
            <a:avLst/>
          </a:prstGeom>
          <a:noFill/>
          <a:ln/>
        </p:spPr>
        <p:txBody>
          <a:bodyPr wrap="square" lIns="25400" tIns="25400" rIns="25400" bIns="25400" rtlCol="0" anchor="t">
            <a:normAutofit/>
          </a:bodyPr>
          <a:lstStyle/>
          <a:p>
            <a:pPr algn="l" indent="0" marL="0">
              <a:lnSpc>
                <a:spcPct val="129464"/>
              </a:lnSpc>
              <a:buNone/>
            </a:pPr>
            <a:r>
              <a:rPr lang="en-US" sz="2175" dirty="0">
                <a:solidFill>
                  <a:srgbClr val="211C14"/>
                </a:solidFill>
                <a:latin typeface="Arial" pitchFamily="34" charset="0"/>
                <a:ea typeface="Arial" pitchFamily="34" charset="-122"/>
                <a:cs typeface="Arial" pitchFamily="34" charset="-120"/>
              </a:rPr>
              <a:t>TSS4/TSS5 overlays: DUMP · RECV · CRUSE · DLUSR · account and mailbox maintenance.</a:t>
            </a:r>
            <a:endParaRPr lang="en-US" sz="2175" dirty="0"/>
          </a:p>
        </p:txBody>
      </p:sp>
      <p:sp>
        <p:nvSpPr>
          <p:cNvPr id="8" name="Shape 6"/>
          <p:cNvSpPr/>
          <p:nvPr/>
        </p:nvSpPr>
        <p:spPr>
          <a:xfrm>
            <a:off x="9525000" y="2573655"/>
            <a:ext cx="7810500" cy="2533650"/>
          </a:xfrm>
          <a:prstGeom prst="rect">
            <a:avLst/>
          </a:prstGeom>
          <a:solidFill>
            <a:srgbClr val="2A2620"/>
          </a:solidFill>
          <a:ln/>
        </p:spPr>
      </p:sp>
      <p:sp>
        <p:nvSpPr>
          <p:cNvPr id="9" name="Text 7"/>
          <p:cNvSpPr/>
          <p:nvPr/>
        </p:nvSpPr>
        <p:spPr>
          <a:xfrm>
            <a:off x="9848850" y="2840355"/>
            <a:ext cx="7377684" cy="438150"/>
          </a:xfrm>
          <a:prstGeom prst="rect">
            <a:avLst/>
          </a:prstGeom>
          <a:noFill/>
          <a:ln/>
        </p:spPr>
        <p:txBody>
          <a:bodyPr wrap="square" lIns="25400" tIns="25400" rIns="25400" bIns="25400" rtlCol="0" anchor="t">
            <a:normAutofit/>
          </a:bodyPr>
          <a:lstStyle/>
          <a:p>
            <a:pPr algn="l" indent="0" marL="0">
              <a:lnSpc>
                <a:spcPct val="154412"/>
              </a:lnSpc>
              <a:buNone/>
            </a:pPr>
            <a:r>
              <a:rPr lang="en-US" sz="1800" dirty="0">
                <a:solidFill>
                  <a:srgbClr val="E8935A"/>
                </a:solidFill>
                <a:latin typeface="Courier New" pitchFamily="34" charset="0"/>
                <a:ea typeface="Courier New" pitchFamily="34" charset="-122"/>
                <a:cs typeface="Courier New" pitchFamily="34" charset="-120"/>
              </a:rPr>
              <a:t>% USER PROGRAM LIFE CYCLE</a:t>
            </a:r>
            <a:endParaRPr lang="en-US" sz="1800" dirty="0"/>
          </a:p>
        </p:txBody>
      </p:sp>
      <p:sp>
        <p:nvSpPr>
          <p:cNvPr id="10" name="Text 8"/>
          <p:cNvSpPr/>
          <p:nvPr/>
        </p:nvSpPr>
        <p:spPr>
          <a:xfrm>
            <a:off x="9848850" y="3240405"/>
            <a:ext cx="7377684" cy="438150"/>
          </a:xfrm>
          <a:prstGeom prst="rect">
            <a:avLst/>
          </a:prstGeom>
          <a:noFill/>
          <a:ln/>
        </p:spPr>
        <p:txBody>
          <a:bodyPr wrap="square" lIns="25400" tIns="25400" rIns="25400" bIns="25400" rtlCol="0" anchor="t">
            <a:normAutofit/>
          </a:bodyPr>
          <a:lstStyle/>
          <a:p>
            <a:pPr algn="l" indent="0" marL="0">
              <a:lnSpc>
                <a:spcPct val="154412"/>
              </a:lnSpc>
              <a:buNone/>
            </a:pPr>
            <a:r>
              <a:rPr lang="en-US" sz="1800" dirty="0">
                <a:solidFill>
                  <a:srgbClr val="E6DEC9"/>
                </a:solidFill>
                <a:latin typeface="Courier New" pitchFamily="34" charset="0"/>
                <a:ea typeface="Courier New" pitchFamily="34" charset="-122"/>
                <a:cs typeface="Courier New" pitchFamily="34" charset="-120"/>
              </a:rPr>
              <a:t>RECV 'PROG' FILE → PAGES+REGS</a:t>
            </a:r>
            <a:endParaRPr lang="en-US" sz="1800" dirty="0"/>
          </a:p>
        </p:txBody>
      </p:sp>
      <p:sp>
        <p:nvSpPr>
          <p:cNvPr id="11" name="Text 9"/>
          <p:cNvSpPr/>
          <p:nvPr/>
        </p:nvSpPr>
        <p:spPr>
          <a:xfrm>
            <a:off x="9848850" y="3640455"/>
            <a:ext cx="7377684" cy="438150"/>
          </a:xfrm>
          <a:prstGeom prst="rect">
            <a:avLst/>
          </a:prstGeom>
          <a:noFill/>
          <a:ln/>
        </p:spPr>
        <p:txBody>
          <a:bodyPr wrap="square" lIns="25400" tIns="25400" rIns="25400" bIns="25400" rtlCol="0" anchor="t">
            <a:normAutofit/>
          </a:bodyPr>
          <a:lstStyle/>
          <a:p>
            <a:pPr algn="l" indent="0" marL="0">
              <a:lnSpc>
                <a:spcPct val="154412"/>
              </a:lnSpc>
              <a:buNone/>
            </a:pPr>
            <a:r>
              <a:rPr lang="en-US" sz="1800" dirty="0">
                <a:solidFill>
                  <a:srgbClr val="E6DEC9"/>
                </a:solidFill>
                <a:latin typeface="Courier New" pitchFamily="34" charset="0"/>
                <a:ea typeface="Courier New" pitchFamily="34" charset="-122"/>
                <a:cs typeface="Courier New" pitchFamily="34" charset="-120"/>
              </a:rPr>
              <a:t>RUN SWAPPED LIKE ANY PROCESS</a:t>
            </a:r>
            <a:endParaRPr lang="en-US" sz="1800" dirty="0"/>
          </a:p>
        </p:txBody>
      </p:sp>
      <p:sp>
        <p:nvSpPr>
          <p:cNvPr id="12" name="Text 10"/>
          <p:cNvSpPr/>
          <p:nvPr/>
        </p:nvSpPr>
        <p:spPr>
          <a:xfrm>
            <a:off x="9848850" y="4040505"/>
            <a:ext cx="7377684" cy="438150"/>
          </a:xfrm>
          <a:prstGeom prst="rect">
            <a:avLst/>
          </a:prstGeom>
          <a:noFill/>
          <a:ln/>
        </p:spPr>
        <p:txBody>
          <a:bodyPr wrap="square" lIns="25400" tIns="25400" rIns="25400" bIns="25400" rtlCol="0" anchor="t">
            <a:normAutofit/>
          </a:bodyPr>
          <a:lstStyle/>
          <a:p>
            <a:pPr algn="l" indent="0" marL="0">
              <a:lnSpc>
                <a:spcPct val="154412"/>
              </a:lnSpc>
              <a:buNone/>
            </a:pPr>
            <a:r>
              <a:rPr lang="en-US" sz="1800" dirty="0">
                <a:solidFill>
                  <a:srgbClr val="E6DEC9"/>
                </a:solidFill>
                <a:latin typeface="Courier New" pitchFamily="34" charset="0"/>
                <a:ea typeface="Courier New" pitchFamily="34" charset="-122"/>
                <a:cs typeface="Courier New" pitchFamily="34" charset="-120"/>
              </a:rPr>
              <a:t>MON CALLS INTO MCTBL</a:t>
            </a:r>
            <a:endParaRPr lang="en-US" sz="1800" dirty="0"/>
          </a:p>
        </p:txBody>
      </p:sp>
      <p:sp>
        <p:nvSpPr>
          <p:cNvPr id="13" name="Text 11"/>
          <p:cNvSpPr/>
          <p:nvPr/>
        </p:nvSpPr>
        <p:spPr>
          <a:xfrm>
            <a:off x="9848850" y="4440555"/>
            <a:ext cx="7377684" cy="438150"/>
          </a:xfrm>
          <a:prstGeom prst="rect">
            <a:avLst/>
          </a:prstGeom>
          <a:noFill/>
          <a:ln/>
        </p:spPr>
        <p:txBody>
          <a:bodyPr wrap="square" lIns="25400" tIns="25400" rIns="25400" bIns="25400" rtlCol="0" anchor="t">
            <a:normAutofit/>
          </a:bodyPr>
          <a:lstStyle/>
          <a:p>
            <a:pPr algn="l" indent="0" marL="0">
              <a:lnSpc>
                <a:spcPct val="154412"/>
              </a:lnSpc>
              <a:buNone/>
            </a:pPr>
            <a:r>
              <a:rPr lang="en-US" sz="1800" dirty="0">
                <a:solidFill>
                  <a:srgbClr val="E6DEC9"/>
                </a:solidFill>
                <a:latin typeface="Courier New" pitchFamily="34" charset="0"/>
                <a:ea typeface="Courier New" pitchFamily="34" charset="-122"/>
                <a:cs typeface="Courier New" pitchFamily="34" charset="-120"/>
              </a:rPr>
              <a:t>DUMP PAGES+REGS → 'PROG' FILE</a:t>
            </a:r>
            <a:endParaRPr lang="en-US" sz="1800" dirty="0"/>
          </a:p>
        </p:txBody>
      </p:sp>
      <p:sp>
        <p:nvSpPr>
          <p:cNvPr id="14" name="Shape 12"/>
          <p:cNvSpPr/>
          <p:nvPr/>
        </p:nvSpPr>
        <p:spPr>
          <a:xfrm>
            <a:off x="9525000" y="5354955"/>
            <a:ext cx="7810500" cy="1602105"/>
          </a:xfrm>
          <a:prstGeom prst="rect">
            <a:avLst/>
          </a:prstGeom>
          <a:solidFill>
            <a:srgbClr val="E9E2CF"/>
          </a:solidFill>
          <a:ln w="15240">
            <a:solidFill>
              <a:srgbClr val="211C14"/>
            </a:solidFill>
            <a:prstDash val="solid"/>
          </a:ln>
        </p:spPr>
      </p:sp>
      <p:sp>
        <p:nvSpPr>
          <p:cNvPr id="15" name="Text 13"/>
          <p:cNvSpPr/>
          <p:nvPr/>
        </p:nvSpPr>
        <p:spPr>
          <a:xfrm>
            <a:off x="9825990" y="5598795"/>
            <a:ext cx="7442835" cy="1152525"/>
          </a:xfrm>
          <a:prstGeom prst="rect">
            <a:avLst/>
          </a:prstGeom>
          <a:noFill/>
          <a:ln/>
        </p:spPr>
        <p:txBody>
          <a:bodyPr wrap="square" lIns="25400" tIns="25400" rIns="25400" bIns="25400" rtlCol="0" anchor="t">
            <a:normAutofit/>
          </a:bodyPr>
          <a:lstStyle/>
          <a:p>
            <a:pPr algn="l" indent="0" marL="0">
              <a:lnSpc>
                <a:spcPct val="131757"/>
              </a:lnSpc>
              <a:buNone/>
            </a:pPr>
            <a:r>
              <a:rPr lang="en-US" sz="1950" dirty="0">
                <a:solidFill>
                  <a:srgbClr val="4A4335"/>
                </a:solidFill>
                <a:latin typeface="Courier New" pitchFamily="34" charset="0"/>
                <a:ea typeface="Courier New" pitchFamily="34" charset="-122"/>
                <a:cs typeface="Courier New" pitchFamily="34" charset="-120"/>
              </a:rPr>
              <a:t>DUMP </a:t>
            </a:r>
            <a:pPr algn="l" indent="0" marL="0">
              <a:lnSpc>
                <a:spcPct val="131757"/>
              </a:lnSpc>
              <a:buNone/>
            </a:pPr>
            <a:r>
              <a:rPr lang="en-US" sz="1950" dirty="0">
                <a:solidFill>
                  <a:srgbClr val="4A4335"/>
                </a:solidFill>
                <a:highlight>
                  <a:srgbClr val="E9E2CF"/>
                </a:highlight>
                <a:latin typeface="Arial" pitchFamily="34" charset="0"/>
                <a:ea typeface="Arial" pitchFamily="34" charset="-122"/>
                <a:cs typeface="Arial" pitchFamily="34" charset="-120"/>
              </a:rPr>
              <a:t>stores the full machine state — registers, RUBAD, a magic word </a:t>
            </a:r>
            <a:pPr algn="l" indent="0" marL="0">
              <a:lnSpc>
                <a:spcPct val="131757"/>
              </a:lnSpc>
              <a:buNone/>
            </a:pPr>
            <a:r>
              <a:rPr lang="en-US" sz="1950" dirty="0">
                <a:solidFill>
                  <a:srgbClr val="4A4335"/>
                </a:solidFill>
                <a:latin typeface="Courier New" pitchFamily="34" charset="0"/>
                <a:ea typeface="Courier New" pitchFamily="34" charset="-122"/>
                <a:cs typeface="Courier New" pitchFamily="34" charset="-120"/>
              </a:rPr>
              <a:t>131313₈ </a:t>
            </a:r>
            <a:pPr algn="l" indent="0" marL="0">
              <a:lnSpc>
                <a:spcPct val="131757"/>
              </a:lnSpc>
              <a:buNone/>
            </a:pPr>
            <a:r>
              <a:rPr lang="en-US" sz="1950" dirty="0">
                <a:solidFill>
                  <a:srgbClr val="4A4335"/>
                </a:solidFill>
                <a:highlight>
                  <a:srgbClr val="E9E2CF"/>
                </a:highlight>
                <a:latin typeface="Arial" pitchFamily="34" charset="0"/>
                <a:ea typeface="Arial" pitchFamily="34" charset="-122"/>
                <a:cs typeface="Arial" pitchFamily="34" charset="-120"/>
              </a:rPr>
              <a:t>— so </a:t>
            </a:r>
            <a:pPr algn="l" indent="0" marL="0">
              <a:lnSpc>
                <a:spcPct val="131757"/>
              </a:lnSpc>
              <a:buNone/>
            </a:pPr>
            <a:r>
              <a:rPr lang="en-US" sz="1950" dirty="0">
                <a:solidFill>
                  <a:srgbClr val="4A4335"/>
                </a:solidFill>
                <a:latin typeface="Courier New" pitchFamily="34" charset="0"/>
                <a:ea typeface="Courier New" pitchFamily="34" charset="-122"/>
                <a:cs typeface="Courier New" pitchFamily="34" charset="-120"/>
              </a:rPr>
              <a:t>RECV </a:t>
            </a:r>
            <a:pPr algn="l" indent="0" marL="0">
              <a:lnSpc>
                <a:spcPct val="131757"/>
              </a:lnSpc>
              <a:buNone/>
            </a:pPr>
            <a:r>
              <a:rPr lang="en-US" sz="1950" dirty="0">
                <a:solidFill>
                  <a:srgbClr val="4A4335"/>
                </a:solidFill>
                <a:highlight>
                  <a:srgbClr val="E9E2CF"/>
                </a:highlight>
                <a:latin typeface="Arial" pitchFamily="34" charset="0"/>
                <a:ea typeface="Arial" pitchFamily="34" charset="-122"/>
                <a:cs typeface="Arial" pitchFamily="34" charset="-120"/>
              </a:rPr>
              <a:t>resumes a program exactly where it stopped.</a:t>
            </a:r>
            <a:endParaRPr lang="en-US" sz="1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3201A"/>
        </a:solidFill>
      </p:bgPr>
    </p:bg>
    <p:spTree>
      <p:nvGrpSpPr>
        <p:cNvPr id="1" name=""/>
        <p:cNvGrpSpPr/>
        <p:nvPr/>
      </p:nvGrpSpPr>
      <p:grpSpPr>
        <a:xfrm>
          <a:off x="0" y="0"/>
          <a:ext cx="0" cy="0"/>
          <a:chOff x="0" y="0"/>
          <a:chExt cx="0" cy="0"/>
        </a:xfrm>
      </p:grpSpPr>
      <p:sp>
        <p:nvSpPr>
          <p:cNvPr id="2" name="Text 0"/>
          <p:cNvSpPr/>
          <p:nvPr/>
        </p:nvSpPr>
        <p:spPr>
          <a:xfrm>
            <a:off x="952500" y="3055620"/>
            <a:ext cx="18021300" cy="1466850"/>
          </a:xfrm>
          <a:prstGeom prst="rect">
            <a:avLst/>
          </a:prstGeom>
          <a:noFill/>
          <a:ln/>
        </p:spPr>
        <p:txBody>
          <a:bodyPr wrap="square" lIns="25400" tIns="25400" rIns="25400" bIns="25400" rtlCol="0" anchor="t">
            <a:normAutofit/>
          </a:bodyPr>
          <a:lstStyle/>
          <a:p>
            <a:pPr algn="l" indent="0" marL="0">
              <a:lnSpc>
                <a:spcPct val="88443"/>
              </a:lnSpc>
              <a:buNone/>
            </a:pPr>
            <a:r>
              <a:rPr lang="en-US" sz="11250" b="1" dirty="0">
                <a:solidFill>
                  <a:srgbClr val="C8501E"/>
                </a:solidFill>
                <a:latin typeface="Courier New" pitchFamily="34" charset="0"/>
                <a:ea typeface="Courier New" pitchFamily="34" charset="-122"/>
                <a:cs typeface="Courier New" pitchFamily="34" charset="-120"/>
              </a:rPr>
              <a:t>03</a:t>
            </a:r>
            <a:endParaRPr lang="en-US" sz="11250" dirty="0"/>
          </a:p>
        </p:txBody>
      </p:sp>
      <p:sp>
        <p:nvSpPr>
          <p:cNvPr id="3" name="Text 1"/>
          <p:cNvSpPr/>
          <p:nvPr/>
        </p:nvSpPr>
        <p:spPr>
          <a:xfrm>
            <a:off x="952500" y="4770120"/>
            <a:ext cx="18021300" cy="918210"/>
          </a:xfrm>
          <a:prstGeom prst="rect">
            <a:avLst/>
          </a:prstGeom>
          <a:noFill/>
          <a:ln/>
        </p:spPr>
        <p:txBody>
          <a:bodyPr wrap="square" lIns="25400" tIns="25400" rIns="25400" bIns="25400" rtlCol="0" anchor="t">
            <a:normAutofit/>
          </a:bodyPr>
          <a:lstStyle/>
          <a:p>
            <a:pPr algn="l" indent="0" marL="0">
              <a:lnSpc>
                <a:spcPct val="97059"/>
              </a:lnSpc>
              <a:buNone/>
            </a:pPr>
            <a:r>
              <a:rPr lang="en-US" sz="6300" b="1" dirty="0">
                <a:solidFill>
                  <a:srgbClr val="ECE5D3"/>
                </a:solidFill>
                <a:latin typeface="Courier New" pitchFamily="34" charset="0"/>
                <a:ea typeface="Courier New" pitchFamily="34" charset="-122"/>
                <a:cs typeface="Courier New" pitchFamily="34" charset="-120"/>
              </a:rPr>
              <a:t>The Devices</a:t>
            </a:r>
            <a:endParaRPr lang="en-US" sz="6300" dirty="0"/>
          </a:p>
        </p:txBody>
      </p:sp>
      <p:sp>
        <p:nvSpPr>
          <p:cNvPr id="4" name="Shape 2"/>
          <p:cNvSpPr/>
          <p:nvPr/>
        </p:nvSpPr>
        <p:spPr>
          <a:xfrm>
            <a:off x="952500" y="5935980"/>
            <a:ext cx="2667000" cy="38100"/>
          </a:xfrm>
          <a:prstGeom prst="rect">
            <a:avLst/>
          </a:prstGeom>
          <a:solidFill>
            <a:srgbClr val="C8501E"/>
          </a:solidFill>
          <a:ln/>
        </p:spPr>
      </p:sp>
      <p:sp>
        <p:nvSpPr>
          <p:cNvPr id="5" name="Text 3"/>
          <p:cNvSpPr/>
          <p:nvPr/>
        </p:nvSpPr>
        <p:spPr>
          <a:xfrm>
            <a:off x="952500" y="6259830"/>
            <a:ext cx="11772900" cy="1009650"/>
          </a:xfrm>
          <a:prstGeom prst="rect">
            <a:avLst/>
          </a:prstGeom>
          <a:noFill/>
          <a:ln/>
        </p:spPr>
        <p:txBody>
          <a:bodyPr wrap="square" lIns="25400" tIns="25400" rIns="25400" bIns="25400" rtlCol="0" anchor="t">
            <a:normAutofit/>
          </a:bodyPr>
          <a:lstStyle/>
          <a:p>
            <a:pPr algn="l" indent="0" marL="0">
              <a:lnSpc>
                <a:spcPct val="132812"/>
              </a:lnSpc>
              <a:buNone/>
            </a:pPr>
            <a:r>
              <a:rPr lang="en-US" sz="2550" dirty="0">
                <a:solidFill>
                  <a:srgbClr val="C7BDA6"/>
                </a:solidFill>
                <a:latin typeface="Arial" pitchFamily="34" charset="0"/>
                <a:ea typeface="Arial" pitchFamily="34" charset="-122"/>
                <a:cs typeface="Arial" pitchFamily="34" charset="-120"/>
              </a:rPr>
              <a:t>IOT and IOX at the bit level — then terminal, tape, cards, printer and CDC disk, register by register.</a:t>
            </a:r>
            <a:endParaRPr lang="en-US" sz="2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EDE1"/>
        </a:solidFill>
      </p:bgPr>
    </p:bg>
    <p:spTree>
      <p:nvGrpSpPr>
        <p:cNvPr id="1" name=""/>
        <p:cNvGrpSpPr/>
        <p:nvPr/>
      </p:nvGrpSpPr>
      <p:grpSpPr>
        <a:xfrm>
          <a:off x="0" y="0"/>
          <a:ext cx="0" cy="0"/>
          <a:chOff x="0" y="0"/>
          <a:chExt cx="0" cy="0"/>
        </a:xfrm>
      </p:grpSpPr>
      <p:sp>
        <p:nvSpPr>
          <p:cNvPr id="2" name="Text 0"/>
          <p:cNvSpPr/>
          <p:nvPr/>
        </p:nvSpPr>
        <p:spPr>
          <a:xfrm>
            <a:off x="952500" y="857250"/>
            <a:ext cx="18021300" cy="33528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C8501E"/>
                </a:solidFill>
                <a:latin typeface="Courier New" pitchFamily="34" charset="0"/>
                <a:ea typeface="Courier New" pitchFamily="34" charset="-122"/>
                <a:cs typeface="Courier New" pitchFamily="34" charset="-120"/>
              </a:rPr>
              <a:t>SECTION 03 · DEVICES</a:t>
            </a:r>
            <a:endParaRPr lang="en-US" sz="1800" dirty="0"/>
          </a:p>
        </p:txBody>
      </p:sp>
      <p:sp>
        <p:nvSpPr>
          <p:cNvPr id="3" name="Text 1"/>
          <p:cNvSpPr/>
          <p:nvPr/>
        </p:nvSpPr>
        <p:spPr>
          <a:xfrm>
            <a:off x="952500" y="1306830"/>
            <a:ext cx="18021300" cy="666750"/>
          </a:xfrm>
          <a:prstGeom prst="rect">
            <a:avLst/>
          </a:prstGeom>
          <a:noFill/>
          <a:ln/>
        </p:spPr>
        <p:txBody>
          <a:bodyPr wrap="square" lIns="25400" tIns="25400" rIns="25400" bIns="25400" rtlCol="0" anchor="t">
            <a:normAutofit/>
          </a:bodyPr>
          <a:lstStyle/>
          <a:p>
            <a:pPr algn="l" indent="0" marL="0">
              <a:lnSpc>
                <a:spcPct val="97059"/>
              </a:lnSpc>
              <a:buNone/>
            </a:pPr>
            <a:r>
              <a:rPr lang="en-US" sz="4500" b="1" dirty="0">
                <a:solidFill>
                  <a:srgbClr val="211C14"/>
                </a:solidFill>
                <a:latin typeface="Courier New" pitchFamily="34" charset="0"/>
                <a:ea typeface="Courier New" pitchFamily="34" charset="-122"/>
                <a:cs typeface="Courier New" pitchFamily="34" charset="-120"/>
              </a:rPr>
              <a:t>Talking to Hardware: IOT and IOX</a:t>
            </a:r>
            <a:endParaRPr lang="en-US" sz="4500" dirty="0"/>
          </a:p>
        </p:txBody>
      </p:sp>
      <p:sp>
        <p:nvSpPr>
          <p:cNvPr id="4" name="Shape 2"/>
          <p:cNvSpPr/>
          <p:nvPr/>
        </p:nvSpPr>
        <p:spPr>
          <a:xfrm>
            <a:off x="952500" y="2087880"/>
            <a:ext cx="16383000" cy="28575"/>
          </a:xfrm>
          <a:prstGeom prst="rect">
            <a:avLst/>
          </a:prstGeom>
          <a:solidFill>
            <a:srgbClr val="211C14"/>
          </a:solidFill>
          <a:ln/>
        </p:spPr>
      </p:sp>
      <p:sp>
        <p:nvSpPr>
          <p:cNvPr id="5" name="Text 3"/>
          <p:cNvSpPr/>
          <p:nvPr/>
        </p:nvSpPr>
        <p:spPr>
          <a:xfrm>
            <a:off x="952500" y="2497455"/>
            <a:ext cx="8780145" cy="381000"/>
          </a:xfrm>
          <a:prstGeom prst="rect">
            <a:avLst/>
          </a:prstGeom>
          <a:noFill/>
          <a:ln/>
        </p:spPr>
        <p:txBody>
          <a:bodyPr wrap="square" lIns="25400" tIns="25400" rIns="25400" bIns="25400" rtlCol="0" anchor="t">
            <a:normAutofit/>
          </a:bodyPr>
          <a:lstStyle/>
          <a:p>
            <a:pPr algn="l" indent="0" marL="0">
              <a:buNone/>
            </a:pPr>
            <a:r>
              <a:rPr lang="en-US" sz="2025" b="1" dirty="0">
                <a:solidFill>
                  <a:srgbClr val="211C14"/>
                </a:solidFill>
                <a:latin typeface="Courier New" pitchFamily="34" charset="0"/>
                <a:ea typeface="Courier New" pitchFamily="34" charset="-122"/>
                <a:cs typeface="Courier New" pitchFamily="34" charset="-120"/>
              </a:rPr>
              <a:t>"NN10 — NORD-1 · IOT </a:t>
            </a:r>
            <a:pPr algn="l" indent="0" marL="0">
              <a:buNone/>
            </a:pPr>
            <a:r>
              <a:rPr lang="en-US" sz="2025" dirty="0">
                <a:solidFill>
                  <a:srgbClr val="6B6252"/>
                </a:solidFill>
                <a:latin typeface="Courier New" pitchFamily="34" charset="0"/>
                <a:ea typeface="Courier New" pitchFamily="34" charset="-122"/>
                <a:cs typeface="Courier New" pitchFamily="34" charset="-120"/>
              </a:rPr>
              <a:t>= 160000₈ + bits</a:t>
            </a:r>
            <a:endParaRPr lang="en-US" sz="2025" dirty="0"/>
          </a:p>
        </p:txBody>
      </p:sp>
      <p:sp>
        <p:nvSpPr>
          <p:cNvPr id="6" name="Shape 4"/>
          <p:cNvSpPr/>
          <p:nvPr/>
        </p:nvSpPr>
        <p:spPr>
          <a:xfrm>
            <a:off x="952500" y="3011805"/>
            <a:ext cx="2252305" cy="853440"/>
          </a:xfrm>
          <a:prstGeom prst="rect">
            <a:avLst/>
          </a:prstGeom>
          <a:solidFill>
            <a:srgbClr val="D8CFB6"/>
          </a:solidFill>
          <a:ln w="15240">
            <a:solidFill>
              <a:srgbClr val="211C14"/>
            </a:solidFill>
            <a:prstDash val="solid"/>
          </a:ln>
        </p:spPr>
      </p:sp>
      <p:sp>
        <p:nvSpPr>
          <p:cNvPr id="7" name="Text 5"/>
          <p:cNvSpPr/>
          <p:nvPr/>
        </p:nvSpPr>
        <p:spPr>
          <a:xfrm>
            <a:off x="967740" y="3141345"/>
            <a:ext cx="2221825" cy="632460"/>
          </a:xfrm>
          <a:prstGeom prst="rect">
            <a:avLst/>
          </a:prstGeom>
          <a:noFill/>
          <a:ln/>
        </p:spPr>
        <p:txBody>
          <a:bodyPr wrap="square" lIns="25400" tIns="25400" rIns="25400" bIns="25400" rtlCol="0" anchor="t">
            <a:normAutofit/>
          </a:bodyPr>
          <a:lstStyle/>
          <a:p>
            <a:pPr algn="ctr" indent="0" marL="0">
              <a:buNone/>
            </a:pPr>
            <a:r>
              <a:rPr lang="en-US" sz="1800" dirty="0">
                <a:solidFill>
                  <a:srgbClr val="211C14"/>
                </a:solidFill>
                <a:highlight>
                  <a:srgbClr val="D8CFB6"/>
                </a:highlight>
                <a:latin typeface="Courier New" pitchFamily="34" charset="0"/>
                <a:ea typeface="Courier New" pitchFamily="34" charset="-122"/>
                <a:cs typeface="Courier New" pitchFamily="34" charset="-120"/>
              </a:rPr>
              <a:t>15–13 OPCODE 7₈</a:t>
            </a:r>
            <a:endParaRPr lang="en-US" sz="1800" dirty="0"/>
          </a:p>
        </p:txBody>
      </p:sp>
      <p:sp>
        <p:nvSpPr>
          <p:cNvPr id="8" name="Shape 6"/>
          <p:cNvSpPr/>
          <p:nvPr/>
        </p:nvSpPr>
        <p:spPr>
          <a:xfrm>
            <a:off x="3204805" y="3011805"/>
            <a:ext cx="1164193" cy="853440"/>
          </a:xfrm>
          <a:prstGeom prst="rect">
            <a:avLst/>
          </a:prstGeom>
          <a:solidFill>
            <a:srgbClr val="E9E2CF"/>
          </a:solidFill>
          <a:ln/>
        </p:spPr>
      </p:sp>
      <p:sp>
        <p:nvSpPr>
          <p:cNvPr id="9" name="Shape 7"/>
          <p:cNvSpPr/>
          <p:nvPr/>
        </p:nvSpPr>
        <p:spPr>
          <a:xfrm>
            <a:off x="3204805" y="3850005"/>
            <a:ext cx="1164193" cy="15240"/>
          </a:xfrm>
          <a:prstGeom prst="rect">
            <a:avLst/>
          </a:prstGeom>
          <a:solidFill>
            <a:srgbClr val="211C14"/>
          </a:solidFill>
          <a:ln/>
        </p:spPr>
      </p:sp>
      <p:sp>
        <p:nvSpPr>
          <p:cNvPr id="10" name="Shape 8"/>
          <p:cNvSpPr/>
          <p:nvPr/>
        </p:nvSpPr>
        <p:spPr>
          <a:xfrm>
            <a:off x="3204805" y="3011805"/>
            <a:ext cx="1164193" cy="15240"/>
          </a:xfrm>
          <a:prstGeom prst="rect">
            <a:avLst/>
          </a:prstGeom>
          <a:solidFill>
            <a:srgbClr val="211C14"/>
          </a:solidFill>
          <a:ln/>
        </p:spPr>
      </p:sp>
      <p:sp>
        <p:nvSpPr>
          <p:cNvPr id="11" name="Shape 9"/>
          <p:cNvSpPr/>
          <p:nvPr/>
        </p:nvSpPr>
        <p:spPr>
          <a:xfrm>
            <a:off x="4353758" y="3011805"/>
            <a:ext cx="15240" cy="853440"/>
          </a:xfrm>
          <a:prstGeom prst="rect">
            <a:avLst/>
          </a:prstGeom>
          <a:solidFill>
            <a:srgbClr val="211C14"/>
          </a:solidFill>
          <a:ln/>
        </p:spPr>
      </p:sp>
      <p:sp>
        <p:nvSpPr>
          <p:cNvPr id="12" name="Text 10"/>
          <p:cNvSpPr/>
          <p:nvPr/>
        </p:nvSpPr>
        <p:spPr>
          <a:xfrm>
            <a:off x="3204805" y="3141345"/>
            <a:ext cx="1148953" cy="632460"/>
          </a:xfrm>
          <a:prstGeom prst="rect">
            <a:avLst/>
          </a:prstGeom>
          <a:noFill/>
          <a:ln/>
        </p:spPr>
        <p:txBody>
          <a:bodyPr wrap="square" lIns="25400" tIns="25400" rIns="25400" bIns="25400" rtlCol="0" anchor="t">
            <a:normAutofit/>
          </a:bodyPr>
          <a:lstStyle/>
          <a:p>
            <a:pPr algn="ctr" indent="0" marL="0">
              <a:buNone/>
            </a:pPr>
            <a:r>
              <a:rPr lang="en-US" sz="1800" dirty="0">
                <a:solidFill>
                  <a:srgbClr val="211C14"/>
                </a:solidFill>
                <a:highlight>
                  <a:srgbClr val="E9E2CF"/>
                </a:highlight>
                <a:latin typeface="Courier New" pitchFamily="34" charset="0"/>
                <a:ea typeface="Courier New" pitchFamily="34" charset="-122"/>
                <a:cs typeface="Courier New" pitchFamily="34" charset="-120"/>
              </a:rPr>
              <a:t>11 PIN 2000₈</a:t>
            </a:r>
            <a:endParaRPr lang="en-US" sz="1800" dirty="0"/>
          </a:p>
        </p:txBody>
      </p:sp>
      <p:sp>
        <p:nvSpPr>
          <p:cNvPr id="13" name="Shape 11"/>
          <p:cNvSpPr/>
          <p:nvPr/>
        </p:nvSpPr>
        <p:spPr>
          <a:xfrm>
            <a:off x="4368998" y="3011805"/>
            <a:ext cx="1164193" cy="853440"/>
          </a:xfrm>
          <a:prstGeom prst="rect">
            <a:avLst/>
          </a:prstGeom>
          <a:solidFill>
            <a:srgbClr val="E9E2CF"/>
          </a:solidFill>
          <a:ln/>
        </p:spPr>
      </p:sp>
      <p:sp>
        <p:nvSpPr>
          <p:cNvPr id="14" name="Shape 12"/>
          <p:cNvSpPr/>
          <p:nvPr/>
        </p:nvSpPr>
        <p:spPr>
          <a:xfrm>
            <a:off x="4368998" y="3850005"/>
            <a:ext cx="1164193" cy="15240"/>
          </a:xfrm>
          <a:prstGeom prst="rect">
            <a:avLst/>
          </a:prstGeom>
          <a:solidFill>
            <a:srgbClr val="211C14"/>
          </a:solidFill>
          <a:ln/>
        </p:spPr>
      </p:sp>
      <p:sp>
        <p:nvSpPr>
          <p:cNvPr id="15" name="Shape 13"/>
          <p:cNvSpPr/>
          <p:nvPr/>
        </p:nvSpPr>
        <p:spPr>
          <a:xfrm>
            <a:off x="4368998" y="3011805"/>
            <a:ext cx="1164193" cy="15240"/>
          </a:xfrm>
          <a:prstGeom prst="rect">
            <a:avLst/>
          </a:prstGeom>
          <a:solidFill>
            <a:srgbClr val="211C14"/>
          </a:solidFill>
          <a:ln/>
        </p:spPr>
      </p:sp>
      <p:sp>
        <p:nvSpPr>
          <p:cNvPr id="16" name="Shape 14"/>
          <p:cNvSpPr/>
          <p:nvPr/>
        </p:nvSpPr>
        <p:spPr>
          <a:xfrm>
            <a:off x="5517952" y="3011805"/>
            <a:ext cx="15240" cy="853440"/>
          </a:xfrm>
          <a:prstGeom prst="rect">
            <a:avLst/>
          </a:prstGeom>
          <a:solidFill>
            <a:srgbClr val="211C14"/>
          </a:solidFill>
          <a:ln/>
        </p:spPr>
      </p:sp>
      <p:sp>
        <p:nvSpPr>
          <p:cNvPr id="17" name="Text 15"/>
          <p:cNvSpPr/>
          <p:nvPr/>
        </p:nvSpPr>
        <p:spPr>
          <a:xfrm>
            <a:off x="4368998" y="3141345"/>
            <a:ext cx="1148953" cy="632460"/>
          </a:xfrm>
          <a:prstGeom prst="rect">
            <a:avLst/>
          </a:prstGeom>
          <a:noFill/>
          <a:ln/>
        </p:spPr>
        <p:txBody>
          <a:bodyPr wrap="square" lIns="25400" tIns="25400" rIns="25400" bIns="25400" rtlCol="0" anchor="t">
            <a:normAutofit/>
          </a:bodyPr>
          <a:lstStyle/>
          <a:p>
            <a:pPr algn="ctr" indent="0" marL="0">
              <a:buNone/>
            </a:pPr>
            <a:r>
              <a:rPr lang="en-US" sz="1800" dirty="0">
                <a:solidFill>
                  <a:srgbClr val="211C14"/>
                </a:solidFill>
                <a:highlight>
                  <a:srgbClr val="E9E2CF"/>
                </a:highlight>
                <a:latin typeface="Courier New" pitchFamily="34" charset="0"/>
                <a:ea typeface="Courier New" pitchFamily="34" charset="-122"/>
                <a:cs typeface="Courier New" pitchFamily="34" charset="-120"/>
              </a:rPr>
              <a:t>9 SKA 1000₈</a:t>
            </a:r>
            <a:endParaRPr lang="en-US" sz="1800" dirty="0"/>
          </a:p>
        </p:txBody>
      </p:sp>
      <p:sp>
        <p:nvSpPr>
          <p:cNvPr id="18" name="Shape 16"/>
          <p:cNvSpPr/>
          <p:nvPr/>
        </p:nvSpPr>
        <p:spPr>
          <a:xfrm>
            <a:off x="5533192" y="3011805"/>
            <a:ext cx="1164193" cy="853440"/>
          </a:xfrm>
          <a:prstGeom prst="rect">
            <a:avLst/>
          </a:prstGeom>
          <a:solidFill>
            <a:srgbClr val="E9E2CF"/>
          </a:solidFill>
          <a:ln/>
        </p:spPr>
      </p:sp>
      <p:sp>
        <p:nvSpPr>
          <p:cNvPr id="19" name="Shape 17"/>
          <p:cNvSpPr/>
          <p:nvPr/>
        </p:nvSpPr>
        <p:spPr>
          <a:xfrm>
            <a:off x="5533192" y="3850005"/>
            <a:ext cx="1164193" cy="15240"/>
          </a:xfrm>
          <a:prstGeom prst="rect">
            <a:avLst/>
          </a:prstGeom>
          <a:solidFill>
            <a:srgbClr val="211C14"/>
          </a:solidFill>
          <a:ln/>
        </p:spPr>
      </p:sp>
      <p:sp>
        <p:nvSpPr>
          <p:cNvPr id="20" name="Shape 18"/>
          <p:cNvSpPr/>
          <p:nvPr/>
        </p:nvSpPr>
        <p:spPr>
          <a:xfrm>
            <a:off x="5533192" y="3011805"/>
            <a:ext cx="1164193" cy="15240"/>
          </a:xfrm>
          <a:prstGeom prst="rect">
            <a:avLst/>
          </a:prstGeom>
          <a:solidFill>
            <a:srgbClr val="211C14"/>
          </a:solidFill>
          <a:ln/>
        </p:spPr>
      </p:sp>
      <p:sp>
        <p:nvSpPr>
          <p:cNvPr id="21" name="Shape 19"/>
          <p:cNvSpPr/>
          <p:nvPr/>
        </p:nvSpPr>
        <p:spPr>
          <a:xfrm>
            <a:off x="6682145" y="3011805"/>
            <a:ext cx="15240" cy="853440"/>
          </a:xfrm>
          <a:prstGeom prst="rect">
            <a:avLst/>
          </a:prstGeom>
          <a:solidFill>
            <a:srgbClr val="211C14"/>
          </a:solidFill>
          <a:ln/>
        </p:spPr>
      </p:sp>
      <p:sp>
        <p:nvSpPr>
          <p:cNvPr id="22" name="Text 20"/>
          <p:cNvSpPr/>
          <p:nvPr/>
        </p:nvSpPr>
        <p:spPr>
          <a:xfrm>
            <a:off x="5533192" y="3141345"/>
            <a:ext cx="1148953" cy="632460"/>
          </a:xfrm>
          <a:prstGeom prst="rect">
            <a:avLst/>
          </a:prstGeom>
          <a:noFill/>
          <a:ln/>
        </p:spPr>
        <p:txBody>
          <a:bodyPr wrap="square" lIns="25400" tIns="25400" rIns="25400" bIns="25400" rtlCol="0" anchor="t">
            <a:normAutofit/>
          </a:bodyPr>
          <a:lstStyle/>
          <a:p>
            <a:pPr algn="ctr" indent="0" marL="0">
              <a:buNone/>
            </a:pPr>
            <a:r>
              <a:rPr lang="en-US" sz="1800" dirty="0">
                <a:solidFill>
                  <a:srgbClr val="211C14"/>
                </a:solidFill>
                <a:highlight>
                  <a:srgbClr val="E9E2CF"/>
                </a:highlight>
                <a:latin typeface="Courier New" pitchFamily="34" charset="0"/>
                <a:ea typeface="Courier New" pitchFamily="34" charset="-122"/>
                <a:cs typeface="Courier New" pitchFamily="34" charset="-120"/>
              </a:rPr>
              <a:t>8 ACT 400₈</a:t>
            </a:r>
            <a:endParaRPr lang="en-US" sz="1800" dirty="0"/>
          </a:p>
        </p:txBody>
      </p:sp>
      <p:sp>
        <p:nvSpPr>
          <p:cNvPr id="23" name="Shape 21"/>
          <p:cNvSpPr/>
          <p:nvPr/>
        </p:nvSpPr>
        <p:spPr>
          <a:xfrm>
            <a:off x="6697385" y="3011805"/>
            <a:ext cx="2237065" cy="853440"/>
          </a:xfrm>
          <a:prstGeom prst="rect">
            <a:avLst/>
          </a:prstGeom>
          <a:solidFill>
            <a:srgbClr val="F7E3D4"/>
          </a:solidFill>
          <a:ln/>
        </p:spPr>
      </p:sp>
      <p:sp>
        <p:nvSpPr>
          <p:cNvPr id="24" name="Shape 22"/>
          <p:cNvSpPr/>
          <p:nvPr/>
        </p:nvSpPr>
        <p:spPr>
          <a:xfrm>
            <a:off x="6697385" y="3850005"/>
            <a:ext cx="2237065" cy="15240"/>
          </a:xfrm>
          <a:prstGeom prst="rect">
            <a:avLst/>
          </a:prstGeom>
          <a:solidFill>
            <a:srgbClr val="211C14"/>
          </a:solidFill>
          <a:ln/>
        </p:spPr>
      </p:sp>
      <p:sp>
        <p:nvSpPr>
          <p:cNvPr id="25" name="Shape 23"/>
          <p:cNvSpPr/>
          <p:nvPr/>
        </p:nvSpPr>
        <p:spPr>
          <a:xfrm>
            <a:off x="6697385" y="3011805"/>
            <a:ext cx="2237065" cy="15240"/>
          </a:xfrm>
          <a:prstGeom prst="rect">
            <a:avLst/>
          </a:prstGeom>
          <a:solidFill>
            <a:srgbClr val="211C14"/>
          </a:solidFill>
          <a:ln/>
        </p:spPr>
      </p:sp>
      <p:sp>
        <p:nvSpPr>
          <p:cNvPr id="26" name="Shape 24"/>
          <p:cNvSpPr/>
          <p:nvPr/>
        </p:nvSpPr>
        <p:spPr>
          <a:xfrm>
            <a:off x="8919210" y="3011805"/>
            <a:ext cx="15240" cy="853440"/>
          </a:xfrm>
          <a:prstGeom prst="rect">
            <a:avLst/>
          </a:prstGeom>
          <a:solidFill>
            <a:srgbClr val="211C14"/>
          </a:solidFill>
          <a:ln/>
        </p:spPr>
      </p:sp>
      <p:sp>
        <p:nvSpPr>
          <p:cNvPr id="27" name="Text 25"/>
          <p:cNvSpPr/>
          <p:nvPr/>
        </p:nvSpPr>
        <p:spPr>
          <a:xfrm>
            <a:off x="6697385" y="3141345"/>
            <a:ext cx="2221825" cy="632460"/>
          </a:xfrm>
          <a:prstGeom prst="rect">
            <a:avLst/>
          </a:prstGeom>
          <a:noFill/>
          <a:ln/>
        </p:spPr>
        <p:txBody>
          <a:bodyPr wrap="square" lIns="25400" tIns="25400" rIns="25400" bIns="25400" rtlCol="0" anchor="t">
            <a:normAutofit/>
          </a:bodyPr>
          <a:lstStyle/>
          <a:p>
            <a:pPr algn="ctr" indent="0" marL="0">
              <a:buNone/>
            </a:pPr>
            <a:r>
              <a:rPr lang="en-US" sz="1800" dirty="0">
                <a:solidFill>
                  <a:srgbClr val="211C14"/>
                </a:solidFill>
                <a:highlight>
                  <a:srgbClr val="F7E3D4"/>
                </a:highlight>
                <a:latin typeface="Courier New" pitchFamily="34" charset="0"/>
                <a:ea typeface="Courier New" pitchFamily="34" charset="-122"/>
                <a:cs typeface="Courier New" pitchFamily="34" charset="-120"/>
              </a:rPr>
              <a:t>7–0 DEVICE NO.</a:t>
            </a:r>
            <a:endParaRPr lang="en-US" sz="1800" dirty="0"/>
          </a:p>
        </p:txBody>
      </p:sp>
      <p:sp>
        <p:nvSpPr>
          <p:cNvPr id="28" name="Shape 26"/>
          <p:cNvSpPr/>
          <p:nvPr/>
        </p:nvSpPr>
        <p:spPr>
          <a:xfrm>
            <a:off x="952500" y="4036695"/>
            <a:ext cx="7981950" cy="3314700"/>
          </a:xfrm>
          <a:prstGeom prst="rect">
            <a:avLst/>
          </a:prstGeom>
          <a:solidFill>
            <a:srgbClr val="2A2620"/>
          </a:solidFill>
          <a:ln/>
        </p:spPr>
      </p:sp>
      <p:sp>
        <p:nvSpPr>
          <p:cNvPr id="29" name="Text 27"/>
          <p:cNvSpPr/>
          <p:nvPr/>
        </p:nvSpPr>
        <p:spPr>
          <a:xfrm>
            <a:off x="1238250" y="4265295"/>
            <a:ext cx="7632763" cy="42672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E8935A"/>
                </a:solidFill>
                <a:latin typeface="Courier New" pitchFamily="34" charset="0"/>
                <a:ea typeface="Courier New" pitchFamily="34" charset="-122"/>
                <a:cs typeface="Courier New" pitchFamily="34" charset="-120"/>
              </a:rPr>
              <a:t>ACT </a:t>
            </a:r>
            <a:pPr algn="l" indent="0" marL="0">
              <a:lnSpc>
                <a:spcPct val="150000"/>
              </a:lnSpc>
              <a:buNone/>
            </a:pPr>
            <a:r>
              <a:rPr lang="en-US" sz="1800" dirty="0">
                <a:solidFill>
                  <a:srgbClr val="E6DEC9"/>
                </a:solidFill>
                <a:latin typeface="Courier New" pitchFamily="34" charset="0"/>
                <a:ea typeface="Courier New" pitchFamily="34" charset="-122"/>
                <a:cs typeface="Courier New" pitchFamily="34" charset="-120"/>
              </a:rPr>
              <a:t>ACTIVATE / TRANSFER DATA</a:t>
            </a:r>
            <a:endParaRPr lang="en-US" sz="1800" dirty="0"/>
          </a:p>
        </p:txBody>
      </p:sp>
      <p:sp>
        <p:nvSpPr>
          <p:cNvPr id="30" name="Text 28"/>
          <p:cNvSpPr/>
          <p:nvPr/>
        </p:nvSpPr>
        <p:spPr>
          <a:xfrm>
            <a:off x="1238250" y="4653915"/>
            <a:ext cx="7632763" cy="42672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E8935A"/>
                </a:solidFill>
                <a:latin typeface="Courier New" pitchFamily="34" charset="0"/>
                <a:ea typeface="Courier New" pitchFamily="34" charset="-122"/>
                <a:cs typeface="Courier New" pitchFamily="34" charset="-120"/>
              </a:rPr>
              <a:t>SKA </a:t>
            </a:r>
            <a:pPr algn="l" indent="0" marL="0">
              <a:lnSpc>
                <a:spcPct val="150000"/>
              </a:lnSpc>
              <a:buNone/>
            </a:pPr>
            <a:r>
              <a:rPr lang="en-US" sz="1800" dirty="0">
                <a:solidFill>
                  <a:srgbClr val="E6DEC9"/>
                </a:solidFill>
                <a:latin typeface="Courier New" pitchFamily="34" charset="0"/>
                <a:ea typeface="Courier New" pitchFamily="34" charset="-122"/>
                <a:cs typeface="Courier New" pitchFamily="34" charset="-120"/>
              </a:rPr>
              <a:t>SKIP NEXT IF DEVICE READY</a:t>
            </a:r>
            <a:endParaRPr lang="en-US" sz="1800" dirty="0"/>
          </a:p>
        </p:txBody>
      </p:sp>
      <p:sp>
        <p:nvSpPr>
          <p:cNvPr id="31" name="Text 29"/>
          <p:cNvSpPr/>
          <p:nvPr/>
        </p:nvSpPr>
        <p:spPr>
          <a:xfrm>
            <a:off x="1238250" y="5042535"/>
            <a:ext cx="7632763" cy="42672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E8935A"/>
                </a:solidFill>
                <a:latin typeface="Courier New" pitchFamily="34" charset="0"/>
                <a:ea typeface="Courier New" pitchFamily="34" charset="-122"/>
                <a:cs typeface="Courier New" pitchFamily="34" charset="-120"/>
              </a:rPr>
              <a:t>PIN </a:t>
            </a:r>
            <a:pPr algn="l" indent="0" marL="0">
              <a:lnSpc>
                <a:spcPct val="150000"/>
              </a:lnSpc>
              <a:buNone/>
            </a:pPr>
            <a:r>
              <a:rPr lang="en-US" sz="1800" dirty="0">
                <a:solidFill>
                  <a:srgbClr val="E6DEC9"/>
                </a:solidFill>
                <a:latin typeface="Courier New" pitchFamily="34" charset="0"/>
                <a:ea typeface="Courier New" pitchFamily="34" charset="-122"/>
                <a:cs typeface="Courier New" pitchFamily="34" charset="-120"/>
              </a:rPr>
              <a:t>PERMIT (ENABLE) INTERRUPT</a:t>
            </a:r>
            <a:endParaRPr lang="en-US" sz="1800" dirty="0"/>
          </a:p>
        </p:txBody>
      </p:sp>
      <p:sp>
        <p:nvSpPr>
          <p:cNvPr id="32" name="Text 30"/>
          <p:cNvSpPr/>
          <p:nvPr/>
        </p:nvSpPr>
        <p:spPr>
          <a:xfrm>
            <a:off x="1238250" y="5431155"/>
            <a:ext cx="7632763" cy="42672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E8935A"/>
                </a:solidFill>
                <a:latin typeface="Courier New" pitchFamily="34" charset="0"/>
                <a:ea typeface="Courier New" pitchFamily="34" charset="-122"/>
                <a:cs typeface="Courier New" pitchFamily="34" charset="-120"/>
              </a:rPr>
              <a:t>SNI </a:t>
            </a:r>
            <a:pPr algn="l" indent="0" marL="0">
              <a:lnSpc>
                <a:spcPct val="150000"/>
              </a:lnSpc>
              <a:buNone/>
            </a:pPr>
            <a:r>
              <a:rPr lang="en-US" sz="1800" dirty="0">
                <a:solidFill>
                  <a:srgbClr val="E6DEC9"/>
                </a:solidFill>
                <a:latin typeface="Courier New" pitchFamily="34" charset="0"/>
                <a:ea typeface="Courier New" pitchFamily="34" charset="-122"/>
                <a:cs typeface="Courier New" pitchFamily="34" charset="-120"/>
              </a:rPr>
              <a:t>SKIP IF NO INTERRUPT (SCAN)</a:t>
            </a:r>
            <a:endParaRPr lang="en-US" sz="1800" dirty="0"/>
          </a:p>
        </p:txBody>
      </p:sp>
      <p:sp>
        <p:nvSpPr>
          <p:cNvPr id="33" name="Text 31"/>
          <p:cNvSpPr/>
          <p:nvPr/>
        </p:nvSpPr>
        <p:spPr>
          <a:xfrm>
            <a:off x="1238250" y="5915025"/>
            <a:ext cx="7632763" cy="42672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8F8570"/>
                </a:solidFill>
                <a:latin typeface="Courier New" pitchFamily="34" charset="0"/>
                <a:ea typeface="Courier New" pitchFamily="34" charset="-122"/>
                <a:cs typeface="Courier New" pitchFamily="34" charset="-120"/>
              </a:rPr>
              <a:t>IOT ACT REA % READ TAPE CHAR → A</a:t>
            </a:r>
            <a:endParaRPr lang="en-US" sz="1800" dirty="0"/>
          </a:p>
        </p:txBody>
      </p:sp>
      <p:sp>
        <p:nvSpPr>
          <p:cNvPr id="34" name="Text 32"/>
          <p:cNvSpPr/>
          <p:nvPr/>
        </p:nvSpPr>
        <p:spPr>
          <a:xfrm>
            <a:off x="1238250" y="6303645"/>
            <a:ext cx="7632763" cy="42672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8F8570"/>
                </a:solidFill>
                <a:latin typeface="Courier New" pitchFamily="34" charset="0"/>
                <a:ea typeface="Courier New" pitchFamily="34" charset="-122"/>
                <a:cs typeface="Courier New" pitchFamily="34" charset="-120"/>
              </a:rPr>
              <a:t>IOT PIN ACT DFP % PUNCH A + INT</a:t>
            </a:r>
            <a:endParaRPr lang="en-US" sz="1800" dirty="0"/>
          </a:p>
        </p:txBody>
      </p:sp>
      <p:sp>
        <p:nvSpPr>
          <p:cNvPr id="35" name="Text 33"/>
          <p:cNvSpPr/>
          <p:nvPr/>
        </p:nvSpPr>
        <p:spPr>
          <a:xfrm>
            <a:off x="9353550" y="2497455"/>
            <a:ext cx="8780145" cy="327660"/>
          </a:xfrm>
          <a:prstGeom prst="rect">
            <a:avLst/>
          </a:prstGeom>
          <a:noFill/>
          <a:ln/>
        </p:spPr>
        <p:txBody>
          <a:bodyPr wrap="square" lIns="25400" tIns="25400" rIns="25400" bIns="25400" rtlCol="0" anchor="t">
            <a:normAutofit/>
          </a:bodyPr>
          <a:lstStyle/>
          <a:p>
            <a:pPr algn="l" indent="0" marL="0">
              <a:buNone/>
            </a:pPr>
            <a:r>
              <a:rPr lang="en-US" sz="2025" b="1" dirty="0">
                <a:solidFill>
                  <a:srgbClr val="A03E14"/>
                </a:solidFill>
                <a:latin typeface="Courier New" pitchFamily="34" charset="0"/>
                <a:ea typeface="Courier New" pitchFamily="34" charset="-122"/>
                <a:cs typeface="Courier New" pitchFamily="34" charset="-120"/>
              </a:rPr>
              <a:t>"N10 — NORD-10 · IOX / IOXT</a:t>
            </a:r>
            <a:endParaRPr lang="en-US" sz="2025" dirty="0"/>
          </a:p>
        </p:txBody>
      </p:sp>
      <p:sp>
        <p:nvSpPr>
          <p:cNvPr id="36" name="Shape 34"/>
          <p:cNvSpPr/>
          <p:nvPr/>
        </p:nvSpPr>
        <p:spPr>
          <a:xfrm>
            <a:off x="9353550" y="2958465"/>
            <a:ext cx="2204561" cy="853440"/>
          </a:xfrm>
          <a:prstGeom prst="rect">
            <a:avLst/>
          </a:prstGeom>
          <a:solidFill>
            <a:srgbClr val="D8CFB6"/>
          </a:solidFill>
          <a:ln w="15240">
            <a:solidFill>
              <a:srgbClr val="C8501E"/>
            </a:solidFill>
            <a:prstDash val="solid"/>
          </a:ln>
        </p:spPr>
      </p:sp>
      <p:sp>
        <p:nvSpPr>
          <p:cNvPr id="37" name="Text 35"/>
          <p:cNvSpPr/>
          <p:nvPr/>
        </p:nvSpPr>
        <p:spPr>
          <a:xfrm>
            <a:off x="9368790" y="3088005"/>
            <a:ext cx="2174081" cy="632460"/>
          </a:xfrm>
          <a:prstGeom prst="rect">
            <a:avLst/>
          </a:prstGeom>
          <a:noFill/>
          <a:ln/>
        </p:spPr>
        <p:txBody>
          <a:bodyPr wrap="square" lIns="25400" tIns="25400" rIns="25400" bIns="25400" rtlCol="0" anchor="t">
            <a:normAutofit/>
          </a:bodyPr>
          <a:lstStyle/>
          <a:p>
            <a:pPr algn="ctr" indent="0" marL="0">
              <a:buNone/>
            </a:pPr>
            <a:r>
              <a:rPr lang="en-US" sz="1800" dirty="0">
                <a:solidFill>
                  <a:srgbClr val="211C14"/>
                </a:solidFill>
                <a:highlight>
                  <a:srgbClr val="D8CFB6"/>
                </a:highlight>
                <a:latin typeface="Courier New" pitchFamily="34" charset="0"/>
                <a:ea typeface="Courier New" pitchFamily="34" charset="-122"/>
                <a:cs typeface="Courier New" pitchFamily="34" charset="-120"/>
              </a:rPr>
              <a:t>15–11 OPCODE</a:t>
            </a:r>
            <a:endParaRPr lang="en-US" sz="1800" dirty="0"/>
          </a:p>
        </p:txBody>
      </p:sp>
      <p:sp>
        <p:nvSpPr>
          <p:cNvPr id="38" name="Shape 36"/>
          <p:cNvSpPr/>
          <p:nvPr/>
        </p:nvSpPr>
        <p:spPr>
          <a:xfrm>
            <a:off x="11558112" y="2958465"/>
            <a:ext cx="4287322" cy="853440"/>
          </a:xfrm>
          <a:prstGeom prst="rect">
            <a:avLst/>
          </a:prstGeom>
          <a:solidFill>
            <a:srgbClr val="F7E3D4"/>
          </a:solidFill>
          <a:ln/>
        </p:spPr>
      </p:sp>
      <p:sp>
        <p:nvSpPr>
          <p:cNvPr id="39" name="Shape 37"/>
          <p:cNvSpPr/>
          <p:nvPr/>
        </p:nvSpPr>
        <p:spPr>
          <a:xfrm>
            <a:off x="11558112" y="3796665"/>
            <a:ext cx="4287322" cy="15240"/>
          </a:xfrm>
          <a:prstGeom prst="rect">
            <a:avLst/>
          </a:prstGeom>
          <a:solidFill>
            <a:srgbClr val="C8501E"/>
          </a:solidFill>
          <a:ln/>
        </p:spPr>
      </p:sp>
      <p:sp>
        <p:nvSpPr>
          <p:cNvPr id="40" name="Shape 38"/>
          <p:cNvSpPr/>
          <p:nvPr/>
        </p:nvSpPr>
        <p:spPr>
          <a:xfrm>
            <a:off x="11558112" y="2958465"/>
            <a:ext cx="4287322" cy="15240"/>
          </a:xfrm>
          <a:prstGeom prst="rect">
            <a:avLst/>
          </a:prstGeom>
          <a:solidFill>
            <a:srgbClr val="C8501E"/>
          </a:solidFill>
          <a:ln/>
        </p:spPr>
      </p:sp>
      <p:sp>
        <p:nvSpPr>
          <p:cNvPr id="41" name="Shape 39"/>
          <p:cNvSpPr/>
          <p:nvPr/>
        </p:nvSpPr>
        <p:spPr>
          <a:xfrm>
            <a:off x="15830194" y="2958465"/>
            <a:ext cx="15240" cy="853440"/>
          </a:xfrm>
          <a:prstGeom prst="rect">
            <a:avLst/>
          </a:prstGeom>
          <a:solidFill>
            <a:srgbClr val="C8501E"/>
          </a:solidFill>
          <a:ln/>
        </p:spPr>
      </p:sp>
      <p:sp>
        <p:nvSpPr>
          <p:cNvPr id="42" name="Text 40"/>
          <p:cNvSpPr/>
          <p:nvPr/>
        </p:nvSpPr>
        <p:spPr>
          <a:xfrm>
            <a:off x="11531902" y="3088005"/>
            <a:ext cx="4324501" cy="632460"/>
          </a:xfrm>
          <a:prstGeom prst="rect">
            <a:avLst/>
          </a:prstGeom>
          <a:noFill/>
          <a:ln/>
        </p:spPr>
        <p:txBody>
          <a:bodyPr wrap="square" lIns="25400" tIns="25400" rIns="25400" bIns="25400" rtlCol="0" anchor="t">
            <a:normAutofit/>
          </a:bodyPr>
          <a:lstStyle/>
          <a:p>
            <a:pPr algn="ctr" indent="0" marL="0">
              <a:buNone/>
            </a:pPr>
            <a:r>
              <a:rPr lang="en-US" sz="1800" dirty="0">
                <a:solidFill>
                  <a:srgbClr val="A03E14"/>
                </a:solidFill>
                <a:latin typeface="Courier New" pitchFamily="34" charset="0"/>
                <a:ea typeface="Courier New" pitchFamily="34" charset="-122"/>
                <a:cs typeface="Courier New" pitchFamily="34" charset="-120"/>
              </a:rPr>
              <a:t>10–1 · DEVICE REG. ADDRESS</a:t>
            </a:r>
            <a:endParaRPr lang="en-US" sz="1800" dirty="0"/>
          </a:p>
        </p:txBody>
      </p:sp>
      <p:sp>
        <p:nvSpPr>
          <p:cNvPr id="43" name="Shape 41"/>
          <p:cNvSpPr/>
          <p:nvPr/>
        </p:nvSpPr>
        <p:spPr>
          <a:xfrm>
            <a:off x="15845433" y="2958465"/>
            <a:ext cx="1490067" cy="853440"/>
          </a:xfrm>
          <a:prstGeom prst="rect">
            <a:avLst/>
          </a:prstGeom>
          <a:solidFill>
            <a:srgbClr val="E9E2CF"/>
          </a:solidFill>
          <a:ln/>
        </p:spPr>
      </p:sp>
      <p:sp>
        <p:nvSpPr>
          <p:cNvPr id="44" name="Shape 42"/>
          <p:cNvSpPr/>
          <p:nvPr/>
        </p:nvSpPr>
        <p:spPr>
          <a:xfrm>
            <a:off x="15845433" y="3796665"/>
            <a:ext cx="1490067" cy="15240"/>
          </a:xfrm>
          <a:prstGeom prst="rect">
            <a:avLst/>
          </a:prstGeom>
          <a:solidFill>
            <a:srgbClr val="C8501E"/>
          </a:solidFill>
          <a:ln/>
        </p:spPr>
      </p:sp>
      <p:sp>
        <p:nvSpPr>
          <p:cNvPr id="45" name="Shape 43"/>
          <p:cNvSpPr/>
          <p:nvPr/>
        </p:nvSpPr>
        <p:spPr>
          <a:xfrm>
            <a:off x="15845433" y="2958465"/>
            <a:ext cx="1490067" cy="15240"/>
          </a:xfrm>
          <a:prstGeom prst="rect">
            <a:avLst/>
          </a:prstGeom>
          <a:solidFill>
            <a:srgbClr val="C8501E"/>
          </a:solidFill>
          <a:ln/>
        </p:spPr>
      </p:sp>
      <p:sp>
        <p:nvSpPr>
          <p:cNvPr id="46" name="Shape 44"/>
          <p:cNvSpPr/>
          <p:nvPr/>
        </p:nvSpPr>
        <p:spPr>
          <a:xfrm>
            <a:off x="17320260" y="2958465"/>
            <a:ext cx="15240" cy="853440"/>
          </a:xfrm>
          <a:prstGeom prst="rect">
            <a:avLst/>
          </a:prstGeom>
          <a:solidFill>
            <a:srgbClr val="C8501E"/>
          </a:solidFill>
          <a:ln/>
        </p:spPr>
      </p:sp>
      <p:sp>
        <p:nvSpPr>
          <p:cNvPr id="47" name="Text 45"/>
          <p:cNvSpPr/>
          <p:nvPr/>
        </p:nvSpPr>
        <p:spPr>
          <a:xfrm>
            <a:off x="15845433" y="3088005"/>
            <a:ext cx="1474827" cy="632460"/>
          </a:xfrm>
          <a:prstGeom prst="rect">
            <a:avLst/>
          </a:prstGeom>
          <a:noFill/>
          <a:ln/>
        </p:spPr>
        <p:txBody>
          <a:bodyPr wrap="square" lIns="25400" tIns="25400" rIns="25400" bIns="25400" rtlCol="0" anchor="t">
            <a:normAutofit/>
          </a:bodyPr>
          <a:lstStyle/>
          <a:p>
            <a:pPr algn="ctr" indent="0" marL="0">
              <a:buNone/>
            </a:pPr>
            <a:r>
              <a:rPr lang="en-US" sz="1800" dirty="0">
                <a:solidFill>
                  <a:srgbClr val="211C14"/>
                </a:solidFill>
                <a:highlight>
                  <a:srgbClr val="E9E2CF"/>
                </a:highlight>
                <a:latin typeface="Courier New" pitchFamily="34" charset="0"/>
                <a:ea typeface="Courier New" pitchFamily="34" charset="-122"/>
                <a:cs typeface="Courier New" pitchFamily="34" charset="-120"/>
              </a:rPr>
              <a:t>0 · R/W EVEN/ODD</a:t>
            </a:r>
            <a:endParaRPr lang="en-US" sz="1800" dirty="0"/>
          </a:p>
        </p:txBody>
      </p:sp>
      <p:sp>
        <p:nvSpPr>
          <p:cNvPr id="48" name="Shape 46"/>
          <p:cNvSpPr/>
          <p:nvPr/>
        </p:nvSpPr>
        <p:spPr>
          <a:xfrm>
            <a:off x="9353550" y="3983355"/>
            <a:ext cx="7981950" cy="3368040"/>
          </a:xfrm>
          <a:prstGeom prst="rect">
            <a:avLst/>
          </a:prstGeom>
          <a:solidFill>
            <a:srgbClr val="2A2620"/>
          </a:solidFill>
          <a:ln/>
        </p:spPr>
      </p:sp>
      <p:sp>
        <p:nvSpPr>
          <p:cNvPr id="49" name="Shape 47"/>
          <p:cNvSpPr/>
          <p:nvPr/>
        </p:nvSpPr>
        <p:spPr>
          <a:xfrm>
            <a:off x="9353550" y="3983355"/>
            <a:ext cx="53340" cy="3368040"/>
          </a:xfrm>
          <a:prstGeom prst="rect">
            <a:avLst/>
          </a:prstGeom>
          <a:solidFill>
            <a:srgbClr val="C8501E"/>
          </a:solidFill>
          <a:ln/>
        </p:spPr>
      </p:sp>
      <p:sp>
        <p:nvSpPr>
          <p:cNvPr id="50" name="Text 48"/>
          <p:cNvSpPr/>
          <p:nvPr/>
        </p:nvSpPr>
        <p:spPr>
          <a:xfrm>
            <a:off x="9692640" y="4211955"/>
            <a:ext cx="7577824" cy="42672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E6DEC9"/>
                </a:solidFill>
                <a:latin typeface="Courier New" pitchFamily="34" charset="0"/>
                <a:ea typeface="Courier New" pitchFamily="34" charset="-122"/>
                <a:cs typeface="Courier New" pitchFamily="34" charset="-120"/>
              </a:rPr>
              <a:t>EVEN ADDR → DEVICE READS INTO A</a:t>
            </a:r>
            <a:endParaRPr lang="en-US" sz="1800" dirty="0"/>
          </a:p>
        </p:txBody>
      </p:sp>
      <p:sp>
        <p:nvSpPr>
          <p:cNvPr id="51" name="Text 49"/>
          <p:cNvSpPr/>
          <p:nvPr/>
        </p:nvSpPr>
        <p:spPr>
          <a:xfrm>
            <a:off x="9692640" y="4600575"/>
            <a:ext cx="7577824" cy="42672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E6DEC9"/>
                </a:solidFill>
                <a:latin typeface="Courier New" pitchFamily="34" charset="0"/>
                <a:ea typeface="Courier New" pitchFamily="34" charset="-122"/>
                <a:cs typeface="Courier New" pitchFamily="34" charset="-120"/>
              </a:rPr>
              <a:t>ODD ADDR → A WRITTEN TO DEVICE</a:t>
            </a:r>
            <a:endParaRPr lang="en-US" sz="1800" dirty="0"/>
          </a:p>
        </p:txBody>
      </p:sp>
      <p:sp>
        <p:nvSpPr>
          <p:cNvPr id="52" name="Text 50"/>
          <p:cNvSpPr/>
          <p:nvPr/>
        </p:nvSpPr>
        <p:spPr>
          <a:xfrm>
            <a:off x="9692640" y="5084445"/>
            <a:ext cx="7577824" cy="42672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8F8570"/>
                </a:solidFill>
                <a:latin typeface="Courier New" pitchFamily="34" charset="0"/>
                <a:ea typeface="Courier New" pitchFamily="34" charset="-122"/>
                <a:cs typeface="Courier New" pitchFamily="34" charset="-120"/>
              </a:rPr>
              <a:t>IOX REA RDR % 400 → READ CHAR</a:t>
            </a:r>
            <a:endParaRPr lang="en-US" sz="1800" dirty="0"/>
          </a:p>
        </p:txBody>
      </p:sp>
      <p:sp>
        <p:nvSpPr>
          <p:cNvPr id="53" name="Text 51"/>
          <p:cNvSpPr/>
          <p:nvPr/>
        </p:nvSpPr>
        <p:spPr>
          <a:xfrm>
            <a:off x="9692640" y="5473065"/>
            <a:ext cx="7577824" cy="42672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8F8570"/>
                </a:solidFill>
                <a:latin typeface="Courier New" pitchFamily="34" charset="0"/>
                <a:ea typeface="Courier New" pitchFamily="34" charset="-122"/>
                <a:cs typeface="Courier New" pitchFamily="34" charset="-120"/>
              </a:rPr>
              <a:t>SAA 5; IOX DCR WCR % 423 ← CONTROL</a:t>
            </a:r>
            <a:endParaRPr lang="en-US" sz="1800" dirty="0"/>
          </a:p>
        </p:txBody>
      </p:sp>
      <p:sp>
        <p:nvSpPr>
          <p:cNvPr id="54" name="Text 52"/>
          <p:cNvSpPr/>
          <p:nvPr/>
        </p:nvSpPr>
        <p:spPr>
          <a:xfrm>
            <a:off x="9692640" y="5861685"/>
            <a:ext cx="7577824" cy="42672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8F8570"/>
                </a:solidFill>
                <a:latin typeface="Courier New" pitchFamily="34" charset="0"/>
                <a:ea typeface="Courier New" pitchFamily="34" charset="-122"/>
                <a:cs typeface="Courier New" pitchFamily="34" charset="-120"/>
              </a:rPr>
              <a:t>IDENT PL12 % WHO INTERRUPTED?</a:t>
            </a:r>
            <a:endParaRPr lang="en-US" sz="1800" dirty="0"/>
          </a:p>
        </p:txBody>
      </p:sp>
      <p:sp>
        <p:nvSpPr>
          <p:cNvPr id="55" name="Text 53"/>
          <p:cNvSpPr/>
          <p:nvPr/>
        </p:nvSpPr>
        <p:spPr>
          <a:xfrm>
            <a:off x="9692640" y="6345555"/>
            <a:ext cx="7577824" cy="42672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E8935A"/>
                </a:solidFill>
                <a:latin typeface="Courier New" pitchFamily="34" charset="0"/>
                <a:ea typeface="Courier New" pitchFamily="34" charset="-122"/>
                <a:cs typeface="Courier New" pitchFamily="34" charset="-120"/>
              </a:rPr>
              <a:t>IOXT</a:t>
            </a:r>
            <a:pPr algn="l" indent="0" marL="0">
              <a:lnSpc>
                <a:spcPct val="150000"/>
              </a:lnSpc>
              <a:buNone/>
            </a:pPr>
            <a:r>
              <a:rPr lang="en-US" sz="1800" dirty="0">
                <a:solidFill>
                  <a:srgbClr val="E6DEC9"/>
                </a:solidFill>
                <a:latin typeface="Courier New" pitchFamily="34" charset="0"/>
                <a:ea typeface="Courier New" pitchFamily="34" charset="-122"/>
                <a:cs typeface="Courier New" pitchFamily="34" charset="-120"/>
              </a:rPr>
              <a:t>: REG. ADDRESS TAKEN FROM T</a:t>
            </a:r>
            <a:endParaRPr lang="en-US" sz="1800" dirty="0"/>
          </a:p>
        </p:txBody>
      </p:sp>
      <p:sp>
        <p:nvSpPr>
          <p:cNvPr id="56" name="Text 54"/>
          <p:cNvSpPr/>
          <p:nvPr/>
        </p:nvSpPr>
        <p:spPr>
          <a:xfrm>
            <a:off x="9692640" y="6734175"/>
            <a:ext cx="7577824" cy="42672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E6DEC9"/>
                </a:solidFill>
                <a:latin typeface="Courier New" pitchFamily="34" charset="0"/>
                <a:ea typeface="Courier New" pitchFamily="34" charset="-122"/>
                <a:cs typeface="Courier New" pitchFamily="34" charset="-120"/>
              </a:rPr>
              <a:t>→ FULL 0–177777₈ ADDRESS RANGE</a:t>
            </a:r>
            <a:endParaRPr lang="en-US" sz="1800" dirty="0"/>
          </a:p>
        </p:txBody>
      </p:sp>
      <p:sp>
        <p:nvSpPr>
          <p:cNvPr id="57" name="Text 55"/>
          <p:cNvSpPr/>
          <p:nvPr/>
        </p:nvSpPr>
        <p:spPr>
          <a:xfrm>
            <a:off x="952500" y="7637145"/>
            <a:ext cx="16874490" cy="781050"/>
          </a:xfrm>
          <a:prstGeom prst="rect">
            <a:avLst/>
          </a:prstGeom>
          <a:noFill/>
          <a:ln/>
        </p:spPr>
        <p:txBody>
          <a:bodyPr wrap="square" lIns="25400" tIns="25400" rIns="25400" bIns="25400" rtlCol="0" anchor="t">
            <a:normAutofit/>
          </a:bodyPr>
          <a:lstStyle/>
          <a:p>
            <a:pPr algn="l" indent="0" marL="0">
              <a:lnSpc>
                <a:spcPct val="131757"/>
              </a:lnSpc>
              <a:buNone/>
            </a:pPr>
            <a:r>
              <a:rPr lang="en-US" sz="1950" dirty="0">
                <a:solidFill>
                  <a:srgbClr val="6B6252"/>
                </a:solidFill>
                <a:latin typeface="Arial" pitchFamily="34" charset="0"/>
                <a:ea typeface="Arial" pitchFamily="34" charset="-122"/>
                <a:cs typeface="Arial" pitchFamily="34" charset="-120"/>
              </a:rPr>
              <a:t>Every TSS driver is written twice inside </a:t>
            </a:r>
            <a:pPr algn="l" indent="0" marL="0">
              <a:lnSpc>
                <a:spcPct val="131757"/>
              </a:lnSpc>
              <a:buNone/>
            </a:pPr>
            <a:r>
              <a:rPr lang="en-US" sz="1950" dirty="0">
                <a:solidFill>
                  <a:srgbClr val="6B6252"/>
                </a:solidFill>
                <a:latin typeface="Courier New" pitchFamily="34" charset="0"/>
                <a:ea typeface="Courier New" pitchFamily="34" charset="-122"/>
                <a:cs typeface="Courier New" pitchFamily="34" charset="-120"/>
              </a:rPr>
              <a:t>"NN10 </a:t>
            </a:r>
            <a:pPr algn="l" indent="0" marL="0">
              <a:lnSpc>
                <a:spcPct val="131757"/>
              </a:lnSpc>
              <a:buNone/>
            </a:pPr>
            <a:r>
              <a:rPr lang="en-US" sz="1950" dirty="0">
                <a:solidFill>
                  <a:srgbClr val="6B6252"/>
                </a:solidFill>
                <a:latin typeface="Arial" pitchFamily="34" charset="0"/>
                <a:ea typeface="Arial" pitchFamily="34" charset="-122"/>
                <a:cs typeface="Arial" pitchFamily="34" charset="-120"/>
              </a:rPr>
              <a:t>/ </a:t>
            </a:r>
            <a:pPr algn="l" indent="0" marL="0">
              <a:lnSpc>
                <a:spcPct val="131757"/>
              </a:lnSpc>
              <a:buNone/>
            </a:pPr>
            <a:r>
              <a:rPr lang="en-US" sz="1950" dirty="0">
                <a:solidFill>
                  <a:srgbClr val="6B6252"/>
                </a:solidFill>
                <a:latin typeface="Courier New" pitchFamily="34" charset="0"/>
                <a:ea typeface="Courier New" pitchFamily="34" charset="-122"/>
                <a:cs typeface="Courier New" pitchFamily="34" charset="-120"/>
              </a:rPr>
              <a:t>"N10 </a:t>
            </a:r>
            <a:pPr algn="l" indent="0" marL="0">
              <a:lnSpc>
                <a:spcPct val="131757"/>
              </a:lnSpc>
              <a:buNone/>
            </a:pPr>
            <a:r>
              <a:rPr lang="en-US" sz="1950" dirty="0">
                <a:solidFill>
                  <a:srgbClr val="6B6252"/>
                </a:solidFill>
                <a:latin typeface="Arial" pitchFamily="34" charset="0"/>
                <a:ea typeface="Arial" pitchFamily="34" charset="-122"/>
                <a:cs typeface="Arial" pitchFamily="34" charset="-120"/>
              </a:rPr>
              <a:t>conditional blocks — one source, two machines. TSS uses plain IOX throughout; device numbers stay below 2000₈.</a:t>
            </a:r>
            <a:endParaRPr lang="en-US" sz="1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2EDE1"/>
        </a:solidFill>
      </p:bgPr>
    </p:bg>
    <p:spTree>
      <p:nvGrpSpPr>
        <p:cNvPr id="1" name=""/>
        <p:cNvGrpSpPr/>
        <p:nvPr/>
      </p:nvGrpSpPr>
      <p:grpSpPr>
        <a:xfrm>
          <a:off x="0" y="0"/>
          <a:ext cx="0" cy="0"/>
          <a:chOff x="0" y="0"/>
          <a:chExt cx="0" cy="0"/>
        </a:xfrm>
      </p:grpSpPr>
      <p:sp>
        <p:nvSpPr>
          <p:cNvPr id="2" name="Text 0"/>
          <p:cNvSpPr/>
          <p:nvPr/>
        </p:nvSpPr>
        <p:spPr>
          <a:xfrm>
            <a:off x="952500" y="857250"/>
            <a:ext cx="18021300" cy="33528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C8501E"/>
                </a:solidFill>
                <a:latin typeface="Courier New" pitchFamily="34" charset="0"/>
                <a:ea typeface="Courier New" pitchFamily="34" charset="-122"/>
                <a:cs typeface="Courier New" pitchFamily="34" charset="-120"/>
              </a:rPr>
              <a:t>SECTION 03 · DEVICES</a:t>
            </a:r>
            <a:endParaRPr lang="en-US" sz="1800" dirty="0"/>
          </a:p>
        </p:txBody>
      </p:sp>
      <p:sp>
        <p:nvSpPr>
          <p:cNvPr id="3" name="Text 1"/>
          <p:cNvSpPr/>
          <p:nvPr/>
        </p:nvSpPr>
        <p:spPr>
          <a:xfrm>
            <a:off x="952500" y="1306830"/>
            <a:ext cx="18021300" cy="666750"/>
          </a:xfrm>
          <a:prstGeom prst="rect">
            <a:avLst/>
          </a:prstGeom>
          <a:noFill/>
          <a:ln/>
        </p:spPr>
        <p:txBody>
          <a:bodyPr wrap="square" lIns="25400" tIns="25400" rIns="25400" bIns="25400" rtlCol="0" anchor="t">
            <a:normAutofit/>
          </a:bodyPr>
          <a:lstStyle/>
          <a:p>
            <a:pPr algn="l" indent="0" marL="0">
              <a:lnSpc>
                <a:spcPct val="97059"/>
              </a:lnSpc>
              <a:buNone/>
            </a:pPr>
            <a:r>
              <a:rPr lang="en-US" sz="4500" b="1" dirty="0">
                <a:solidFill>
                  <a:srgbClr val="211C14"/>
                </a:solidFill>
                <a:latin typeface="Courier New" pitchFamily="34" charset="0"/>
                <a:ea typeface="Courier New" pitchFamily="34" charset="-122"/>
                <a:cs typeface="Courier New" pitchFamily="34" charset="-120"/>
              </a:rPr>
              <a:t>The Standard Device: 4 Registers </a:t>
            </a:r>
            <a:pPr algn="l" indent="0" marL="0">
              <a:lnSpc>
                <a:spcPct val="97059"/>
              </a:lnSpc>
              <a:buNone/>
            </a:pPr>
            <a:r>
              <a:rPr lang="en-US" sz="2700" dirty="0">
                <a:solidFill>
                  <a:srgbClr val="6B6252"/>
                </a:solidFill>
                <a:latin typeface="Courier New" pitchFamily="34" charset="0"/>
                <a:ea typeface="Courier New" pitchFamily="34" charset="-122"/>
                <a:cs typeface="Courier New" pitchFamily="34" charset="-120"/>
              </a:rPr>
              <a:t>(NORD-10, base + 0…3)</a:t>
            </a:r>
            <a:endParaRPr lang="en-US" sz="4500" dirty="0"/>
          </a:p>
        </p:txBody>
      </p:sp>
      <p:sp>
        <p:nvSpPr>
          <p:cNvPr id="4" name="Shape 2"/>
          <p:cNvSpPr/>
          <p:nvPr/>
        </p:nvSpPr>
        <p:spPr>
          <a:xfrm>
            <a:off x="952500" y="2087880"/>
            <a:ext cx="16383000" cy="28575"/>
          </a:xfrm>
          <a:prstGeom prst="rect">
            <a:avLst/>
          </a:prstGeom>
          <a:solidFill>
            <a:srgbClr val="211C14"/>
          </a:solidFill>
          <a:ln/>
        </p:spPr>
      </p:sp>
      <p:sp>
        <p:nvSpPr>
          <p:cNvPr id="5" name="Shape 3"/>
          <p:cNvSpPr/>
          <p:nvPr/>
        </p:nvSpPr>
        <p:spPr>
          <a:xfrm>
            <a:off x="952500" y="3137535"/>
            <a:ext cx="5334000" cy="9525"/>
          </a:xfrm>
          <a:prstGeom prst="rect">
            <a:avLst/>
          </a:prstGeom>
          <a:solidFill>
            <a:srgbClr val="CEC4AD"/>
          </a:solidFill>
          <a:ln/>
        </p:spPr>
      </p:sp>
      <p:sp>
        <p:nvSpPr>
          <p:cNvPr id="6" name="Text 4"/>
          <p:cNvSpPr/>
          <p:nvPr/>
        </p:nvSpPr>
        <p:spPr>
          <a:xfrm>
            <a:off x="952500" y="2649855"/>
            <a:ext cx="1885950" cy="373380"/>
          </a:xfrm>
          <a:prstGeom prst="rect">
            <a:avLst/>
          </a:prstGeom>
          <a:noFill/>
          <a:ln/>
        </p:spPr>
        <p:txBody>
          <a:bodyPr wrap="square" lIns="25400" tIns="25400" rIns="25400" bIns="25400" rtlCol="0" anchor="t">
            <a:normAutofit/>
          </a:bodyPr>
          <a:lstStyle/>
          <a:p>
            <a:pPr algn="l" indent="0" marL="0">
              <a:buNone/>
            </a:pPr>
            <a:r>
              <a:rPr lang="en-US" sz="2025" b="1" dirty="0">
                <a:solidFill>
                  <a:srgbClr val="211C14"/>
                </a:solidFill>
                <a:latin typeface="Courier New" pitchFamily="34" charset="0"/>
                <a:ea typeface="Courier New" pitchFamily="34" charset="-122"/>
                <a:cs typeface="Courier New" pitchFamily="34" charset="-120"/>
              </a:rPr>
              <a:t>+0 RDR</a:t>
            </a:r>
            <a:endParaRPr lang="en-US" sz="2025" dirty="0"/>
          </a:p>
        </p:txBody>
      </p:sp>
      <p:sp>
        <p:nvSpPr>
          <p:cNvPr id="7" name="Text 5"/>
          <p:cNvSpPr/>
          <p:nvPr/>
        </p:nvSpPr>
        <p:spPr>
          <a:xfrm>
            <a:off x="2876550" y="2649855"/>
            <a:ext cx="1802916" cy="373380"/>
          </a:xfrm>
          <a:prstGeom prst="rect">
            <a:avLst/>
          </a:prstGeom>
          <a:noFill/>
          <a:ln/>
        </p:spPr>
        <p:txBody>
          <a:bodyPr wrap="square" lIns="25400" tIns="25400" rIns="25400" bIns="25400" rtlCol="0" anchor="t">
            <a:normAutofit/>
          </a:bodyPr>
          <a:lstStyle/>
          <a:p>
            <a:pPr algn="l" indent="0" marL="0">
              <a:buNone/>
            </a:pPr>
            <a:r>
              <a:rPr lang="en-US" sz="2025" dirty="0">
                <a:solidFill>
                  <a:srgbClr val="211C14"/>
                </a:solidFill>
                <a:latin typeface="Arial" pitchFamily="34" charset="0"/>
                <a:ea typeface="Arial" pitchFamily="34" charset="-122"/>
                <a:cs typeface="Arial" pitchFamily="34" charset="-120"/>
              </a:rPr>
              <a:t>read data → A</a:t>
            </a:r>
            <a:endParaRPr lang="en-US" sz="2025" dirty="0"/>
          </a:p>
        </p:txBody>
      </p:sp>
      <p:sp>
        <p:nvSpPr>
          <p:cNvPr id="8" name="Shape 6"/>
          <p:cNvSpPr/>
          <p:nvPr/>
        </p:nvSpPr>
        <p:spPr>
          <a:xfrm>
            <a:off x="952500" y="3785235"/>
            <a:ext cx="5334000" cy="9525"/>
          </a:xfrm>
          <a:prstGeom prst="rect">
            <a:avLst/>
          </a:prstGeom>
          <a:solidFill>
            <a:srgbClr val="CEC4AD"/>
          </a:solidFill>
          <a:ln/>
        </p:spPr>
      </p:sp>
      <p:sp>
        <p:nvSpPr>
          <p:cNvPr id="9" name="Text 7"/>
          <p:cNvSpPr/>
          <p:nvPr/>
        </p:nvSpPr>
        <p:spPr>
          <a:xfrm>
            <a:off x="952500" y="3297555"/>
            <a:ext cx="1885950" cy="373380"/>
          </a:xfrm>
          <a:prstGeom prst="rect">
            <a:avLst/>
          </a:prstGeom>
          <a:noFill/>
          <a:ln/>
        </p:spPr>
        <p:txBody>
          <a:bodyPr wrap="square" lIns="25400" tIns="25400" rIns="25400" bIns="25400" rtlCol="0" anchor="t">
            <a:normAutofit/>
          </a:bodyPr>
          <a:lstStyle/>
          <a:p>
            <a:pPr algn="l" indent="0" marL="0">
              <a:buNone/>
            </a:pPr>
            <a:r>
              <a:rPr lang="en-US" sz="2025" b="1" dirty="0">
                <a:solidFill>
                  <a:srgbClr val="211C14"/>
                </a:solidFill>
                <a:latin typeface="Courier New" pitchFamily="34" charset="0"/>
                <a:ea typeface="Courier New" pitchFamily="34" charset="-122"/>
                <a:cs typeface="Courier New" pitchFamily="34" charset="-120"/>
              </a:rPr>
              <a:t>+1 WDR</a:t>
            </a:r>
            <a:endParaRPr lang="en-US" sz="2025" dirty="0"/>
          </a:p>
        </p:txBody>
      </p:sp>
      <p:sp>
        <p:nvSpPr>
          <p:cNvPr id="10" name="Text 8"/>
          <p:cNvSpPr/>
          <p:nvPr/>
        </p:nvSpPr>
        <p:spPr>
          <a:xfrm>
            <a:off x="2876550" y="3297555"/>
            <a:ext cx="1875342" cy="373380"/>
          </a:xfrm>
          <a:prstGeom prst="rect">
            <a:avLst/>
          </a:prstGeom>
          <a:noFill/>
          <a:ln/>
        </p:spPr>
        <p:txBody>
          <a:bodyPr wrap="square" lIns="25400" tIns="25400" rIns="25400" bIns="25400" rtlCol="0" anchor="t">
            <a:normAutofit/>
          </a:bodyPr>
          <a:lstStyle/>
          <a:p>
            <a:pPr algn="l" indent="0" marL="0">
              <a:buNone/>
            </a:pPr>
            <a:r>
              <a:rPr lang="en-US" sz="2025" dirty="0">
                <a:solidFill>
                  <a:srgbClr val="211C14"/>
                </a:solidFill>
                <a:latin typeface="Arial" pitchFamily="34" charset="0"/>
                <a:ea typeface="Arial" pitchFamily="34" charset="-122"/>
                <a:cs typeface="Arial" pitchFamily="34" charset="-120"/>
              </a:rPr>
              <a:t>write data ← A</a:t>
            </a:r>
            <a:endParaRPr lang="en-US" sz="2025" dirty="0"/>
          </a:p>
        </p:txBody>
      </p:sp>
      <p:sp>
        <p:nvSpPr>
          <p:cNvPr id="11" name="Shape 9"/>
          <p:cNvSpPr/>
          <p:nvPr/>
        </p:nvSpPr>
        <p:spPr>
          <a:xfrm>
            <a:off x="952500" y="4432935"/>
            <a:ext cx="5334000" cy="9525"/>
          </a:xfrm>
          <a:prstGeom prst="rect">
            <a:avLst/>
          </a:prstGeom>
          <a:solidFill>
            <a:srgbClr val="CEC4AD"/>
          </a:solidFill>
          <a:ln/>
        </p:spPr>
      </p:sp>
      <p:sp>
        <p:nvSpPr>
          <p:cNvPr id="12" name="Text 10"/>
          <p:cNvSpPr/>
          <p:nvPr/>
        </p:nvSpPr>
        <p:spPr>
          <a:xfrm>
            <a:off x="952500" y="3945255"/>
            <a:ext cx="1885950" cy="373380"/>
          </a:xfrm>
          <a:prstGeom prst="rect">
            <a:avLst/>
          </a:prstGeom>
          <a:noFill/>
          <a:ln/>
        </p:spPr>
        <p:txBody>
          <a:bodyPr wrap="square" lIns="25400" tIns="25400" rIns="25400" bIns="25400" rtlCol="0" anchor="t">
            <a:normAutofit/>
          </a:bodyPr>
          <a:lstStyle/>
          <a:p>
            <a:pPr algn="l" indent="0" marL="0">
              <a:buNone/>
            </a:pPr>
            <a:r>
              <a:rPr lang="en-US" sz="2025" b="1" dirty="0">
                <a:solidFill>
                  <a:srgbClr val="211C14"/>
                </a:solidFill>
                <a:latin typeface="Courier New" pitchFamily="34" charset="0"/>
                <a:ea typeface="Courier New" pitchFamily="34" charset="-122"/>
                <a:cs typeface="Courier New" pitchFamily="34" charset="-120"/>
              </a:rPr>
              <a:t>+2 RSR</a:t>
            </a:r>
            <a:endParaRPr lang="en-US" sz="2025" dirty="0"/>
          </a:p>
        </p:txBody>
      </p:sp>
      <p:sp>
        <p:nvSpPr>
          <p:cNvPr id="13" name="Text 11"/>
          <p:cNvSpPr/>
          <p:nvPr/>
        </p:nvSpPr>
        <p:spPr>
          <a:xfrm>
            <a:off x="2876550" y="3945255"/>
            <a:ext cx="2021372" cy="373380"/>
          </a:xfrm>
          <a:prstGeom prst="rect">
            <a:avLst/>
          </a:prstGeom>
          <a:noFill/>
          <a:ln/>
        </p:spPr>
        <p:txBody>
          <a:bodyPr wrap="square" lIns="25400" tIns="25400" rIns="25400" bIns="25400" rtlCol="0" anchor="t">
            <a:normAutofit/>
          </a:bodyPr>
          <a:lstStyle/>
          <a:p>
            <a:pPr algn="l" indent="0" marL="0">
              <a:buNone/>
            </a:pPr>
            <a:r>
              <a:rPr lang="en-US" sz="2025" dirty="0">
                <a:solidFill>
                  <a:srgbClr val="211C14"/>
                </a:solidFill>
                <a:latin typeface="Arial" pitchFamily="34" charset="0"/>
                <a:ea typeface="Arial" pitchFamily="34" charset="-122"/>
                <a:cs typeface="Arial" pitchFamily="34" charset="-120"/>
              </a:rPr>
              <a:t>read status → A</a:t>
            </a:r>
            <a:endParaRPr lang="en-US" sz="2025" dirty="0"/>
          </a:p>
        </p:txBody>
      </p:sp>
      <p:sp>
        <p:nvSpPr>
          <p:cNvPr id="14" name="Shape 12"/>
          <p:cNvSpPr/>
          <p:nvPr/>
        </p:nvSpPr>
        <p:spPr>
          <a:xfrm>
            <a:off x="952500" y="5080635"/>
            <a:ext cx="5334000" cy="22860"/>
          </a:xfrm>
          <a:prstGeom prst="rect">
            <a:avLst/>
          </a:prstGeom>
          <a:solidFill>
            <a:srgbClr val="211C14"/>
          </a:solidFill>
          <a:ln/>
        </p:spPr>
      </p:sp>
      <p:sp>
        <p:nvSpPr>
          <p:cNvPr id="15" name="Text 13"/>
          <p:cNvSpPr/>
          <p:nvPr/>
        </p:nvSpPr>
        <p:spPr>
          <a:xfrm>
            <a:off x="952500" y="4592955"/>
            <a:ext cx="1885950" cy="373380"/>
          </a:xfrm>
          <a:prstGeom prst="rect">
            <a:avLst/>
          </a:prstGeom>
          <a:noFill/>
          <a:ln/>
        </p:spPr>
        <p:txBody>
          <a:bodyPr wrap="square" lIns="25400" tIns="25400" rIns="25400" bIns="25400" rtlCol="0" anchor="t">
            <a:normAutofit/>
          </a:bodyPr>
          <a:lstStyle/>
          <a:p>
            <a:pPr algn="l" indent="0" marL="0">
              <a:buNone/>
            </a:pPr>
            <a:r>
              <a:rPr lang="en-US" sz="2025" b="1" dirty="0">
                <a:solidFill>
                  <a:srgbClr val="211C14"/>
                </a:solidFill>
                <a:latin typeface="Courier New" pitchFamily="34" charset="0"/>
                <a:ea typeface="Courier New" pitchFamily="34" charset="-122"/>
                <a:cs typeface="Courier New" pitchFamily="34" charset="-120"/>
              </a:rPr>
              <a:t>+3 WCR</a:t>
            </a:r>
            <a:endParaRPr lang="en-US" sz="2025" dirty="0"/>
          </a:p>
        </p:txBody>
      </p:sp>
      <p:sp>
        <p:nvSpPr>
          <p:cNvPr id="16" name="Text 14"/>
          <p:cNvSpPr/>
          <p:nvPr/>
        </p:nvSpPr>
        <p:spPr>
          <a:xfrm>
            <a:off x="2876550" y="4592955"/>
            <a:ext cx="2206562" cy="373380"/>
          </a:xfrm>
          <a:prstGeom prst="rect">
            <a:avLst/>
          </a:prstGeom>
          <a:noFill/>
          <a:ln/>
        </p:spPr>
        <p:txBody>
          <a:bodyPr wrap="square" lIns="25400" tIns="25400" rIns="25400" bIns="25400" rtlCol="0" anchor="t">
            <a:normAutofit/>
          </a:bodyPr>
          <a:lstStyle/>
          <a:p>
            <a:pPr algn="l" indent="0" marL="0">
              <a:buNone/>
            </a:pPr>
            <a:r>
              <a:rPr lang="en-US" sz="2025" dirty="0">
                <a:solidFill>
                  <a:srgbClr val="211C14"/>
                </a:solidFill>
                <a:latin typeface="Arial" pitchFamily="34" charset="0"/>
                <a:ea typeface="Arial" pitchFamily="34" charset="-122"/>
                <a:cs typeface="Arial" pitchFamily="34" charset="-120"/>
              </a:rPr>
              <a:t>write control ← A</a:t>
            </a:r>
            <a:endParaRPr lang="en-US" sz="2025" dirty="0"/>
          </a:p>
        </p:txBody>
      </p:sp>
      <p:sp>
        <p:nvSpPr>
          <p:cNvPr id="17" name="Shape 15"/>
          <p:cNvSpPr/>
          <p:nvPr/>
        </p:nvSpPr>
        <p:spPr>
          <a:xfrm>
            <a:off x="952500" y="5351145"/>
            <a:ext cx="5334000" cy="2788920"/>
          </a:xfrm>
          <a:prstGeom prst="rect">
            <a:avLst/>
          </a:prstGeom>
          <a:solidFill>
            <a:srgbClr val="2A2620"/>
          </a:solidFill>
          <a:ln/>
        </p:spPr>
      </p:sp>
      <p:sp>
        <p:nvSpPr>
          <p:cNvPr id="18" name="Text 16"/>
          <p:cNvSpPr/>
          <p:nvPr/>
        </p:nvSpPr>
        <p:spPr>
          <a:xfrm>
            <a:off x="1238250" y="5579745"/>
            <a:ext cx="4905375" cy="42672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E8935A"/>
                </a:solidFill>
                <a:latin typeface="Courier New" pitchFamily="34" charset="0"/>
                <a:ea typeface="Courier New" pitchFamily="34" charset="-122"/>
                <a:cs typeface="Courier New" pitchFamily="34" charset="-120"/>
              </a:rPr>
              <a:t>% CONTROL VALUES IN TSS</a:t>
            </a:r>
            <a:endParaRPr lang="en-US" sz="1800" dirty="0"/>
          </a:p>
        </p:txBody>
      </p:sp>
      <p:sp>
        <p:nvSpPr>
          <p:cNvPr id="19" name="Text 17"/>
          <p:cNvSpPr/>
          <p:nvPr/>
        </p:nvSpPr>
        <p:spPr>
          <a:xfrm>
            <a:off x="1238250" y="5968365"/>
            <a:ext cx="4905375" cy="42672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E6DEC9"/>
                </a:solidFill>
                <a:latin typeface="Courier New" pitchFamily="34" charset="0"/>
                <a:ea typeface="Courier New" pitchFamily="34" charset="-122"/>
                <a:cs typeface="Courier New" pitchFamily="34" charset="-120"/>
              </a:rPr>
              <a:t>5 = INT + ACTIVATE (TTY,TAPE,LP)</a:t>
            </a:r>
            <a:endParaRPr lang="en-US" sz="1800" dirty="0"/>
          </a:p>
        </p:txBody>
      </p:sp>
      <p:sp>
        <p:nvSpPr>
          <p:cNvPr id="20" name="Text 18"/>
          <p:cNvSpPr/>
          <p:nvPr/>
        </p:nvSpPr>
        <p:spPr>
          <a:xfrm>
            <a:off x="1238250" y="6356985"/>
            <a:ext cx="4905375" cy="42672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E6DEC9"/>
                </a:solidFill>
                <a:latin typeface="Courier New" pitchFamily="34" charset="0"/>
                <a:ea typeface="Courier New" pitchFamily="34" charset="-122"/>
                <a:cs typeface="Courier New" pitchFamily="34" charset="-120"/>
              </a:rPr>
              <a:t>7 = INT + ERR-INT + ACT (CARDS)</a:t>
            </a:r>
            <a:endParaRPr lang="en-US" sz="1800" dirty="0"/>
          </a:p>
        </p:txBody>
      </p:sp>
      <p:sp>
        <p:nvSpPr>
          <p:cNvPr id="21" name="Text 19"/>
          <p:cNvSpPr/>
          <p:nvPr/>
        </p:nvSpPr>
        <p:spPr>
          <a:xfrm>
            <a:off x="1238250" y="6745605"/>
            <a:ext cx="4905375" cy="42672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E6DEC9"/>
                </a:solidFill>
                <a:latin typeface="Courier New" pitchFamily="34" charset="0"/>
                <a:ea typeface="Courier New" pitchFamily="34" charset="-122"/>
                <a:cs typeface="Courier New" pitchFamily="34" charset="-120"/>
              </a:rPr>
              <a:t>3 = INTS ONLY, NO ACTIVATE</a:t>
            </a:r>
            <a:endParaRPr lang="en-US" sz="1800" dirty="0"/>
          </a:p>
        </p:txBody>
      </p:sp>
      <p:sp>
        <p:nvSpPr>
          <p:cNvPr id="22" name="Text 20"/>
          <p:cNvSpPr/>
          <p:nvPr/>
        </p:nvSpPr>
        <p:spPr>
          <a:xfrm>
            <a:off x="1238250" y="7134225"/>
            <a:ext cx="4905375" cy="42672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E6DEC9"/>
                </a:solidFill>
                <a:latin typeface="Courier New" pitchFamily="34" charset="0"/>
                <a:ea typeface="Courier New" pitchFamily="34" charset="-122"/>
                <a:cs typeface="Courier New" pitchFamily="34" charset="-120"/>
              </a:rPr>
              <a:t>20 = DEVICE CLEAR (ERROR RECOVERY)</a:t>
            </a:r>
            <a:endParaRPr lang="en-US" sz="1800" dirty="0"/>
          </a:p>
        </p:txBody>
      </p:sp>
      <p:sp>
        <p:nvSpPr>
          <p:cNvPr id="23" name="Text 21"/>
          <p:cNvSpPr/>
          <p:nvPr/>
        </p:nvSpPr>
        <p:spPr>
          <a:xfrm>
            <a:off x="1238250" y="7522845"/>
            <a:ext cx="4905375" cy="42672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E6DEC9"/>
                </a:solidFill>
                <a:latin typeface="Courier New" pitchFamily="34" charset="0"/>
                <a:ea typeface="Courier New" pitchFamily="34" charset="-122"/>
                <a:cs typeface="Courier New" pitchFamily="34" charset="-120"/>
              </a:rPr>
              <a:t>0 = DISARM (QUIESCE DEVICE)</a:t>
            </a:r>
            <a:endParaRPr lang="en-US" sz="1800" dirty="0"/>
          </a:p>
        </p:txBody>
      </p:sp>
      <p:sp>
        <p:nvSpPr>
          <p:cNvPr id="24" name="Text 22"/>
          <p:cNvSpPr/>
          <p:nvPr/>
        </p:nvSpPr>
        <p:spPr>
          <a:xfrm>
            <a:off x="6858000" y="2497455"/>
            <a:ext cx="11525250"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252"/>
                </a:solidFill>
                <a:latin typeface="Courier New" pitchFamily="34" charset="0"/>
                <a:ea typeface="Courier New" pitchFamily="34" charset="-122"/>
                <a:cs typeface="Courier New" pitchFamily="34" charset="-120"/>
              </a:rPr>
              <a:t>STATUS REGISTER (RSR) — BITS AS TESTED BY TSS</a:t>
            </a:r>
            <a:endParaRPr lang="en-US" sz="1800" dirty="0"/>
          </a:p>
        </p:txBody>
      </p:sp>
      <p:sp>
        <p:nvSpPr>
          <p:cNvPr id="25" name="Shape 23"/>
          <p:cNvSpPr/>
          <p:nvPr/>
        </p:nvSpPr>
        <p:spPr>
          <a:xfrm>
            <a:off x="6858000" y="3438525"/>
            <a:ext cx="10477500" cy="9525"/>
          </a:xfrm>
          <a:prstGeom prst="rect">
            <a:avLst/>
          </a:prstGeom>
          <a:solidFill>
            <a:srgbClr val="CEC4AD"/>
          </a:solidFill>
          <a:ln/>
        </p:spPr>
      </p:sp>
      <p:sp>
        <p:nvSpPr>
          <p:cNvPr id="26" name="Text 24"/>
          <p:cNvSpPr/>
          <p:nvPr/>
        </p:nvSpPr>
        <p:spPr>
          <a:xfrm>
            <a:off x="6858000" y="3004185"/>
            <a:ext cx="1362075" cy="358140"/>
          </a:xfrm>
          <a:prstGeom prst="rect">
            <a:avLst/>
          </a:prstGeom>
          <a:noFill/>
          <a:ln/>
        </p:spPr>
        <p:txBody>
          <a:bodyPr wrap="square" lIns="25400" tIns="25400" rIns="25400" bIns="25400" rtlCol="0" anchor="t">
            <a:normAutofit/>
          </a:bodyPr>
          <a:lstStyle/>
          <a:p>
            <a:pPr algn="l" indent="0" marL="0">
              <a:buNone/>
            </a:pPr>
            <a:r>
              <a:rPr lang="en-US" sz="1950" b="1" dirty="0">
                <a:solidFill>
                  <a:srgbClr val="211C14"/>
                </a:solidFill>
                <a:latin typeface="Courier New" pitchFamily="34" charset="0"/>
                <a:ea typeface="Courier New" pitchFamily="34" charset="-122"/>
                <a:cs typeface="Courier New" pitchFamily="34" charset="-120"/>
              </a:rPr>
              <a:t>bit 0</a:t>
            </a:r>
            <a:endParaRPr lang="en-US" sz="1950" dirty="0"/>
          </a:p>
        </p:txBody>
      </p:sp>
      <p:sp>
        <p:nvSpPr>
          <p:cNvPr id="27" name="Text 25"/>
          <p:cNvSpPr/>
          <p:nvPr/>
        </p:nvSpPr>
        <p:spPr>
          <a:xfrm>
            <a:off x="8305800" y="3004185"/>
            <a:ext cx="9932670" cy="358140"/>
          </a:xfrm>
          <a:prstGeom prst="rect">
            <a:avLst/>
          </a:prstGeom>
          <a:noFill/>
          <a:ln/>
        </p:spPr>
        <p:txBody>
          <a:bodyPr wrap="square" lIns="25400" tIns="25400" rIns="25400" bIns="25400" rtlCol="0" anchor="t">
            <a:normAutofit/>
          </a:bodyPr>
          <a:lstStyle/>
          <a:p>
            <a:pPr algn="l" indent="0" marL="0">
              <a:buNone/>
            </a:pPr>
            <a:r>
              <a:rPr lang="en-US" sz="1950" dirty="0">
                <a:solidFill>
                  <a:srgbClr val="211C14"/>
                </a:solidFill>
                <a:latin typeface="Arial" pitchFamily="34" charset="0"/>
                <a:ea typeface="Arial" pitchFamily="34" charset="-122"/>
                <a:cs typeface="Arial" pitchFamily="34" charset="-120"/>
              </a:rPr>
              <a:t>interrupt enabled (readback of WCR bit 0)</a:t>
            </a:r>
            <a:endParaRPr lang="en-US" sz="1950" dirty="0"/>
          </a:p>
        </p:txBody>
      </p:sp>
      <p:sp>
        <p:nvSpPr>
          <p:cNvPr id="28" name="Shape 26"/>
          <p:cNvSpPr/>
          <p:nvPr/>
        </p:nvSpPr>
        <p:spPr>
          <a:xfrm>
            <a:off x="6858000" y="3994785"/>
            <a:ext cx="10477500" cy="9525"/>
          </a:xfrm>
          <a:prstGeom prst="rect">
            <a:avLst/>
          </a:prstGeom>
          <a:solidFill>
            <a:srgbClr val="CEC4AD"/>
          </a:solidFill>
          <a:ln/>
        </p:spPr>
      </p:sp>
      <p:sp>
        <p:nvSpPr>
          <p:cNvPr id="29" name="Text 27"/>
          <p:cNvSpPr/>
          <p:nvPr/>
        </p:nvSpPr>
        <p:spPr>
          <a:xfrm>
            <a:off x="6858000" y="3560445"/>
            <a:ext cx="1362075" cy="358140"/>
          </a:xfrm>
          <a:prstGeom prst="rect">
            <a:avLst/>
          </a:prstGeom>
          <a:noFill/>
          <a:ln/>
        </p:spPr>
        <p:txBody>
          <a:bodyPr wrap="square" lIns="25400" tIns="25400" rIns="25400" bIns="25400" rtlCol="0" anchor="t">
            <a:normAutofit/>
          </a:bodyPr>
          <a:lstStyle/>
          <a:p>
            <a:pPr algn="l" indent="0" marL="0">
              <a:buNone/>
            </a:pPr>
            <a:r>
              <a:rPr lang="en-US" sz="1950" b="1" dirty="0">
                <a:solidFill>
                  <a:srgbClr val="211C14"/>
                </a:solidFill>
                <a:latin typeface="Courier New" pitchFamily="34" charset="0"/>
                <a:ea typeface="Courier New" pitchFamily="34" charset="-122"/>
                <a:cs typeface="Courier New" pitchFamily="34" charset="-120"/>
              </a:rPr>
              <a:t>bit 3</a:t>
            </a:r>
            <a:endParaRPr lang="en-US" sz="1950" dirty="0"/>
          </a:p>
        </p:txBody>
      </p:sp>
      <p:sp>
        <p:nvSpPr>
          <p:cNvPr id="30" name="Text 28"/>
          <p:cNvSpPr/>
          <p:nvPr/>
        </p:nvSpPr>
        <p:spPr>
          <a:xfrm>
            <a:off x="8305800" y="3560445"/>
            <a:ext cx="9932670" cy="358140"/>
          </a:xfrm>
          <a:prstGeom prst="rect">
            <a:avLst/>
          </a:prstGeom>
          <a:noFill/>
          <a:ln/>
        </p:spPr>
        <p:txBody>
          <a:bodyPr wrap="square" lIns="25400" tIns="25400" rIns="25400" bIns="25400" rtlCol="0" anchor="t">
            <a:normAutofit/>
          </a:bodyPr>
          <a:lstStyle/>
          <a:p>
            <a:pPr algn="l" indent="0" marL="0">
              <a:buNone/>
            </a:pPr>
            <a:r>
              <a:rPr lang="en-US" sz="1950" b="1" dirty="0">
                <a:solidFill>
                  <a:srgbClr val="211C14"/>
                </a:solidFill>
                <a:latin typeface="Arial" pitchFamily="34" charset="0"/>
                <a:ea typeface="Arial" pitchFamily="34" charset="-122"/>
                <a:cs typeface="Arial" pitchFamily="34" charset="-120"/>
              </a:rPr>
              <a:t>device ready for transfer </a:t>
            </a:r>
            <a:pPr algn="l" indent="0" marL="0">
              <a:buNone/>
            </a:pPr>
            <a:r>
              <a:rPr lang="en-US" sz="1950" dirty="0">
                <a:solidFill>
                  <a:srgbClr val="211C14"/>
                </a:solidFill>
                <a:latin typeface="Arial" pitchFamily="34" charset="0"/>
                <a:ea typeface="Arial" pitchFamily="34" charset="-122"/>
                <a:cs typeface="Arial" pitchFamily="34" charset="-120"/>
              </a:rPr>
              <a:t>— polled as </a:t>
            </a:r>
            <a:pPr algn="l" indent="0" marL="0">
              <a:buNone/>
            </a:pPr>
            <a:r>
              <a:rPr lang="en-US" sz="1950" dirty="0">
                <a:solidFill>
                  <a:srgbClr val="211C14"/>
                </a:solidFill>
                <a:latin typeface="Courier New" pitchFamily="34" charset="0"/>
                <a:ea typeface="Courier New" pitchFamily="34" charset="-122"/>
                <a:cs typeface="Courier New" pitchFamily="34" charset="-120"/>
              </a:rPr>
              <a:t>BSKP ONE 30 DA</a:t>
            </a:r>
            <a:endParaRPr lang="en-US" sz="1950" dirty="0"/>
          </a:p>
        </p:txBody>
      </p:sp>
      <p:sp>
        <p:nvSpPr>
          <p:cNvPr id="31" name="Shape 29"/>
          <p:cNvSpPr/>
          <p:nvPr/>
        </p:nvSpPr>
        <p:spPr>
          <a:xfrm>
            <a:off x="6858000" y="4551045"/>
            <a:ext cx="10477500" cy="9525"/>
          </a:xfrm>
          <a:prstGeom prst="rect">
            <a:avLst/>
          </a:prstGeom>
          <a:solidFill>
            <a:srgbClr val="CEC4AD"/>
          </a:solidFill>
          <a:ln/>
        </p:spPr>
      </p:sp>
      <p:sp>
        <p:nvSpPr>
          <p:cNvPr id="32" name="Text 30"/>
          <p:cNvSpPr/>
          <p:nvPr/>
        </p:nvSpPr>
        <p:spPr>
          <a:xfrm>
            <a:off x="6858000" y="4116705"/>
            <a:ext cx="1362075" cy="358140"/>
          </a:xfrm>
          <a:prstGeom prst="rect">
            <a:avLst/>
          </a:prstGeom>
          <a:noFill/>
          <a:ln/>
        </p:spPr>
        <p:txBody>
          <a:bodyPr wrap="square" lIns="25400" tIns="25400" rIns="25400" bIns="25400" rtlCol="0" anchor="t">
            <a:normAutofit/>
          </a:bodyPr>
          <a:lstStyle/>
          <a:p>
            <a:pPr algn="l" indent="0" marL="0">
              <a:buNone/>
            </a:pPr>
            <a:r>
              <a:rPr lang="en-US" sz="1950" b="1" dirty="0">
                <a:solidFill>
                  <a:srgbClr val="211C14"/>
                </a:solidFill>
                <a:latin typeface="Courier New" pitchFamily="34" charset="0"/>
                <a:ea typeface="Courier New" pitchFamily="34" charset="-122"/>
                <a:cs typeface="Courier New" pitchFamily="34" charset="-120"/>
              </a:rPr>
              <a:t>bit 4</a:t>
            </a:r>
            <a:endParaRPr lang="en-US" sz="1950" dirty="0"/>
          </a:p>
        </p:txBody>
      </p:sp>
      <p:sp>
        <p:nvSpPr>
          <p:cNvPr id="33" name="Text 31"/>
          <p:cNvSpPr/>
          <p:nvPr/>
        </p:nvSpPr>
        <p:spPr>
          <a:xfrm>
            <a:off x="8305800" y="4116705"/>
            <a:ext cx="9932670" cy="358140"/>
          </a:xfrm>
          <a:prstGeom prst="rect">
            <a:avLst/>
          </a:prstGeom>
          <a:noFill/>
          <a:ln/>
        </p:spPr>
        <p:txBody>
          <a:bodyPr wrap="square" lIns="25400" tIns="25400" rIns="25400" bIns="25400" rtlCol="0" anchor="t">
            <a:normAutofit/>
          </a:bodyPr>
          <a:lstStyle/>
          <a:p>
            <a:pPr algn="l" indent="0" marL="0">
              <a:buNone/>
            </a:pPr>
            <a:r>
              <a:rPr lang="en-US" sz="1950" b="1" dirty="0">
                <a:solidFill>
                  <a:srgbClr val="211C14"/>
                </a:solidFill>
                <a:latin typeface="Arial" pitchFamily="34" charset="0"/>
                <a:ea typeface="Arial" pitchFamily="34" charset="-122"/>
                <a:cs typeface="Arial" pitchFamily="34" charset="-120"/>
              </a:rPr>
              <a:t>inclusive OR of errors </a:t>
            </a:r>
            <a:pPr algn="l" indent="0" marL="0">
              <a:buNone/>
            </a:pPr>
            <a:r>
              <a:rPr lang="en-US" sz="1950" dirty="0">
                <a:solidFill>
                  <a:srgbClr val="211C14"/>
                </a:solidFill>
                <a:latin typeface="Arial" pitchFamily="34" charset="0"/>
                <a:ea typeface="Arial" pitchFamily="34" charset="-122"/>
                <a:cs typeface="Arial" pitchFamily="34" charset="-120"/>
              </a:rPr>
              <a:t>— </a:t>
            </a:r>
            <a:pPr algn="l" indent="0" marL="0">
              <a:buNone/>
            </a:pPr>
            <a:r>
              <a:rPr lang="en-US" sz="1950" dirty="0">
                <a:solidFill>
                  <a:srgbClr val="211C14"/>
                </a:solidFill>
                <a:latin typeface="Courier New" pitchFamily="34" charset="0"/>
                <a:ea typeface="Courier New" pitchFamily="34" charset="-122"/>
                <a:cs typeface="Courier New" pitchFamily="34" charset="-120"/>
              </a:rPr>
              <a:t>BSKP ZRO 40 DA </a:t>
            </a:r>
            <a:pPr algn="l" indent="0" marL="0">
              <a:buNone/>
            </a:pPr>
            <a:r>
              <a:rPr lang="en-US" sz="1950" dirty="0">
                <a:solidFill>
                  <a:srgbClr val="211C14"/>
                </a:solidFill>
                <a:latin typeface="Arial" pitchFamily="34" charset="0"/>
                <a:ea typeface="Arial" pitchFamily="34" charset="-122"/>
                <a:cs typeface="Arial" pitchFamily="34" charset="-120"/>
              </a:rPr>
              <a:t>guards every driver</a:t>
            </a:r>
            <a:endParaRPr lang="en-US" sz="1950" dirty="0"/>
          </a:p>
        </p:txBody>
      </p:sp>
      <p:sp>
        <p:nvSpPr>
          <p:cNvPr id="34" name="Shape 32"/>
          <p:cNvSpPr/>
          <p:nvPr/>
        </p:nvSpPr>
        <p:spPr>
          <a:xfrm>
            <a:off x="6858000" y="5107305"/>
            <a:ext cx="10477500" cy="9525"/>
          </a:xfrm>
          <a:prstGeom prst="rect">
            <a:avLst/>
          </a:prstGeom>
          <a:solidFill>
            <a:srgbClr val="CEC4AD"/>
          </a:solidFill>
          <a:ln/>
        </p:spPr>
      </p:sp>
      <p:sp>
        <p:nvSpPr>
          <p:cNvPr id="35" name="Text 33"/>
          <p:cNvSpPr/>
          <p:nvPr/>
        </p:nvSpPr>
        <p:spPr>
          <a:xfrm>
            <a:off x="6858000" y="4672965"/>
            <a:ext cx="1362075" cy="358140"/>
          </a:xfrm>
          <a:prstGeom prst="rect">
            <a:avLst/>
          </a:prstGeom>
          <a:noFill/>
          <a:ln/>
        </p:spPr>
        <p:txBody>
          <a:bodyPr wrap="square" lIns="25400" tIns="25400" rIns="25400" bIns="25400" rtlCol="0" anchor="t">
            <a:normAutofit/>
          </a:bodyPr>
          <a:lstStyle/>
          <a:p>
            <a:pPr algn="l" indent="0" marL="0">
              <a:buNone/>
            </a:pPr>
            <a:r>
              <a:rPr lang="en-US" sz="1950" b="1" dirty="0">
                <a:solidFill>
                  <a:srgbClr val="211C14"/>
                </a:solidFill>
                <a:latin typeface="Courier New" pitchFamily="34" charset="0"/>
                <a:ea typeface="Courier New" pitchFamily="34" charset="-122"/>
                <a:cs typeface="Courier New" pitchFamily="34" charset="-120"/>
              </a:rPr>
              <a:t>bit 5+</a:t>
            </a:r>
            <a:endParaRPr lang="en-US" sz="1950" dirty="0"/>
          </a:p>
        </p:txBody>
      </p:sp>
      <p:sp>
        <p:nvSpPr>
          <p:cNvPr id="36" name="Text 34"/>
          <p:cNvSpPr/>
          <p:nvPr/>
        </p:nvSpPr>
        <p:spPr>
          <a:xfrm>
            <a:off x="8305800" y="4672965"/>
            <a:ext cx="9932670" cy="358140"/>
          </a:xfrm>
          <a:prstGeom prst="rect">
            <a:avLst/>
          </a:prstGeom>
          <a:noFill/>
          <a:ln/>
        </p:spPr>
        <p:txBody>
          <a:bodyPr wrap="square" lIns="25400" tIns="25400" rIns="25400" bIns="25400" rtlCol="0" anchor="t">
            <a:normAutofit/>
          </a:bodyPr>
          <a:lstStyle/>
          <a:p>
            <a:pPr algn="l" indent="0" marL="0">
              <a:buNone/>
            </a:pPr>
            <a:r>
              <a:rPr lang="en-US" sz="1950" dirty="0">
                <a:solidFill>
                  <a:srgbClr val="211C14"/>
                </a:solidFill>
                <a:latin typeface="Arial" pitchFamily="34" charset="0"/>
                <a:ea typeface="Arial" pitchFamily="34" charset="-122"/>
                <a:cs typeface="Arial" pitchFamily="34" charset="-120"/>
              </a:rPr>
              <a:t>device-specific (framing / parity / card-done …)</a:t>
            </a:r>
            <a:endParaRPr lang="en-US" sz="1950" dirty="0"/>
          </a:p>
        </p:txBody>
      </p:sp>
      <p:sp>
        <p:nvSpPr>
          <p:cNvPr id="37" name="Text 35"/>
          <p:cNvSpPr/>
          <p:nvPr/>
        </p:nvSpPr>
        <p:spPr>
          <a:xfrm>
            <a:off x="6858000" y="5400675"/>
            <a:ext cx="11525250"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252"/>
                </a:solidFill>
                <a:latin typeface="Courier New" pitchFamily="34" charset="0"/>
                <a:ea typeface="Courier New" pitchFamily="34" charset="-122"/>
                <a:cs typeface="Courier New" pitchFamily="34" charset="-120"/>
              </a:rPr>
              <a:t>CONTROL REGISTER (WCR)</a:t>
            </a:r>
            <a:endParaRPr lang="en-US" sz="1800" dirty="0"/>
          </a:p>
        </p:txBody>
      </p:sp>
      <p:sp>
        <p:nvSpPr>
          <p:cNvPr id="38" name="Shape 36"/>
          <p:cNvSpPr/>
          <p:nvPr/>
        </p:nvSpPr>
        <p:spPr>
          <a:xfrm>
            <a:off x="6858000" y="5793105"/>
            <a:ext cx="2107644" cy="853440"/>
          </a:xfrm>
          <a:prstGeom prst="rect">
            <a:avLst/>
          </a:prstGeom>
          <a:solidFill>
            <a:srgbClr val="E9E2CF"/>
          </a:solidFill>
          <a:ln w="15240">
            <a:solidFill>
              <a:srgbClr val="211C14"/>
            </a:solidFill>
            <a:prstDash val="solid"/>
          </a:ln>
        </p:spPr>
      </p:sp>
      <p:sp>
        <p:nvSpPr>
          <p:cNvPr id="39" name="Text 37"/>
          <p:cNvSpPr/>
          <p:nvPr/>
        </p:nvSpPr>
        <p:spPr>
          <a:xfrm>
            <a:off x="6873240" y="5922645"/>
            <a:ext cx="2077164" cy="632460"/>
          </a:xfrm>
          <a:prstGeom prst="rect">
            <a:avLst/>
          </a:prstGeom>
          <a:noFill/>
          <a:ln/>
        </p:spPr>
        <p:txBody>
          <a:bodyPr wrap="square" lIns="25400" tIns="25400" rIns="25400" bIns="25400" rtlCol="0" anchor="t">
            <a:normAutofit/>
          </a:bodyPr>
          <a:lstStyle/>
          <a:p>
            <a:pPr algn="ctr" indent="0" marL="0">
              <a:buNone/>
            </a:pPr>
            <a:r>
              <a:rPr lang="en-US" sz="1800" dirty="0">
                <a:solidFill>
                  <a:srgbClr val="211C14"/>
                </a:solidFill>
                <a:highlight>
                  <a:srgbClr val="E9E2CF"/>
                </a:highlight>
                <a:latin typeface="Courier New" pitchFamily="34" charset="0"/>
                <a:ea typeface="Courier New" pitchFamily="34" charset="-122"/>
                <a:cs typeface="Courier New" pitchFamily="34" charset="-120"/>
              </a:rPr>
              <a:t>4 DEV.CLEAR</a:t>
            </a:r>
            <a:endParaRPr lang="en-US" sz="1800" dirty="0"/>
          </a:p>
        </p:txBody>
      </p:sp>
      <p:sp>
        <p:nvSpPr>
          <p:cNvPr id="40" name="Shape 38"/>
          <p:cNvSpPr/>
          <p:nvPr/>
        </p:nvSpPr>
        <p:spPr>
          <a:xfrm>
            <a:off x="8965645" y="5793105"/>
            <a:ext cx="2092523" cy="853440"/>
          </a:xfrm>
          <a:prstGeom prst="rect">
            <a:avLst/>
          </a:prstGeom>
          <a:solidFill>
            <a:srgbClr val="E9E2CF"/>
          </a:solidFill>
          <a:ln/>
        </p:spPr>
      </p:sp>
      <p:sp>
        <p:nvSpPr>
          <p:cNvPr id="41" name="Shape 39"/>
          <p:cNvSpPr/>
          <p:nvPr/>
        </p:nvSpPr>
        <p:spPr>
          <a:xfrm>
            <a:off x="8965645" y="6631305"/>
            <a:ext cx="2092523" cy="15240"/>
          </a:xfrm>
          <a:prstGeom prst="rect">
            <a:avLst/>
          </a:prstGeom>
          <a:solidFill>
            <a:srgbClr val="211C14"/>
          </a:solidFill>
          <a:ln/>
        </p:spPr>
      </p:sp>
      <p:sp>
        <p:nvSpPr>
          <p:cNvPr id="42" name="Shape 40"/>
          <p:cNvSpPr/>
          <p:nvPr/>
        </p:nvSpPr>
        <p:spPr>
          <a:xfrm>
            <a:off x="8965645" y="5793105"/>
            <a:ext cx="2092523" cy="15240"/>
          </a:xfrm>
          <a:prstGeom prst="rect">
            <a:avLst/>
          </a:prstGeom>
          <a:solidFill>
            <a:srgbClr val="211C14"/>
          </a:solidFill>
          <a:ln/>
        </p:spPr>
      </p:sp>
      <p:sp>
        <p:nvSpPr>
          <p:cNvPr id="43" name="Shape 41"/>
          <p:cNvSpPr/>
          <p:nvPr/>
        </p:nvSpPr>
        <p:spPr>
          <a:xfrm>
            <a:off x="11042928" y="5793105"/>
            <a:ext cx="15240" cy="853440"/>
          </a:xfrm>
          <a:prstGeom prst="rect">
            <a:avLst/>
          </a:prstGeom>
          <a:solidFill>
            <a:srgbClr val="211C14"/>
          </a:solidFill>
          <a:ln/>
        </p:spPr>
      </p:sp>
      <p:sp>
        <p:nvSpPr>
          <p:cNvPr id="44" name="Text 42"/>
          <p:cNvSpPr/>
          <p:nvPr/>
        </p:nvSpPr>
        <p:spPr>
          <a:xfrm>
            <a:off x="8965645" y="5922645"/>
            <a:ext cx="2077283" cy="632460"/>
          </a:xfrm>
          <a:prstGeom prst="rect">
            <a:avLst/>
          </a:prstGeom>
          <a:noFill/>
          <a:ln/>
        </p:spPr>
        <p:txBody>
          <a:bodyPr wrap="square" lIns="25400" tIns="25400" rIns="25400" bIns="25400" rtlCol="0" anchor="t">
            <a:normAutofit/>
          </a:bodyPr>
          <a:lstStyle/>
          <a:p>
            <a:pPr algn="ctr" indent="0" marL="0">
              <a:buNone/>
            </a:pPr>
            <a:r>
              <a:rPr lang="en-US" sz="1800" dirty="0">
                <a:solidFill>
                  <a:srgbClr val="211C14"/>
                </a:solidFill>
                <a:highlight>
                  <a:srgbClr val="E9E2CF"/>
                </a:highlight>
                <a:latin typeface="Courier New" pitchFamily="34" charset="0"/>
                <a:ea typeface="Courier New" pitchFamily="34" charset="-122"/>
                <a:cs typeface="Courier New" pitchFamily="34" charset="-120"/>
              </a:rPr>
              <a:t>3 TEST</a:t>
            </a:r>
            <a:endParaRPr lang="en-US" sz="1800" dirty="0"/>
          </a:p>
        </p:txBody>
      </p:sp>
      <p:sp>
        <p:nvSpPr>
          <p:cNvPr id="45" name="Shape 43"/>
          <p:cNvSpPr/>
          <p:nvPr/>
        </p:nvSpPr>
        <p:spPr>
          <a:xfrm>
            <a:off x="11058168" y="5793105"/>
            <a:ext cx="2092404" cy="853440"/>
          </a:xfrm>
          <a:prstGeom prst="rect">
            <a:avLst/>
          </a:prstGeom>
          <a:solidFill>
            <a:srgbClr val="F7E3D4"/>
          </a:solidFill>
          <a:ln/>
        </p:spPr>
      </p:sp>
      <p:sp>
        <p:nvSpPr>
          <p:cNvPr id="46" name="Shape 44"/>
          <p:cNvSpPr/>
          <p:nvPr/>
        </p:nvSpPr>
        <p:spPr>
          <a:xfrm>
            <a:off x="11058168" y="6631305"/>
            <a:ext cx="2092404" cy="15240"/>
          </a:xfrm>
          <a:prstGeom prst="rect">
            <a:avLst/>
          </a:prstGeom>
          <a:solidFill>
            <a:srgbClr val="211C14"/>
          </a:solidFill>
          <a:ln/>
        </p:spPr>
      </p:sp>
      <p:sp>
        <p:nvSpPr>
          <p:cNvPr id="47" name="Shape 45"/>
          <p:cNvSpPr/>
          <p:nvPr/>
        </p:nvSpPr>
        <p:spPr>
          <a:xfrm>
            <a:off x="11058168" y="5793105"/>
            <a:ext cx="2092404" cy="15240"/>
          </a:xfrm>
          <a:prstGeom prst="rect">
            <a:avLst/>
          </a:prstGeom>
          <a:solidFill>
            <a:srgbClr val="211C14"/>
          </a:solidFill>
          <a:ln/>
        </p:spPr>
      </p:sp>
      <p:sp>
        <p:nvSpPr>
          <p:cNvPr id="48" name="Shape 46"/>
          <p:cNvSpPr/>
          <p:nvPr/>
        </p:nvSpPr>
        <p:spPr>
          <a:xfrm>
            <a:off x="13135332" y="5793105"/>
            <a:ext cx="15240" cy="853440"/>
          </a:xfrm>
          <a:prstGeom prst="rect">
            <a:avLst/>
          </a:prstGeom>
          <a:solidFill>
            <a:srgbClr val="211C14"/>
          </a:solidFill>
          <a:ln/>
        </p:spPr>
      </p:sp>
      <p:sp>
        <p:nvSpPr>
          <p:cNvPr id="49" name="Text 47"/>
          <p:cNvSpPr/>
          <p:nvPr/>
        </p:nvSpPr>
        <p:spPr>
          <a:xfrm>
            <a:off x="11058168" y="5922645"/>
            <a:ext cx="2077164" cy="632460"/>
          </a:xfrm>
          <a:prstGeom prst="rect">
            <a:avLst/>
          </a:prstGeom>
          <a:noFill/>
          <a:ln/>
        </p:spPr>
        <p:txBody>
          <a:bodyPr wrap="square" lIns="25400" tIns="25400" rIns="25400" bIns="25400" rtlCol="0" anchor="t">
            <a:normAutofit/>
          </a:bodyPr>
          <a:lstStyle/>
          <a:p>
            <a:pPr algn="ctr" indent="0" marL="0">
              <a:buNone/>
            </a:pPr>
            <a:r>
              <a:rPr lang="en-US" sz="1800" dirty="0">
                <a:solidFill>
                  <a:srgbClr val="A03E14"/>
                </a:solidFill>
                <a:highlight>
                  <a:srgbClr val="F7E3D4"/>
                </a:highlight>
                <a:latin typeface="Courier New" pitchFamily="34" charset="0"/>
                <a:ea typeface="Courier New" pitchFamily="34" charset="-122"/>
                <a:cs typeface="Courier New" pitchFamily="34" charset="-120"/>
              </a:rPr>
              <a:t>2 ACTIVATE</a:t>
            </a:r>
            <a:endParaRPr lang="en-US" sz="1800" dirty="0"/>
          </a:p>
        </p:txBody>
      </p:sp>
      <p:sp>
        <p:nvSpPr>
          <p:cNvPr id="50" name="Shape 48"/>
          <p:cNvSpPr/>
          <p:nvPr/>
        </p:nvSpPr>
        <p:spPr>
          <a:xfrm>
            <a:off x="13150573" y="5793105"/>
            <a:ext cx="2092523" cy="853440"/>
          </a:xfrm>
          <a:prstGeom prst="rect">
            <a:avLst/>
          </a:prstGeom>
          <a:solidFill>
            <a:srgbClr val="E9E2CF"/>
          </a:solidFill>
          <a:ln/>
        </p:spPr>
      </p:sp>
      <p:sp>
        <p:nvSpPr>
          <p:cNvPr id="51" name="Shape 49"/>
          <p:cNvSpPr/>
          <p:nvPr/>
        </p:nvSpPr>
        <p:spPr>
          <a:xfrm>
            <a:off x="13150573" y="6631305"/>
            <a:ext cx="2092523" cy="15240"/>
          </a:xfrm>
          <a:prstGeom prst="rect">
            <a:avLst/>
          </a:prstGeom>
          <a:solidFill>
            <a:srgbClr val="211C14"/>
          </a:solidFill>
          <a:ln/>
        </p:spPr>
      </p:sp>
      <p:sp>
        <p:nvSpPr>
          <p:cNvPr id="52" name="Shape 50"/>
          <p:cNvSpPr/>
          <p:nvPr/>
        </p:nvSpPr>
        <p:spPr>
          <a:xfrm>
            <a:off x="13150573" y="5793105"/>
            <a:ext cx="2092523" cy="15240"/>
          </a:xfrm>
          <a:prstGeom prst="rect">
            <a:avLst/>
          </a:prstGeom>
          <a:solidFill>
            <a:srgbClr val="211C14"/>
          </a:solidFill>
          <a:ln/>
        </p:spPr>
      </p:sp>
      <p:sp>
        <p:nvSpPr>
          <p:cNvPr id="53" name="Shape 51"/>
          <p:cNvSpPr/>
          <p:nvPr/>
        </p:nvSpPr>
        <p:spPr>
          <a:xfrm>
            <a:off x="15227856" y="5793105"/>
            <a:ext cx="15240" cy="853440"/>
          </a:xfrm>
          <a:prstGeom prst="rect">
            <a:avLst/>
          </a:prstGeom>
          <a:solidFill>
            <a:srgbClr val="211C14"/>
          </a:solidFill>
          <a:ln/>
        </p:spPr>
      </p:sp>
      <p:sp>
        <p:nvSpPr>
          <p:cNvPr id="54" name="Text 52"/>
          <p:cNvSpPr/>
          <p:nvPr/>
        </p:nvSpPr>
        <p:spPr>
          <a:xfrm>
            <a:off x="13150573" y="5922645"/>
            <a:ext cx="2077283" cy="632460"/>
          </a:xfrm>
          <a:prstGeom prst="rect">
            <a:avLst/>
          </a:prstGeom>
          <a:noFill/>
          <a:ln/>
        </p:spPr>
        <p:txBody>
          <a:bodyPr wrap="square" lIns="25400" tIns="25400" rIns="25400" bIns="25400" rtlCol="0" anchor="t">
            <a:normAutofit/>
          </a:bodyPr>
          <a:lstStyle/>
          <a:p>
            <a:pPr algn="ctr" indent="0" marL="0">
              <a:buNone/>
            </a:pPr>
            <a:r>
              <a:rPr lang="en-US" sz="1800" dirty="0">
                <a:solidFill>
                  <a:srgbClr val="211C14"/>
                </a:solidFill>
                <a:highlight>
                  <a:srgbClr val="E9E2CF"/>
                </a:highlight>
                <a:latin typeface="Courier New" pitchFamily="34" charset="0"/>
                <a:ea typeface="Courier New" pitchFamily="34" charset="-122"/>
                <a:cs typeface="Courier New" pitchFamily="34" charset="-120"/>
              </a:rPr>
              <a:t>1 INT ON ERR</a:t>
            </a:r>
            <a:endParaRPr lang="en-US" sz="1800" dirty="0"/>
          </a:p>
        </p:txBody>
      </p:sp>
      <p:sp>
        <p:nvSpPr>
          <p:cNvPr id="55" name="Shape 53"/>
          <p:cNvSpPr/>
          <p:nvPr/>
        </p:nvSpPr>
        <p:spPr>
          <a:xfrm>
            <a:off x="15243096" y="5793105"/>
            <a:ext cx="2092404" cy="853440"/>
          </a:xfrm>
          <a:prstGeom prst="rect">
            <a:avLst/>
          </a:prstGeom>
          <a:solidFill>
            <a:srgbClr val="F7E3D4"/>
          </a:solidFill>
          <a:ln/>
        </p:spPr>
      </p:sp>
      <p:sp>
        <p:nvSpPr>
          <p:cNvPr id="56" name="Shape 54"/>
          <p:cNvSpPr/>
          <p:nvPr/>
        </p:nvSpPr>
        <p:spPr>
          <a:xfrm>
            <a:off x="15243096" y="6631305"/>
            <a:ext cx="2092404" cy="15240"/>
          </a:xfrm>
          <a:prstGeom prst="rect">
            <a:avLst/>
          </a:prstGeom>
          <a:solidFill>
            <a:srgbClr val="211C14"/>
          </a:solidFill>
          <a:ln/>
        </p:spPr>
      </p:sp>
      <p:sp>
        <p:nvSpPr>
          <p:cNvPr id="57" name="Shape 55"/>
          <p:cNvSpPr/>
          <p:nvPr/>
        </p:nvSpPr>
        <p:spPr>
          <a:xfrm>
            <a:off x="15243096" y="5793105"/>
            <a:ext cx="2092404" cy="15240"/>
          </a:xfrm>
          <a:prstGeom prst="rect">
            <a:avLst/>
          </a:prstGeom>
          <a:solidFill>
            <a:srgbClr val="211C14"/>
          </a:solidFill>
          <a:ln/>
        </p:spPr>
      </p:sp>
      <p:sp>
        <p:nvSpPr>
          <p:cNvPr id="58" name="Shape 56"/>
          <p:cNvSpPr/>
          <p:nvPr/>
        </p:nvSpPr>
        <p:spPr>
          <a:xfrm>
            <a:off x="17320261" y="5793105"/>
            <a:ext cx="15240" cy="853440"/>
          </a:xfrm>
          <a:prstGeom prst="rect">
            <a:avLst/>
          </a:prstGeom>
          <a:solidFill>
            <a:srgbClr val="211C14"/>
          </a:solidFill>
          <a:ln/>
        </p:spPr>
      </p:sp>
      <p:sp>
        <p:nvSpPr>
          <p:cNvPr id="59" name="Text 57"/>
          <p:cNvSpPr/>
          <p:nvPr/>
        </p:nvSpPr>
        <p:spPr>
          <a:xfrm>
            <a:off x="15243096" y="5922645"/>
            <a:ext cx="2077164" cy="632460"/>
          </a:xfrm>
          <a:prstGeom prst="rect">
            <a:avLst/>
          </a:prstGeom>
          <a:noFill/>
          <a:ln/>
        </p:spPr>
        <p:txBody>
          <a:bodyPr wrap="square" lIns="25400" tIns="25400" rIns="25400" bIns="25400" rtlCol="0" anchor="t">
            <a:normAutofit/>
          </a:bodyPr>
          <a:lstStyle/>
          <a:p>
            <a:pPr algn="ctr" indent="0" marL="0">
              <a:buNone/>
            </a:pPr>
            <a:r>
              <a:rPr lang="en-US" sz="1800" dirty="0">
                <a:solidFill>
                  <a:srgbClr val="A03E14"/>
                </a:solidFill>
                <a:highlight>
                  <a:srgbClr val="F7E3D4"/>
                </a:highlight>
                <a:latin typeface="Courier New" pitchFamily="34" charset="0"/>
                <a:ea typeface="Courier New" pitchFamily="34" charset="-122"/>
                <a:cs typeface="Courier New" pitchFamily="34" charset="-120"/>
              </a:rPr>
              <a:t>0 INT ON RDY</a:t>
            </a:r>
            <a:endParaRPr lang="en-US" sz="1800" dirty="0"/>
          </a:p>
        </p:txBody>
      </p:sp>
      <p:sp>
        <p:nvSpPr>
          <p:cNvPr id="60" name="Text 58"/>
          <p:cNvSpPr/>
          <p:nvPr/>
        </p:nvSpPr>
        <p:spPr>
          <a:xfrm>
            <a:off x="6858000" y="6798945"/>
            <a:ext cx="10791825" cy="752475"/>
          </a:xfrm>
          <a:prstGeom prst="rect">
            <a:avLst/>
          </a:prstGeom>
          <a:noFill/>
          <a:ln/>
        </p:spPr>
        <p:txBody>
          <a:bodyPr wrap="square" lIns="25400" tIns="25400" rIns="25400" bIns="25400" rtlCol="0" anchor="t">
            <a:normAutofit/>
          </a:bodyPr>
          <a:lstStyle/>
          <a:p>
            <a:pPr algn="l" indent="0" marL="0">
              <a:lnSpc>
                <a:spcPct val="130208"/>
              </a:lnSpc>
              <a:buNone/>
            </a:pPr>
            <a:r>
              <a:rPr lang="en-US" sz="1875" dirty="0">
                <a:solidFill>
                  <a:srgbClr val="6B6252"/>
                </a:solidFill>
                <a:latin typeface="Arial" pitchFamily="34" charset="0"/>
                <a:ea typeface="Arial" pitchFamily="34" charset="-122"/>
                <a:cs typeface="Arial" pitchFamily="34" charset="-120"/>
              </a:rPr>
              <a:t>Bit numbers in ND notation: </a:t>
            </a:r>
            <a:pPr algn="l" indent="0" marL="0">
              <a:lnSpc>
                <a:spcPct val="130208"/>
              </a:lnSpc>
              <a:buNone/>
            </a:pPr>
            <a:r>
              <a:rPr lang="en-US" sz="1875" dirty="0">
                <a:solidFill>
                  <a:srgbClr val="6B6252"/>
                </a:solidFill>
                <a:latin typeface="Courier New" pitchFamily="34" charset="0"/>
                <a:ea typeface="Courier New" pitchFamily="34" charset="-122"/>
                <a:cs typeface="Courier New" pitchFamily="34" charset="-120"/>
              </a:rPr>
              <a:t>BSKP … 30 DA </a:t>
            </a:r>
            <a:pPr algn="l" indent="0" marL="0">
              <a:lnSpc>
                <a:spcPct val="130208"/>
              </a:lnSpc>
              <a:buNone/>
            </a:pPr>
            <a:r>
              <a:rPr lang="en-US" sz="1875" dirty="0">
                <a:solidFill>
                  <a:srgbClr val="6B6252"/>
                </a:solidFill>
                <a:latin typeface="Arial" pitchFamily="34" charset="0"/>
                <a:ea typeface="Arial" pitchFamily="34" charset="-122"/>
                <a:cs typeface="Arial" pitchFamily="34" charset="-120"/>
              </a:rPr>
              <a:t>= bit 3, </a:t>
            </a:r>
            <a:pPr algn="l" indent="0" marL="0">
              <a:lnSpc>
                <a:spcPct val="130208"/>
              </a:lnSpc>
              <a:buNone/>
            </a:pPr>
            <a:r>
              <a:rPr lang="en-US" sz="1875" dirty="0">
                <a:solidFill>
                  <a:srgbClr val="6B6252"/>
                </a:solidFill>
                <a:latin typeface="Courier New" pitchFamily="34" charset="0"/>
                <a:ea typeface="Courier New" pitchFamily="34" charset="-122"/>
                <a:cs typeface="Courier New" pitchFamily="34" charset="-120"/>
              </a:rPr>
              <a:t>40 </a:t>
            </a:r>
            <a:pPr algn="l" indent="0" marL="0">
              <a:lnSpc>
                <a:spcPct val="130208"/>
              </a:lnSpc>
              <a:buNone/>
            </a:pPr>
            <a:r>
              <a:rPr lang="en-US" sz="1875" dirty="0">
                <a:solidFill>
                  <a:srgbClr val="6B6252"/>
                </a:solidFill>
                <a:latin typeface="Arial" pitchFamily="34" charset="0"/>
                <a:ea typeface="Arial" pitchFamily="34" charset="-122"/>
                <a:cs typeface="Arial" pitchFamily="34" charset="-120"/>
              </a:rPr>
              <a:t>= bit 4, </a:t>
            </a:r>
            <a:pPr algn="l" indent="0" marL="0">
              <a:lnSpc>
                <a:spcPct val="130208"/>
              </a:lnSpc>
              <a:buNone/>
            </a:pPr>
            <a:r>
              <a:rPr lang="en-US" sz="1875" dirty="0">
                <a:solidFill>
                  <a:srgbClr val="6B6252"/>
                </a:solidFill>
                <a:latin typeface="Courier New" pitchFamily="34" charset="0"/>
                <a:ea typeface="Courier New" pitchFamily="34" charset="-122"/>
                <a:cs typeface="Courier New" pitchFamily="34" charset="-120"/>
              </a:rPr>
              <a:t>170 </a:t>
            </a:r>
            <a:pPr algn="l" indent="0" marL="0">
              <a:lnSpc>
                <a:spcPct val="130208"/>
              </a:lnSpc>
              <a:buNone/>
            </a:pPr>
            <a:r>
              <a:rPr lang="en-US" sz="1875" dirty="0">
                <a:solidFill>
                  <a:srgbClr val="6B6252"/>
                </a:solidFill>
                <a:latin typeface="Arial" pitchFamily="34" charset="0"/>
                <a:ea typeface="Arial" pitchFamily="34" charset="-122"/>
                <a:cs typeface="Arial" pitchFamily="34" charset="-120"/>
              </a:rPr>
              <a:t>= bit 15 (octal tens = bit index).</a:t>
            </a:r>
            <a:endParaRPr lang="en-US" sz="187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2EDE1"/>
        </a:solidFill>
      </p:bgPr>
    </p:bg>
    <p:spTree>
      <p:nvGrpSpPr>
        <p:cNvPr id="1" name=""/>
        <p:cNvGrpSpPr/>
        <p:nvPr/>
      </p:nvGrpSpPr>
      <p:grpSpPr>
        <a:xfrm>
          <a:off x="0" y="0"/>
          <a:ext cx="0" cy="0"/>
          <a:chOff x="0" y="0"/>
          <a:chExt cx="0" cy="0"/>
        </a:xfrm>
      </p:grpSpPr>
      <p:sp>
        <p:nvSpPr>
          <p:cNvPr id="2" name="Text 0"/>
          <p:cNvSpPr/>
          <p:nvPr/>
        </p:nvSpPr>
        <p:spPr>
          <a:xfrm>
            <a:off x="952500" y="857250"/>
            <a:ext cx="18021300" cy="33528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C8501E"/>
                </a:solidFill>
                <a:latin typeface="Courier New" pitchFamily="34" charset="0"/>
                <a:ea typeface="Courier New" pitchFamily="34" charset="-122"/>
                <a:cs typeface="Courier New" pitchFamily="34" charset="-120"/>
              </a:rPr>
              <a:t>SECTION 03 · DEVICES · TTY</a:t>
            </a:r>
            <a:endParaRPr lang="en-US" sz="1800" dirty="0"/>
          </a:p>
        </p:txBody>
      </p:sp>
      <p:sp>
        <p:nvSpPr>
          <p:cNvPr id="3" name="Text 1"/>
          <p:cNvSpPr/>
          <p:nvPr/>
        </p:nvSpPr>
        <p:spPr>
          <a:xfrm>
            <a:off x="952500" y="1306830"/>
            <a:ext cx="18021300" cy="666750"/>
          </a:xfrm>
          <a:prstGeom prst="rect">
            <a:avLst/>
          </a:prstGeom>
          <a:noFill/>
          <a:ln/>
        </p:spPr>
        <p:txBody>
          <a:bodyPr wrap="square" lIns="25400" tIns="25400" rIns="25400" bIns="25400" rtlCol="0" anchor="t">
            <a:normAutofit/>
          </a:bodyPr>
          <a:lstStyle/>
          <a:p>
            <a:pPr algn="l" indent="0" marL="0">
              <a:lnSpc>
                <a:spcPct val="97059"/>
              </a:lnSpc>
              <a:buNone/>
            </a:pPr>
            <a:r>
              <a:rPr lang="en-US" sz="4500" b="1" dirty="0">
                <a:solidFill>
                  <a:srgbClr val="211C14"/>
                </a:solidFill>
                <a:latin typeface="Courier New" pitchFamily="34" charset="0"/>
                <a:ea typeface="Courier New" pitchFamily="34" charset="-122"/>
                <a:cs typeface="Courier New" pitchFamily="34" charset="-120"/>
              </a:rPr>
              <a:t>Terminals </a:t>
            </a:r>
            <a:pPr algn="l" indent="0" marL="0">
              <a:lnSpc>
                <a:spcPct val="97059"/>
              </a:lnSpc>
              <a:buNone/>
            </a:pPr>
            <a:r>
              <a:rPr lang="en-US" sz="2700" dirty="0">
                <a:solidFill>
                  <a:srgbClr val="6B6252"/>
                </a:solidFill>
                <a:latin typeface="Courier New" pitchFamily="34" charset="0"/>
                <a:ea typeface="Courier New" pitchFamily="34" charset="-122"/>
                <a:cs typeface="Courier New" pitchFamily="34" charset="-120"/>
              </a:rPr>
              <a:t>IOX 300₈+10₈n · in = base, out = base+4</a:t>
            </a:r>
            <a:endParaRPr lang="en-US" sz="4500" dirty="0"/>
          </a:p>
        </p:txBody>
      </p:sp>
      <p:sp>
        <p:nvSpPr>
          <p:cNvPr id="4" name="Shape 2"/>
          <p:cNvSpPr/>
          <p:nvPr/>
        </p:nvSpPr>
        <p:spPr>
          <a:xfrm>
            <a:off x="952500" y="2087880"/>
            <a:ext cx="16383000" cy="28575"/>
          </a:xfrm>
          <a:prstGeom prst="rect">
            <a:avLst/>
          </a:prstGeom>
          <a:solidFill>
            <a:srgbClr val="211C14"/>
          </a:solidFill>
          <a:ln/>
        </p:spPr>
      </p:sp>
      <p:sp>
        <p:nvSpPr>
          <p:cNvPr id="5" name="Shape 3"/>
          <p:cNvSpPr/>
          <p:nvPr/>
        </p:nvSpPr>
        <p:spPr>
          <a:xfrm>
            <a:off x="952500" y="3065145"/>
            <a:ext cx="9144000" cy="9525"/>
          </a:xfrm>
          <a:prstGeom prst="rect">
            <a:avLst/>
          </a:prstGeom>
          <a:solidFill>
            <a:srgbClr val="CEC4AD"/>
          </a:solidFill>
          <a:ln/>
        </p:spPr>
      </p:sp>
      <p:sp>
        <p:nvSpPr>
          <p:cNvPr id="6" name="Text 4"/>
          <p:cNvSpPr/>
          <p:nvPr/>
        </p:nvSpPr>
        <p:spPr>
          <a:xfrm>
            <a:off x="952500" y="2621280"/>
            <a:ext cx="2095500" cy="358140"/>
          </a:xfrm>
          <a:prstGeom prst="rect">
            <a:avLst/>
          </a:prstGeom>
          <a:noFill/>
          <a:ln/>
        </p:spPr>
        <p:txBody>
          <a:bodyPr wrap="square" lIns="25400" tIns="25400" rIns="25400" bIns="25400" rtlCol="0" anchor="t">
            <a:normAutofit/>
          </a:bodyPr>
          <a:lstStyle/>
          <a:p>
            <a:pPr algn="l" indent="0" marL="0">
              <a:buNone/>
            </a:pPr>
            <a:r>
              <a:rPr lang="en-US" sz="1950" b="1" dirty="0">
                <a:solidFill>
                  <a:srgbClr val="211C14"/>
                </a:solidFill>
                <a:latin typeface="Courier New" pitchFamily="34" charset="0"/>
                <a:ea typeface="Courier New" pitchFamily="34" charset="-122"/>
                <a:cs typeface="Courier New" pitchFamily="34" charset="-120"/>
              </a:rPr>
              <a:t>300 / 304</a:t>
            </a:r>
            <a:endParaRPr lang="en-US" sz="1950" dirty="0"/>
          </a:p>
        </p:txBody>
      </p:sp>
      <p:sp>
        <p:nvSpPr>
          <p:cNvPr id="7" name="Text 5"/>
          <p:cNvSpPr/>
          <p:nvPr/>
        </p:nvSpPr>
        <p:spPr>
          <a:xfrm>
            <a:off x="3067050" y="2621280"/>
            <a:ext cx="7732395" cy="358140"/>
          </a:xfrm>
          <a:prstGeom prst="rect">
            <a:avLst/>
          </a:prstGeom>
          <a:noFill/>
          <a:ln/>
        </p:spPr>
        <p:txBody>
          <a:bodyPr wrap="square" lIns="25400" tIns="25400" rIns="25400" bIns="25400" rtlCol="0" anchor="t">
            <a:normAutofit/>
          </a:bodyPr>
          <a:lstStyle/>
          <a:p>
            <a:pPr algn="l" indent="0" marL="0">
              <a:buNone/>
            </a:pPr>
            <a:r>
              <a:rPr lang="en-US" sz="1950" dirty="0">
                <a:solidFill>
                  <a:srgbClr val="211C14"/>
                </a:solidFill>
                <a:latin typeface="Arial" pitchFamily="34" charset="0"/>
                <a:ea typeface="Arial" pitchFamily="34" charset="-122"/>
                <a:cs typeface="Arial" pitchFamily="34" charset="-120"/>
              </a:rPr>
              <a:t>TTY1 read data / write data</a:t>
            </a:r>
            <a:endParaRPr lang="en-US" sz="1950" dirty="0"/>
          </a:p>
        </p:txBody>
      </p:sp>
      <p:sp>
        <p:nvSpPr>
          <p:cNvPr id="8" name="Shape 6"/>
          <p:cNvSpPr/>
          <p:nvPr/>
        </p:nvSpPr>
        <p:spPr>
          <a:xfrm>
            <a:off x="952500" y="3640455"/>
            <a:ext cx="9144000" cy="9525"/>
          </a:xfrm>
          <a:prstGeom prst="rect">
            <a:avLst/>
          </a:prstGeom>
          <a:solidFill>
            <a:srgbClr val="CEC4AD"/>
          </a:solidFill>
          <a:ln/>
        </p:spPr>
      </p:sp>
      <p:sp>
        <p:nvSpPr>
          <p:cNvPr id="9" name="Text 7"/>
          <p:cNvSpPr/>
          <p:nvPr/>
        </p:nvSpPr>
        <p:spPr>
          <a:xfrm>
            <a:off x="952500" y="3196590"/>
            <a:ext cx="2095500" cy="358140"/>
          </a:xfrm>
          <a:prstGeom prst="rect">
            <a:avLst/>
          </a:prstGeom>
          <a:noFill/>
          <a:ln/>
        </p:spPr>
        <p:txBody>
          <a:bodyPr wrap="square" lIns="25400" tIns="25400" rIns="25400" bIns="25400" rtlCol="0" anchor="t">
            <a:normAutofit/>
          </a:bodyPr>
          <a:lstStyle/>
          <a:p>
            <a:pPr algn="l" indent="0" marL="0">
              <a:buNone/>
            </a:pPr>
            <a:r>
              <a:rPr lang="en-US" sz="1950" b="1" dirty="0">
                <a:solidFill>
                  <a:srgbClr val="211C14"/>
                </a:solidFill>
                <a:latin typeface="Courier New" pitchFamily="34" charset="0"/>
                <a:ea typeface="Courier New" pitchFamily="34" charset="-122"/>
                <a:cs typeface="Courier New" pitchFamily="34" charset="-120"/>
              </a:rPr>
              <a:t>302 / 306</a:t>
            </a:r>
            <a:endParaRPr lang="en-US" sz="1950" dirty="0"/>
          </a:p>
        </p:txBody>
      </p:sp>
      <p:sp>
        <p:nvSpPr>
          <p:cNvPr id="10" name="Text 8"/>
          <p:cNvSpPr/>
          <p:nvPr/>
        </p:nvSpPr>
        <p:spPr>
          <a:xfrm>
            <a:off x="3067050" y="3196590"/>
            <a:ext cx="7732395" cy="358140"/>
          </a:xfrm>
          <a:prstGeom prst="rect">
            <a:avLst/>
          </a:prstGeom>
          <a:noFill/>
          <a:ln/>
        </p:spPr>
        <p:txBody>
          <a:bodyPr wrap="square" lIns="25400" tIns="25400" rIns="25400" bIns="25400" rtlCol="0" anchor="t">
            <a:normAutofit/>
          </a:bodyPr>
          <a:lstStyle/>
          <a:p>
            <a:pPr algn="l" indent="0" marL="0">
              <a:buNone/>
            </a:pPr>
            <a:r>
              <a:rPr lang="en-US" sz="1950" dirty="0">
                <a:solidFill>
                  <a:srgbClr val="211C14"/>
                </a:solidFill>
                <a:latin typeface="Arial" pitchFamily="34" charset="0"/>
                <a:ea typeface="Arial" pitchFamily="34" charset="-122"/>
                <a:cs typeface="Arial" pitchFamily="34" charset="-120"/>
              </a:rPr>
              <a:t>TTY1 read status (in) / (out)</a:t>
            </a:r>
            <a:endParaRPr lang="en-US" sz="1950" dirty="0"/>
          </a:p>
        </p:txBody>
      </p:sp>
      <p:sp>
        <p:nvSpPr>
          <p:cNvPr id="11" name="Shape 9"/>
          <p:cNvSpPr/>
          <p:nvPr/>
        </p:nvSpPr>
        <p:spPr>
          <a:xfrm>
            <a:off x="952500" y="4215765"/>
            <a:ext cx="9144000" cy="9525"/>
          </a:xfrm>
          <a:prstGeom prst="rect">
            <a:avLst/>
          </a:prstGeom>
          <a:solidFill>
            <a:srgbClr val="CEC4AD"/>
          </a:solidFill>
          <a:ln/>
        </p:spPr>
      </p:sp>
      <p:sp>
        <p:nvSpPr>
          <p:cNvPr id="12" name="Text 10"/>
          <p:cNvSpPr/>
          <p:nvPr/>
        </p:nvSpPr>
        <p:spPr>
          <a:xfrm>
            <a:off x="952500" y="3771900"/>
            <a:ext cx="2095500" cy="358140"/>
          </a:xfrm>
          <a:prstGeom prst="rect">
            <a:avLst/>
          </a:prstGeom>
          <a:noFill/>
          <a:ln/>
        </p:spPr>
        <p:txBody>
          <a:bodyPr wrap="square" lIns="25400" tIns="25400" rIns="25400" bIns="25400" rtlCol="0" anchor="t">
            <a:normAutofit/>
          </a:bodyPr>
          <a:lstStyle/>
          <a:p>
            <a:pPr algn="l" indent="0" marL="0">
              <a:buNone/>
            </a:pPr>
            <a:r>
              <a:rPr lang="en-US" sz="1950" b="1" dirty="0">
                <a:solidFill>
                  <a:srgbClr val="211C14"/>
                </a:solidFill>
                <a:latin typeface="Courier New" pitchFamily="34" charset="0"/>
                <a:ea typeface="Courier New" pitchFamily="34" charset="-122"/>
                <a:cs typeface="Courier New" pitchFamily="34" charset="-120"/>
              </a:rPr>
              <a:t>303 / 307</a:t>
            </a:r>
            <a:endParaRPr lang="en-US" sz="1950" dirty="0"/>
          </a:p>
        </p:txBody>
      </p:sp>
      <p:sp>
        <p:nvSpPr>
          <p:cNvPr id="13" name="Text 11"/>
          <p:cNvSpPr/>
          <p:nvPr/>
        </p:nvSpPr>
        <p:spPr>
          <a:xfrm>
            <a:off x="3067050" y="3771900"/>
            <a:ext cx="7732395" cy="358140"/>
          </a:xfrm>
          <a:prstGeom prst="rect">
            <a:avLst/>
          </a:prstGeom>
          <a:noFill/>
          <a:ln/>
        </p:spPr>
        <p:txBody>
          <a:bodyPr wrap="square" lIns="25400" tIns="25400" rIns="25400" bIns="25400" rtlCol="0" anchor="t">
            <a:normAutofit/>
          </a:bodyPr>
          <a:lstStyle/>
          <a:p>
            <a:pPr algn="l" indent="0" marL="0">
              <a:buNone/>
            </a:pPr>
            <a:r>
              <a:rPr lang="en-US" sz="1950" dirty="0">
                <a:solidFill>
                  <a:srgbClr val="211C14"/>
                </a:solidFill>
                <a:latin typeface="Arial" pitchFamily="34" charset="0"/>
                <a:ea typeface="Arial" pitchFamily="34" charset="-122"/>
                <a:cs typeface="Arial" pitchFamily="34" charset="-120"/>
              </a:rPr>
              <a:t>TTY1 write control (in) / (out)</a:t>
            </a:r>
            <a:endParaRPr lang="en-US" sz="1950" dirty="0"/>
          </a:p>
        </p:txBody>
      </p:sp>
      <p:sp>
        <p:nvSpPr>
          <p:cNvPr id="14" name="Shape 12"/>
          <p:cNvSpPr/>
          <p:nvPr/>
        </p:nvSpPr>
        <p:spPr>
          <a:xfrm>
            <a:off x="952500" y="4791075"/>
            <a:ext cx="9144000" cy="15240"/>
          </a:xfrm>
          <a:prstGeom prst="rect">
            <a:avLst/>
          </a:prstGeom>
          <a:solidFill>
            <a:srgbClr val="211C14"/>
          </a:solidFill>
          <a:ln/>
        </p:spPr>
      </p:sp>
      <p:sp>
        <p:nvSpPr>
          <p:cNvPr id="15" name="Text 13"/>
          <p:cNvSpPr/>
          <p:nvPr/>
        </p:nvSpPr>
        <p:spPr>
          <a:xfrm>
            <a:off x="952500" y="4347210"/>
            <a:ext cx="2095500" cy="358140"/>
          </a:xfrm>
          <a:prstGeom prst="rect">
            <a:avLst/>
          </a:prstGeom>
          <a:noFill/>
          <a:ln/>
        </p:spPr>
        <p:txBody>
          <a:bodyPr wrap="square" lIns="25400" tIns="25400" rIns="25400" bIns="25400" rtlCol="0" anchor="t">
            <a:normAutofit/>
          </a:bodyPr>
          <a:lstStyle/>
          <a:p>
            <a:pPr algn="l" indent="0" marL="0">
              <a:buNone/>
            </a:pPr>
            <a:r>
              <a:rPr lang="en-US" sz="1950" b="1" dirty="0">
                <a:solidFill>
                  <a:srgbClr val="211C14"/>
                </a:solidFill>
                <a:latin typeface="Courier New" pitchFamily="34" charset="0"/>
                <a:ea typeface="Courier New" pitchFamily="34" charset="-122"/>
                <a:cs typeface="Courier New" pitchFamily="34" charset="-120"/>
              </a:rPr>
              <a:t>…1370</a:t>
            </a:r>
            <a:endParaRPr lang="en-US" sz="1950" dirty="0"/>
          </a:p>
        </p:txBody>
      </p:sp>
      <p:sp>
        <p:nvSpPr>
          <p:cNvPr id="16" name="Text 14"/>
          <p:cNvSpPr/>
          <p:nvPr/>
        </p:nvSpPr>
        <p:spPr>
          <a:xfrm>
            <a:off x="3067050" y="4347210"/>
            <a:ext cx="7732395" cy="358140"/>
          </a:xfrm>
          <a:prstGeom prst="rect">
            <a:avLst/>
          </a:prstGeom>
          <a:noFill/>
          <a:ln/>
        </p:spPr>
        <p:txBody>
          <a:bodyPr wrap="square" lIns="25400" tIns="25400" rIns="25400" bIns="25400" rtlCol="0" anchor="t">
            <a:normAutofit/>
          </a:bodyPr>
          <a:lstStyle/>
          <a:p>
            <a:pPr algn="l" indent="0" marL="0">
              <a:buNone/>
            </a:pPr>
            <a:r>
              <a:rPr lang="en-US" sz="1950" dirty="0">
                <a:solidFill>
                  <a:srgbClr val="211C14"/>
                </a:solidFill>
                <a:latin typeface="Arial" pitchFamily="34" charset="0"/>
                <a:ea typeface="Arial" pitchFamily="34" charset="-122"/>
                <a:cs typeface="Arial" pitchFamily="34" charset="-120"/>
              </a:rPr>
              <a:t>TTY9–16 at 1300–1370</a:t>
            </a:r>
            <a:endParaRPr lang="en-US" sz="1950" dirty="0"/>
          </a:p>
        </p:txBody>
      </p:sp>
      <p:sp>
        <p:nvSpPr>
          <p:cNvPr id="17" name="Text 15"/>
          <p:cNvSpPr/>
          <p:nvPr/>
        </p:nvSpPr>
        <p:spPr>
          <a:xfrm>
            <a:off x="952500" y="5015865"/>
            <a:ext cx="10058400"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252"/>
                </a:solidFill>
                <a:latin typeface="Courier New" pitchFamily="34" charset="0"/>
                <a:ea typeface="Courier New" pitchFamily="34" charset="-122"/>
                <a:cs typeface="Courier New" pitchFamily="34" charset="-120"/>
              </a:rPr>
              <a:t>STATUS BITS USED (RSR)</a:t>
            </a:r>
            <a:endParaRPr lang="en-US" sz="1800" dirty="0"/>
          </a:p>
        </p:txBody>
      </p:sp>
      <p:sp>
        <p:nvSpPr>
          <p:cNvPr id="18" name="Shape 16"/>
          <p:cNvSpPr/>
          <p:nvPr/>
        </p:nvSpPr>
        <p:spPr>
          <a:xfrm>
            <a:off x="952500" y="5892165"/>
            <a:ext cx="9144000" cy="9525"/>
          </a:xfrm>
          <a:prstGeom prst="rect">
            <a:avLst/>
          </a:prstGeom>
          <a:solidFill>
            <a:srgbClr val="CEC4AD"/>
          </a:solidFill>
          <a:ln/>
        </p:spPr>
      </p:sp>
      <p:sp>
        <p:nvSpPr>
          <p:cNvPr id="19" name="Text 17"/>
          <p:cNvSpPr/>
          <p:nvPr/>
        </p:nvSpPr>
        <p:spPr>
          <a:xfrm>
            <a:off x="952500" y="5484495"/>
            <a:ext cx="1362075" cy="350520"/>
          </a:xfrm>
          <a:prstGeom prst="rect">
            <a:avLst/>
          </a:prstGeom>
          <a:noFill/>
          <a:ln/>
        </p:spPr>
        <p:txBody>
          <a:bodyPr wrap="square" lIns="25400" tIns="25400" rIns="25400" bIns="25400" rtlCol="0" anchor="t">
            <a:normAutofit/>
          </a:bodyPr>
          <a:lstStyle/>
          <a:p>
            <a:pPr algn="l" indent="0" marL="0">
              <a:buNone/>
            </a:pPr>
            <a:r>
              <a:rPr lang="en-US" sz="1875" b="1" dirty="0">
                <a:solidFill>
                  <a:srgbClr val="211C14"/>
                </a:solidFill>
                <a:latin typeface="Courier New" pitchFamily="34" charset="0"/>
                <a:ea typeface="Courier New" pitchFamily="34" charset="-122"/>
                <a:cs typeface="Courier New" pitchFamily="34" charset="-120"/>
              </a:rPr>
              <a:t>bit 3</a:t>
            </a:r>
            <a:endParaRPr lang="en-US" sz="1875" dirty="0"/>
          </a:p>
        </p:txBody>
      </p:sp>
      <p:sp>
        <p:nvSpPr>
          <p:cNvPr id="20" name="Text 18"/>
          <p:cNvSpPr/>
          <p:nvPr/>
        </p:nvSpPr>
        <p:spPr>
          <a:xfrm>
            <a:off x="2400300" y="5484495"/>
            <a:ext cx="8465820" cy="350520"/>
          </a:xfrm>
          <a:prstGeom prst="rect">
            <a:avLst/>
          </a:prstGeom>
          <a:noFill/>
          <a:ln/>
        </p:spPr>
        <p:txBody>
          <a:bodyPr wrap="square" lIns="25400" tIns="25400" rIns="25400" bIns="25400" rtlCol="0" anchor="t">
            <a:normAutofit/>
          </a:bodyPr>
          <a:lstStyle/>
          <a:p>
            <a:pPr algn="l" indent="0" marL="0">
              <a:buNone/>
            </a:pPr>
            <a:r>
              <a:rPr lang="en-US" sz="1875" dirty="0">
                <a:solidFill>
                  <a:srgbClr val="211C14"/>
                </a:solidFill>
                <a:latin typeface="Arial" pitchFamily="34" charset="0"/>
                <a:ea typeface="Arial" pitchFamily="34" charset="-122"/>
                <a:cs typeface="Arial" pitchFamily="34" charset="-120"/>
              </a:rPr>
              <a:t>char received / transmitter ready</a:t>
            </a:r>
            <a:endParaRPr lang="en-US" sz="1875" dirty="0"/>
          </a:p>
        </p:txBody>
      </p:sp>
      <p:sp>
        <p:nvSpPr>
          <p:cNvPr id="21" name="Shape 19"/>
          <p:cNvSpPr/>
          <p:nvPr/>
        </p:nvSpPr>
        <p:spPr>
          <a:xfrm>
            <a:off x="952500" y="6478905"/>
            <a:ext cx="9144000" cy="9525"/>
          </a:xfrm>
          <a:prstGeom prst="rect">
            <a:avLst/>
          </a:prstGeom>
          <a:solidFill>
            <a:srgbClr val="CEC4AD"/>
          </a:solidFill>
          <a:ln/>
        </p:spPr>
      </p:sp>
      <p:sp>
        <p:nvSpPr>
          <p:cNvPr id="22" name="Text 20"/>
          <p:cNvSpPr/>
          <p:nvPr/>
        </p:nvSpPr>
        <p:spPr>
          <a:xfrm>
            <a:off x="952500" y="6071235"/>
            <a:ext cx="1362075" cy="350520"/>
          </a:xfrm>
          <a:prstGeom prst="rect">
            <a:avLst/>
          </a:prstGeom>
          <a:noFill/>
          <a:ln/>
        </p:spPr>
        <p:txBody>
          <a:bodyPr wrap="square" lIns="25400" tIns="25400" rIns="25400" bIns="25400" rtlCol="0" anchor="t">
            <a:normAutofit/>
          </a:bodyPr>
          <a:lstStyle/>
          <a:p>
            <a:pPr algn="l" indent="0" marL="0">
              <a:buNone/>
            </a:pPr>
            <a:r>
              <a:rPr lang="en-US" sz="1875" b="1" dirty="0">
                <a:solidFill>
                  <a:srgbClr val="211C14"/>
                </a:solidFill>
                <a:latin typeface="Courier New" pitchFamily="34" charset="0"/>
                <a:ea typeface="Courier New" pitchFamily="34" charset="-122"/>
                <a:cs typeface="Courier New" pitchFamily="34" charset="-120"/>
              </a:rPr>
              <a:t>bit 4</a:t>
            </a:r>
            <a:endParaRPr lang="en-US" sz="1875" dirty="0"/>
          </a:p>
        </p:txBody>
      </p:sp>
      <p:sp>
        <p:nvSpPr>
          <p:cNvPr id="23" name="Text 21"/>
          <p:cNvSpPr/>
          <p:nvPr/>
        </p:nvSpPr>
        <p:spPr>
          <a:xfrm>
            <a:off x="2400300" y="6071235"/>
            <a:ext cx="8465820" cy="350520"/>
          </a:xfrm>
          <a:prstGeom prst="rect">
            <a:avLst/>
          </a:prstGeom>
          <a:noFill/>
          <a:ln/>
        </p:spPr>
        <p:txBody>
          <a:bodyPr wrap="square" lIns="25400" tIns="25400" rIns="25400" bIns="25400" rtlCol="0" anchor="t">
            <a:normAutofit/>
          </a:bodyPr>
          <a:lstStyle/>
          <a:p>
            <a:pPr algn="l" indent="0" marL="0">
              <a:buNone/>
            </a:pPr>
            <a:r>
              <a:rPr lang="en-US" sz="1875" dirty="0">
                <a:solidFill>
                  <a:srgbClr val="211C14"/>
                </a:solidFill>
                <a:latin typeface="Arial" pitchFamily="34" charset="0"/>
                <a:ea typeface="Arial" pitchFamily="34" charset="-122"/>
                <a:cs typeface="Arial" pitchFamily="34" charset="-120"/>
              </a:rPr>
              <a:t>error OR → counted in SER10/12/23</a:t>
            </a:r>
            <a:endParaRPr lang="en-US" sz="1875" dirty="0"/>
          </a:p>
        </p:txBody>
      </p:sp>
      <p:sp>
        <p:nvSpPr>
          <p:cNvPr id="24" name="Shape 22"/>
          <p:cNvSpPr/>
          <p:nvPr/>
        </p:nvSpPr>
        <p:spPr>
          <a:xfrm>
            <a:off x="952500" y="7065645"/>
            <a:ext cx="9144000" cy="9525"/>
          </a:xfrm>
          <a:prstGeom prst="rect">
            <a:avLst/>
          </a:prstGeom>
          <a:solidFill>
            <a:srgbClr val="CEC4AD"/>
          </a:solidFill>
          <a:ln/>
        </p:spPr>
      </p:sp>
      <p:sp>
        <p:nvSpPr>
          <p:cNvPr id="25" name="Text 23"/>
          <p:cNvSpPr/>
          <p:nvPr/>
        </p:nvSpPr>
        <p:spPr>
          <a:xfrm>
            <a:off x="952500" y="6657975"/>
            <a:ext cx="1362075" cy="350520"/>
          </a:xfrm>
          <a:prstGeom prst="rect">
            <a:avLst/>
          </a:prstGeom>
          <a:noFill/>
          <a:ln/>
        </p:spPr>
        <p:txBody>
          <a:bodyPr wrap="square" lIns="25400" tIns="25400" rIns="25400" bIns="25400" rtlCol="0" anchor="t">
            <a:normAutofit/>
          </a:bodyPr>
          <a:lstStyle/>
          <a:p>
            <a:pPr algn="l" indent="0" marL="0">
              <a:buNone/>
            </a:pPr>
            <a:r>
              <a:rPr lang="en-US" sz="1875" b="1" dirty="0">
                <a:solidFill>
                  <a:srgbClr val="211C14"/>
                </a:solidFill>
                <a:latin typeface="Courier New" pitchFamily="34" charset="0"/>
                <a:ea typeface="Courier New" pitchFamily="34" charset="-122"/>
                <a:cs typeface="Courier New" pitchFamily="34" charset="-120"/>
              </a:rPr>
              <a:t>WCR←5</a:t>
            </a:r>
            <a:endParaRPr lang="en-US" sz="1875" dirty="0"/>
          </a:p>
        </p:txBody>
      </p:sp>
      <p:sp>
        <p:nvSpPr>
          <p:cNvPr id="26" name="Text 24"/>
          <p:cNvSpPr/>
          <p:nvPr/>
        </p:nvSpPr>
        <p:spPr>
          <a:xfrm>
            <a:off x="2400300" y="6657975"/>
            <a:ext cx="8465820" cy="350520"/>
          </a:xfrm>
          <a:prstGeom prst="rect">
            <a:avLst/>
          </a:prstGeom>
          <a:noFill/>
          <a:ln/>
        </p:spPr>
        <p:txBody>
          <a:bodyPr wrap="square" lIns="25400" tIns="25400" rIns="25400" bIns="25400" rtlCol="0" anchor="t">
            <a:normAutofit/>
          </a:bodyPr>
          <a:lstStyle/>
          <a:p>
            <a:pPr algn="l" indent="0" marL="0">
              <a:buNone/>
            </a:pPr>
            <a:r>
              <a:rPr lang="en-US" sz="1875" dirty="0">
                <a:solidFill>
                  <a:srgbClr val="211C14"/>
                </a:solidFill>
                <a:latin typeface="Arial" pitchFamily="34" charset="0"/>
                <a:ea typeface="Arial" pitchFamily="34" charset="-122"/>
                <a:cs typeface="Arial" pitchFamily="34" charset="-120"/>
              </a:rPr>
              <a:t>arm interrupt + activate after each char</a:t>
            </a:r>
            <a:endParaRPr lang="en-US" sz="1875" dirty="0"/>
          </a:p>
        </p:txBody>
      </p:sp>
      <p:sp>
        <p:nvSpPr>
          <p:cNvPr id="27" name="Shape 25"/>
          <p:cNvSpPr/>
          <p:nvPr/>
        </p:nvSpPr>
        <p:spPr>
          <a:xfrm>
            <a:off x="10668000" y="2497455"/>
            <a:ext cx="6667500" cy="3253740"/>
          </a:xfrm>
          <a:prstGeom prst="rect">
            <a:avLst/>
          </a:prstGeom>
          <a:solidFill>
            <a:srgbClr val="2A2620"/>
          </a:solidFill>
          <a:ln/>
        </p:spPr>
      </p:sp>
      <p:sp>
        <p:nvSpPr>
          <p:cNvPr id="28" name="Text 26"/>
          <p:cNvSpPr/>
          <p:nvPr/>
        </p:nvSpPr>
        <p:spPr>
          <a:xfrm>
            <a:off x="10991850" y="2764155"/>
            <a:ext cx="6200394" cy="42672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E8935A"/>
                </a:solidFill>
                <a:latin typeface="Courier New" pitchFamily="34" charset="0"/>
                <a:ea typeface="Courier New" pitchFamily="34" charset="-122"/>
                <a:cs typeface="Courier New" pitchFamily="34" charset="-120"/>
              </a:rPr>
              <a:t>% INPUT FLOW (TTYDI, LEVEL 12)</a:t>
            </a:r>
            <a:endParaRPr lang="en-US" sz="1800" dirty="0"/>
          </a:p>
        </p:txBody>
      </p:sp>
      <p:sp>
        <p:nvSpPr>
          <p:cNvPr id="29" name="Text 27"/>
          <p:cNvSpPr/>
          <p:nvPr/>
        </p:nvSpPr>
        <p:spPr>
          <a:xfrm>
            <a:off x="10991850" y="3152775"/>
            <a:ext cx="6200394" cy="42672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E6DEC9"/>
                </a:solidFill>
                <a:latin typeface="Courier New" pitchFamily="34" charset="0"/>
                <a:ea typeface="Courier New" pitchFamily="34" charset="-122"/>
                <a:cs typeface="Courier New" pitchFamily="34" charset="-120"/>
              </a:rPr>
              <a:t>IOX ttyi RSR → BIT 4 SET? → TERR</a:t>
            </a:r>
            <a:endParaRPr lang="en-US" sz="1800" dirty="0"/>
          </a:p>
        </p:txBody>
      </p:sp>
      <p:sp>
        <p:nvSpPr>
          <p:cNvPr id="30" name="Text 28"/>
          <p:cNvSpPr/>
          <p:nvPr/>
        </p:nvSpPr>
        <p:spPr>
          <a:xfrm>
            <a:off x="10991850" y="3541395"/>
            <a:ext cx="6200394" cy="42672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E6DEC9"/>
                </a:solidFill>
                <a:latin typeface="Courier New" pitchFamily="34" charset="0"/>
                <a:ea typeface="Courier New" pitchFamily="34" charset="-122"/>
                <a:cs typeface="Courier New" pitchFamily="34" charset="-120"/>
              </a:rPr>
              <a:t>IOX ttyi RDR → CHAR → CKPAR PARITY</a:t>
            </a:r>
            <a:endParaRPr lang="en-US" sz="1800" dirty="0"/>
          </a:p>
        </p:txBody>
      </p:sp>
      <p:sp>
        <p:nvSpPr>
          <p:cNvPr id="31" name="Text 29"/>
          <p:cNvSpPr/>
          <p:nvPr/>
        </p:nvSpPr>
        <p:spPr>
          <a:xfrm>
            <a:off x="10991850" y="3930015"/>
            <a:ext cx="6200394" cy="42672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E6DEC9"/>
                </a:solidFill>
                <a:latin typeface="Courier New" pitchFamily="34" charset="0"/>
                <a:ea typeface="Courier New" pitchFamily="34" charset="-122"/>
                <a:cs typeface="Courier New" pitchFamily="34" charset="-120"/>
              </a:rPr>
              <a:t>WBUF: RING BUFFER, 2 CHARS/WORD</a:t>
            </a:r>
            <a:endParaRPr lang="en-US" sz="1800" dirty="0"/>
          </a:p>
        </p:txBody>
      </p:sp>
      <p:sp>
        <p:nvSpPr>
          <p:cNvPr id="32" name="Text 30"/>
          <p:cNvSpPr/>
          <p:nvPr/>
        </p:nvSpPr>
        <p:spPr>
          <a:xfrm>
            <a:off x="10991850" y="4318635"/>
            <a:ext cx="6200394" cy="42672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E6DEC9"/>
                </a:solidFill>
                <a:latin typeface="Courier New" pitchFamily="34" charset="0"/>
                <a:ea typeface="Courier New" pitchFamily="34" charset="-122"/>
                <a:cs typeface="Courier New" pitchFamily="34" charset="-120"/>
              </a:rPr>
              <a:t>BRKCH: BREAK STRATEGY 0/1/2/USER</a:t>
            </a:r>
            <a:endParaRPr lang="en-US" sz="1800" dirty="0"/>
          </a:p>
        </p:txBody>
      </p:sp>
      <p:sp>
        <p:nvSpPr>
          <p:cNvPr id="33" name="Text 31"/>
          <p:cNvSpPr/>
          <p:nvPr/>
        </p:nvSpPr>
        <p:spPr>
          <a:xfrm>
            <a:off x="10991850" y="4707255"/>
            <a:ext cx="6200394" cy="42672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E6DEC9"/>
                </a:solidFill>
                <a:latin typeface="Courier New" pitchFamily="34" charset="0"/>
                <a:ea typeface="Courier New" pitchFamily="34" charset="-122"/>
                <a:cs typeface="Courier New" pitchFamily="34" charset="-120"/>
              </a:rPr>
              <a:t>ECHCH: ECHO NOW / DEFERRED / NONE</a:t>
            </a:r>
            <a:endParaRPr lang="en-US" sz="1800" dirty="0"/>
          </a:p>
        </p:txBody>
      </p:sp>
      <p:sp>
        <p:nvSpPr>
          <p:cNvPr id="34" name="Text 32"/>
          <p:cNvSpPr/>
          <p:nvPr/>
        </p:nvSpPr>
        <p:spPr>
          <a:xfrm>
            <a:off x="10991850" y="5095875"/>
            <a:ext cx="6200394" cy="42672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E6DEC9"/>
                </a:solidFill>
                <a:latin typeface="Courier New" pitchFamily="34" charset="0"/>
                <a:ea typeface="Courier New" pitchFamily="34" charset="-122"/>
                <a:cs typeface="Courier New" pitchFamily="34" charset="-120"/>
              </a:rPr>
              <a:t>IOX ttyi WCR ← 5 (REARM)</a:t>
            </a:r>
            <a:endParaRPr lang="en-US" sz="1800" dirty="0"/>
          </a:p>
        </p:txBody>
      </p:sp>
      <p:sp>
        <p:nvSpPr>
          <p:cNvPr id="35" name="Text 33"/>
          <p:cNvSpPr/>
          <p:nvPr/>
        </p:nvSpPr>
        <p:spPr>
          <a:xfrm>
            <a:off x="10668000" y="5960745"/>
            <a:ext cx="6867525" cy="2038826"/>
          </a:xfrm>
          <a:prstGeom prst="rect">
            <a:avLst/>
          </a:prstGeom>
          <a:noFill/>
          <a:ln/>
        </p:spPr>
        <p:txBody>
          <a:bodyPr wrap="square" lIns="25400" tIns="25400" rIns="25400" bIns="25400" rtlCol="0" anchor="t">
            <a:normAutofit/>
          </a:bodyPr>
          <a:lstStyle/>
          <a:p>
            <a:pPr algn="l" indent="0" marL="0">
              <a:lnSpc>
                <a:spcPct val="134135"/>
              </a:lnSpc>
              <a:buNone/>
            </a:pPr>
            <a:r>
              <a:rPr lang="en-US" sz="2025" b="1" dirty="0">
                <a:solidFill>
                  <a:srgbClr val="211C14"/>
                </a:solidFill>
                <a:latin typeface="Arial" pitchFamily="34" charset="0"/>
                <a:ea typeface="Arial" pitchFamily="34" charset="-122"/>
                <a:cs typeface="Arial" pitchFamily="34" charset="-120"/>
              </a:rPr>
              <a:t>Break </a:t>
            </a:r>
            <a:pPr algn="l" indent="0" marL="0">
              <a:lnSpc>
                <a:spcPct val="134135"/>
              </a:lnSpc>
              <a:buNone/>
            </a:pPr>
            <a:r>
              <a:rPr lang="en-US" sz="2025" dirty="0">
                <a:solidFill>
                  <a:srgbClr val="211C14"/>
                </a:solidFill>
                <a:latin typeface="Arial" pitchFamily="34" charset="0"/>
                <a:ea typeface="Arial" pitchFamily="34" charset="-122"/>
                <a:cs typeface="Arial" pitchFamily="34" charset="-120"/>
              </a:rPr>
              <a:t>decides which character wakes the process; </a:t>
            </a:r>
            <a:pPr algn="l" indent="0" marL="0">
              <a:lnSpc>
                <a:spcPct val="134135"/>
              </a:lnSpc>
              <a:buNone/>
            </a:pPr>
            <a:r>
              <a:rPr lang="en-US" sz="2025" b="1" dirty="0">
                <a:solidFill>
                  <a:srgbClr val="211C14"/>
                </a:solidFill>
                <a:latin typeface="Arial" pitchFamily="34" charset="0"/>
                <a:ea typeface="Arial" pitchFamily="34" charset="-122"/>
                <a:cs typeface="Arial" pitchFamily="34" charset="-120"/>
              </a:rPr>
              <a:t>echo </a:t>
            </a:r>
            <a:pPr algn="l" indent="0" marL="0">
              <a:lnSpc>
                <a:spcPct val="134135"/>
              </a:lnSpc>
              <a:buNone/>
            </a:pPr>
            <a:r>
              <a:rPr lang="en-US" sz="2025" dirty="0">
                <a:solidFill>
                  <a:srgbClr val="211C14"/>
                </a:solidFill>
                <a:latin typeface="Arial" pitchFamily="34" charset="0"/>
                <a:ea typeface="Arial" pitchFamily="34" charset="-122"/>
                <a:cs typeface="Arial" pitchFamily="34" charset="-120"/>
              </a:rPr>
              <a:t>can run at interrupt level (full duplex) or be deferred into an echo buffer so program output stays coherent. Buffer descriptors carry both tables per terminal (words 11–30 of each BUFTB entry).</a:t>
            </a:r>
            <a:endParaRPr lang="en-US" sz="202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2EDE1"/>
        </a:solidFill>
      </p:bgPr>
    </p:bg>
    <p:spTree>
      <p:nvGrpSpPr>
        <p:cNvPr id="1" name=""/>
        <p:cNvGrpSpPr/>
        <p:nvPr/>
      </p:nvGrpSpPr>
      <p:grpSpPr>
        <a:xfrm>
          <a:off x="0" y="0"/>
          <a:ext cx="0" cy="0"/>
          <a:chOff x="0" y="0"/>
          <a:chExt cx="0" cy="0"/>
        </a:xfrm>
      </p:grpSpPr>
      <p:sp>
        <p:nvSpPr>
          <p:cNvPr id="2" name="Text 0"/>
          <p:cNvSpPr/>
          <p:nvPr/>
        </p:nvSpPr>
        <p:spPr>
          <a:xfrm>
            <a:off x="952500" y="857250"/>
            <a:ext cx="18021300" cy="33528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C8501E"/>
                </a:solidFill>
                <a:latin typeface="Courier New" pitchFamily="34" charset="0"/>
                <a:ea typeface="Courier New" pitchFamily="34" charset="-122"/>
                <a:cs typeface="Courier New" pitchFamily="34" charset="-120"/>
              </a:rPr>
              <a:t>SECTION 03 · DEVICES · TAPE + CARDS</a:t>
            </a:r>
            <a:endParaRPr lang="en-US" sz="1800" dirty="0"/>
          </a:p>
        </p:txBody>
      </p:sp>
      <p:sp>
        <p:nvSpPr>
          <p:cNvPr id="3" name="Text 1"/>
          <p:cNvSpPr/>
          <p:nvPr/>
        </p:nvSpPr>
        <p:spPr>
          <a:xfrm>
            <a:off x="952500" y="1306830"/>
            <a:ext cx="18021300" cy="666750"/>
          </a:xfrm>
          <a:prstGeom prst="rect">
            <a:avLst/>
          </a:prstGeom>
          <a:noFill/>
          <a:ln/>
        </p:spPr>
        <p:txBody>
          <a:bodyPr wrap="square" lIns="25400" tIns="25400" rIns="25400" bIns="25400" rtlCol="0" anchor="t">
            <a:normAutofit/>
          </a:bodyPr>
          <a:lstStyle/>
          <a:p>
            <a:pPr algn="l" indent="0" marL="0">
              <a:lnSpc>
                <a:spcPct val="97059"/>
              </a:lnSpc>
              <a:buNone/>
            </a:pPr>
            <a:r>
              <a:rPr lang="en-US" sz="4500" b="1" dirty="0">
                <a:solidFill>
                  <a:srgbClr val="211C14"/>
                </a:solidFill>
                <a:latin typeface="Courier New" pitchFamily="34" charset="0"/>
                <a:ea typeface="Courier New" pitchFamily="34" charset="-122"/>
                <a:cs typeface="Courier New" pitchFamily="34" charset="-120"/>
              </a:rPr>
              <a:t>Paper Tape &amp; Card Reader</a:t>
            </a:r>
            <a:endParaRPr lang="en-US" sz="4500" dirty="0"/>
          </a:p>
        </p:txBody>
      </p:sp>
      <p:sp>
        <p:nvSpPr>
          <p:cNvPr id="4" name="Shape 2"/>
          <p:cNvSpPr/>
          <p:nvPr/>
        </p:nvSpPr>
        <p:spPr>
          <a:xfrm>
            <a:off x="952500" y="2087880"/>
            <a:ext cx="16383000" cy="28575"/>
          </a:xfrm>
          <a:prstGeom prst="rect">
            <a:avLst/>
          </a:prstGeom>
          <a:solidFill>
            <a:srgbClr val="211C14"/>
          </a:solidFill>
          <a:ln/>
        </p:spPr>
      </p:sp>
      <p:sp>
        <p:nvSpPr>
          <p:cNvPr id="5" name="Text 3"/>
          <p:cNvSpPr/>
          <p:nvPr/>
        </p:nvSpPr>
        <p:spPr>
          <a:xfrm>
            <a:off x="952500" y="2497455"/>
            <a:ext cx="8696325" cy="350520"/>
          </a:xfrm>
          <a:prstGeom prst="rect">
            <a:avLst/>
          </a:prstGeom>
          <a:noFill/>
          <a:ln/>
        </p:spPr>
        <p:txBody>
          <a:bodyPr wrap="square" lIns="25400" tIns="25400" rIns="25400" bIns="25400" rtlCol="0" anchor="t">
            <a:normAutofit/>
          </a:bodyPr>
          <a:lstStyle/>
          <a:p>
            <a:pPr algn="l" indent="0" marL="0">
              <a:buNone/>
            </a:pPr>
            <a:r>
              <a:rPr lang="en-US" sz="2025" b="1" dirty="0">
                <a:solidFill>
                  <a:srgbClr val="211C14"/>
                </a:solidFill>
                <a:latin typeface="Courier New" pitchFamily="34" charset="0"/>
                <a:ea typeface="Courier New" pitchFamily="34" charset="-122"/>
                <a:cs typeface="Courier New" pitchFamily="34" charset="-120"/>
              </a:rPr>
              <a:t>TAPE READER 400₈ · PUNCH 410₈</a:t>
            </a:r>
            <a:endParaRPr lang="en-US" sz="2025" dirty="0"/>
          </a:p>
        </p:txBody>
      </p:sp>
      <p:sp>
        <p:nvSpPr>
          <p:cNvPr id="6" name="Shape 4"/>
          <p:cNvSpPr/>
          <p:nvPr/>
        </p:nvSpPr>
        <p:spPr>
          <a:xfrm>
            <a:off x="952500" y="3549015"/>
            <a:ext cx="7905750" cy="9525"/>
          </a:xfrm>
          <a:prstGeom prst="rect">
            <a:avLst/>
          </a:prstGeom>
          <a:solidFill>
            <a:srgbClr val="CEC4AD"/>
          </a:solidFill>
          <a:ln/>
        </p:spPr>
      </p:sp>
      <p:sp>
        <p:nvSpPr>
          <p:cNvPr id="7" name="Text 5"/>
          <p:cNvSpPr/>
          <p:nvPr/>
        </p:nvSpPr>
        <p:spPr>
          <a:xfrm>
            <a:off x="952500" y="3114675"/>
            <a:ext cx="1990725" cy="358140"/>
          </a:xfrm>
          <a:prstGeom prst="rect">
            <a:avLst/>
          </a:prstGeom>
          <a:noFill/>
          <a:ln/>
        </p:spPr>
        <p:txBody>
          <a:bodyPr wrap="square" lIns="25400" tIns="25400" rIns="25400" bIns="25400" rtlCol="0" anchor="t">
            <a:normAutofit/>
          </a:bodyPr>
          <a:lstStyle/>
          <a:p>
            <a:pPr algn="l" indent="0" marL="0">
              <a:buNone/>
            </a:pPr>
            <a:r>
              <a:rPr lang="en-US" sz="1950" b="1" dirty="0">
                <a:solidFill>
                  <a:srgbClr val="211C14"/>
                </a:solidFill>
                <a:latin typeface="Courier New" pitchFamily="34" charset="0"/>
                <a:ea typeface="Courier New" pitchFamily="34" charset="-122"/>
                <a:cs typeface="Courier New" pitchFamily="34" charset="-120"/>
              </a:rPr>
              <a:t>400 RDR</a:t>
            </a:r>
            <a:endParaRPr lang="en-US" sz="1950" dirty="0"/>
          </a:p>
        </p:txBody>
      </p:sp>
      <p:sp>
        <p:nvSpPr>
          <p:cNvPr id="8" name="Text 6"/>
          <p:cNvSpPr/>
          <p:nvPr/>
        </p:nvSpPr>
        <p:spPr>
          <a:xfrm>
            <a:off x="2971800" y="3114675"/>
            <a:ext cx="6475095" cy="358140"/>
          </a:xfrm>
          <a:prstGeom prst="rect">
            <a:avLst/>
          </a:prstGeom>
          <a:noFill/>
          <a:ln/>
        </p:spPr>
        <p:txBody>
          <a:bodyPr wrap="square" lIns="25400" tIns="25400" rIns="25400" bIns="25400" rtlCol="0" anchor="t">
            <a:normAutofit/>
          </a:bodyPr>
          <a:lstStyle/>
          <a:p>
            <a:pPr algn="l" indent="0" marL="0">
              <a:buNone/>
            </a:pPr>
            <a:r>
              <a:rPr lang="en-US" sz="1950" dirty="0">
                <a:solidFill>
                  <a:srgbClr val="211C14"/>
                </a:solidFill>
                <a:latin typeface="Arial" pitchFamily="34" charset="0"/>
                <a:ea typeface="Arial" pitchFamily="34" charset="-122"/>
                <a:cs typeface="Arial" pitchFamily="34" charset="-120"/>
              </a:rPr>
              <a:t>read tape character → A</a:t>
            </a:r>
            <a:endParaRPr lang="en-US" sz="1950" dirty="0"/>
          </a:p>
        </p:txBody>
      </p:sp>
      <p:sp>
        <p:nvSpPr>
          <p:cNvPr id="9" name="Shape 7"/>
          <p:cNvSpPr/>
          <p:nvPr/>
        </p:nvSpPr>
        <p:spPr>
          <a:xfrm>
            <a:off x="952500" y="4105275"/>
            <a:ext cx="7905750" cy="9525"/>
          </a:xfrm>
          <a:prstGeom prst="rect">
            <a:avLst/>
          </a:prstGeom>
          <a:solidFill>
            <a:srgbClr val="CEC4AD"/>
          </a:solidFill>
          <a:ln/>
        </p:spPr>
      </p:sp>
      <p:sp>
        <p:nvSpPr>
          <p:cNvPr id="10" name="Text 8"/>
          <p:cNvSpPr/>
          <p:nvPr/>
        </p:nvSpPr>
        <p:spPr>
          <a:xfrm>
            <a:off x="952500" y="3670935"/>
            <a:ext cx="1990725" cy="358140"/>
          </a:xfrm>
          <a:prstGeom prst="rect">
            <a:avLst/>
          </a:prstGeom>
          <a:noFill/>
          <a:ln/>
        </p:spPr>
        <p:txBody>
          <a:bodyPr wrap="square" lIns="25400" tIns="25400" rIns="25400" bIns="25400" rtlCol="0" anchor="t">
            <a:normAutofit/>
          </a:bodyPr>
          <a:lstStyle/>
          <a:p>
            <a:pPr algn="l" indent="0" marL="0">
              <a:buNone/>
            </a:pPr>
            <a:r>
              <a:rPr lang="en-US" sz="1950" b="1" dirty="0">
                <a:solidFill>
                  <a:srgbClr val="211C14"/>
                </a:solidFill>
                <a:latin typeface="Courier New" pitchFamily="34" charset="0"/>
                <a:ea typeface="Courier New" pitchFamily="34" charset="-122"/>
                <a:cs typeface="Courier New" pitchFamily="34" charset="-120"/>
              </a:rPr>
              <a:t>402 RSR</a:t>
            </a:r>
            <a:endParaRPr lang="en-US" sz="1950" dirty="0"/>
          </a:p>
        </p:txBody>
      </p:sp>
      <p:sp>
        <p:nvSpPr>
          <p:cNvPr id="11" name="Text 9"/>
          <p:cNvSpPr/>
          <p:nvPr/>
        </p:nvSpPr>
        <p:spPr>
          <a:xfrm>
            <a:off x="2971800" y="3670935"/>
            <a:ext cx="6475095" cy="358140"/>
          </a:xfrm>
          <a:prstGeom prst="rect">
            <a:avLst/>
          </a:prstGeom>
          <a:noFill/>
          <a:ln/>
        </p:spPr>
        <p:txBody>
          <a:bodyPr wrap="square" lIns="25400" tIns="25400" rIns="25400" bIns="25400" rtlCol="0" anchor="t">
            <a:normAutofit/>
          </a:bodyPr>
          <a:lstStyle/>
          <a:p>
            <a:pPr algn="l" indent="0" marL="0">
              <a:buNone/>
            </a:pPr>
            <a:r>
              <a:rPr lang="en-US" sz="1950" dirty="0">
                <a:solidFill>
                  <a:srgbClr val="211C14"/>
                </a:solidFill>
                <a:latin typeface="Arial" pitchFamily="34" charset="0"/>
                <a:ea typeface="Arial" pitchFamily="34" charset="-122"/>
                <a:cs typeface="Arial" pitchFamily="34" charset="-120"/>
              </a:rPr>
              <a:t>bit 3 char ready · bit 4 error</a:t>
            </a:r>
            <a:endParaRPr lang="en-US" sz="1950" dirty="0"/>
          </a:p>
        </p:txBody>
      </p:sp>
      <p:sp>
        <p:nvSpPr>
          <p:cNvPr id="12" name="Shape 10"/>
          <p:cNvSpPr/>
          <p:nvPr/>
        </p:nvSpPr>
        <p:spPr>
          <a:xfrm>
            <a:off x="952500" y="4661535"/>
            <a:ext cx="7905750" cy="9525"/>
          </a:xfrm>
          <a:prstGeom prst="rect">
            <a:avLst/>
          </a:prstGeom>
          <a:solidFill>
            <a:srgbClr val="CEC4AD"/>
          </a:solidFill>
          <a:ln/>
        </p:spPr>
      </p:sp>
      <p:sp>
        <p:nvSpPr>
          <p:cNvPr id="13" name="Text 11"/>
          <p:cNvSpPr/>
          <p:nvPr/>
        </p:nvSpPr>
        <p:spPr>
          <a:xfrm>
            <a:off x="952500" y="4227195"/>
            <a:ext cx="1990725" cy="358140"/>
          </a:xfrm>
          <a:prstGeom prst="rect">
            <a:avLst/>
          </a:prstGeom>
          <a:noFill/>
          <a:ln/>
        </p:spPr>
        <p:txBody>
          <a:bodyPr wrap="square" lIns="25400" tIns="25400" rIns="25400" bIns="25400" rtlCol="0" anchor="t">
            <a:normAutofit/>
          </a:bodyPr>
          <a:lstStyle/>
          <a:p>
            <a:pPr algn="l" indent="0" marL="0">
              <a:buNone/>
            </a:pPr>
            <a:r>
              <a:rPr lang="en-US" sz="1950" b="1" dirty="0">
                <a:solidFill>
                  <a:srgbClr val="211C14"/>
                </a:solidFill>
                <a:latin typeface="Courier New" pitchFamily="34" charset="0"/>
                <a:ea typeface="Courier New" pitchFamily="34" charset="-122"/>
                <a:cs typeface="Courier New" pitchFamily="34" charset="-120"/>
              </a:rPr>
              <a:t>403 WCR</a:t>
            </a:r>
            <a:endParaRPr lang="en-US" sz="1950" dirty="0"/>
          </a:p>
        </p:txBody>
      </p:sp>
      <p:sp>
        <p:nvSpPr>
          <p:cNvPr id="14" name="Text 12"/>
          <p:cNvSpPr/>
          <p:nvPr/>
        </p:nvSpPr>
        <p:spPr>
          <a:xfrm>
            <a:off x="2971800" y="4227195"/>
            <a:ext cx="6475095" cy="358140"/>
          </a:xfrm>
          <a:prstGeom prst="rect">
            <a:avLst/>
          </a:prstGeom>
          <a:noFill/>
          <a:ln/>
        </p:spPr>
        <p:txBody>
          <a:bodyPr wrap="square" lIns="25400" tIns="25400" rIns="25400" bIns="25400" rtlCol="0" anchor="t">
            <a:normAutofit/>
          </a:bodyPr>
          <a:lstStyle/>
          <a:p>
            <a:pPr algn="l" indent="0" marL="0">
              <a:buNone/>
            </a:pPr>
            <a:r>
              <a:rPr lang="en-US" sz="1950" dirty="0">
                <a:solidFill>
                  <a:srgbClr val="211C14"/>
                </a:solidFill>
                <a:latin typeface="Arial" pitchFamily="34" charset="0"/>
                <a:ea typeface="Arial" pitchFamily="34" charset="-122"/>
                <a:cs typeface="Arial" pitchFamily="34" charset="-120"/>
              </a:rPr>
              <a:t>← 5 read next char + interrupt</a:t>
            </a:r>
            <a:endParaRPr lang="en-US" sz="1950" dirty="0"/>
          </a:p>
        </p:txBody>
      </p:sp>
      <p:sp>
        <p:nvSpPr>
          <p:cNvPr id="15" name="Shape 13"/>
          <p:cNvSpPr/>
          <p:nvPr/>
        </p:nvSpPr>
        <p:spPr>
          <a:xfrm>
            <a:off x="952500" y="5217795"/>
            <a:ext cx="7905750" cy="9525"/>
          </a:xfrm>
          <a:prstGeom prst="rect">
            <a:avLst/>
          </a:prstGeom>
          <a:solidFill>
            <a:srgbClr val="CEC4AD"/>
          </a:solidFill>
          <a:ln/>
        </p:spPr>
      </p:sp>
      <p:sp>
        <p:nvSpPr>
          <p:cNvPr id="16" name="Text 14"/>
          <p:cNvSpPr/>
          <p:nvPr/>
        </p:nvSpPr>
        <p:spPr>
          <a:xfrm>
            <a:off x="952500" y="4783455"/>
            <a:ext cx="1990725" cy="358140"/>
          </a:xfrm>
          <a:prstGeom prst="rect">
            <a:avLst/>
          </a:prstGeom>
          <a:noFill/>
          <a:ln/>
        </p:spPr>
        <p:txBody>
          <a:bodyPr wrap="square" lIns="25400" tIns="25400" rIns="25400" bIns="25400" rtlCol="0" anchor="t">
            <a:normAutofit/>
          </a:bodyPr>
          <a:lstStyle/>
          <a:p>
            <a:pPr algn="l" indent="0" marL="0">
              <a:buNone/>
            </a:pPr>
            <a:r>
              <a:rPr lang="en-US" sz="1950" b="1" dirty="0">
                <a:solidFill>
                  <a:srgbClr val="211C14"/>
                </a:solidFill>
                <a:latin typeface="Courier New" pitchFamily="34" charset="0"/>
                <a:ea typeface="Courier New" pitchFamily="34" charset="-122"/>
                <a:cs typeface="Courier New" pitchFamily="34" charset="-120"/>
              </a:rPr>
              <a:t>411 WDR</a:t>
            </a:r>
            <a:endParaRPr lang="en-US" sz="1950" dirty="0"/>
          </a:p>
        </p:txBody>
      </p:sp>
      <p:sp>
        <p:nvSpPr>
          <p:cNvPr id="17" name="Text 15"/>
          <p:cNvSpPr/>
          <p:nvPr/>
        </p:nvSpPr>
        <p:spPr>
          <a:xfrm>
            <a:off x="2971800" y="4783455"/>
            <a:ext cx="6475095" cy="358140"/>
          </a:xfrm>
          <a:prstGeom prst="rect">
            <a:avLst/>
          </a:prstGeom>
          <a:noFill/>
          <a:ln/>
        </p:spPr>
        <p:txBody>
          <a:bodyPr wrap="square" lIns="25400" tIns="25400" rIns="25400" bIns="25400" rtlCol="0" anchor="t">
            <a:normAutofit/>
          </a:bodyPr>
          <a:lstStyle/>
          <a:p>
            <a:pPr algn="l" indent="0" marL="0">
              <a:buNone/>
            </a:pPr>
            <a:r>
              <a:rPr lang="en-US" sz="1950" dirty="0">
                <a:solidFill>
                  <a:srgbClr val="211C14"/>
                </a:solidFill>
                <a:latin typeface="Arial" pitchFamily="34" charset="0"/>
                <a:ea typeface="Arial" pitchFamily="34" charset="-122"/>
                <a:cs typeface="Arial" pitchFamily="34" charset="-120"/>
              </a:rPr>
              <a:t>punch character ← A, then WCR←5</a:t>
            </a:r>
            <a:endParaRPr lang="en-US" sz="1950" dirty="0"/>
          </a:p>
        </p:txBody>
      </p:sp>
      <p:sp>
        <p:nvSpPr>
          <p:cNvPr id="18" name="Shape 16"/>
          <p:cNvSpPr/>
          <p:nvPr/>
        </p:nvSpPr>
        <p:spPr>
          <a:xfrm>
            <a:off x="952500" y="5415915"/>
            <a:ext cx="7905750" cy="1171575"/>
          </a:xfrm>
          <a:prstGeom prst="rect">
            <a:avLst/>
          </a:prstGeom>
          <a:solidFill>
            <a:srgbClr val="E9E2CF"/>
          </a:solidFill>
          <a:ln w="15240">
            <a:solidFill>
              <a:srgbClr val="211C14"/>
            </a:solidFill>
            <a:prstDash val="solid"/>
          </a:ln>
        </p:spPr>
      </p:sp>
      <p:sp>
        <p:nvSpPr>
          <p:cNvPr id="19" name="Text 17"/>
          <p:cNvSpPr/>
          <p:nvPr/>
        </p:nvSpPr>
        <p:spPr>
          <a:xfrm>
            <a:off x="1234440" y="5640705"/>
            <a:ext cx="7579043" cy="760095"/>
          </a:xfrm>
          <a:prstGeom prst="rect">
            <a:avLst/>
          </a:prstGeom>
          <a:noFill/>
          <a:ln/>
        </p:spPr>
        <p:txBody>
          <a:bodyPr wrap="square" lIns="25400" tIns="25400" rIns="25400" bIns="25400" rtlCol="0" anchor="t">
            <a:normAutofit/>
          </a:bodyPr>
          <a:lstStyle/>
          <a:p>
            <a:pPr algn="l" indent="0" marL="0">
              <a:lnSpc>
                <a:spcPct val="130208"/>
              </a:lnSpc>
              <a:buNone/>
            </a:pPr>
            <a:r>
              <a:rPr lang="en-US" sz="1875" dirty="0">
                <a:solidFill>
                  <a:srgbClr val="4A4335"/>
                </a:solidFill>
                <a:highlight>
                  <a:srgbClr val="E9E2CF"/>
                </a:highlight>
                <a:latin typeface="Arial" pitchFamily="34" charset="0"/>
                <a:ea typeface="Arial" pitchFamily="34" charset="-122"/>
                <a:cs typeface="Arial" pitchFamily="34" charset="-120"/>
              </a:rPr>
              <a:t>A stuck reader is released by the </a:t>
            </a:r>
            <a:pPr algn="l" indent="0" marL="0">
              <a:lnSpc>
                <a:spcPct val="130208"/>
              </a:lnSpc>
              <a:buNone/>
            </a:pPr>
            <a:r>
              <a:rPr lang="en-US" sz="1875" b="1" dirty="0">
                <a:solidFill>
                  <a:srgbClr val="4A4335"/>
                </a:solidFill>
                <a:latin typeface="Arial" pitchFamily="34" charset="0"/>
                <a:ea typeface="Arial" pitchFamily="34" charset="-122"/>
                <a:cs typeface="Arial" pitchFamily="34" charset="-120"/>
              </a:rPr>
              <a:t>5-second timeout </a:t>
            </a:r>
            <a:pPr algn="l" indent="0" marL="0">
              <a:lnSpc>
                <a:spcPct val="130208"/>
              </a:lnSpc>
              <a:buNone/>
            </a:pPr>
            <a:r>
              <a:rPr lang="en-US" sz="1875" dirty="0">
                <a:solidFill>
                  <a:srgbClr val="4A4335"/>
                </a:solidFill>
                <a:highlight>
                  <a:srgbClr val="E9E2CF"/>
                </a:highlight>
                <a:latin typeface="Arial" pitchFamily="34" charset="0"/>
                <a:ea typeface="Arial" pitchFamily="34" charset="-122"/>
                <a:cs typeface="Arial" pitchFamily="34" charset="-120"/>
              </a:rPr>
              <a:t>(TIMOUT=-372₈ ticks) on the clock level; buffers: 9PPT=600₈ in, 9FP=600₈ out.</a:t>
            </a:r>
            <a:endParaRPr lang="en-US" sz="1875" dirty="0"/>
          </a:p>
        </p:txBody>
      </p:sp>
      <p:sp>
        <p:nvSpPr>
          <p:cNvPr id="20" name="Text 18"/>
          <p:cNvSpPr/>
          <p:nvPr/>
        </p:nvSpPr>
        <p:spPr>
          <a:xfrm>
            <a:off x="9429750" y="2497455"/>
            <a:ext cx="8696325" cy="350520"/>
          </a:xfrm>
          <a:prstGeom prst="rect">
            <a:avLst/>
          </a:prstGeom>
          <a:noFill/>
          <a:ln/>
        </p:spPr>
        <p:txBody>
          <a:bodyPr wrap="square" lIns="25400" tIns="25400" rIns="25400" bIns="25400" rtlCol="0" anchor="t">
            <a:normAutofit/>
          </a:bodyPr>
          <a:lstStyle/>
          <a:p>
            <a:pPr algn="l" indent="0" marL="0">
              <a:buNone/>
            </a:pPr>
            <a:r>
              <a:rPr lang="en-US" sz="2025" b="1" dirty="0">
                <a:solidFill>
                  <a:srgbClr val="211C14"/>
                </a:solidFill>
                <a:latin typeface="Courier New" pitchFamily="34" charset="0"/>
                <a:ea typeface="Courier New" pitchFamily="34" charset="-122"/>
                <a:cs typeface="Courier New" pitchFamily="34" charset="-120"/>
              </a:rPr>
              <a:t>CARD READER 420₈</a:t>
            </a:r>
            <a:endParaRPr lang="en-US" sz="2025" dirty="0"/>
          </a:p>
        </p:txBody>
      </p:sp>
      <p:sp>
        <p:nvSpPr>
          <p:cNvPr id="21" name="Shape 19"/>
          <p:cNvSpPr/>
          <p:nvPr/>
        </p:nvSpPr>
        <p:spPr>
          <a:xfrm>
            <a:off x="9429750" y="3549015"/>
            <a:ext cx="7905750" cy="9525"/>
          </a:xfrm>
          <a:prstGeom prst="rect">
            <a:avLst/>
          </a:prstGeom>
          <a:solidFill>
            <a:srgbClr val="CEC4AD"/>
          </a:solidFill>
          <a:ln/>
        </p:spPr>
      </p:sp>
      <p:sp>
        <p:nvSpPr>
          <p:cNvPr id="22" name="Text 20"/>
          <p:cNvSpPr/>
          <p:nvPr/>
        </p:nvSpPr>
        <p:spPr>
          <a:xfrm>
            <a:off x="9429750" y="3114675"/>
            <a:ext cx="1990725" cy="358140"/>
          </a:xfrm>
          <a:prstGeom prst="rect">
            <a:avLst/>
          </a:prstGeom>
          <a:noFill/>
          <a:ln/>
        </p:spPr>
        <p:txBody>
          <a:bodyPr wrap="square" lIns="25400" tIns="25400" rIns="25400" bIns="25400" rtlCol="0" anchor="t">
            <a:normAutofit/>
          </a:bodyPr>
          <a:lstStyle/>
          <a:p>
            <a:pPr algn="l" indent="0" marL="0">
              <a:buNone/>
            </a:pPr>
            <a:r>
              <a:rPr lang="en-US" sz="1950" b="1" dirty="0">
                <a:solidFill>
                  <a:srgbClr val="211C14"/>
                </a:solidFill>
                <a:latin typeface="Courier New" pitchFamily="34" charset="0"/>
                <a:ea typeface="Courier New" pitchFamily="34" charset="-122"/>
                <a:cs typeface="Courier New" pitchFamily="34" charset="-120"/>
              </a:rPr>
              <a:t>420 RDR</a:t>
            </a:r>
            <a:endParaRPr lang="en-US" sz="1950" dirty="0"/>
          </a:p>
        </p:txBody>
      </p:sp>
      <p:sp>
        <p:nvSpPr>
          <p:cNvPr id="23" name="Text 21"/>
          <p:cNvSpPr/>
          <p:nvPr/>
        </p:nvSpPr>
        <p:spPr>
          <a:xfrm>
            <a:off x="11449050" y="3114675"/>
            <a:ext cx="6475095" cy="358140"/>
          </a:xfrm>
          <a:prstGeom prst="rect">
            <a:avLst/>
          </a:prstGeom>
          <a:noFill/>
          <a:ln/>
        </p:spPr>
        <p:txBody>
          <a:bodyPr wrap="square" lIns="25400" tIns="25400" rIns="25400" bIns="25400" rtlCol="0" anchor="t">
            <a:normAutofit/>
          </a:bodyPr>
          <a:lstStyle/>
          <a:p>
            <a:pPr algn="l" indent="0" marL="0">
              <a:buNone/>
            </a:pPr>
            <a:r>
              <a:rPr lang="en-US" sz="1950" dirty="0">
                <a:solidFill>
                  <a:srgbClr val="211C14"/>
                </a:solidFill>
                <a:latin typeface="Arial" pitchFamily="34" charset="0"/>
                <a:ea typeface="Arial" pitchFamily="34" charset="-122"/>
                <a:cs typeface="Arial" pitchFamily="34" charset="-120"/>
              </a:rPr>
              <a:t>read column code → A</a:t>
            </a:r>
            <a:endParaRPr lang="en-US" sz="1950" dirty="0"/>
          </a:p>
        </p:txBody>
      </p:sp>
      <p:sp>
        <p:nvSpPr>
          <p:cNvPr id="24" name="Shape 22"/>
          <p:cNvSpPr/>
          <p:nvPr/>
        </p:nvSpPr>
        <p:spPr>
          <a:xfrm>
            <a:off x="9429750" y="4425315"/>
            <a:ext cx="7905750" cy="9525"/>
          </a:xfrm>
          <a:prstGeom prst="rect">
            <a:avLst/>
          </a:prstGeom>
          <a:solidFill>
            <a:srgbClr val="CEC4AD"/>
          </a:solidFill>
          <a:ln/>
        </p:spPr>
      </p:sp>
      <p:sp>
        <p:nvSpPr>
          <p:cNvPr id="25" name="Text 23"/>
          <p:cNvSpPr/>
          <p:nvPr/>
        </p:nvSpPr>
        <p:spPr>
          <a:xfrm>
            <a:off x="9429750" y="3670935"/>
            <a:ext cx="1885950" cy="678180"/>
          </a:xfrm>
          <a:prstGeom prst="rect">
            <a:avLst/>
          </a:prstGeom>
          <a:noFill/>
          <a:ln/>
        </p:spPr>
        <p:txBody>
          <a:bodyPr wrap="square" lIns="25400" tIns="25400" rIns="25400" bIns="25400" rtlCol="0" anchor="t">
            <a:normAutofit/>
          </a:bodyPr>
          <a:lstStyle/>
          <a:p>
            <a:pPr algn="l" indent="0" marL="0">
              <a:buNone/>
            </a:pPr>
            <a:r>
              <a:rPr lang="en-US" sz="1950" b="1" dirty="0">
                <a:solidFill>
                  <a:srgbClr val="211C14"/>
                </a:solidFill>
                <a:latin typeface="Courier New" pitchFamily="34" charset="0"/>
                <a:ea typeface="Courier New" pitchFamily="34" charset="-122"/>
                <a:cs typeface="Courier New" pitchFamily="34" charset="-120"/>
              </a:rPr>
              <a:t>422 RSR</a:t>
            </a:r>
            <a:endParaRPr lang="en-US" sz="1950" dirty="0"/>
          </a:p>
        </p:txBody>
      </p:sp>
      <p:sp>
        <p:nvSpPr>
          <p:cNvPr id="26" name="Text 24"/>
          <p:cNvSpPr/>
          <p:nvPr/>
        </p:nvSpPr>
        <p:spPr>
          <a:xfrm>
            <a:off x="11449050" y="3670935"/>
            <a:ext cx="6063044" cy="678180"/>
          </a:xfrm>
          <a:prstGeom prst="rect">
            <a:avLst/>
          </a:prstGeom>
          <a:noFill/>
          <a:ln/>
        </p:spPr>
        <p:txBody>
          <a:bodyPr wrap="square" lIns="25400" tIns="25400" rIns="25400" bIns="25400" rtlCol="0" anchor="t">
            <a:normAutofit/>
          </a:bodyPr>
          <a:lstStyle/>
          <a:p>
            <a:pPr algn="l" indent="0" marL="0">
              <a:buNone/>
            </a:pPr>
            <a:r>
              <a:rPr lang="en-US" sz="1950" dirty="0">
                <a:solidFill>
                  <a:srgbClr val="211C14"/>
                </a:solidFill>
                <a:latin typeface="Arial" pitchFamily="34" charset="0"/>
                <a:ea typeface="Arial" pitchFamily="34" charset="-122"/>
                <a:cs typeface="Arial" pitchFamily="34" charset="-120"/>
              </a:rPr>
              <a:t>bit 3 column ready · bit 4 exception · bit 5 card done · bit 9 fault</a:t>
            </a:r>
            <a:endParaRPr lang="en-US" sz="1950" dirty="0"/>
          </a:p>
        </p:txBody>
      </p:sp>
      <p:sp>
        <p:nvSpPr>
          <p:cNvPr id="27" name="Shape 25"/>
          <p:cNvSpPr/>
          <p:nvPr/>
        </p:nvSpPr>
        <p:spPr>
          <a:xfrm>
            <a:off x="9429750" y="5301615"/>
            <a:ext cx="7905750" cy="9525"/>
          </a:xfrm>
          <a:prstGeom prst="rect">
            <a:avLst/>
          </a:prstGeom>
          <a:solidFill>
            <a:srgbClr val="CEC4AD"/>
          </a:solidFill>
          <a:ln/>
        </p:spPr>
      </p:sp>
      <p:sp>
        <p:nvSpPr>
          <p:cNvPr id="28" name="Text 26"/>
          <p:cNvSpPr/>
          <p:nvPr/>
        </p:nvSpPr>
        <p:spPr>
          <a:xfrm>
            <a:off x="9429750" y="4547235"/>
            <a:ext cx="1885950" cy="678180"/>
          </a:xfrm>
          <a:prstGeom prst="rect">
            <a:avLst/>
          </a:prstGeom>
          <a:noFill/>
          <a:ln/>
        </p:spPr>
        <p:txBody>
          <a:bodyPr wrap="square" lIns="25400" tIns="25400" rIns="25400" bIns="25400" rtlCol="0" anchor="t">
            <a:normAutofit/>
          </a:bodyPr>
          <a:lstStyle/>
          <a:p>
            <a:pPr algn="l" indent="0" marL="0">
              <a:buNone/>
            </a:pPr>
            <a:r>
              <a:rPr lang="en-US" sz="1950" b="1" dirty="0">
                <a:solidFill>
                  <a:srgbClr val="211C14"/>
                </a:solidFill>
                <a:latin typeface="Courier New" pitchFamily="34" charset="0"/>
                <a:ea typeface="Courier New" pitchFamily="34" charset="-122"/>
                <a:cs typeface="Courier New" pitchFamily="34" charset="-120"/>
              </a:rPr>
              <a:t>423 WCR</a:t>
            </a:r>
            <a:endParaRPr lang="en-US" sz="1950" dirty="0"/>
          </a:p>
        </p:txBody>
      </p:sp>
      <p:sp>
        <p:nvSpPr>
          <p:cNvPr id="29" name="Text 27"/>
          <p:cNvSpPr/>
          <p:nvPr/>
        </p:nvSpPr>
        <p:spPr>
          <a:xfrm>
            <a:off x="11449050" y="4547235"/>
            <a:ext cx="6063044" cy="678180"/>
          </a:xfrm>
          <a:prstGeom prst="rect">
            <a:avLst/>
          </a:prstGeom>
          <a:noFill/>
          <a:ln/>
        </p:spPr>
        <p:txBody>
          <a:bodyPr wrap="square" lIns="25400" tIns="25400" rIns="25400" bIns="25400" rtlCol="0" anchor="t">
            <a:normAutofit/>
          </a:bodyPr>
          <a:lstStyle/>
          <a:p>
            <a:pPr algn="l" indent="0" marL="0">
              <a:buNone/>
            </a:pPr>
            <a:r>
              <a:rPr lang="en-US" sz="1950" dirty="0">
                <a:solidFill>
                  <a:srgbClr val="211C14"/>
                </a:solidFill>
                <a:latin typeface="Arial" pitchFamily="34" charset="0"/>
                <a:ea typeface="Arial" pitchFamily="34" charset="-122"/>
                <a:cs typeface="Arial" pitchFamily="34" charset="-120"/>
              </a:rPr>
              <a:t>← 7 = ready-int + error-int + activate · ← 20₈ clear on fault</a:t>
            </a:r>
            <a:endParaRPr lang="en-US" sz="1950" dirty="0"/>
          </a:p>
        </p:txBody>
      </p:sp>
      <p:sp>
        <p:nvSpPr>
          <p:cNvPr id="30" name="Shape 28"/>
          <p:cNvSpPr/>
          <p:nvPr/>
        </p:nvSpPr>
        <p:spPr>
          <a:xfrm>
            <a:off x="9429750" y="5499735"/>
            <a:ext cx="7905750" cy="1521142"/>
          </a:xfrm>
          <a:prstGeom prst="rect">
            <a:avLst/>
          </a:prstGeom>
          <a:solidFill>
            <a:srgbClr val="E9E2CF"/>
          </a:solidFill>
          <a:ln w="15240">
            <a:solidFill>
              <a:srgbClr val="211C14"/>
            </a:solidFill>
            <a:prstDash val="solid"/>
          </a:ln>
        </p:spPr>
      </p:sp>
      <p:sp>
        <p:nvSpPr>
          <p:cNvPr id="31" name="Text 29"/>
          <p:cNvSpPr/>
          <p:nvPr/>
        </p:nvSpPr>
        <p:spPr>
          <a:xfrm>
            <a:off x="9711690" y="5724525"/>
            <a:ext cx="7579043" cy="1109662"/>
          </a:xfrm>
          <a:prstGeom prst="rect">
            <a:avLst/>
          </a:prstGeom>
          <a:noFill/>
          <a:ln/>
        </p:spPr>
        <p:txBody>
          <a:bodyPr wrap="square" lIns="25400" tIns="25400" rIns="25400" bIns="25400" rtlCol="0" anchor="t">
            <a:normAutofit/>
          </a:bodyPr>
          <a:lstStyle/>
          <a:p>
            <a:pPr algn="l" indent="0" marL="0">
              <a:lnSpc>
                <a:spcPct val="130208"/>
              </a:lnSpc>
              <a:buNone/>
            </a:pPr>
            <a:r>
              <a:rPr lang="en-US" sz="1875" dirty="0">
                <a:solidFill>
                  <a:srgbClr val="4A4335"/>
                </a:solidFill>
                <a:highlight>
                  <a:srgbClr val="E9E2CF"/>
                </a:highlight>
                <a:latin typeface="Arial" pitchFamily="34" charset="0"/>
                <a:ea typeface="Arial" pitchFamily="34" charset="-122"/>
                <a:cs typeface="Arial" pitchFamily="34" charset="-120"/>
              </a:rPr>
              <a:t>A card buffers into 121 words (</a:t>
            </a:r>
            <a:pPr algn="l" indent="0" marL="0">
              <a:lnSpc>
                <a:spcPct val="130208"/>
              </a:lnSpc>
              <a:buNone/>
            </a:pPr>
            <a:r>
              <a:rPr lang="en-US" sz="1875" dirty="0">
                <a:solidFill>
                  <a:srgbClr val="4A4335"/>
                </a:solidFill>
                <a:latin typeface="Courier New" pitchFamily="34" charset="0"/>
                <a:ea typeface="Courier New" pitchFamily="34" charset="-122"/>
                <a:cs typeface="Courier New" pitchFamily="34" charset="-120"/>
              </a:rPr>
              <a:t>CTBB</a:t>
            </a:r>
            <a:pPr algn="l" indent="0" marL="0">
              <a:lnSpc>
                <a:spcPct val="130208"/>
              </a:lnSpc>
              <a:buNone/>
            </a:pPr>
            <a:r>
              <a:rPr lang="en-US" sz="1875" dirty="0">
                <a:solidFill>
                  <a:srgbClr val="4A4335"/>
                </a:solidFill>
                <a:highlight>
                  <a:srgbClr val="E9E2CF"/>
                </a:highlight>
                <a:latin typeface="Arial" pitchFamily="34" charset="0"/>
                <a:ea typeface="Arial" pitchFamily="34" charset="-122"/>
                <a:cs typeface="Arial" pitchFamily="34" charset="-120"/>
              </a:rPr>
              <a:t>), converts through the 1971 </a:t>
            </a:r>
            <a:pPr algn="l" indent="0" marL="0">
              <a:lnSpc>
                <a:spcPct val="130208"/>
              </a:lnSpc>
              <a:buNone/>
            </a:pPr>
            <a:r>
              <a:rPr lang="en-US" sz="1875" dirty="0">
                <a:solidFill>
                  <a:srgbClr val="4A4335"/>
                </a:solidFill>
                <a:latin typeface="Courier New" pitchFamily="34" charset="0"/>
                <a:ea typeface="Courier New" pitchFamily="34" charset="-122"/>
                <a:cs typeface="Courier New" pitchFamily="34" charset="-120"/>
              </a:rPr>
              <a:t>CTB1/CTB2 </a:t>
            </a:r>
            <a:pPr algn="l" indent="0" marL="0">
              <a:lnSpc>
                <a:spcPct val="130208"/>
              </a:lnSpc>
              <a:buNone/>
            </a:pPr>
            <a:r>
              <a:rPr lang="en-US" sz="1875" dirty="0">
                <a:solidFill>
                  <a:srgbClr val="4A4335"/>
                </a:solidFill>
                <a:highlight>
                  <a:srgbClr val="E9E2CF"/>
                </a:highlight>
                <a:latin typeface="Arial" pitchFamily="34" charset="0"/>
                <a:ea typeface="Arial" pitchFamily="34" charset="-122"/>
                <a:cs typeface="Arial" pitchFamily="34" charset="-120"/>
              </a:rPr>
              <a:t>card-code→ASCII tables, gets CR LF appended — a full card errors as </a:t>
            </a:r>
            <a:pPr algn="l" indent="0" marL="0">
              <a:lnSpc>
                <a:spcPct val="130208"/>
              </a:lnSpc>
              <a:buNone/>
            </a:pPr>
            <a:r>
              <a:rPr lang="en-US" sz="1875" dirty="0">
                <a:solidFill>
                  <a:srgbClr val="4A4335"/>
                </a:solidFill>
                <a:latin typeface="Courier New" pitchFamily="34" charset="0"/>
                <a:ea typeface="Courier New" pitchFamily="34" charset="-122"/>
                <a:cs typeface="Courier New" pitchFamily="34" charset="-120"/>
              </a:rPr>
              <a:t>25₈ </a:t>
            </a:r>
            <a:pPr algn="l" indent="0" marL="0">
              <a:lnSpc>
                <a:spcPct val="130208"/>
              </a:lnSpc>
              <a:buNone/>
            </a:pPr>
            <a:r>
              <a:rPr lang="en-US" sz="1875" dirty="0">
                <a:solidFill>
                  <a:srgbClr val="4A4335"/>
                </a:solidFill>
                <a:highlight>
                  <a:srgbClr val="E9E2CF"/>
                </a:highlight>
                <a:latin typeface="Arial" pitchFamily="34" charset="0"/>
                <a:ea typeface="Arial" pitchFamily="34" charset="-122"/>
                <a:cs typeface="Arial" pitchFamily="34" charset="-120"/>
              </a:rPr>
              <a:t>(NAK) if the process lags.</a:t>
            </a:r>
            <a:endParaRPr lang="en-US" sz="187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2EDE1"/>
        </a:solidFill>
      </p:bgPr>
    </p:bg>
    <p:spTree>
      <p:nvGrpSpPr>
        <p:cNvPr id="1" name=""/>
        <p:cNvGrpSpPr/>
        <p:nvPr/>
      </p:nvGrpSpPr>
      <p:grpSpPr>
        <a:xfrm>
          <a:off x="0" y="0"/>
          <a:ext cx="0" cy="0"/>
          <a:chOff x="0" y="0"/>
          <a:chExt cx="0" cy="0"/>
        </a:xfrm>
      </p:grpSpPr>
      <p:sp>
        <p:nvSpPr>
          <p:cNvPr id="2" name="Text 0"/>
          <p:cNvSpPr/>
          <p:nvPr/>
        </p:nvSpPr>
        <p:spPr>
          <a:xfrm>
            <a:off x="952500" y="857250"/>
            <a:ext cx="18021300" cy="33528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C8501E"/>
                </a:solidFill>
                <a:latin typeface="Courier New" pitchFamily="34" charset="0"/>
                <a:ea typeface="Courier New" pitchFamily="34" charset="-122"/>
                <a:cs typeface="Courier New" pitchFamily="34" charset="-120"/>
              </a:rPr>
              <a:t>SECTION 03 · DEVICES · PRINTER</a:t>
            </a:r>
            <a:endParaRPr lang="en-US" sz="1800" dirty="0"/>
          </a:p>
        </p:txBody>
      </p:sp>
      <p:sp>
        <p:nvSpPr>
          <p:cNvPr id="3" name="Text 1"/>
          <p:cNvSpPr/>
          <p:nvPr/>
        </p:nvSpPr>
        <p:spPr>
          <a:xfrm>
            <a:off x="952500" y="1306830"/>
            <a:ext cx="18021300" cy="666750"/>
          </a:xfrm>
          <a:prstGeom prst="rect">
            <a:avLst/>
          </a:prstGeom>
          <a:noFill/>
          <a:ln/>
        </p:spPr>
        <p:txBody>
          <a:bodyPr wrap="square" lIns="25400" tIns="25400" rIns="25400" bIns="25400" rtlCol="0" anchor="t">
            <a:normAutofit/>
          </a:bodyPr>
          <a:lstStyle/>
          <a:p>
            <a:pPr algn="l" indent="0" marL="0">
              <a:lnSpc>
                <a:spcPct val="97059"/>
              </a:lnSpc>
              <a:buNone/>
            </a:pPr>
            <a:r>
              <a:rPr lang="en-US" sz="4500" b="1" dirty="0">
                <a:solidFill>
                  <a:srgbClr val="211C14"/>
                </a:solidFill>
                <a:latin typeface="Courier New" pitchFamily="34" charset="0"/>
                <a:ea typeface="Courier New" pitchFamily="34" charset="-122"/>
                <a:cs typeface="Courier New" pitchFamily="34" charset="-120"/>
              </a:rPr>
              <a:t>Line Printer </a:t>
            </a:r>
            <a:pPr algn="l" indent="0" marL="0">
              <a:lnSpc>
                <a:spcPct val="97059"/>
              </a:lnSpc>
              <a:buNone/>
            </a:pPr>
            <a:r>
              <a:rPr lang="en-US" sz="2700" dirty="0">
                <a:solidFill>
                  <a:srgbClr val="6B6252"/>
                </a:solidFill>
                <a:latin typeface="Courier New" pitchFamily="34" charset="0"/>
                <a:ea typeface="Courier New" pitchFamily="34" charset="-122"/>
                <a:cs typeface="Courier New" pitchFamily="34" charset="-120"/>
              </a:rPr>
              <a:t>IOX 430₈ · driver PNTDR / WPRNT</a:t>
            </a:r>
            <a:endParaRPr lang="en-US" sz="4500" dirty="0"/>
          </a:p>
        </p:txBody>
      </p:sp>
      <p:sp>
        <p:nvSpPr>
          <p:cNvPr id="4" name="Shape 2"/>
          <p:cNvSpPr/>
          <p:nvPr/>
        </p:nvSpPr>
        <p:spPr>
          <a:xfrm>
            <a:off x="952500" y="2087880"/>
            <a:ext cx="16383000" cy="28575"/>
          </a:xfrm>
          <a:prstGeom prst="rect">
            <a:avLst/>
          </a:prstGeom>
          <a:solidFill>
            <a:srgbClr val="211C14"/>
          </a:solidFill>
          <a:ln/>
        </p:spPr>
      </p:sp>
      <p:sp>
        <p:nvSpPr>
          <p:cNvPr id="5" name="Shape 3"/>
          <p:cNvSpPr/>
          <p:nvPr/>
        </p:nvSpPr>
        <p:spPr>
          <a:xfrm>
            <a:off x="952500" y="3065145"/>
            <a:ext cx="7905750" cy="9525"/>
          </a:xfrm>
          <a:prstGeom prst="rect">
            <a:avLst/>
          </a:prstGeom>
          <a:solidFill>
            <a:srgbClr val="CEC4AD"/>
          </a:solidFill>
          <a:ln/>
        </p:spPr>
      </p:sp>
      <p:sp>
        <p:nvSpPr>
          <p:cNvPr id="6" name="Text 4"/>
          <p:cNvSpPr/>
          <p:nvPr/>
        </p:nvSpPr>
        <p:spPr>
          <a:xfrm>
            <a:off x="952500" y="2621280"/>
            <a:ext cx="1990725" cy="358140"/>
          </a:xfrm>
          <a:prstGeom prst="rect">
            <a:avLst/>
          </a:prstGeom>
          <a:noFill/>
          <a:ln/>
        </p:spPr>
        <p:txBody>
          <a:bodyPr wrap="square" lIns="25400" tIns="25400" rIns="25400" bIns="25400" rtlCol="0" anchor="t">
            <a:normAutofit/>
          </a:bodyPr>
          <a:lstStyle/>
          <a:p>
            <a:pPr algn="l" indent="0" marL="0">
              <a:buNone/>
            </a:pPr>
            <a:r>
              <a:rPr lang="en-US" sz="1950" b="1" dirty="0">
                <a:solidFill>
                  <a:srgbClr val="211C14"/>
                </a:solidFill>
                <a:latin typeface="Courier New" pitchFamily="34" charset="0"/>
                <a:ea typeface="Courier New" pitchFamily="34" charset="-122"/>
                <a:cs typeface="Courier New" pitchFamily="34" charset="-120"/>
              </a:rPr>
              <a:t>431 WDR</a:t>
            </a:r>
            <a:endParaRPr lang="en-US" sz="1950" dirty="0"/>
          </a:p>
        </p:txBody>
      </p:sp>
      <p:sp>
        <p:nvSpPr>
          <p:cNvPr id="7" name="Text 5"/>
          <p:cNvSpPr/>
          <p:nvPr/>
        </p:nvSpPr>
        <p:spPr>
          <a:xfrm>
            <a:off x="2971800" y="2621280"/>
            <a:ext cx="6475095" cy="358140"/>
          </a:xfrm>
          <a:prstGeom prst="rect">
            <a:avLst/>
          </a:prstGeom>
          <a:noFill/>
          <a:ln/>
        </p:spPr>
        <p:txBody>
          <a:bodyPr wrap="square" lIns="25400" tIns="25400" rIns="25400" bIns="25400" rtlCol="0" anchor="t">
            <a:normAutofit/>
          </a:bodyPr>
          <a:lstStyle/>
          <a:p>
            <a:pPr algn="l" indent="0" marL="0">
              <a:buNone/>
            </a:pPr>
            <a:r>
              <a:rPr lang="en-US" sz="1950" dirty="0">
                <a:solidFill>
                  <a:srgbClr val="211C14"/>
                </a:solidFill>
                <a:latin typeface="Arial" pitchFamily="34" charset="0"/>
                <a:ea typeface="Arial" pitchFamily="34" charset="-122"/>
                <a:cs typeface="Arial" pitchFamily="34" charset="-120"/>
              </a:rPr>
              <a:t>print character ← A</a:t>
            </a:r>
            <a:endParaRPr lang="en-US" sz="1950" dirty="0"/>
          </a:p>
        </p:txBody>
      </p:sp>
      <p:sp>
        <p:nvSpPr>
          <p:cNvPr id="8" name="Shape 6"/>
          <p:cNvSpPr/>
          <p:nvPr/>
        </p:nvSpPr>
        <p:spPr>
          <a:xfrm>
            <a:off x="952500" y="3960495"/>
            <a:ext cx="7905750" cy="9525"/>
          </a:xfrm>
          <a:prstGeom prst="rect">
            <a:avLst/>
          </a:prstGeom>
          <a:solidFill>
            <a:srgbClr val="CEC4AD"/>
          </a:solidFill>
          <a:ln/>
        </p:spPr>
      </p:sp>
      <p:sp>
        <p:nvSpPr>
          <p:cNvPr id="9" name="Text 7"/>
          <p:cNvSpPr/>
          <p:nvPr/>
        </p:nvSpPr>
        <p:spPr>
          <a:xfrm>
            <a:off x="952500" y="3196590"/>
            <a:ext cx="1885950" cy="678180"/>
          </a:xfrm>
          <a:prstGeom prst="rect">
            <a:avLst/>
          </a:prstGeom>
          <a:noFill/>
          <a:ln/>
        </p:spPr>
        <p:txBody>
          <a:bodyPr wrap="square" lIns="25400" tIns="25400" rIns="25400" bIns="25400" rtlCol="0" anchor="t">
            <a:normAutofit/>
          </a:bodyPr>
          <a:lstStyle/>
          <a:p>
            <a:pPr algn="l" indent="0" marL="0">
              <a:buNone/>
            </a:pPr>
            <a:r>
              <a:rPr lang="en-US" sz="1950" b="1" dirty="0">
                <a:solidFill>
                  <a:srgbClr val="211C14"/>
                </a:solidFill>
                <a:latin typeface="Courier New" pitchFamily="34" charset="0"/>
                <a:ea typeface="Courier New" pitchFamily="34" charset="-122"/>
                <a:cs typeface="Courier New" pitchFamily="34" charset="-120"/>
              </a:rPr>
              <a:t>432 RSR</a:t>
            </a:r>
            <a:endParaRPr lang="en-US" sz="1950" dirty="0"/>
          </a:p>
        </p:txBody>
      </p:sp>
      <p:sp>
        <p:nvSpPr>
          <p:cNvPr id="10" name="Text 8"/>
          <p:cNvSpPr/>
          <p:nvPr/>
        </p:nvSpPr>
        <p:spPr>
          <a:xfrm>
            <a:off x="2971800" y="3196590"/>
            <a:ext cx="6063044" cy="678180"/>
          </a:xfrm>
          <a:prstGeom prst="rect">
            <a:avLst/>
          </a:prstGeom>
          <a:noFill/>
          <a:ln/>
        </p:spPr>
        <p:txBody>
          <a:bodyPr wrap="square" lIns="25400" tIns="25400" rIns="25400" bIns="25400" rtlCol="0" anchor="t">
            <a:normAutofit/>
          </a:bodyPr>
          <a:lstStyle/>
          <a:p>
            <a:pPr algn="l" indent="0" marL="0">
              <a:buNone/>
            </a:pPr>
            <a:r>
              <a:rPr lang="en-US" sz="1950" dirty="0">
                <a:solidFill>
                  <a:srgbClr val="211C14"/>
                </a:solidFill>
                <a:latin typeface="Arial" pitchFamily="34" charset="0"/>
                <a:ea typeface="Arial" pitchFamily="34" charset="-122"/>
                <a:cs typeface="Arial" pitchFamily="34" charset="-120"/>
              </a:rPr>
              <a:t>bit 3 ready for next char · bit 4 error OR (offline, paper out)</a:t>
            </a:r>
            <a:endParaRPr lang="en-US" sz="1950" dirty="0"/>
          </a:p>
        </p:txBody>
      </p:sp>
      <p:sp>
        <p:nvSpPr>
          <p:cNvPr id="11" name="Shape 9"/>
          <p:cNvSpPr/>
          <p:nvPr/>
        </p:nvSpPr>
        <p:spPr>
          <a:xfrm>
            <a:off x="952500" y="4855845"/>
            <a:ext cx="7905750" cy="9525"/>
          </a:xfrm>
          <a:prstGeom prst="rect">
            <a:avLst/>
          </a:prstGeom>
          <a:solidFill>
            <a:srgbClr val="CEC4AD"/>
          </a:solidFill>
          <a:ln/>
        </p:spPr>
      </p:sp>
      <p:sp>
        <p:nvSpPr>
          <p:cNvPr id="12" name="Text 10"/>
          <p:cNvSpPr/>
          <p:nvPr/>
        </p:nvSpPr>
        <p:spPr>
          <a:xfrm>
            <a:off x="952500" y="4091940"/>
            <a:ext cx="1885950" cy="678180"/>
          </a:xfrm>
          <a:prstGeom prst="rect">
            <a:avLst/>
          </a:prstGeom>
          <a:noFill/>
          <a:ln/>
        </p:spPr>
        <p:txBody>
          <a:bodyPr wrap="square" lIns="25400" tIns="25400" rIns="25400" bIns="25400" rtlCol="0" anchor="t">
            <a:normAutofit/>
          </a:bodyPr>
          <a:lstStyle/>
          <a:p>
            <a:pPr algn="l" indent="0" marL="0">
              <a:buNone/>
            </a:pPr>
            <a:r>
              <a:rPr lang="en-US" sz="1950" b="1" dirty="0">
                <a:solidFill>
                  <a:srgbClr val="211C14"/>
                </a:solidFill>
                <a:latin typeface="Courier New" pitchFamily="34" charset="0"/>
                <a:ea typeface="Courier New" pitchFamily="34" charset="-122"/>
                <a:cs typeface="Courier New" pitchFamily="34" charset="-120"/>
              </a:rPr>
              <a:t>433 WCR</a:t>
            </a:r>
            <a:endParaRPr lang="en-US" sz="1950" dirty="0"/>
          </a:p>
        </p:txBody>
      </p:sp>
      <p:sp>
        <p:nvSpPr>
          <p:cNvPr id="13" name="Text 11"/>
          <p:cNvSpPr/>
          <p:nvPr/>
        </p:nvSpPr>
        <p:spPr>
          <a:xfrm>
            <a:off x="2971800" y="4091940"/>
            <a:ext cx="6063044" cy="678180"/>
          </a:xfrm>
          <a:prstGeom prst="rect">
            <a:avLst/>
          </a:prstGeom>
          <a:noFill/>
          <a:ln/>
        </p:spPr>
        <p:txBody>
          <a:bodyPr wrap="square" lIns="25400" tIns="25400" rIns="25400" bIns="25400" rtlCol="0" anchor="t">
            <a:normAutofit/>
          </a:bodyPr>
          <a:lstStyle/>
          <a:p>
            <a:pPr algn="l" indent="0" marL="0">
              <a:buNone/>
            </a:pPr>
            <a:r>
              <a:rPr lang="en-US" sz="1950" dirty="0">
                <a:solidFill>
                  <a:srgbClr val="211C14"/>
                </a:solidFill>
                <a:latin typeface="Arial" pitchFamily="34" charset="0"/>
                <a:ea typeface="Arial" pitchFamily="34" charset="-122"/>
                <a:cs typeface="Arial" pitchFamily="34" charset="-120"/>
              </a:rPr>
              <a:t>← 5 print + interrupt · ← 20₈ device clear, then retry char</a:t>
            </a:r>
            <a:endParaRPr lang="en-US" sz="1950" dirty="0"/>
          </a:p>
        </p:txBody>
      </p:sp>
      <p:sp>
        <p:nvSpPr>
          <p:cNvPr id="14" name="Shape 12"/>
          <p:cNvSpPr/>
          <p:nvPr/>
        </p:nvSpPr>
        <p:spPr>
          <a:xfrm>
            <a:off x="952500" y="5053965"/>
            <a:ext cx="7905750" cy="2400300"/>
          </a:xfrm>
          <a:prstGeom prst="rect">
            <a:avLst/>
          </a:prstGeom>
          <a:solidFill>
            <a:srgbClr val="2A2620"/>
          </a:solidFill>
          <a:ln/>
        </p:spPr>
      </p:sp>
      <p:sp>
        <p:nvSpPr>
          <p:cNvPr id="15" name="Text 13"/>
          <p:cNvSpPr/>
          <p:nvPr/>
        </p:nvSpPr>
        <p:spPr>
          <a:xfrm>
            <a:off x="1238250" y="5282565"/>
            <a:ext cx="7554278" cy="42672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E8935A"/>
                </a:solidFill>
                <a:latin typeface="Courier New" pitchFamily="34" charset="0"/>
                <a:ea typeface="Courier New" pitchFamily="34" charset="-122"/>
                <a:cs typeface="Courier New" pitchFamily="34" charset="-120"/>
              </a:rPr>
              <a:t>% ERROR RECOVERY (WPRNT, N10)</a:t>
            </a:r>
            <a:endParaRPr lang="en-US" sz="1800" dirty="0"/>
          </a:p>
        </p:txBody>
      </p:sp>
      <p:sp>
        <p:nvSpPr>
          <p:cNvPr id="16" name="Text 14"/>
          <p:cNvSpPr/>
          <p:nvPr/>
        </p:nvSpPr>
        <p:spPr>
          <a:xfrm>
            <a:off x="1238250" y="5671185"/>
            <a:ext cx="7554278" cy="42672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E6DEC9"/>
                </a:solidFill>
                <a:latin typeface="Courier New" pitchFamily="34" charset="0"/>
                <a:ea typeface="Courier New" pitchFamily="34" charset="-122"/>
                <a:cs typeface="Courier New" pitchFamily="34" charset="-120"/>
              </a:rPr>
              <a:t>IOX DLP RSR; BSKP ZRO 40 DA</a:t>
            </a:r>
            <a:endParaRPr lang="en-US" sz="1800" dirty="0"/>
          </a:p>
        </p:txBody>
      </p:sp>
      <p:sp>
        <p:nvSpPr>
          <p:cNvPr id="17" name="Text 15"/>
          <p:cNvSpPr/>
          <p:nvPr/>
        </p:nvSpPr>
        <p:spPr>
          <a:xfrm>
            <a:off x="1238250" y="6059805"/>
            <a:ext cx="7554278" cy="42672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E6DEC9"/>
                </a:solidFill>
                <a:latin typeface="Courier New" pitchFamily="34" charset="0"/>
                <a:ea typeface="Courier New" pitchFamily="34" charset="-122"/>
                <a:cs typeface="Courier New" pitchFamily="34" charset="-120"/>
              </a:rPr>
              <a:t>JMP TERR </a:t>
            </a:r>
            <a:pPr algn="l" indent="0" marL="0">
              <a:lnSpc>
                <a:spcPct val="150000"/>
              </a:lnSpc>
              <a:buNone/>
            </a:pPr>
            <a:r>
              <a:rPr lang="en-US" sz="1800" dirty="0">
                <a:solidFill>
                  <a:srgbClr val="8F8570"/>
                </a:solidFill>
                <a:latin typeface="Courier New" pitchFamily="34" charset="0"/>
                <a:ea typeface="Courier New" pitchFamily="34" charset="-122"/>
                <a:cs typeface="Courier New" pitchFamily="34" charset="-120"/>
              </a:rPr>
              <a:t>% BIT 4 → ERROR</a:t>
            </a:r>
            <a:endParaRPr lang="en-US" sz="1800" dirty="0"/>
          </a:p>
        </p:txBody>
      </p:sp>
      <p:sp>
        <p:nvSpPr>
          <p:cNvPr id="18" name="Text 16"/>
          <p:cNvSpPr/>
          <p:nvPr/>
        </p:nvSpPr>
        <p:spPr>
          <a:xfrm>
            <a:off x="1238250" y="6448425"/>
            <a:ext cx="7554278" cy="42672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E6DEC9"/>
                </a:solidFill>
                <a:latin typeface="Courier New" pitchFamily="34" charset="0"/>
                <a:ea typeface="Courier New" pitchFamily="34" charset="-122"/>
                <a:cs typeface="Courier New" pitchFamily="34" charset="-120"/>
              </a:rPr>
              <a:t>TERR, SAA 20; IOX DLP WCR</a:t>
            </a:r>
            <a:endParaRPr lang="en-US" sz="1800" dirty="0"/>
          </a:p>
        </p:txBody>
      </p:sp>
      <p:sp>
        <p:nvSpPr>
          <p:cNvPr id="19" name="Text 17"/>
          <p:cNvSpPr/>
          <p:nvPr/>
        </p:nvSpPr>
        <p:spPr>
          <a:xfrm>
            <a:off x="1238250" y="6837045"/>
            <a:ext cx="7554278" cy="42672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E6DEC9"/>
                </a:solidFill>
                <a:latin typeface="Courier New" pitchFamily="34" charset="0"/>
                <a:ea typeface="Courier New" pitchFamily="34" charset="-122"/>
                <a:cs typeface="Courier New" pitchFamily="34" charset="-120"/>
              </a:rPr>
              <a:t>SHA ROT 20; JMP L21 </a:t>
            </a:r>
            <a:pPr algn="l" indent="0" marL="0">
              <a:lnSpc>
                <a:spcPct val="150000"/>
              </a:lnSpc>
              <a:buNone/>
            </a:pPr>
            <a:r>
              <a:rPr lang="en-US" sz="1800" dirty="0">
                <a:solidFill>
                  <a:srgbClr val="8F8570"/>
                </a:solidFill>
                <a:latin typeface="Courier New" pitchFamily="34" charset="0"/>
                <a:ea typeface="Courier New" pitchFamily="34" charset="-122"/>
                <a:cs typeface="Courier New" pitchFamily="34" charset="-120"/>
              </a:rPr>
              <a:t>% CLEAR+RETRY</a:t>
            </a:r>
            <a:endParaRPr lang="en-US" sz="1800" dirty="0"/>
          </a:p>
        </p:txBody>
      </p:sp>
      <p:sp>
        <p:nvSpPr>
          <p:cNvPr id="20" name="Text 18"/>
          <p:cNvSpPr/>
          <p:nvPr/>
        </p:nvSpPr>
        <p:spPr>
          <a:xfrm>
            <a:off x="9429750" y="2497455"/>
            <a:ext cx="8142923" cy="1278255"/>
          </a:xfrm>
          <a:prstGeom prst="rect">
            <a:avLst/>
          </a:prstGeom>
          <a:noFill/>
          <a:ln/>
        </p:spPr>
        <p:txBody>
          <a:bodyPr wrap="square" lIns="25400" tIns="25400" rIns="25400" bIns="25400" rtlCol="0" anchor="t">
            <a:normAutofit/>
          </a:bodyPr>
          <a:lstStyle/>
          <a:p>
            <a:pPr algn="l" indent="0" marL="0">
              <a:lnSpc>
                <a:spcPct val="135625"/>
              </a:lnSpc>
              <a:buNone/>
            </a:pPr>
            <a:r>
              <a:rPr lang="en-US" sz="2100" dirty="0">
                <a:solidFill>
                  <a:srgbClr val="211C14"/>
                </a:solidFill>
                <a:latin typeface="Courier New" pitchFamily="34" charset="0"/>
                <a:ea typeface="Courier New" pitchFamily="34" charset="-122"/>
                <a:cs typeface="Courier New" pitchFamily="34" charset="-120"/>
              </a:rPr>
              <a:t>WPRNT </a:t>
            </a:r>
            <a:pPr algn="l" indent="0" marL="0">
              <a:lnSpc>
                <a:spcPct val="135625"/>
              </a:lnSpc>
              <a:buNone/>
            </a:pPr>
            <a:r>
              <a:rPr lang="en-US" sz="2100" dirty="0">
                <a:solidFill>
                  <a:srgbClr val="211C14"/>
                </a:solidFill>
                <a:latin typeface="Arial" pitchFamily="34" charset="0"/>
                <a:ea typeface="Arial" pitchFamily="34" charset="-122"/>
                <a:cs typeface="Arial" pitchFamily="34" charset="-120"/>
              </a:rPr>
              <a:t>substitutes unprintable characters and expands LF handling; output is buffered through </a:t>
            </a:r>
            <a:pPr algn="l" indent="0" marL="0">
              <a:lnSpc>
                <a:spcPct val="135625"/>
              </a:lnSpc>
              <a:buNone/>
            </a:pPr>
            <a:r>
              <a:rPr lang="en-US" sz="2100" dirty="0">
                <a:solidFill>
                  <a:srgbClr val="211C14"/>
                </a:solidFill>
                <a:latin typeface="Courier New" pitchFamily="34" charset="0"/>
                <a:ea typeface="Courier New" pitchFamily="34" charset="-122"/>
                <a:cs typeface="Courier New" pitchFamily="34" charset="-120"/>
              </a:rPr>
              <a:t>8LP=200₈ </a:t>
            </a:r>
            <a:pPr algn="l" indent="0" marL="0">
              <a:lnSpc>
                <a:spcPct val="135625"/>
              </a:lnSpc>
              <a:buNone/>
            </a:pPr>
            <a:r>
              <a:rPr lang="en-US" sz="2100" dirty="0">
                <a:solidFill>
                  <a:srgbClr val="211C14"/>
                </a:solidFill>
                <a:latin typeface="Arial" pitchFamily="34" charset="0"/>
                <a:ea typeface="Arial" pitchFamily="34" charset="-122"/>
                <a:cs typeface="Arial" pitchFamily="34" charset="-120"/>
              </a:rPr>
              <a:t>words and owned by one terminal via the </a:t>
            </a:r>
            <a:pPr algn="l" indent="0" marL="0">
              <a:lnSpc>
                <a:spcPct val="135625"/>
              </a:lnSpc>
              <a:buNone/>
            </a:pPr>
            <a:r>
              <a:rPr lang="en-US" sz="2100" dirty="0">
                <a:solidFill>
                  <a:srgbClr val="211C14"/>
                </a:solidFill>
                <a:latin typeface="Courier New" pitchFamily="34" charset="0"/>
                <a:ea typeface="Courier New" pitchFamily="34" charset="-122"/>
                <a:cs typeface="Courier New" pitchFamily="34" charset="-120"/>
              </a:rPr>
              <a:t>LPNT </a:t>
            </a:r>
            <a:pPr algn="l" indent="0" marL="0">
              <a:lnSpc>
                <a:spcPct val="135625"/>
              </a:lnSpc>
              <a:buNone/>
            </a:pPr>
            <a:r>
              <a:rPr lang="en-US" sz="2100" dirty="0">
                <a:solidFill>
                  <a:srgbClr val="211C14"/>
                </a:solidFill>
                <a:latin typeface="Arial" pitchFamily="34" charset="0"/>
                <a:ea typeface="Arial" pitchFamily="34" charset="-122"/>
                <a:cs typeface="Arial" pitchFamily="34" charset="-120"/>
              </a:rPr>
              <a:t>lock.</a:t>
            </a:r>
            <a:endParaRPr lang="en-US" sz="2100" dirty="0"/>
          </a:p>
        </p:txBody>
      </p:sp>
      <p:sp>
        <p:nvSpPr>
          <p:cNvPr id="21" name="Text 19"/>
          <p:cNvSpPr/>
          <p:nvPr/>
        </p:nvSpPr>
        <p:spPr>
          <a:xfrm>
            <a:off x="9429750" y="3966210"/>
            <a:ext cx="8142923" cy="1706880"/>
          </a:xfrm>
          <a:prstGeom prst="rect">
            <a:avLst/>
          </a:prstGeom>
          <a:noFill/>
          <a:ln/>
        </p:spPr>
        <p:txBody>
          <a:bodyPr wrap="square" lIns="25400" tIns="25400" rIns="25400" bIns="25400" rtlCol="0" anchor="t">
            <a:normAutofit/>
          </a:bodyPr>
          <a:lstStyle/>
          <a:p>
            <a:pPr algn="l" indent="0" marL="0">
              <a:lnSpc>
                <a:spcPct val="135625"/>
              </a:lnSpc>
              <a:buNone/>
            </a:pPr>
            <a:r>
              <a:rPr lang="en-US" sz="2100" dirty="0">
                <a:solidFill>
                  <a:srgbClr val="211C14"/>
                </a:solidFill>
                <a:latin typeface="Arial" pitchFamily="34" charset="0"/>
                <a:ea typeface="Arial" pitchFamily="34" charset="-122"/>
                <a:cs typeface="Arial" pitchFamily="34" charset="-120"/>
              </a:rPr>
              <a:t>The </a:t>
            </a:r>
            <a:pPr algn="l" indent="0" marL="0">
              <a:lnSpc>
                <a:spcPct val="135625"/>
              </a:lnSpc>
              <a:buNone/>
            </a:pPr>
            <a:r>
              <a:rPr lang="en-US" sz="2100" b="1" dirty="0">
                <a:solidFill>
                  <a:srgbClr val="211C14"/>
                </a:solidFill>
                <a:latin typeface="Arial" pitchFamily="34" charset="0"/>
                <a:ea typeface="Arial" pitchFamily="34" charset="-122"/>
                <a:cs typeface="Arial" pitchFamily="34" charset="-120"/>
              </a:rPr>
              <a:t>Versatec option </a:t>
            </a:r>
            <a:pPr algn="l" indent="0" marL="0">
              <a:lnSpc>
                <a:spcPct val="135625"/>
              </a:lnSpc>
              <a:buNone/>
            </a:pPr>
            <a:r>
              <a:rPr lang="en-US" sz="2100" dirty="0">
                <a:solidFill>
                  <a:srgbClr val="211C14"/>
                </a:solidFill>
                <a:latin typeface="Arial" pitchFamily="34" charset="0"/>
                <a:ea typeface="Arial" pitchFamily="34" charset="-122"/>
                <a:cs typeface="Arial" pitchFamily="34" charset="-120"/>
              </a:rPr>
              <a:t>replaces character output with DMA: </a:t>
            </a:r>
            <a:pPr algn="l" indent="0" marL="0">
              <a:lnSpc>
                <a:spcPct val="135625"/>
              </a:lnSpc>
              <a:buNone/>
            </a:pPr>
            <a:r>
              <a:rPr lang="en-US" sz="2100" dirty="0">
                <a:solidFill>
                  <a:srgbClr val="211C14"/>
                </a:solidFill>
                <a:latin typeface="Courier New" pitchFamily="34" charset="0"/>
                <a:ea typeface="Courier New" pitchFamily="34" charset="-122"/>
                <a:cs typeface="Courier New" pitchFamily="34" charset="-120"/>
              </a:rPr>
              <a:t>VERDR </a:t>
            </a:r>
            <a:pPr algn="l" indent="0" marL="0">
              <a:lnSpc>
                <a:spcPct val="135625"/>
              </a:lnSpc>
              <a:buNone/>
            </a:pPr>
            <a:r>
              <a:rPr lang="en-US" sz="2100" dirty="0">
                <a:solidFill>
                  <a:srgbClr val="211C14"/>
                </a:solidFill>
                <a:latin typeface="Arial" pitchFamily="34" charset="0"/>
                <a:ea typeface="Arial" pitchFamily="34" charset="-122"/>
                <a:cs typeface="Arial" pitchFamily="34" charset="-120"/>
              </a:rPr>
              <a:t>fills a 132-char line buffer, loads its address (</a:t>
            </a:r>
            <a:pPr algn="l" indent="0" marL="0">
              <a:lnSpc>
                <a:spcPct val="135625"/>
              </a:lnSpc>
              <a:buNone/>
            </a:pPr>
            <a:r>
              <a:rPr lang="en-US" sz="2100" dirty="0">
                <a:solidFill>
                  <a:srgbClr val="211C14"/>
                </a:solidFill>
                <a:latin typeface="Courier New" pitchFamily="34" charset="0"/>
                <a:ea typeface="Courier New" pitchFamily="34" charset="-122"/>
                <a:cs typeface="Courier New" pitchFamily="34" charset="-120"/>
              </a:rPr>
              <a:t>IOX DLP+1 </a:t>
            </a:r>
            <a:pPr algn="l" indent="0" marL="0">
              <a:lnSpc>
                <a:spcPct val="135625"/>
              </a:lnSpc>
              <a:buNone/>
            </a:pPr>
            <a:r>
              <a:rPr lang="en-US" sz="2100" dirty="0">
                <a:solidFill>
                  <a:srgbClr val="211C14"/>
                </a:solidFill>
                <a:latin typeface="Arial" pitchFamily="34" charset="0"/>
                <a:ea typeface="Arial" pitchFamily="34" charset="-122"/>
                <a:cs typeface="Arial" pitchFamily="34" charset="-120"/>
              </a:rPr>
              <a:t>), count 1 line ( </a:t>
            </a:r>
            <a:pPr algn="l" indent="0" marL="0">
              <a:lnSpc>
                <a:spcPct val="135625"/>
              </a:lnSpc>
              <a:buNone/>
            </a:pPr>
            <a:r>
              <a:rPr lang="en-US" sz="2100" dirty="0">
                <a:solidFill>
                  <a:srgbClr val="211C14"/>
                </a:solidFill>
                <a:latin typeface="Courier New" pitchFamily="34" charset="0"/>
                <a:ea typeface="Courier New" pitchFamily="34" charset="-122"/>
                <a:cs typeface="Courier New" pitchFamily="34" charset="-120"/>
              </a:rPr>
              <a:t>DLP+3</a:t>
            </a:r>
            <a:pPr algn="l" indent="0" marL="0">
              <a:lnSpc>
                <a:spcPct val="135625"/>
              </a:lnSpc>
              <a:buNone/>
            </a:pPr>
            <a:r>
              <a:rPr lang="en-US" sz="2100" dirty="0">
                <a:solidFill>
                  <a:srgbClr val="211C14"/>
                </a:solidFill>
                <a:latin typeface="Arial" pitchFamily="34" charset="0"/>
                <a:ea typeface="Arial" pitchFamily="34" charset="-122"/>
                <a:cs typeface="Arial" pitchFamily="34" charset="-120"/>
              </a:rPr>
              <a:t>), go (</a:t>
            </a:r>
            <a:pPr algn="l" indent="0" marL="0">
              <a:lnSpc>
                <a:spcPct val="135625"/>
              </a:lnSpc>
              <a:buNone/>
            </a:pPr>
            <a:r>
              <a:rPr lang="en-US" sz="2100" dirty="0">
                <a:solidFill>
                  <a:srgbClr val="211C14"/>
                </a:solidFill>
                <a:latin typeface="Courier New" pitchFamily="34" charset="0"/>
                <a:ea typeface="Courier New" pitchFamily="34" charset="-122"/>
                <a:cs typeface="Courier New" pitchFamily="34" charset="-120"/>
              </a:rPr>
              <a:t>DLP+5 </a:t>
            </a:r>
            <a:pPr algn="l" indent="0" marL="0">
              <a:lnSpc>
                <a:spcPct val="135625"/>
              </a:lnSpc>
              <a:buNone/>
            </a:pPr>
            <a:r>
              <a:rPr lang="en-US" sz="2100" dirty="0">
                <a:solidFill>
                  <a:srgbClr val="211C14"/>
                </a:solidFill>
                <a:latin typeface="Arial" pitchFamily="34" charset="0"/>
                <a:ea typeface="Arial" pitchFamily="34" charset="-122"/>
                <a:cs typeface="Arial" pitchFamily="34" charset="-120"/>
              </a:rPr>
              <a:t>← 5) — completion interrupts on </a:t>
            </a:r>
            <a:pPr algn="l" indent="0" marL="0">
              <a:lnSpc>
                <a:spcPct val="135625"/>
              </a:lnSpc>
              <a:buNone/>
            </a:pPr>
            <a:r>
              <a:rPr lang="en-US" sz="2100" b="1" dirty="0">
                <a:solidFill>
                  <a:srgbClr val="211C14"/>
                </a:solidFill>
                <a:latin typeface="Arial" pitchFamily="34" charset="0"/>
                <a:ea typeface="Arial" pitchFamily="34" charset="-122"/>
                <a:cs typeface="Arial" pitchFamily="34" charset="-120"/>
              </a:rPr>
              <a:t>level 11</a:t>
            </a:r>
            <a:pPr algn="l" indent="0" marL="0">
              <a:lnSpc>
                <a:spcPct val="135625"/>
              </a:lnSpc>
              <a:buNone/>
            </a:pPr>
            <a:r>
              <a:rPr lang="en-US" sz="2100" dirty="0">
                <a:solidFill>
                  <a:srgbClr val="211C14"/>
                </a:solidFill>
                <a:latin typeface="Arial" pitchFamily="34" charset="0"/>
                <a:ea typeface="Arial" pitchFamily="34" charset="-122"/>
                <a:cs typeface="Arial" pitchFamily="34" charset="-120"/>
              </a:rPr>
              <a:t>.</a:t>
            </a:r>
            <a:endParaRPr lang="en-US" sz="2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2EDE1"/>
        </a:solidFill>
      </p:bgPr>
    </p:bg>
    <p:spTree>
      <p:nvGrpSpPr>
        <p:cNvPr id="1" name=""/>
        <p:cNvGrpSpPr/>
        <p:nvPr/>
      </p:nvGrpSpPr>
      <p:grpSpPr>
        <a:xfrm>
          <a:off x="0" y="0"/>
          <a:ext cx="0" cy="0"/>
          <a:chOff x="0" y="0"/>
          <a:chExt cx="0" cy="0"/>
        </a:xfrm>
      </p:grpSpPr>
      <p:sp>
        <p:nvSpPr>
          <p:cNvPr id="2" name="Text 0"/>
          <p:cNvSpPr/>
          <p:nvPr/>
        </p:nvSpPr>
        <p:spPr>
          <a:xfrm>
            <a:off x="952500" y="762000"/>
            <a:ext cx="18021300" cy="33528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C8501E"/>
                </a:solidFill>
                <a:latin typeface="Courier New" pitchFamily="34" charset="0"/>
                <a:ea typeface="Courier New" pitchFamily="34" charset="-122"/>
                <a:cs typeface="Courier New" pitchFamily="34" charset="-120"/>
              </a:rPr>
              <a:t>SECTION 03 · DEVICES · DISK</a:t>
            </a:r>
            <a:endParaRPr lang="en-US" sz="1800" dirty="0"/>
          </a:p>
        </p:txBody>
      </p:sp>
      <p:sp>
        <p:nvSpPr>
          <p:cNvPr id="3" name="Text 1"/>
          <p:cNvSpPr/>
          <p:nvPr/>
        </p:nvSpPr>
        <p:spPr>
          <a:xfrm>
            <a:off x="952500" y="1211580"/>
            <a:ext cx="18021300" cy="666750"/>
          </a:xfrm>
          <a:prstGeom prst="rect">
            <a:avLst/>
          </a:prstGeom>
          <a:noFill/>
          <a:ln/>
        </p:spPr>
        <p:txBody>
          <a:bodyPr wrap="square" lIns="25400" tIns="25400" rIns="25400" bIns="25400" rtlCol="0" anchor="t">
            <a:normAutofit/>
          </a:bodyPr>
          <a:lstStyle/>
          <a:p>
            <a:pPr algn="l" indent="0" marL="0">
              <a:lnSpc>
                <a:spcPct val="97059"/>
              </a:lnSpc>
              <a:buNone/>
            </a:pPr>
            <a:r>
              <a:rPr lang="en-US" sz="4500" b="1" dirty="0">
                <a:solidFill>
                  <a:srgbClr val="211C14"/>
                </a:solidFill>
                <a:latin typeface="Courier New" pitchFamily="34" charset="0"/>
                <a:ea typeface="Courier New" pitchFamily="34" charset="-122"/>
                <a:cs typeface="Courier New" pitchFamily="34" charset="-120"/>
              </a:rPr>
              <a:t>CDC Disk </a:t>
            </a:r>
            <a:pPr algn="l" indent="0" marL="0">
              <a:lnSpc>
                <a:spcPct val="97059"/>
              </a:lnSpc>
              <a:buNone/>
            </a:pPr>
            <a:r>
              <a:rPr lang="en-US" sz="2700" dirty="0">
                <a:solidFill>
                  <a:srgbClr val="6B6252"/>
                </a:solidFill>
                <a:latin typeface="Courier New" pitchFamily="34" charset="0"/>
                <a:ea typeface="Courier New" pitchFamily="34" charset="-122"/>
                <a:cs typeface="Courier New" pitchFamily="34" charset="-120"/>
              </a:rPr>
              <a:t>IOX 500₈–507₈ · driver DKTR</a:t>
            </a:r>
            <a:endParaRPr lang="en-US" sz="4500" dirty="0"/>
          </a:p>
        </p:txBody>
      </p:sp>
      <p:sp>
        <p:nvSpPr>
          <p:cNvPr id="4" name="Shape 2"/>
          <p:cNvSpPr/>
          <p:nvPr/>
        </p:nvSpPr>
        <p:spPr>
          <a:xfrm>
            <a:off x="952500" y="1992630"/>
            <a:ext cx="16383000" cy="28575"/>
          </a:xfrm>
          <a:prstGeom prst="rect">
            <a:avLst/>
          </a:prstGeom>
          <a:solidFill>
            <a:srgbClr val="211C14"/>
          </a:solidFill>
          <a:ln/>
        </p:spPr>
      </p:sp>
      <p:sp>
        <p:nvSpPr>
          <p:cNvPr id="5" name="Shape 3"/>
          <p:cNvSpPr/>
          <p:nvPr/>
        </p:nvSpPr>
        <p:spPr>
          <a:xfrm>
            <a:off x="952500" y="2867025"/>
            <a:ext cx="5715000" cy="9525"/>
          </a:xfrm>
          <a:prstGeom prst="rect">
            <a:avLst/>
          </a:prstGeom>
          <a:solidFill>
            <a:srgbClr val="CEC4AD"/>
          </a:solidFill>
          <a:ln/>
        </p:spPr>
      </p:sp>
      <p:sp>
        <p:nvSpPr>
          <p:cNvPr id="6" name="Text 4"/>
          <p:cNvSpPr/>
          <p:nvPr/>
        </p:nvSpPr>
        <p:spPr>
          <a:xfrm>
            <a:off x="952500" y="2459355"/>
            <a:ext cx="1781175" cy="350520"/>
          </a:xfrm>
          <a:prstGeom prst="rect">
            <a:avLst/>
          </a:prstGeom>
          <a:noFill/>
          <a:ln/>
        </p:spPr>
        <p:txBody>
          <a:bodyPr wrap="square" lIns="25400" tIns="25400" rIns="25400" bIns="25400" rtlCol="0" anchor="t">
            <a:normAutofit/>
          </a:bodyPr>
          <a:lstStyle/>
          <a:p>
            <a:pPr algn="l" indent="0" marL="0">
              <a:buNone/>
            </a:pPr>
            <a:r>
              <a:rPr lang="en-US" sz="1875" b="1" dirty="0">
                <a:solidFill>
                  <a:srgbClr val="211C14"/>
                </a:solidFill>
                <a:latin typeface="Courier New" pitchFamily="34" charset="0"/>
                <a:ea typeface="Courier New" pitchFamily="34" charset="-122"/>
                <a:cs typeface="Courier New" pitchFamily="34" charset="-120"/>
              </a:rPr>
              <a:t>500 RCA</a:t>
            </a:r>
            <a:endParaRPr lang="en-US" sz="1875" dirty="0"/>
          </a:p>
        </p:txBody>
      </p:sp>
      <p:sp>
        <p:nvSpPr>
          <p:cNvPr id="7" name="Text 5"/>
          <p:cNvSpPr/>
          <p:nvPr/>
        </p:nvSpPr>
        <p:spPr>
          <a:xfrm>
            <a:off x="2762250" y="2459355"/>
            <a:ext cx="4295775" cy="350520"/>
          </a:xfrm>
          <a:prstGeom prst="rect">
            <a:avLst/>
          </a:prstGeom>
          <a:noFill/>
          <a:ln/>
        </p:spPr>
        <p:txBody>
          <a:bodyPr wrap="square" lIns="25400" tIns="25400" rIns="25400" bIns="25400" rtlCol="0" anchor="t">
            <a:normAutofit/>
          </a:bodyPr>
          <a:lstStyle/>
          <a:p>
            <a:pPr algn="l" indent="0" marL="0">
              <a:buNone/>
            </a:pPr>
            <a:r>
              <a:rPr lang="en-US" sz="1875" dirty="0">
                <a:solidFill>
                  <a:srgbClr val="211C14"/>
                </a:solidFill>
                <a:latin typeface="Arial" pitchFamily="34" charset="0"/>
                <a:ea typeface="Arial" pitchFamily="34" charset="-122"/>
                <a:cs typeface="Arial" pitchFamily="34" charset="-120"/>
              </a:rPr>
              <a:t>read core address</a:t>
            </a:r>
            <a:endParaRPr lang="en-US" sz="1875" dirty="0"/>
          </a:p>
        </p:txBody>
      </p:sp>
      <p:sp>
        <p:nvSpPr>
          <p:cNvPr id="8" name="Shape 6"/>
          <p:cNvSpPr/>
          <p:nvPr/>
        </p:nvSpPr>
        <p:spPr>
          <a:xfrm>
            <a:off x="952500" y="3377565"/>
            <a:ext cx="5715000" cy="9525"/>
          </a:xfrm>
          <a:prstGeom prst="rect">
            <a:avLst/>
          </a:prstGeom>
          <a:solidFill>
            <a:srgbClr val="CEC4AD"/>
          </a:solidFill>
          <a:ln/>
        </p:spPr>
      </p:sp>
      <p:sp>
        <p:nvSpPr>
          <p:cNvPr id="9" name="Text 7"/>
          <p:cNvSpPr/>
          <p:nvPr/>
        </p:nvSpPr>
        <p:spPr>
          <a:xfrm>
            <a:off x="952500" y="2969895"/>
            <a:ext cx="1781175" cy="350520"/>
          </a:xfrm>
          <a:prstGeom prst="rect">
            <a:avLst/>
          </a:prstGeom>
          <a:noFill/>
          <a:ln/>
        </p:spPr>
        <p:txBody>
          <a:bodyPr wrap="square" lIns="25400" tIns="25400" rIns="25400" bIns="25400" rtlCol="0" anchor="t">
            <a:normAutofit/>
          </a:bodyPr>
          <a:lstStyle/>
          <a:p>
            <a:pPr algn="l" indent="0" marL="0">
              <a:buNone/>
            </a:pPr>
            <a:r>
              <a:rPr lang="en-US" sz="1875" b="1" dirty="0">
                <a:solidFill>
                  <a:srgbClr val="211C14"/>
                </a:solidFill>
                <a:latin typeface="Courier New" pitchFamily="34" charset="0"/>
                <a:ea typeface="Courier New" pitchFamily="34" charset="-122"/>
                <a:cs typeface="Courier New" pitchFamily="34" charset="-120"/>
              </a:rPr>
              <a:t>501 LCA</a:t>
            </a:r>
            <a:endParaRPr lang="en-US" sz="1875" dirty="0"/>
          </a:p>
        </p:txBody>
      </p:sp>
      <p:sp>
        <p:nvSpPr>
          <p:cNvPr id="10" name="Text 8"/>
          <p:cNvSpPr/>
          <p:nvPr/>
        </p:nvSpPr>
        <p:spPr>
          <a:xfrm>
            <a:off x="2762250" y="2969895"/>
            <a:ext cx="4295775" cy="350520"/>
          </a:xfrm>
          <a:prstGeom prst="rect">
            <a:avLst/>
          </a:prstGeom>
          <a:noFill/>
          <a:ln/>
        </p:spPr>
        <p:txBody>
          <a:bodyPr wrap="square" lIns="25400" tIns="25400" rIns="25400" bIns="25400" rtlCol="0" anchor="t">
            <a:normAutofit/>
          </a:bodyPr>
          <a:lstStyle/>
          <a:p>
            <a:pPr algn="l" indent="0" marL="0">
              <a:buNone/>
            </a:pPr>
            <a:r>
              <a:rPr lang="en-US" sz="1875" dirty="0">
                <a:solidFill>
                  <a:srgbClr val="211C14"/>
                </a:solidFill>
                <a:latin typeface="Arial" pitchFamily="34" charset="0"/>
                <a:ea typeface="Arial" pitchFamily="34" charset="-122"/>
                <a:cs typeface="Arial" pitchFamily="34" charset="-120"/>
              </a:rPr>
              <a:t>load core address (DMA target)</a:t>
            </a:r>
            <a:endParaRPr lang="en-US" sz="1875" dirty="0"/>
          </a:p>
        </p:txBody>
      </p:sp>
      <p:sp>
        <p:nvSpPr>
          <p:cNvPr id="11" name="Shape 9"/>
          <p:cNvSpPr/>
          <p:nvPr/>
        </p:nvSpPr>
        <p:spPr>
          <a:xfrm>
            <a:off x="952500" y="3888105"/>
            <a:ext cx="5715000" cy="9525"/>
          </a:xfrm>
          <a:prstGeom prst="rect">
            <a:avLst/>
          </a:prstGeom>
          <a:solidFill>
            <a:srgbClr val="CEC4AD"/>
          </a:solidFill>
          <a:ln/>
        </p:spPr>
      </p:sp>
      <p:sp>
        <p:nvSpPr>
          <p:cNvPr id="12" name="Text 10"/>
          <p:cNvSpPr/>
          <p:nvPr/>
        </p:nvSpPr>
        <p:spPr>
          <a:xfrm>
            <a:off x="952500" y="3480435"/>
            <a:ext cx="1781175" cy="350520"/>
          </a:xfrm>
          <a:prstGeom prst="rect">
            <a:avLst/>
          </a:prstGeom>
          <a:noFill/>
          <a:ln/>
        </p:spPr>
        <p:txBody>
          <a:bodyPr wrap="square" lIns="25400" tIns="25400" rIns="25400" bIns="25400" rtlCol="0" anchor="t">
            <a:normAutofit/>
          </a:bodyPr>
          <a:lstStyle/>
          <a:p>
            <a:pPr algn="l" indent="0" marL="0">
              <a:buNone/>
            </a:pPr>
            <a:r>
              <a:rPr lang="en-US" sz="1875" b="1" dirty="0">
                <a:solidFill>
                  <a:srgbClr val="211C14"/>
                </a:solidFill>
                <a:latin typeface="Courier New" pitchFamily="34" charset="0"/>
                <a:ea typeface="Courier New" pitchFamily="34" charset="-122"/>
                <a:cs typeface="Courier New" pitchFamily="34" charset="-120"/>
              </a:rPr>
              <a:t>502 RSECT</a:t>
            </a:r>
            <a:endParaRPr lang="en-US" sz="1875" dirty="0"/>
          </a:p>
        </p:txBody>
      </p:sp>
      <p:sp>
        <p:nvSpPr>
          <p:cNvPr id="13" name="Text 11"/>
          <p:cNvSpPr/>
          <p:nvPr/>
        </p:nvSpPr>
        <p:spPr>
          <a:xfrm>
            <a:off x="2762250" y="3480435"/>
            <a:ext cx="4295775" cy="350520"/>
          </a:xfrm>
          <a:prstGeom prst="rect">
            <a:avLst/>
          </a:prstGeom>
          <a:noFill/>
          <a:ln/>
        </p:spPr>
        <p:txBody>
          <a:bodyPr wrap="square" lIns="25400" tIns="25400" rIns="25400" bIns="25400" rtlCol="0" anchor="t">
            <a:normAutofit/>
          </a:bodyPr>
          <a:lstStyle/>
          <a:p>
            <a:pPr algn="l" indent="0" marL="0">
              <a:buNone/>
            </a:pPr>
            <a:r>
              <a:rPr lang="en-US" sz="1875" dirty="0">
                <a:solidFill>
                  <a:srgbClr val="211C14"/>
                </a:solidFill>
                <a:latin typeface="Arial" pitchFamily="34" charset="0"/>
                <a:ea typeface="Arial" pitchFamily="34" charset="-122"/>
                <a:cs typeface="Arial" pitchFamily="34" charset="-120"/>
              </a:rPr>
              <a:t>read sector counter</a:t>
            </a:r>
            <a:endParaRPr lang="en-US" sz="1875" dirty="0"/>
          </a:p>
        </p:txBody>
      </p:sp>
      <p:sp>
        <p:nvSpPr>
          <p:cNvPr id="14" name="Shape 12"/>
          <p:cNvSpPr/>
          <p:nvPr/>
        </p:nvSpPr>
        <p:spPr>
          <a:xfrm>
            <a:off x="952500" y="4711065"/>
            <a:ext cx="5715000" cy="9525"/>
          </a:xfrm>
          <a:prstGeom prst="rect">
            <a:avLst/>
          </a:prstGeom>
          <a:solidFill>
            <a:srgbClr val="CEC4AD"/>
          </a:solidFill>
          <a:ln/>
        </p:spPr>
      </p:sp>
      <p:sp>
        <p:nvSpPr>
          <p:cNvPr id="15" name="Text 13"/>
          <p:cNvSpPr/>
          <p:nvPr/>
        </p:nvSpPr>
        <p:spPr>
          <a:xfrm>
            <a:off x="952500" y="3990975"/>
            <a:ext cx="1695450" cy="662940"/>
          </a:xfrm>
          <a:prstGeom prst="rect">
            <a:avLst/>
          </a:prstGeom>
          <a:noFill/>
          <a:ln/>
        </p:spPr>
        <p:txBody>
          <a:bodyPr wrap="square" lIns="25400" tIns="25400" rIns="25400" bIns="25400" rtlCol="0" anchor="t">
            <a:normAutofit/>
          </a:bodyPr>
          <a:lstStyle/>
          <a:p>
            <a:pPr algn="l" indent="0" marL="0">
              <a:buNone/>
            </a:pPr>
            <a:r>
              <a:rPr lang="en-US" sz="1875" b="1" dirty="0">
                <a:solidFill>
                  <a:srgbClr val="211C14"/>
                </a:solidFill>
                <a:latin typeface="Courier New" pitchFamily="34" charset="0"/>
                <a:ea typeface="Courier New" pitchFamily="34" charset="-122"/>
                <a:cs typeface="Courier New" pitchFamily="34" charset="-120"/>
              </a:rPr>
              <a:t>503 LBA</a:t>
            </a:r>
            <a:endParaRPr lang="en-US" sz="1875" dirty="0"/>
          </a:p>
        </p:txBody>
      </p:sp>
      <p:sp>
        <p:nvSpPr>
          <p:cNvPr id="16" name="Text 14"/>
          <p:cNvSpPr/>
          <p:nvPr/>
        </p:nvSpPr>
        <p:spPr>
          <a:xfrm>
            <a:off x="2762250" y="3990975"/>
            <a:ext cx="4022407" cy="662940"/>
          </a:xfrm>
          <a:prstGeom prst="rect">
            <a:avLst/>
          </a:prstGeom>
          <a:noFill/>
          <a:ln/>
        </p:spPr>
        <p:txBody>
          <a:bodyPr wrap="square" lIns="25400" tIns="25400" rIns="25400" bIns="25400" rtlCol="0" anchor="t">
            <a:normAutofit/>
          </a:bodyPr>
          <a:lstStyle/>
          <a:p>
            <a:pPr algn="l" indent="0" marL="0">
              <a:buNone/>
            </a:pPr>
            <a:r>
              <a:rPr lang="en-US" sz="1875" dirty="0">
                <a:solidFill>
                  <a:srgbClr val="211C14"/>
                </a:solidFill>
                <a:latin typeface="Arial" pitchFamily="34" charset="0"/>
                <a:ea typeface="Arial" pitchFamily="34" charset="-122"/>
                <a:cs typeface="Arial" pitchFamily="34" charset="-120"/>
              </a:rPr>
              <a:t>load block address — cyl · head · sector packed by DKADR</a:t>
            </a:r>
            <a:endParaRPr lang="en-US" sz="1875" dirty="0"/>
          </a:p>
        </p:txBody>
      </p:sp>
      <p:sp>
        <p:nvSpPr>
          <p:cNvPr id="17" name="Shape 15"/>
          <p:cNvSpPr/>
          <p:nvPr/>
        </p:nvSpPr>
        <p:spPr>
          <a:xfrm>
            <a:off x="952500" y="5534025"/>
            <a:ext cx="5715000" cy="9525"/>
          </a:xfrm>
          <a:prstGeom prst="rect">
            <a:avLst/>
          </a:prstGeom>
          <a:solidFill>
            <a:srgbClr val="CEC4AD"/>
          </a:solidFill>
          <a:ln/>
        </p:spPr>
      </p:sp>
      <p:sp>
        <p:nvSpPr>
          <p:cNvPr id="18" name="Text 16"/>
          <p:cNvSpPr/>
          <p:nvPr/>
        </p:nvSpPr>
        <p:spPr>
          <a:xfrm>
            <a:off x="952500" y="4813935"/>
            <a:ext cx="1695450" cy="662940"/>
          </a:xfrm>
          <a:prstGeom prst="rect">
            <a:avLst/>
          </a:prstGeom>
          <a:noFill/>
          <a:ln/>
        </p:spPr>
        <p:txBody>
          <a:bodyPr wrap="square" lIns="25400" tIns="25400" rIns="25400" bIns="25400" rtlCol="0" anchor="t">
            <a:normAutofit/>
          </a:bodyPr>
          <a:lstStyle/>
          <a:p>
            <a:pPr algn="l" indent="0" marL="0">
              <a:buNone/>
            </a:pPr>
            <a:r>
              <a:rPr lang="en-US" sz="1875" b="1" dirty="0">
                <a:solidFill>
                  <a:srgbClr val="211C14"/>
                </a:solidFill>
                <a:latin typeface="Courier New" pitchFamily="34" charset="0"/>
                <a:ea typeface="Courier New" pitchFamily="34" charset="-122"/>
                <a:cs typeface="Courier New" pitchFamily="34" charset="-120"/>
              </a:rPr>
              <a:t>504 RST</a:t>
            </a:r>
            <a:endParaRPr lang="en-US" sz="1875" dirty="0"/>
          </a:p>
        </p:txBody>
      </p:sp>
      <p:sp>
        <p:nvSpPr>
          <p:cNvPr id="19" name="Text 17"/>
          <p:cNvSpPr/>
          <p:nvPr/>
        </p:nvSpPr>
        <p:spPr>
          <a:xfrm>
            <a:off x="2762250" y="4813935"/>
            <a:ext cx="4022407" cy="662940"/>
          </a:xfrm>
          <a:prstGeom prst="rect">
            <a:avLst/>
          </a:prstGeom>
          <a:noFill/>
          <a:ln/>
        </p:spPr>
        <p:txBody>
          <a:bodyPr wrap="square" lIns="25400" tIns="25400" rIns="25400" bIns="25400" rtlCol="0" anchor="t">
            <a:normAutofit/>
          </a:bodyPr>
          <a:lstStyle/>
          <a:p>
            <a:pPr algn="l" indent="0" marL="0">
              <a:buNone/>
            </a:pPr>
            <a:r>
              <a:rPr lang="en-US" sz="1875" dirty="0">
                <a:solidFill>
                  <a:srgbClr val="211C14"/>
                </a:solidFill>
                <a:latin typeface="Arial" pitchFamily="34" charset="0"/>
                <a:ea typeface="Arial" pitchFamily="34" charset="-122"/>
                <a:cs typeface="Arial" pitchFamily="34" charset="-120"/>
              </a:rPr>
              <a:t>status: </a:t>
            </a:r>
            <a:pPr algn="l" indent="0" marL="0">
              <a:buNone/>
            </a:pPr>
            <a:r>
              <a:rPr lang="en-US" sz="1875" b="1" dirty="0">
                <a:solidFill>
                  <a:srgbClr val="211C14"/>
                </a:solidFill>
                <a:latin typeface="Arial" pitchFamily="34" charset="0"/>
                <a:ea typeface="Arial" pitchFamily="34" charset="-122"/>
                <a:cs typeface="Arial" pitchFamily="34" charset="-120"/>
              </a:rPr>
              <a:t>bit 2 </a:t>
            </a:r>
            <a:pPr algn="l" indent="0" marL="0">
              <a:buNone/>
            </a:pPr>
            <a:r>
              <a:rPr lang="en-US" sz="1875" dirty="0">
                <a:solidFill>
                  <a:srgbClr val="211C14"/>
                </a:solidFill>
                <a:latin typeface="Arial" pitchFamily="34" charset="0"/>
                <a:ea typeface="Arial" pitchFamily="34" charset="-122"/>
                <a:cs typeface="Arial" pitchFamily="34" charset="-120"/>
              </a:rPr>
              <a:t>ready · </a:t>
            </a:r>
            <a:pPr algn="l" indent="0" marL="0">
              <a:buNone/>
            </a:pPr>
            <a:r>
              <a:rPr lang="en-US" sz="1875" b="1" dirty="0">
                <a:solidFill>
                  <a:srgbClr val="211C14"/>
                </a:solidFill>
                <a:latin typeface="Arial" pitchFamily="34" charset="0"/>
                <a:ea typeface="Arial" pitchFamily="34" charset="-122"/>
                <a:cs typeface="Arial" pitchFamily="34" charset="-120"/>
              </a:rPr>
              <a:t>bit 4 </a:t>
            </a:r>
            <a:pPr algn="l" indent="0" marL="0">
              <a:buNone/>
            </a:pPr>
            <a:r>
              <a:rPr lang="en-US" sz="1875" dirty="0">
                <a:solidFill>
                  <a:srgbClr val="211C14"/>
                </a:solidFill>
                <a:latin typeface="Arial" pitchFamily="34" charset="0"/>
                <a:ea typeface="Arial" pitchFamily="34" charset="-122"/>
                <a:cs typeface="Arial" pitchFamily="34" charset="-120"/>
              </a:rPr>
              <a:t>error OR · </a:t>
            </a:r>
            <a:pPr algn="l" indent="0" marL="0">
              <a:buNone/>
            </a:pPr>
            <a:r>
              <a:rPr lang="en-US" sz="1875" b="1" dirty="0">
                <a:solidFill>
                  <a:srgbClr val="211C14"/>
                </a:solidFill>
                <a:latin typeface="Arial" pitchFamily="34" charset="0"/>
                <a:ea typeface="Arial" pitchFamily="34" charset="-122"/>
                <a:cs typeface="Arial" pitchFamily="34" charset="-120"/>
              </a:rPr>
              <a:t>bit 14 </a:t>
            </a:r>
            <a:pPr algn="l" indent="0" marL="0">
              <a:buNone/>
            </a:pPr>
            <a:r>
              <a:rPr lang="en-US" sz="1875" dirty="0">
                <a:solidFill>
                  <a:srgbClr val="211C14"/>
                </a:solidFill>
                <a:latin typeface="Arial" pitchFamily="34" charset="0"/>
                <a:ea typeface="Arial" pitchFamily="34" charset="-122"/>
                <a:cs typeface="Arial" pitchFamily="34" charset="-120"/>
              </a:rPr>
              <a:t>op complete</a:t>
            </a:r>
            <a:endParaRPr lang="en-US" sz="1875" dirty="0"/>
          </a:p>
        </p:txBody>
      </p:sp>
      <p:sp>
        <p:nvSpPr>
          <p:cNvPr id="20" name="Shape 18"/>
          <p:cNvSpPr/>
          <p:nvPr/>
        </p:nvSpPr>
        <p:spPr>
          <a:xfrm>
            <a:off x="952500" y="6669405"/>
            <a:ext cx="5715000" cy="9525"/>
          </a:xfrm>
          <a:prstGeom prst="rect">
            <a:avLst/>
          </a:prstGeom>
          <a:solidFill>
            <a:srgbClr val="CEC4AD"/>
          </a:solidFill>
          <a:ln/>
        </p:spPr>
      </p:sp>
      <p:sp>
        <p:nvSpPr>
          <p:cNvPr id="21" name="Text 19"/>
          <p:cNvSpPr/>
          <p:nvPr/>
        </p:nvSpPr>
        <p:spPr>
          <a:xfrm>
            <a:off x="952500" y="5636895"/>
            <a:ext cx="1695450" cy="975360"/>
          </a:xfrm>
          <a:prstGeom prst="rect">
            <a:avLst/>
          </a:prstGeom>
          <a:noFill/>
          <a:ln/>
        </p:spPr>
        <p:txBody>
          <a:bodyPr wrap="square" lIns="25400" tIns="25400" rIns="25400" bIns="25400" rtlCol="0" anchor="t">
            <a:normAutofit/>
          </a:bodyPr>
          <a:lstStyle/>
          <a:p>
            <a:pPr algn="l" indent="0" marL="0">
              <a:buNone/>
            </a:pPr>
            <a:r>
              <a:rPr lang="en-US" sz="1875" b="1" dirty="0">
                <a:solidFill>
                  <a:srgbClr val="211C14"/>
                </a:solidFill>
                <a:latin typeface="Courier New" pitchFamily="34" charset="0"/>
                <a:ea typeface="Courier New" pitchFamily="34" charset="-122"/>
                <a:cs typeface="Courier New" pitchFamily="34" charset="-120"/>
              </a:rPr>
              <a:t>505 LMR</a:t>
            </a:r>
            <a:endParaRPr lang="en-US" sz="1875" dirty="0"/>
          </a:p>
        </p:txBody>
      </p:sp>
      <p:sp>
        <p:nvSpPr>
          <p:cNvPr id="22" name="Text 20"/>
          <p:cNvSpPr/>
          <p:nvPr/>
        </p:nvSpPr>
        <p:spPr>
          <a:xfrm>
            <a:off x="2762250" y="5636895"/>
            <a:ext cx="4022407" cy="975360"/>
          </a:xfrm>
          <a:prstGeom prst="rect">
            <a:avLst/>
          </a:prstGeom>
          <a:noFill/>
          <a:ln/>
        </p:spPr>
        <p:txBody>
          <a:bodyPr wrap="square" lIns="25400" tIns="25400" rIns="25400" bIns="25400" rtlCol="0" anchor="t">
            <a:normAutofit/>
          </a:bodyPr>
          <a:lstStyle/>
          <a:p>
            <a:pPr algn="l" indent="0" marL="0">
              <a:buNone/>
            </a:pPr>
            <a:r>
              <a:rPr lang="en-US" sz="1875" dirty="0">
                <a:solidFill>
                  <a:srgbClr val="211C14"/>
                </a:solidFill>
                <a:latin typeface="Arial" pitchFamily="34" charset="0"/>
                <a:ea typeface="Arial" pitchFamily="34" charset="-122"/>
                <a:cs typeface="Arial" pitchFamily="34" charset="-120"/>
              </a:rPr>
              <a:t>modus: </a:t>
            </a:r>
            <a:pPr algn="l" indent="0" marL="0">
              <a:buNone/>
            </a:pPr>
            <a:r>
              <a:rPr lang="en-US" sz="1875" b="1" dirty="0">
                <a:solidFill>
                  <a:srgbClr val="211C14"/>
                </a:solidFill>
                <a:latin typeface="Arial" pitchFamily="34" charset="0"/>
                <a:ea typeface="Arial" pitchFamily="34" charset="-122"/>
                <a:cs typeface="Arial" pitchFamily="34" charset="-120"/>
              </a:rPr>
              <a:t>bits 14–13 </a:t>
            </a:r>
            <a:pPr algn="l" indent="0" marL="0">
              <a:buNone/>
            </a:pPr>
            <a:r>
              <a:rPr lang="en-US" sz="1875" dirty="0">
                <a:solidFill>
                  <a:srgbClr val="211C14"/>
                </a:solidFill>
                <a:latin typeface="Arial" pitchFamily="34" charset="0"/>
                <a:ea typeface="Arial" pitchFamily="34" charset="-122"/>
                <a:cs typeface="Arial" pitchFamily="34" charset="-120"/>
              </a:rPr>
              <a:t>op (rd/wr/par/cmp) · </a:t>
            </a:r>
            <a:pPr algn="l" indent="0" marL="0">
              <a:buNone/>
            </a:pPr>
            <a:r>
              <a:rPr lang="en-US" sz="1875" b="1" dirty="0">
                <a:solidFill>
                  <a:srgbClr val="211C14"/>
                </a:solidFill>
                <a:latin typeface="Arial" pitchFamily="34" charset="0"/>
                <a:ea typeface="Arial" pitchFamily="34" charset="-122"/>
                <a:cs typeface="Arial" pitchFamily="34" charset="-120"/>
              </a:rPr>
              <a:t>bit 2 </a:t>
            </a:r>
            <a:pPr algn="l" indent="0" marL="0">
              <a:buNone/>
            </a:pPr>
            <a:r>
              <a:rPr lang="en-US" sz="1875" dirty="0">
                <a:solidFill>
                  <a:srgbClr val="211C14"/>
                </a:solidFill>
                <a:latin typeface="Arial" pitchFamily="34" charset="0"/>
                <a:ea typeface="Arial" pitchFamily="34" charset="-122"/>
                <a:cs typeface="Arial" pitchFamily="34" charset="-120"/>
              </a:rPr>
              <a:t>activate · </a:t>
            </a:r>
            <a:pPr algn="l" indent="0" marL="0">
              <a:buNone/>
            </a:pPr>
            <a:r>
              <a:rPr lang="en-US" sz="1875" b="1" dirty="0">
                <a:solidFill>
                  <a:srgbClr val="211C14"/>
                </a:solidFill>
                <a:latin typeface="Arial" pitchFamily="34" charset="0"/>
                <a:ea typeface="Arial" pitchFamily="34" charset="-122"/>
                <a:cs typeface="Arial" pitchFamily="34" charset="-120"/>
              </a:rPr>
              <a:t>bit 4 </a:t>
            </a:r>
            <a:pPr algn="l" indent="0" marL="0">
              <a:buNone/>
            </a:pPr>
            <a:r>
              <a:rPr lang="en-US" sz="1875" dirty="0">
                <a:solidFill>
                  <a:srgbClr val="211C14"/>
                </a:solidFill>
                <a:latin typeface="Arial" pitchFamily="34" charset="0"/>
                <a:ea typeface="Arial" pitchFamily="34" charset="-122"/>
                <a:cs typeface="Arial" pitchFamily="34" charset="-120"/>
              </a:rPr>
              <a:t>device clear</a:t>
            </a:r>
            <a:endParaRPr lang="en-US" sz="1875" dirty="0"/>
          </a:p>
        </p:txBody>
      </p:sp>
      <p:sp>
        <p:nvSpPr>
          <p:cNvPr id="23" name="Shape 21"/>
          <p:cNvSpPr/>
          <p:nvPr/>
        </p:nvSpPr>
        <p:spPr>
          <a:xfrm>
            <a:off x="952500" y="7179945"/>
            <a:ext cx="5715000" cy="9525"/>
          </a:xfrm>
          <a:prstGeom prst="rect">
            <a:avLst/>
          </a:prstGeom>
          <a:solidFill>
            <a:srgbClr val="CEC4AD"/>
          </a:solidFill>
          <a:ln/>
        </p:spPr>
      </p:sp>
      <p:sp>
        <p:nvSpPr>
          <p:cNvPr id="24" name="Text 22"/>
          <p:cNvSpPr/>
          <p:nvPr/>
        </p:nvSpPr>
        <p:spPr>
          <a:xfrm>
            <a:off x="952500" y="6772275"/>
            <a:ext cx="1781175" cy="350520"/>
          </a:xfrm>
          <a:prstGeom prst="rect">
            <a:avLst/>
          </a:prstGeom>
          <a:noFill/>
          <a:ln/>
        </p:spPr>
        <p:txBody>
          <a:bodyPr wrap="square" lIns="25400" tIns="25400" rIns="25400" bIns="25400" rtlCol="0" anchor="t">
            <a:normAutofit/>
          </a:bodyPr>
          <a:lstStyle/>
          <a:p>
            <a:pPr algn="l" indent="0" marL="0">
              <a:buNone/>
            </a:pPr>
            <a:r>
              <a:rPr lang="en-US" sz="1875" b="1" dirty="0">
                <a:solidFill>
                  <a:srgbClr val="211C14"/>
                </a:solidFill>
                <a:latin typeface="Courier New" pitchFamily="34" charset="0"/>
                <a:ea typeface="Courier New" pitchFamily="34" charset="-122"/>
                <a:cs typeface="Courier New" pitchFamily="34" charset="-120"/>
              </a:rPr>
              <a:t>506 SEEK</a:t>
            </a:r>
            <a:endParaRPr lang="en-US" sz="1875" dirty="0"/>
          </a:p>
        </p:txBody>
      </p:sp>
      <p:sp>
        <p:nvSpPr>
          <p:cNvPr id="25" name="Text 23"/>
          <p:cNvSpPr/>
          <p:nvPr/>
        </p:nvSpPr>
        <p:spPr>
          <a:xfrm>
            <a:off x="2762250" y="6772275"/>
            <a:ext cx="4295775" cy="350520"/>
          </a:xfrm>
          <a:prstGeom prst="rect">
            <a:avLst/>
          </a:prstGeom>
          <a:noFill/>
          <a:ln/>
        </p:spPr>
        <p:txBody>
          <a:bodyPr wrap="square" lIns="25400" tIns="25400" rIns="25400" bIns="25400" rtlCol="0" anchor="t">
            <a:normAutofit/>
          </a:bodyPr>
          <a:lstStyle/>
          <a:p>
            <a:pPr algn="l" indent="0" marL="0">
              <a:buNone/>
            </a:pPr>
            <a:r>
              <a:rPr lang="en-US" sz="1875" dirty="0">
                <a:solidFill>
                  <a:srgbClr val="211C14"/>
                </a:solidFill>
                <a:latin typeface="Arial" pitchFamily="34" charset="0"/>
                <a:ea typeface="Arial" pitchFamily="34" charset="-122"/>
                <a:cs typeface="Arial" pitchFamily="34" charset="-120"/>
              </a:rPr>
              <a:t>position unit</a:t>
            </a:r>
            <a:endParaRPr lang="en-US" sz="1875" dirty="0"/>
          </a:p>
        </p:txBody>
      </p:sp>
      <p:sp>
        <p:nvSpPr>
          <p:cNvPr id="26" name="Shape 24"/>
          <p:cNvSpPr/>
          <p:nvPr/>
        </p:nvSpPr>
        <p:spPr>
          <a:xfrm>
            <a:off x="952500" y="7690485"/>
            <a:ext cx="5715000" cy="22860"/>
          </a:xfrm>
          <a:prstGeom prst="rect">
            <a:avLst/>
          </a:prstGeom>
          <a:solidFill>
            <a:srgbClr val="211C14"/>
          </a:solidFill>
          <a:ln/>
        </p:spPr>
      </p:sp>
      <p:sp>
        <p:nvSpPr>
          <p:cNvPr id="27" name="Text 25"/>
          <p:cNvSpPr/>
          <p:nvPr/>
        </p:nvSpPr>
        <p:spPr>
          <a:xfrm>
            <a:off x="952500" y="7282815"/>
            <a:ext cx="1781175" cy="350520"/>
          </a:xfrm>
          <a:prstGeom prst="rect">
            <a:avLst/>
          </a:prstGeom>
          <a:noFill/>
          <a:ln/>
        </p:spPr>
        <p:txBody>
          <a:bodyPr wrap="square" lIns="25400" tIns="25400" rIns="25400" bIns="25400" rtlCol="0" anchor="t">
            <a:normAutofit/>
          </a:bodyPr>
          <a:lstStyle/>
          <a:p>
            <a:pPr algn="l" indent="0" marL="0">
              <a:buNone/>
            </a:pPr>
            <a:r>
              <a:rPr lang="en-US" sz="1875" b="1" dirty="0">
                <a:solidFill>
                  <a:srgbClr val="211C14"/>
                </a:solidFill>
                <a:latin typeface="Courier New" pitchFamily="34" charset="0"/>
                <a:ea typeface="Courier New" pitchFamily="34" charset="-122"/>
                <a:cs typeface="Courier New" pitchFamily="34" charset="-120"/>
              </a:rPr>
              <a:t>507 LWC</a:t>
            </a:r>
            <a:endParaRPr lang="en-US" sz="1875" dirty="0"/>
          </a:p>
        </p:txBody>
      </p:sp>
      <p:sp>
        <p:nvSpPr>
          <p:cNvPr id="28" name="Text 26"/>
          <p:cNvSpPr/>
          <p:nvPr/>
        </p:nvSpPr>
        <p:spPr>
          <a:xfrm>
            <a:off x="2762250" y="7282815"/>
            <a:ext cx="4295775" cy="350520"/>
          </a:xfrm>
          <a:prstGeom prst="rect">
            <a:avLst/>
          </a:prstGeom>
          <a:noFill/>
          <a:ln/>
        </p:spPr>
        <p:txBody>
          <a:bodyPr wrap="square" lIns="25400" tIns="25400" rIns="25400" bIns="25400" rtlCol="0" anchor="t">
            <a:normAutofit/>
          </a:bodyPr>
          <a:lstStyle/>
          <a:p>
            <a:pPr algn="l" indent="0" marL="0">
              <a:buNone/>
            </a:pPr>
            <a:r>
              <a:rPr lang="en-US" sz="1875" dirty="0">
                <a:solidFill>
                  <a:srgbClr val="211C14"/>
                </a:solidFill>
                <a:latin typeface="Arial" pitchFamily="34" charset="0"/>
                <a:ea typeface="Arial" pitchFamily="34" charset="-122"/>
                <a:cs typeface="Arial" pitchFamily="34" charset="-120"/>
              </a:rPr>
              <a:t>load word count (sectors × 256)</a:t>
            </a:r>
            <a:endParaRPr lang="en-US" sz="1875" dirty="0"/>
          </a:p>
        </p:txBody>
      </p:sp>
      <p:sp>
        <p:nvSpPr>
          <p:cNvPr id="29" name="Text 27"/>
          <p:cNvSpPr/>
          <p:nvPr/>
        </p:nvSpPr>
        <p:spPr>
          <a:xfrm>
            <a:off x="7200900" y="2364105"/>
            <a:ext cx="10438638" cy="811530"/>
          </a:xfrm>
          <a:prstGeom prst="rect">
            <a:avLst/>
          </a:prstGeom>
          <a:noFill/>
          <a:ln/>
        </p:spPr>
        <p:txBody>
          <a:bodyPr wrap="square" lIns="25400" tIns="25400" rIns="25400" bIns="25400" rtlCol="0" anchor="t">
            <a:normAutofit/>
          </a:bodyPr>
          <a:lstStyle/>
          <a:p>
            <a:pPr algn="l" indent="0" marL="0">
              <a:lnSpc>
                <a:spcPct val="131757"/>
              </a:lnSpc>
              <a:buNone/>
            </a:pPr>
            <a:r>
              <a:rPr lang="en-US" sz="1950" b="1" dirty="0">
                <a:solidFill>
                  <a:srgbClr val="211C14"/>
                </a:solidFill>
                <a:latin typeface="Courier New" pitchFamily="34" charset="0"/>
                <a:ea typeface="Courier New" pitchFamily="34" charset="-122"/>
                <a:cs typeface="Courier New" pitchFamily="34" charset="-120"/>
              </a:rPr>
              <a:t>DKTR </a:t>
            </a:r>
            <a:pPr algn="l" indent="0" marL="0">
              <a:lnSpc>
                <a:spcPct val="131757"/>
              </a:lnSpc>
              <a:buNone/>
            </a:pPr>
            <a:r>
              <a:rPr lang="en-US" sz="1950" dirty="0">
                <a:solidFill>
                  <a:srgbClr val="211C14"/>
                </a:solidFill>
                <a:latin typeface="Arial" pitchFamily="34" charset="0"/>
                <a:ea typeface="Arial" pitchFamily="34" charset="-122"/>
                <a:cs typeface="Arial" pitchFamily="34" charset="-120"/>
              </a:rPr>
              <a:t>: X = core addr, T = linear disk addr (256-word sectors), A = op + unit, D = extra sectors (≤3K words). Two retries, then error with the status word in A.</a:t>
            </a:r>
            <a:endParaRPr lang="en-US" sz="1950" dirty="0"/>
          </a:p>
        </p:txBody>
      </p:sp>
      <p:sp>
        <p:nvSpPr>
          <p:cNvPr id="30" name="Text 28"/>
          <p:cNvSpPr/>
          <p:nvPr/>
        </p:nvSpPr>
        <p:spPr>
          <a:xfrm>
            <a:off x="7200900" y="3328035"/>
            <a:ext cx="10438638" cy="811530"/>
          </a:xfrm>
          <a:prstGeom prst="rect">
            <a:avLst/>
          </a:prstGeom>
          <a:noFill/>
          <a:ln/>
        </p:spPr>
        <p:txBody>
          <a:bodyPr wrap="square" lIns="25400" tIns="25400" rIns="25400" bIns="25400" rtlCol="0" anchor="t">
            <a:normAutofit/>
          </a:bodyPr>
          <a:lstStyle/>
          <a:p>
            <a:pPr algn="l" indent="0" marL="0">
              <a:lnSpc>
                <a:spcPct val="131757"/>
              </a:lnSpc>
              <a:buNone/>
            </a:pPr>
            <a:r>
              <a:rPr lang="en-US" sz="1950" b="1" dirty="0">
                <a:solidFill>
                  <a:srgbClr val="211C14"/>
                </a:solidFill>
                <a:latin typeface="Courier New" pitchFamily="34" charset="0"/>
                <a:ea typeface="Courier New" pitchFamily="34" charset="-122"/>
                <a:cs typeface="Courier New" pitchFamily="34" charset="-120"/>
              </a:rPr>
              <a:t>DKADR </a:t>
            </a:r>
            <a:pPr algn="l" indent="0" marL="0">
              <a:lnSpc>
                <a:spcPct val="131757"/>
              </a:lnSpc>
              <a:buNone/>
            </a:pPr>
            <a:r>
              <a:rPr lang="en-US" sz="1950" dirty="0">
                <a:solidFill>
                  <a:srgbClr val="211C14"/>
                </a:solidFill>
                <a:latin typeface="Arial" pitchFamily="34" charset="0"/>
                <a:ea typeface="Arial" pitchFamily="34" charset="-122"/>
                <a:cs typeface="Arial" pitchFamily="34" charset="-120"/>
              </a:rPr>
              <a:t>maps the linear address ÷12 onto cylinders (313 / 626 for CDC 9425 / 9427); unit 1 sits at +52600₈.</a:t>
            </a:r>
            <a:endParaRPr lang="en-US" sz="1950" dirty="0"/>
          </a:p>
        </p:txBody>
      </p:sp>
      <p:sp>
        <p:nvSpPr>
          <p:cNvPr id="31" name="Text 29"/>
          <p:cNvSpPr/>
          <p:nvPr/>
        </p:nvSpPr>
        <p:spPr>
          <a:xfrm>
            <a:off x="7200900" y="4291965"/>
            <a:ext cx="10438638" cy="752475"/>
          </a:xfrm>
          <a:prstGeom prst="rect">
            <a:avLst/>
          </a:prstGeom>
          <a:noFill/>
          <a:ln/>
        </p:spPr>
        <p:txBody>
          <a:bodyPr wrap="square" lIns="25400" tIns="25400" rIns="25400" bIns="25400" rtlCol="0" anchor="t">
            <a:normAutofit/>
          </a:bodyPr>
          <a:lstStyle/>
          <a:p>
            <a:pPr algn="l" indent="0" marL="0">
              <a:lnSpc>
                <a:spcPct val="130208"/>
              </a:lnSpc>
              <a:buNone/>
            </a:pPr>
            <a:r>
              <a:rPr lang="en-US" sz="1875" dirty="0">
                <a:solidFill>
                  <a:srgbClr val="6B6252"/>
                </a:solidFill>
                <a:latin typeface="Arial" pitchFamily="34" charset="0"/>
                <a:ea typeface="Arial" pitchFamily="34" charset="-122"/>
                <a:cs typeface="Arial" pitchFamily="34" charset="-120"/>
              </a:rPr>
              <a:t>The swapper's page ops and the file system's 2K transfers (TRXX) both end here when no drum is fitted.</a:t>
            </a:r>
            <a:endParaRPr lang="en-US" sz="1875" dirty="0"/>
          </a:p>
        </p:txBody>
      </p:sp>
      <p:sp>
        <p:nvSpPr>
          <p:cNvPr id="32" name="Text 30"/>
          <p:cNvSpPr/>
          <p:nvPr/>
        </p:nvSpPr>
        <p:spPr>
          <a:xfrm>
            <a:off x="952500" y="8056245"/>
            <a:ext cx="18021300"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252"/>
                </a:solidFill>
                <a:latin typeface="Courier New" pitchFamily="34" charset="0"/>
                <a:ea typeface="Courier New" pitchFamily="34" charset="-122"/>
                <a:cs typeface="Courier New" pitchFamily="34" charset="-120"/>
              </a:rPr>
              <a:t>DISK LAYOUT (FIXED ADDRESSES FROM DKBIT=50₈)</a:t>
            </a:r>
            <a:endParaRPr lang="en-US" sz="1800" dirty="0"/>
          </a:p>
        </p:txBody>
      </p:sp>
      <p:sp>
        <p:nvSpPr>
          <p:cNvPr id="33" name="Shape 31"/>
          <p:cNvSpPr/>
          <p:nvPr/>
        </p:nvSpPr>
        <p:spPr>
          <a:xfrm>
            <a:off x="952500" y="8467725"/>
            <a:ext cx="1700570" cy="914400"/>
          </a:xfrm>
          <a:prstGeom prst="rect">
            <a:avLst/>
          </a:prstGeom>
          <a:solidFill>
            <a:srgbClr val="D8CFB6"/>
          </a:solidFill>
          <a:ln w="15240">
            <a:solidFill>
              <a:srgbClr val="211C14"/>
            </a:solidFill>
            <a:prstDash val="solid"/>
          </a:ln>
        </p:spPr>
      </p:sp>
      <p:sp>
        <p:nvSpPr>
          <p:cNvPr id="34" name="Text 32"/>
          <p:cNvSpPr/>
          <p:nvPr/>
        </p:nvSpPr>
        <p:spPr>
          <a:xfrm>
            <a:off x="1596985" y="8627745"/>
            <a:ext cx="487680" cy="335280"/>
          </a:xfrm>
          <a:prstGeom prst="rect">
            <a:avLst/>
          </a:prstGeom>
          <a:noFill/>
          <a:ln/>
        </p:spPr>
        <p:txBody>
          <a:bodyPr wrap="square" lIns="0" tIns="0" rIns="0" bIns="0" rtlCol="0" anchor="t">
            <a:normAutofit/>
          </a:bodyPr>
          <a:lstStyle/>
          <a:p>
            <a:pPr algn="ctr" indent="0" marL="0">
              <a:buNone/>
            </a:pPr>
            <a:r>
              <a:rPr lang="en-US" sz="1800" dirty="0">
                <a:solidFill>
                  <a:srgbClr val="211C14"/>
                </a:solidFill>
                <a:latin typeface="Courier New" pitchFamily="34" charset="0"/>
                <a:ea typeface="Courier New" pitchFamily="34" charset="-122"/>
                <a:cs typeface="Courier New" pitchFamily="34" charset="-120"/>
              </a:rPr>
              <a:t>MIB</a:t>
            </a:r>
            <a:endParaRPr lang="en-US" sz="1800" dirty="0"/>
          </a:p>
        </p:txBody>
      </p:sp>
      <p:sp>
        <p:nvSpPr>
          <p:cNvPr id="35" name="Text 33"/>
          <p:cNvSpPr/>
          <p:nvPr/>
        </p:nvSpPr>
        <p:spPr>
          <a:xfrm>
            <a:off x="1391245" y="8924925"/>
            <a:ext cx="899160" cy="335280"/>
          </a:xfrm>
          <a:prstGeom prst="rect">
            <a:avLst/>
          </a:prstGeom>
          <a:noFill/>
          <a:ln/>
        </p:spPr>
        <p:txBody>
          <a:bodyPr wrap="square" lIns="0" tIns="0" rIns="0" bIns="0" rtlCol="0" anchor="t">
            <a:normAutofit/>
          </a:bodyPr>
          <a:lstStyle/>
          <a:p>
            <a:pPr algn="ctr" indent="0" marL="0">
              <a:buNone/>
            </a:pPr>
            <a:r>
              <a:rPr lang="en-US" sz="1800" dirty="0">
                <a:solidFill>
                  <a:srgbClr val="211C14"/>
                </a:solidFill>
                <a:latin typeface="Courier New" pitchFamily="34" charset="0"/>
                <a:ea typeface="Courier New" pitchFamily="34" charset="-122"/>
                <a:cs typeface="Courier New" pitchFamily="34" charset="-120"/>
              </a:rPr>
              <a:t>bitmap</a:t>
            </a:r>
            <a:endParaRPr lang="en-US" sz="1800" dirty="0"/>
          </a:p>
        </p:txBody>
      </p:sp>
      <p:sp>
        <p:nvSpPr>
          <p:cNvPr id="36" name="Shape 34"/>
          <p:cNvSpPr/>
          <p:nvPr/>
        </p:nvSpPr>
        <p:spPr>
          <a:xfrm>
            <a:off x="2653070" y="8467725"/>
            <a:ext cx="2140863" cy="914400"/>
          </a:xfrm>
          <a:prstGeom prst="rect">
            <a:avLst/>
          </a:prstGeom>
          <a:solidFill>
            <a:srgbClr val="E9E2CF"/>
          </a:solidFill>
          <a:ln/>
        </p:spPr>
      </p:sp>
      <p:sp>
        <p:nvSpPr>
          <p:cNvPr id="37" name="Shape 35"/>
          <p:cNvSpPr/>
          <p:nvPr/>
        </p:nvSpPr>
        <p:spPr>
          <a:xfrm>
            <a:off x="2653070" y="9366885"/>
            <a:ext cx="2140863" cy="15240"/>
          </a:xfrm>
          <a:prstGeom prst="rect">
            <a:avLst/>
          </a:prstGeom>
          <a:solidFill>
            <a:srgbClr val="211C14"/>
          </a:solidFill>
          <a:ln/>
        </p:spPr>
      </p:sp>
      <p:sp>
        <p:nvSpPr>
          <p:cNvPr id="38" name="Shape 36"/>
          <p:cNvSpPr/>
          <p:nvPr/>
        </p:nvSpPr>
        <p:spPr>
          <a:xfrm>
            <a:off x="2653070" y="8467725"/>
            <a:ext cx="2140863" cy="15240"/>
          </a:xfrm>
          <a:prstGeom prst="rect">
            <a:avLst/>
          </a:prstGeom>
          <a:solidFill>
            <a:srgbClr val="211C14"/>
          </a:solidFill>
          <a:ln/>
        </p:spPr>
      </p:sp>
      <p:sp>
        <p:nvSpPr>
          <p:cNvPr id="39" name="Shape 37"/>
          <p:cNvSpPr/>
          <p:nvPr/>
        </p:nvSpPr>
        <p:spPr>
          <a:xfrm>
            <a:off x="4778693" y="8467725"/>
            <a:ext cx="15240" cy="914400"/>
          </a:xfrm>
          <a:prstGeom prst="rect">
            <a:avLst/>
          </a:prstGeom>
          <a:solidFill>
            <a:srgbClr val="211C14"/>
          </a:solidFill>
          <a:ln/>
        </p:spPr>
      </p:sp>
      <p:sp>
        <p:nvSpPr>
          <p:cNvPr id="40" name="Text 38"/>
          <p:cNvSpPr/>
          <p:nvPr/>
        </p:nvSpPr>
        <p:spPr>
          <a:xfrm>
            <a:off x="3235762" y="8627745"/>
            <a:ext cx="1036320" cy="335280"/>
          </a:xfrm>
          <a:prstGeom prst="rect">
            <a:avLst/>
          </a:prstGeom>
          <a:noFill/>
          <a:ln/>
        </p:spPr>
        <p:txBody>
          <a:bodyPr wrap="square" lIns="0" tIns="0" rIns="0" bIns="0" rtlCol="0" anchor="t">
            <a:normAutofit/>
          </a:bodyPr>
          <a:lstStyle/>
          <a:p>
            <a:pPr algn="ctr" indent="0" marL="0">
              <a:buNone/>
            </a:pPr>
            <a:r>
              <a:rPr lang="en-US" sz="1800" dirty="0">
                <a:solidFill>
                  <a:srgbClr val="211C14"/>
                </a:solidFill>
                <a:latin typeface="Courier New" pitchFamily="34" charset="0"/>
                <a:ea typeface="Courier New" pitchFamily="34" charset="-122"/>
                <a:cs typeface="Courier New" pitchFamily="34" charset="-120"/>
              </a:rPr>
              <a:t>CORL1+2</a:t>
            </a:r>
            <a:endParaRPr lang="en-US" sz="1800" dirty="0"/>
          </a:p>
        </p:txBody>
      </p:sp>
      <p:sp>
        <p:nvSpPr>
          <p:cNvPr id="41" name="Text 39"/>
          <p:cNvSpPr/>
          <p:nvPr/>
        </p:nvSpPr>
        <p:spPr>
          <a:xfrm>
            <a:off x="3098602" y="8924925"/>
            <a:ext cx="1310640" cy="335280"/>
          </a:xfrm>
          <a:prstGeom prst="rect">
            <a:avLst/>
          </a:prstGeom>
          <a:noFill/>
          <a:ln/>
        </p:spPr>
        <p:txBody>
          <a:bodyPr wrap="square" lIns="0" tIns="0" rIns="0" bIns="0" rtlCol="0" anchor="t">
            <a:normAutofit/>
          </a:bodyPr>
          <a:lstStyle/>
          <a:p>
            <a:pPr algn="ctr" indent="0" marL="0">
              <a:buNone/>
            </a:pPr>
            <a:r>
              <a:rPr lang="en-US" sz="1800" dirty="0">
                <a:solidFill>
                  <a:srgbClr val="211C14"/>
                </a:solidFill>
                <a:latin typeface="Courier New" pitchFamily="34" charset="0"/>
                <a:ea typeface="Courier New" pitchFamily="34" charset="-122"/>
                <a:cs typeface="Courier New" pitchFamily="34" charset="-120"/>
              </a:rPr>
              <a:t>coreloads</a:t>
            </a:r>
            <a:endParaRPr lang="en-US" sz="1800" dirty="0"/>
          </a:p>
        </p:txBody>
      </p:sp>
      <p:sp>
        <p:nvSpPr>
          <p:cNvPr id="42" name="Shape 40"/>
          <p:cNvSpPr/>
          <p:nvPr/>
        </p:nvSpPr>
        <p:spPr>
          <a:xfrm>
            <a:off x="4793933" y="8467725"/>
            <a:ext cx="1837253" cy="914400"/>
          </a:xfrm>
          <a:prstGeom prst="rect">
            <a:avLst/>
          </a:prstGeom>
          <a:solidFill>
            <a:srgbClr val="D8CFB6"/>
          </a:solidFill>
          <a:ln/>
        </p:spPr>
      </p:sp>
      <p:sp>
        <p:nvSpPr>
          <p:cNvPr id="43" name="Shape 41"/>
          <p:cNvSpPr/>
          <p:nvPr/>
        </p:nvSpPr>
        <p:spPr>
          <a:xfrm>
            <a:off x="4793933" y="9366885"/>
            <a:ext cx="1837253" cy="15240"/>
          </a:xfrm>
          <a:prstGeom prst="rect">
            <a:avLst/>
          </a:prstGeom>
          <a:solidFill>
            <a:srgbClr val="211C14"/>
          </a:solidFill>
          <a:ln/>
        </p:spPr>
      </p:sp>
      <p:sp>
        <p:nvSpPr>
          <p:cNvPr id="44" name="Shape 42"/>
          <p:cNvSpPr/>
          <p:nvPr/>
        </p:nvSpPr>
        <p:spPr>
          <a:xfrm>
            <a:off x="4793933" y="8467725"/>
            <a:ext cx="1837253" cy="15240"/>
          </a:xfrm>
          <a:prstGeom prst="rect">
            <a:avLst/>
          </a:prstGeom>
          <a:solidFill>
            <a:srgbClr val="211C14"/>
          </a:solidFill>
          <a:ln/>
        </p:spPr>
      </p:sp>
      <p:sp>
        <p:nvSpPr>
          <p:cNvPr id="45" name="Shape 43"/>
          <p:cNvSpPr/>
          <p:nvPr/>
        </p:nvSpPr>
        <p:spPr>
          <a:xfrm>
            <a:off x="6615946" y="8467725"/>
            <a:ext cx="15240" cy="914400"/>
          </a:xfrm>
          <a:prstGeom prst="rect">
            <a:avLst/>
          </a:prstGeom>
          <a:solidFill>
            <a:srgbClr val="211C14"/>
          </a:solidFill>
          <a:ln/>
        </p:spPr>
      </p:sp>
      <p:sp>
        <p:nvSpPr>
          <p:cNvPr id="46" name="Text 44"/>
          <p:cNvSpPr/>
          <p:nvPr/>
        </p:nvSpPr>
        <p:spPr>
          <a:xfrm>
            <a:off x="5224820" y="8627745"/>
            <a:ext cx="1036320" cy="335280"/>
          </a:xfrm>
          <a:prstGeom prst="rect">
            <a:avLst/>
          </a:prstGeom>
          <a:noFill/>
          <a:ln/>
        </p:spPr>
        <p:txBody>
          <a:bodyPr wrap="square" lIns="0" tIns="0" rIns="0" bIns="0" rtlCol="0" anchor="t">
            <a:normAutofit/>
          </a:bodyPr>
          <a:lstStyle/>
          <a:p>
            <a:pPr algn="ctr" indent="0" marL="0">
              <a:buNone/>
            </a:pPr>
            <a:r>
              <a:rPr lang="en-US" sz="1800" dirty="0">
                <a:solidFill>
                  <a:srgbClr val="211C14"/>
                </a:solidFill>
                <a:latin typeface="Courier New" pitchFamily="34" charset="0"/>
                <a:ea typeface="Courier New" pitchFamily="34" charset="-122"/>
                <a:cs typeface="Courier New" pitchFamily="34" charset="-120"/>
              </a:rPr>
              <a:t>OVDK1/2</a:t>
            </a:r>
            <a:endParaRPr lang="en-US" sz="1800" dirty="0"/>
          </a:p>
        </p:txBody>
      </p:sp>
      <p:sp>
        <p:nvSpPr>
          <p:cNvPr id="47" name="Text 45"/>
          <p:cNvSpPr/>
          <p:nvPr/>
        </p:nvSpPr>
        <p:spPr>
          <a:xfrm>
            <a:off x="5156240" y="8924925"/>
            <a:ext cx="1173480" cy="335280"/>
          </a:xfrm>
          <a:prstGeom prst="rect">
            <a:avLst/>
          </a:prstGeom>
          <a:noFill/>
          <a:ln/>
        </p:spPr>
        <p:txBody>
          <a:bodyPr wrap="square" lIns="0" tIns="0" rIns="0" bIns="0" rtlCol="0" anchor="t">
            <a:normAutofit/>
          </a:bodyPr>
          <a:lstStyle/>
          <a:p>
            <a:pPr algn="ctr" indent="0" marL="0">
              <a:buNone/>
            </a:pPr>
            <a:r>
              <a:rPr lang="en-US" sz="1800" dirty="0">
                <a:solidFill>
                  <a:srgbClr val="211C14"/>
                </a:solidFill>
                <a:latin typeface="Courier New" pitchFamily="34" charset="0"/>
                <a:ea typeface="Courier New" pitchFamily="34" charset="-122"/>
                <a:cs typeface="Courier New" pitchFamily="34" charset="-120"/>
              </a:rPr>
              <a:t>overlays</a:t>
            </a:r>
            <a:endParaRPr lang="en-US" sz="1800" dirty="0"/>
          </a:p>
        </p:txBody>
      </p:sp>
      <p:sp>
        <p:nvSpPr>
          <p:cNvPr id="48" name="Shape 46"/>
          <p:cNvSpPr/>
          <p:nvPr/>
        </p:nvSpPr>
        <p:spPr>
          <a:xfrm>
            <a:off x="6631186" y="8467725"/>
            <a:ext cx="1837253" cy="914400"/>
          </a:xfrm>
          <a:prstGeom prst="rect">
            <a:avLst/>
          </a:prstGeom>
          <a:solidFill>
            <a:srgbClr val="E9E2CF"/>
          </a:solidFill>
          <a:ln/>
        </p:spPr>
      </p:sp>
      <p:sp>
        <p:nvSpPr>
          <p:cNvPr id="49" name="Shape 47"/>
          <p:cNvSpPr/>
          <p:nvPr/>
        </p:nvSpPr>
        <p:spPr>
          <a:xfrm>
            <a:off x="6631186" y="9366885"/>
            <a:ext cx="1837253" cy="15240"/>
          </a:xfrm>
          <a:prstGeom prst="rect">
            <a:avLst/>
          </a:prstGeom>
          <a:solidFill>
            <a:srgbClr val="211C14"/>
          </a:solidFill>
          <a:ln/>
        </p:spPr>
      </p:sp>
      <p:sp>
        <p:nvSpPr>
          <p:cNvPr id="50" name="Shape 48"/>
          <p:cNvSpPr/>
          <p:nvPr/>
        </p:nvSpPr>
        <p:spPr>
          <a:xfrm>
            <a:off x="6631186" y="8467725"/>
            <a:ext cx="1837253" cy="15240"/>
          </a:xfrm>
          <a:prstGeom prst="rect">
            <a:avLst/>
          </a:prstGeom>
          <a:solidFill>
            <a:srgbClr val="211C14"/>
          </a:solidFill>
          <a:ln/>
        </p:spPr>
      </p:sp>
      <p:sp>
        <p:nvSpPr>
          <p:cNvPr id="51" name="Shape 49"/>
          <p:cNvSpPr/>
          <p:nvPr/>
        </p:nvSpPr>
        <p:spPr>
          <a:xfrm>
            <a:off x="8453199" y="8467725"/>
            <a:ext cx="15240" cy="914400"/>
          </a:xfrm>
          <a:prstGeom prst="rect">
            <a:avLst/>
          </a:prstGeom>
          <a:solidFill>
            <a:srgbClr val="211C14"/>
          </a:solidFill>
          <a:ln/>
        </p:spPr>
      </p:sp>
      <p:sp>
        <p:nvSpPr>
          <p:cNvPr id="52" name="Text 50"/>
          <p:cNvSpPr/>
          <p:nvPr/>
        </p:nvSpPr>
        <p:spPr>
          <a:xfrm>
            <a:off x="7199233" y="8627745"/>
            <a:ext cx="762000" cy="335280"/>
          </a:xfrm>
          <a:prstGeom prst="rect">
            <a:avLst/>
          </a:prstGeom>
          <a:noFill/>
          <a:ln/>
        </p:spPr>
        <p:txBody>
          <a:bodyPr wrap="square" lIns="0" tIns="0" rIns="0" bIns="0" rtlCol="0" anchor="t">
            <a:normAutofit/>
          </a:bodyPr>
          <a:lstStyle/>
          <a:p>
            <a:pPr algn="ctr" indent="0" marL="0">
              <a:buNone/>
            </a:pPr>
            <a:r>
              <a:rPr lang="en-US" sz="1800" dirty="0">
                <a:solidFill>
                  <a:srgbClr val="211C14"/>
                </a:solidFill>
                <a:latin typeface="Courier New" pitchFamily="34" charset="0"/>
                <a:ea typeface="Courier New" pitchFamily="34" charset="-122"/>
                <a:cs typeface="Courier New" pitchFamily="34" charset="-120"/>
              </a:rPr>
              <a:t>ACCTD</a:t>
            </a:r>
            <a:endParaRPr lang="en-US" sz="1800" dirty="0"/>
          </a:p>
        </p:txBody>
      </p:sp>
      <p:sp>
        <p:nvSpPr>
          <p:cNvPr id="53" name="Text 51"/>
          <p:cNvSpPr/>
          <p:nvPr/>
        </p:nvSpPr>
        <p:spPr>
          <a:xfrm>
            <a:off x="6993493" y="8924925"/>
            <a:ext cx="1173480" cy="335280"/>
          </a:xfrm>
          <a:prstGeom prst="rect">
            <a:avLst/>
          </a:prstGeom>
          <a:noFill/>
          <a:ln/>
        </p:spPr>
        <p:txBody>
          <a:bodyPr wrap="square" lIns="0" tIns="0" rIns="0" bIns="0" rtlCol="0" anchor="t">
            <a:normAutofit/>
          </a:bodyPr>
          <a:lstStyle/>
          <a:p>
            <a:pPr algn="ctr" indent="0" marL="0">
              <a:buNone/>
            </a:pPr>
            <a:r>
              <a:rPr lang="en-US" sz="1800" dirty="0">
                <a:solidFill>
                  <a:srgbClr val="211C14"/>
                </a:solidFill>
                <a:latin typeface="Courier New" pitchFamily="34" charset="0"/>
                <a:ea typeface="Courier New" pitchFamily="34" charset="-122"/>
                <a:cs typeface="Courier New" pitchFamily="34" charset="-120"/>
              </a:rPr>
              <a:t>accounts</a:t>
            </a:r>
            <a:endParaRPr lang="en-US" sz="1800" dirty="0"/>
          </a:p>
        </p:txBody>
      </p:sp>
      <p:sp>
        <p:nvSpPr>
          <p:cNvPr id="54" name="Shape 52"/>
          <p:cNvSpPr/>
          <p:nvPr/>
        </p:nvSpPr>
        <p:spPr>
          <a:xfrm>
            <a:off x="8468439" y="8467725"/>
            <a:ext cx="1533525" cy="914400"/>
          </a:xfrm>
          <a:prstGeom prst="rect">
            <a:avLst/>
          </a:prstGeom>
          <a:solidFill>
            <a:srgbClr val="D8CFB6"/>
          </a:solidFill>
          <a:ln/>
        </p:spPr>
      </p:sp>
      <p:sp>
        <p:nvSpPr>
          <p:cNvPr id="55" name="Shape 53"/>
          <p:cNvSpPr/>
          <p:nvPr/>
        </p:nvSpPr>
        <p:spPr>
          <a:xfrm>
            <a:off x="8468439" y="9366885"/>
            <a:ext cx="1533525" cy="15240"/>
          </a:xfrm>
          <a:prstGeom prst="rect">
            <a:avLst/>
          </a:prstGeom>
          <a:solidFill>
            <a:srgbClr val="211C14"/>
          </a:solidFill>
          <a:ln/>
        </p:spPr>
      </p:sp>
      <p:sp>
        <p:nvSpPr>
          <p:cNvPr id="56" name="Shape 54"/>
          <p:cNvSpPr/>
          <p:nvPr/>
        </p:nvSpPr>
        <p:spPr>
          <a:xfrm>
            <a:off x="8468439" y="8467725"/>
            <a:ext cx="1533525" cy="15240"/>
          </a:xfrm>
          <a:prstGeom prst="rect">
            <a:avLst/>
          </a:prstGeom>
          <a:solidFill>
            <a:srgbClr val="211C14"/>
          </a:solidFill>
          <a:ln/>
        </p:spPr>
      </p:sp>
      <p:sp>
        <p:nvSpPr>
          <p:cNvPr id="57" name="Shape 55"/>
          <p:cNvSpPr/>
          <p:nvPr/>
        </p:nvSpPr>
        <p:spPr>
          <a:xfrm>
            <a:off x="9986724" y="8467725"/>
            <a:ext cx="15240" cy="914400"/>
          </a:xfrm>
          <a:prstGeom prst="rect">
            <a:avLst/>
          </a:prstGeom>
          <a:solidFill>
            <a:srgbClr val="211C14"/>
          </a:solidFill>
          <a:ln/>
        </p:spPr>
      </p:sp>
      <p:sp>
        <p:nvSpPr>
          <p:cNvPr id="58" name="Text 56"/>
          <p:cNvSpPr/>
          <p:nvPr/>
        </p:nvSpPr>
        <p:spPr>
          <a:xfrm>
            <a:off x="8884682" y="8627745"/>
            <a:ext cx="762000" cy="335280"/>
          </a:xfrm>
          <a:prstGeom prst="rect">
            <a:avLst/>
          </a:prstGeom>
          <a:noFill/>
          <a:ln/>
        </p:spPr>
        <p:txBody>
          <a:bodyPr wrap="square" lIns="0" tIns="0" rIns="0" bIns="0" rtlCol="0" anchor="t">
            <a:normAutofit/>
          </a:bodyPr>
          <a:lstStyle/>
          <a:p>
            <a:pPr algn="ctr" indent="0" marL="0">
              <a:buNone/>
            </a:pPr>
            <a:r>
              <a:rPr lang="en-US" sz="1800" dirty="0">
                <a:solidFill>
                  <a:srgbClr val="211C14"/>
                </a:solidFill>
                <a:latin typeface="Courier New" pitchFamily="34" charset="0"/>
                <a:ea typeface="Courier New" pitchFamily="34" charset="-122"/>
                <a:cs typeface="Courier New" pitchFamily="34" charset="-120"/>
              </a:rPr>
              <a:t>MAILD</a:t>
            </a:r>
            <a:endParaRPr lang="en-US" sz="1800" dirty="0"/>
          </a:p>
        </p:txBody>
      </p:sp>
      <p:sp>
        <p:nvSpPr>
          <p:cNvPr id="59" name="Text 57"/>
          <p:cNvSpPr/>
          <p:nvPr/>
        </p:nvSpPr>
        <p:spPr>
          <a:xfrm>
            <a:off x="8747522" y="8924925"/>
            <a:ext cx="1036320" cy="335280"/>
          </a:xfrm>
          <a:prstGeom prst="rect">
            <a:avLst/>
          </a:prstGeom>
          <a:noFill/>
          <a:ln/>
        </p:spPr>
        <p:txBody>
          <a:bodyPr wrap="square" lIns="0" tIns="0" rIns="0" bIns="0" rtlCol="0" anchor="t">
            <a:normAutofit/>
          </a:bodyPr>
          <a:lstStyle/>
          <a:p>
            <a:pPr algn="ctr" indent="0" marL="0">
              <a:buNone/>
            </a:pPr>
            <a:r>
              <a:rPr lang="en-US" sz="1800" dirty="0">
                <a:solidFill>
                  <a:srgbClr val="211C14"/>
                </a:solidFill>
                <a:latin typeface="Courier New" pitchFamily="34" charset="0"/>
                <a:ea typeface="Courier New" pitchFamily="34" charset="-122"/>
                <a:cs typeface="Courier New" pitchFamily="34" charset="-120"/>
              </a:rPr>
              <a:t>mailbox</a:t>
            </a:r>
            <a:endParaRPr lang="en-US" sz="1800" dirty="0"/>
          </a:p>
        </p:txBody>
      </p:sp>
      <p:sp>
        <p:nvSpPr>
          <p:cNvPr id="60" name="Shape 58"/>
          <p:cNvSpPr/>
          <p:nvPr/>
        </p:nvSpPr>
        <p:spPr>
          <a:xfrm>
            <a:off x="10001965" y="8467725"/>
            <a:ext cx="1533525" cy="914400"/>
          </a:xfrm>
          <a:prstGeom prst="rect">
            <a:avLst/>
          </a:prstGeom>
          <a:solidFill>
            <a:srgbClr val="E9E2CF"/>
          </a:solidFill>
          <a:ln/>
        </p:spPr>
      </p:sp>
      <p:sp>
        <p:nvSpPr>
          <p:cNvPr id="61" name="Shape 59"/>
          <p:cNvSpPr/>
          <p:nvPr/>
        </p:nvSpPr>
        <p:spPr>
          <a:xfrm>
            <a:off x="10001965" y="9366885"/>
            <a:ext cx="1533525" cy="15240"/>
          </a:xfrm>
          <a:prstGeom prst="rect">
            <a:avLst/>
          </a:prstGeom>
          <a:solidFill>
            <a:srgbClr val="211C14"/>
          </a:solidFill>
          <a:ln/>
        </p:spPr>
      </p:sp>
      <p:sp>
        <p:nvSpPr>
          <p:cNvPr id="62" name="Shape 60"/>
          <p:cNvSpPr/>
          <p:nvPr/>
        </p:nvSpPr>
        <p:spPr>
          <a:xfrm>
            <a:off x="10001965" y="8467725"/>
            <a:ext cx="1533525" cy="15240"/>
          </a:xfrm>
          <a:prstGeom prst="rect">
            <a:avLst/>
          </a:prstGeom>
          <a:solidFill>
            <a:srgbClr val="211C14"/>
          </a:solidFill>
          <a:ln/>
        </p:spPr>
      </p:sp>
      <p:sp>
        <p:nvSpPr>
          <p:cNvPr id="63" name="Shape 61"/>
          <p:cNvSpPr/>
          <p:nvPr/>
        </p:nvSpPr>
        <p:spPr>
          <a:xfrm>
            <a:off x="11520250" y="8467725"/>
            <a:ext cx="15240" cy="914400"/>
          </a:xfrm>
          <a:prstGeom prst="rect">
            <a:avLst/>
          </a:prstGeom>
          <a:solidFill>
            <a:srgbClr val="211C14"/>
          </a:solidFill>
          <a:ln/>
        </p:spPr>
      </p:sp>
      <p:sp>
        <p:nvSpPr>
          <p:cNvPr id="64" name="Text 62"/>
          <p:cNvSpPr/>
          <p:nvPr/>
        </p:nvSpPr>
        <p:spPr>
          <a:xfrm>
            <a:off x="10418207" y="8627745"/>
            <a:ext cx="762000" cy="335280"/>
          </a:xfrm>
          <a:prstGeom prst="rect">
            <a:avLst/>
          </a:prstGeom>
          <a:noFill/>
          <a:ln/>
        </p:spPr>
        <p:txBody>
          <a:bodyPr wrap="square" lIns="0" tIns="0" rIns="0" bIns="0" rtlCol="0" anchor="t">
            <a:normAutofit/>
          </a:bodyPr>
          <a:lstStyle/>
          <a:p>
            <a:pPr algn="ctr" indent="0" marL="0">
              <a:buNone/>
            </a:pPr>
            <a:r>
              <a:rPr lang="en-US" sz="1800" dirty="0">
                <a:solidFill>
                  <a:srgbClr val="211C14"/>
                </a:solidFill>
                <a:latin typeface="Courier New" pitchFamily="34" charset="0"/>
                <a:ea typeface="Courier New" pitchFamily="34" charset="-122"/>
                <a:cs typeface="Courier New" pitchFamily="34" charset="-120"/>
              </a:rPr>
              <a:t>USRDK</a:t>
            </a:r>
            <a:endParaRPr lang="en-US" sz="1800" dirty="0"/>
          </a:p>
        </p:txBody>
      </p:sp>
      <p:sp>
        <p:nvSpPr>
          <p:cNvPr id="65" name="Text 63"/>
          <p:cNvSpPr/>
          <p:nvPr/>
        </p:nvSpPr>
        <p:spPr>
          <a:xfrm>
            <a:off x="10418207" y="8924925"/>
            <a:ext cx="762000" cy="335280"/>
          </a:xfrm>
          <a:prstGeom prst="rect">
            <a:avLst/>
          </a:prstGeom>
          <a:noFill/>
          <a:ln/>
        </p:spPr>
        <p:txBody>
          <a:bodyPr wrap="square" lIns="0" tIns="0" rIns="0" bIns="0" rtlCol="0" anchor="t">
            <a:normAutofit/>
          </a:bodyPr>
          <a:lstStyle/>
          <a:p>
            <a:pPr algn="ctr" indent="0" marL="0">
              <a:buNone/>
            </a:pPr>
            <a:r>
              <a:rPr lang="en-US" sz="1800" dirty="0">
                <a:solidFill>
                  <a:srgbClr val="211C14"/>
                </a:solidFill>
                <a:latin typeface="Courier New" pitchFamily="34" charset="0"/>
                <a:ea typeface="Courier New" pitchFamily="34" charset="-122"/>
                <a:cs typeface="Courier New" pitchFamily="34" charset="-120"/>
              </a:rPr>
              <a:t>users</a:t>
            </a:r>
            <a:endParaRPr lang="en-US" sz="1800" dirty="0"/>
          </a:p>
        </p:txBody>
      </p:sp>
      <p:sp>
        <p:nvSpPr>
          <p:cNvPr id="66" name="Shape 64"/>
          <p:cNvSpPr/>
          <p:nvPr/>
        </p:nvSpPr>
        <p:spPr>
          <a:xfrm>
            <a:off x="11535490" y="8467725"/>
            <a:ext cx="3355538" cy="914400"/>
          </a:xfrm>
          <a:prstGeom prst="rect">
            <a:avLst/>
          </a:prstGeom>
          <a:solidFill>
            <a:srgbClr val="F7E3D4"/>
          </a:solidFill>
          <a:ln/>
        </p:spPr>
      </p:sp>
      <p:sp>
        <p:nvSpPr>
          <p:cNvPr id="67" name="Shape 65"/>
          <p:cNvSpPr/>
          <p:nvPr/>
        </p:nvSpPr>
        <p:spPr>
          <a:xfrm>
            <a:off x="11535490" y="9366885"/>
            <a:ext cx="3355538" cy="15240"/>
          </a:xfrm>
          <a:prstGeom prst="rect">
            <a:avLst/>
          </a:prstGeom>
          <a:solidFill>
            <a:srgbClr val="C8501E"/>
          </a:solidFill>
          <a:ln/>
        </p:spPr>
      </p:sp>
      <p:sp>
        <p:nvSpPr>
          <p:cNvPr id="68" name="Shape 66"/>
          <p:cNvSpPr/>
          <p:nvPr/>
        </p:nvSpPr>
        <p:spPr>
          <a:xfrm>
            <a:off x="11535490" y="8467725"/>
            <a:ext cx="3355538" cy="15240"/>
          </a:xfrm>
          <a:prstGeom prst="rect">
            <a:avLst/>
          </a:prstGeom>
          <a:solidFill>
            <a:srgbClr val="C8501E"/>
          </a:solidFill>
          <a:ln/>
        </p:spPr>
      </p:sp>
      <p:sp>
        <p:nvSpPr>
          <p:cNvPr id="69" name="Shape 67"/>
          <p:cNvSpPr/>
          <p:nvPr/>
        </p:nvSpPr>
        <p:spPr>
          <a:xfrm>
            <a:off x="14875789" y="8467725"/>
            <a:ext cx="15240" cy="914400"/>
          </a:xfrm>
          <a:prstGeom prst="rect">
            <a:avLst/>
          </a:prstGeom>
          <a:solidFill>
            <a:srgbClr val="C8501E"/>
          </a:solidFill>
          <a:ln/>
        </p:spPr>
      </p:sp>
      <p:sp>
        <p:nvSpPr>
          <p:cNvPr id="70" name="Text 68"/>
          <p:cNvSpPr/>
          <p:nvPr/>
        </p:nvSpPr>
        <p:spPr>
          <a:xfrm>
            <a:off x="12519660" y="8665845"/>
            <a:ext cx="1448038" cy="297180"/>
          </a:xfrm>
          <a:prstGeom prst="rect">
            <a:avLst/>
          </a:prstGeom>
          <a:noFill/>
          <a:ln/>
        </p:spPr>
        <p:txBody>
          <a:bodyPr wrap="square" lIns="0" tIns="0" rIns="0" bIns="0" rtlCol="0" anchor="t">
            <a:normAutofit/>
          </a:bodyPr>
          <a:lstStyle/>
          <a:p>
            <a:pPr algn="ctr" indent="0" marL="0">
              <a:buNone/>
            </a:pPr>
            <a:r>
              <a:rPr lang="en-US" sz="1800" b="1" dirty="0">
                <a:solidFill>
                  <a:srgbClr val="A03E14"/>
                </a:solidFill>
                <a:latin typeface="Courier New" pitchFamily="34" charset="0"/>
                <a:ea typeface="Courier New" pitchFamily="34" charset="-122"/>
                <a:cs typeface="Courier New" pitchFamily="34" charset="-120"/>
              </a:rPr>
              <a:t>DKA1…DKA12</a:t>
            </a:r>
            <a:endParaRPr lang="en-US" sz="1800" dirty="0"/>
          </a:p>
        </p:txBody>
      </p:sp>
      <p:sp>
        <p:nvSpPr>
          <p:cNvPr id="71" name="Text 69"/>
          <p:cNvSpPr/>
          <p:nvPr/>
        </p:nvSpPr>
        <p:spPr>
          <a:xfrm>
            <a:off x="12519660" y="8924925"/>
            <a:ext cx="1448038" cy="297180"/>
          </a:xfrm>
          <a:prstGeom prst="rect">
            <a:avLst/>
          </a:prstGeom>
          <a:noFill/>
          <a:ln/>
        </p:spPr>
        <p:txBody>
          <a:bodyPr wrap="square" lIns="0" tIns="0" rIns="0" bIns="0" rtlCol="0" anchor="t">
            <a:normAutofit/>
          </a:bodyPr>
          <a:lstStyle/>
          <a:p>
            <a:pPr algn="ctr" indent="0" marL="0">
              <a:buNone/>
            </a:pPr>
            <a:r>
              <a:rPr lang="en-US" sz="1800" b="1" dirty="0">
                <a:solidFill>
                  <a:srgbClr val="A03E14"/>
                </a:solidFill>
                <a:latin typeface="Courier New" pitchFamily="34" charset="0"/>
                <a:ea typeface="Courier New" pitchFamily="34" charset="-122"/>
                <a:cs typeface="Courier New" pitchFamily="34" charset="-120"/>
              </a:rPr>
              <a:t>swap areas</a:t>
            </a:r>
            <a:endParaRPr lang="en-US" sz="1800" dirty="0"/>
          </a:p>
        </p:txBody>
      </p:sp>
      <p:sp>
        <p:nvSpPr>
          <p:cNvPr id="72" name="Shape 70"/>
          <p:cNvSpPr/>
          <p:nvPr/>
        </p:nvSpPr>
        <p:spPr>
          <a:xfrm>
            <a:off x="14891028" y="8467725"/>
            <a:ext cx="2444472" cy="914400"/>
          </a:xfrm>
          <a:prstGeom prst="rect">
            <a:avLst/>
          </a:prstGeom>
          <a:solidFill>
            <a:srgbClr val="E9E2CF"/>
          </a:solidFill>
          <a:ln/>
        </p:spPr>
      </p:sp>
      <p:sp>
        <p:nvSpPr>
          <p:cNvPr id="73" name="Shape 71"/>
          <p:cNvSpPr/>
          <p:nvPr/>
        </p:nvSpPr>
        <p:spPr>
          <a:xfrm>
            <a:off x="14891028" y="9366885"/>
            <a:ext cx="2444472" cy="15240"/>
          </a:xfrm>
          <a:prstGeom prst="rect">
            <a:avLst/>
          </a:prstGeom>
          <a:solidFill>
            <a:srgbClr val="211C14"/>
          </a:solidFill>
          <a:ln/>
        </p:spPr>
      </p:sp>
      <p:sp>
        <p:nvSpPr>
          <p:cNvPr id="74" name="Shape 72"/>
          <p:cNvSpPr/>
          <p:nvPr/>
        </p:nvSpPr>
        <p:spPr>
          <a:xfrm>
            <a:off x="14891028" y="8467725"/>
            <a:ext cx="2444472" cy="15240"/>
          </a:xfrm>
          <a:prstGeom prst="rect">
            <a:avLst/>
          </a:prstGeom>
          <a:solidFill>
            <a:srgbClr val="211C14"/>
          </a:solidFill>
          <a:ln/>
        </p:spPr>
      </p:sp>
      <p:sp>
        <p:nvSpPr>
          <p:cNvPr id="75" name="Shape 73"/>
          <p:cNvSpPr/>
          <p:nvPr/>
        </p:nvSpPr>
        <p:spPr>
          <a:xfrm>
            <a:off x="17320261" y="8467725"/>
            <a:ext cx="15240" cy="914400"/>
          </a:xfrm>
          <a:prstGeom prst="rect">
            <a:avLst/>
          </a:prstGeom>
          <a:solidFill>
            <a:srgbClr val="211C14"/>
          </a:solidFill>
          <a:ln/>
        </p:spPr>
      </p:sp>
      <p:sp>
        <p:nvSpPr>
          <p:cNvPr id="76" name="Text 74"/>
          <p:cNvSpPr/>
          <p:nvPr/>
        </p:nvSpPr>
        <p:spPr>
          <a:xfrm>
            <a:off x="15831265" y="8627745"/>
            <a:ext cx="624840" cy="335280"/>
          </a:xfrm>
          <a:prstGeom prst="rect">
            <a:avLst/>
          </a:prstGeom>
          <a:noFill/>
          <a:ln/>
        </p:spPr>
        <p:txBody>
          <a:bodyPr wrap="square" lIns="0" tIns="0" rIns="0" bIns="0" rtlCol="0" anchor="t">
            <a:normAutofit/>
          </a:bodyPr>
          <a:lstStyle/>
          <a:p>
            <a:pPr algn="ctr" indent="0" marL="0">
              <a:buNone/>
            </a:pPr>
            <a:r>
              <a:rPr lang="en-US" sz="1800" dirty="0">
                <a:solidFill>
                  <a:srgbClr val="211C14"/>
                </a:solidFill>
                <a:latin typeface="Courier New" pitchFamily="34" charset="0"/>
                <a:ea typeface="Courier New" pitchFamily="34" charset="-122"/>
                <a:cs typeface="Courier New" pitchFamily="34" charset="-120"/>
              </a:rPr>
              <a:t>FSYS</a:t>
            </a:r>
            <a:endParaRPr lang="en-US" sz="1800" dirty="0"/>
          </a:p>
        </p:txBody>
      </p:sp>
      <p:sp>
        <p:nvSpPr>
          <p:cNvPr id="77" name="Text 75"/>
          <p:cNvSpPr/>
          <p:nvPr/>
        </p:nvSpPr>
        <p:spPr>
          <a:xfrm>
            <a:off x="15219759" y="8924925"/>
            <a:ext cx="1847850" cy="335280"/>
          </a:xfrm>
          <a:prstGeom prst="rect">
            <a:avLst/>
          </a:prstGeom>
          <a:noFill/>
          <a:ln/>
        </p:spPr>
        <p:txBody>
          <a:bodyPr wrap="square" lIns="0" tIns="0" rIns="0" bIns="0" rtlCol="0" anchor="t">
            <a:normAutofit/>
          </a:bodyPr>
          <a:lstStyle/>
          <a:p>
            <a:pPr algn="ctr" indent="0" marL="0">
              <a:buNone/>
            </a:pPr>
            <a:r>
              <a:rPr lang="en-US" sz="1800" dirty="0">
                <a:solidFill>
                  <a:srgbClr val="211C14"/>
                </a:solidFill>
                <a:latin typeface="Courier New" pitchFamily="34" charset="0"/>
                <a:ea typeface="Courier New" pitchFamily="34" charset="-122"/>
                <a:cs typeface="Courier New" pitchFamily="34" charset="-120"/>
              </a:rPr>
              <a:t>file system →</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8151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12500" b="12500"/>
          <a:stretch/>
        </p:blipFill>
        <p:spPr>
          <a:xfrm>
            <a:off x="0" y="0"/>
            <a:ext cx="18288000" cy="10287000"/>
          </a:xfrm>
          <a:prstGeom prst="rect">
            <a:avLst/>
          </a:prstGeom>
        </p:spPr>
      </p:pic>
      <p:sp>
        <p:nvSpPr>
          <p:cNvPr id="3" name="Shape 0"/>
          <p:cNvSpPr/>
          <p:nvPr/>
        </p:nvSpPr>
        <p:spPr>
          <a:xfrm>
            <a:off x="0" y="0"/>
            <a:ext cx="18288000" cy="10287000"/>
          </a:xfrm>
          <a:prstGeom prst="rect">
            <a:avLst/>
          </a:prstGeom>
          <a:gradFill rotWithShape="1">
            <a:gsLst>
              <a:gs pos="0">
                <a:srgbClr val="14100A">
                  <a:alpha val="93000"/>
                </a:srgbClr>
              </a:gs>
              <a:gs pos="38000">
                <a:srgbClr val="14100A">
                  <a:alpha val="82000"/>
                </a:srgbClr>
              </a:gs>
              <a:gs pos="75000">
                <a:srgbClr val="14100A">
                  <a:alpha val="12000"/>
                </a:srgbClr>
              </a:gs>
            </a:gsLst>
            <a:lin ang="0" scaled="0"/>
          </a:gradFill>
          <a:ln/>
        </p:spPr>
      </p:sp>
      <p:sp>
        <p:nvSpPr>
          <p:cNvPr id="4" name="Text 1"/>
          <p:cNvSpPr/>
          <p:nvPr/>
        </p:nvSpPr>
        <p:spPr>
          <a:xfrm>
            <a:off x="952500" y="2764155"/>
            <a:ext cx="11001375" cy="1466850"/>
          </a:xfrm>
          <a:prstGeom prst="rect">
            <a:avLst/>
          </a:prstGeom>
          <a:noFill/>
          <a:ln/>
        </p:spPr>
        <p:txBody>
          <a:bodyPr wrap="square" lIns="25400" tIns="25400" rIns="25400" bIns="25400" rtlCol="0" anchor="t">
            <a:normAutofit/>
          </a:bodyPr>
          <a:lstStyle/>
          <a:p>
            <a:pPr algn="l" indent="0" marL="0">
              <a:lnSpc>
                <a:spcPct val="88443"/>
              </a:lnSpc>
              <a:buNone/>
            </a:pPr>
            <a:r>
              <a:rPr lang="en-US" sz="11250" b="1" dirty="0">
                <a:solidFill>
                  <a:srgbClr val="E8935A"/>
                </a:solidFill>
                <a:latin typeface="Courier New" pitchFamily="34" charset="0"/>
                <a:ea typeface="Courier New" pitchFamily="34" charset="-122"/>
                <a:cs typeface="Courier New" pitchFamily="34" charset="-120"/>
              </a:rPr>
              <a:t>04</a:t>
            </a:r>
            <a:endParaRPr lang="en-US" sz="11250" dirty="0"/>
          </a:p>
        </p:txBody>
      </p:sp>
      <p:sp>
        <p:nvSpPr>
          <p:cNvPr id="5" name="Text 2"/>
          <p:cNvSpPr/>
          <p:nvPr/>
        </p:nvSpPr>
        <p:spPr>
          <a:xfrm>
            <a:off x="952500" y="4478655"/>
            <a:ext cx="11001375" cy="918210"/>
          </a:xfrm>
          <a:prstGeom prst="rect">
            <a:avLst/>
          </a:prstGeom>
          <a:noFill/>
          <a:ln/>
        </p:spPr>
        <p:txBody>
          <a:bodyPr wrap="square" lIns="25400" tIns="25400" rIns="25400" bIns="25400" rtlCol="0" anchor="t">
            <a:normAutofit/>
          </a:bodyPr>
          <a:lstStyle/>
          <a:p>
            <a:pPr algn="l" indent="0" marL="0">
              <a:lnSpc>
                <a:spcPct val="97059"/>
              </a:lnSpc>
              <a:buNone/>
            </a:pPr>
            <a:r>
              <a:rPr lang="en-US" sz="6300" b="1" dirty="0">
                <a:solidFill>
                  <a:srgbClr val="ECE5D3"/>
                </a:solidFill>
                <a:latin typeface="Courier New" pitchFamily="34" charset="0"/>
                <a:ea typeface="Courier New" pitchFamily="34" charset="-122"/>
                <a:cs typeface="Courier New" pitchFamily="34" charset="-120"/>
              </a:rPr>
              <a:t>The Swapping Drum</a:t>
            </a:r>
            <a:endParaRPr lang="en-US" sz="6300" dirty="0"/>
          </a:p>
        </p:txBody>
      </p:sp>
      <p:sp>
        <p:nvSpPr>
          <p:cNvPr id="6" name="Shape 3"/>
          <p:cNvSpPr/>
          <p:nvPr/>
        </p:nvSpPr>
        <p:spPr>
          <a:xfrm>
            <a:off x="952500" y="5644515"/>
            <a:ext cx="2667000" cy="38100"/>
          </a:xfrm>
          <a:prstGeom prst="rect">
            <a:avLst/>
          </a:prstGeom>
          <a:solidFill>
            <a:srgbClr val="C8501E"/>
          </a:solidFill>
          <a:ln/>
        </p:spPr>
      </p:sp>
      <p:sp>
        <p:nvSpPr>
          <p:cNvPr id="7" name="Text 4"/>
          <p:cNvSpPr/>
          <p:nvPr/>
        </p:nvSpPr>
        <p:spPr>
          <a:xfrm>
            <a:off x="952500" y="5968365"/>
            <a:ext cx="10301288" cy="1009650"/>
          </a:xfrm>
          <a:prstGeom prst="rect">
            <a:avLst/>
          </a:prstGeom>
          <a:noFill/>
          <a:ln/>
        </p:spPr>
        <p:txBody>
          <a:bodyPr wrap="square" lIns="25400" tIns="25400" rIns="25400" bIns="25400" rtlCol="0" anchor="t">
            <a:normAutofit/>
          </a:bodyPr>
          <a:lstStyle/>
          <a:p>
            <a:pPr algn="l" indent="0" marL="0">
              <a:lnSpc>
                <a:spcPct val="132812"/>
              </a:lnSpc>
              <a:buNone/>
            </a:pPr>
            <a:r>
              <a:rPr lang="en-US" sz="2550" dirty="0">
                <a:solidFill>
                  <a:srgbClr val="D8CFB6"/>
                </a:solidFill>
                <a:latin typeface="Arial" pitchFamily="34" charset="0"/>
                <a:ea typeface="Arial" pitchFamily="34" charset="-122"/>
                <a:cs typeface="Arial" pitchFamily="34" charset="-120"/>
              </a:rPr>
              <a:t>XDRUM — the NORD-10 drum driver, every register and bit, and the TRSFR front end that routes swap traffic between drum and disk.</a:t>
            </a:r>
            <a:endParaRPr lang="en-US" sz="2550" dirty="0"/>
          </a:p>
        </p:txBody>
      </p:sp>
      <p:sp>
        <p:nvSpPr>
          <p:cNvPr id="8" name="Text 5"/>
          <p:cNvSpPr/>
          <p:nvPr/>
        </p:nvSpPr>
        <p:spPr>
          <a:xfrm>
            <a:off x="952500" y="7225665"/>
            <a:ext cx="11001375" cy="335280"/>
          </a:xfrm>
          <a:prstGeom prst="rect">
            <a:avLst/>
          </a:prstGeom>
          <a:noFill/>
          <a:ln/>
        </p:spPr>
        <p:txBody>
          <a:bodyPr wrap="square" lIns="25400" tIns="25400" rIns="25400" bIns="25400" rtlCol="0" anchor="t">
            <a:normAutofit/>
          </a:bodyPr>
          <a:lstStyle/>
          <a:p>
            <a:pPr algn="l" indent="0" marL="0">
              <a:buNone/>
            </a:pPr>
            <a:r>
              <a:rPr lang="en-US" sz="1800" dirty="0">
                <a:solidFill>
                  <a:srgbClr val="9A8F78"/>
                </a:solidFill>
                <a:latin typeface="Courier New" pitchFamily="34" charset="0"/>
                <a:ea typeface="Courier New" pitchFamily="34" charset="-122"/>
                <a:cs typeface="Courier New" pitchFamily="34" charset="-120"/>
              </a:rPr>
              <a:t>“1. APPROXIMATION TO A NORD-10 VERSION” — NJL, 17/4/73</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2EDE1"/>
        </a:solidFill>
      </p:bgPr>
    </p:bg>
    <p:spTree>
      <p:nvGrpSpPr>
        <p:cNvPr id="1" name=""/>
        <p:cNvGrpSpPr/>
        <p:nvPr/>
      </p:nvGrpSpPr>
      <p:grpSpPr>
        <a:xfrm>
          <a:off x="0" y="0"/>
          <a:ext cx="0" cy="0"/>
          <a:chOff x="0" y="0"/>
          <a:chExt cx="0" cy="0"/>
        </a:xfrm>
      </p:grpSpPr>
      <p:sp>
        <p:nvSpPr>
          <p:cNvPr id="2" name="Text 0"/>
          <p:cNvSpPr/>
          <p:nvPr/>
        </p:nvSpPr>
        <p:spPr>
          <a:xfrm>
            <a:off x="952500" y="857250"/>
            <a:ext cx="18021300" cy="33528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C8501E"/>
                </a:solidFill>
                <a:latin typeface="Courier New" pitchFamily="34" charset="0"/>
                <a:ea typeface="Courier New" pitchFamily="34" charset="-122"/>
                <a:cs typeface="Courier New" pitchFamily="34" charset="-120"/>
              </a:rPr>
              <a:t>SECTION 04 · THE DRUM</a:t>
            </a:r>
            <a:endParaRPr lang="en-US" sz="1800" dirty="0"/>
          </a:p>
        </p:txBody>
      </p:sp>
      <p:sp>
        <p:nvSpPr>
          <p:cNvPr id="3" name="Text 1"/>
          <p:cNvSpPr/>
          <p:nvPr/>
        </p:nvSpPr>
        <p:spPr>
          <a:xfrm>
            <a:off x="952500" y="1306830"/>
            <a:ext cx="18021300" cy="666750"/>
          </a:xfrm>
          <a:prstGeom prst="rect">
            <a:avLst/>
          </a:prstGeom>
          <a:noFill/>
          <a:ln/>
        </p:spPr>
        <p:txBody>
          <a:bodyPr wrap="square" lIns="25400" tIns="25400" rIns="25400" bIns="25400" rtlCol="0" anchor="t">
            <a:normAutofit/>
          </a:bodyPr>
          <a:lstStyle/>
          <a:p>
            <a:pPr algn="l" indent="0" marL="0">
              <a:lnSpc>
                <a:spcPct val="97059"/>
              </a:lnSpc>
              <a:buNone/>
            </a:pPr>
            <a:r>
              <a:rPr lang="en-US" sz="4500" b="1" dirty="0">
                <a:solidFill>
                  <a:srgbClr val="211C14"/>
                </a:solidFill>
                <a:latin typeface="Courier New" pitchFamily="34" charset="0"/>
                <a:ea typeface="Courier New" pitchFamily="34" charset="-122"/>
                <a:cs typeface="Courier New" pitchFamily="34" charset="-120"/>
              </a:rPr>
              <a:t>Drum Basics &amp; Geometry</a:t>
            </a:r>
            <a:endParaRPr lang="en-US" sz="4500" dirty="0"/>
          </a:p>
        </p:txBody>
      </p:sp>
      <p:sp>
        <p:nvSpPr>
          <p:cNvPr id="4" name="Shape 2"/>
          <p:cNvSpPr/>
          <p:nvPr/>
        </p:nvSpPr>
        <p:spPr>
          <a:xfrm>
            <a:off x="952500" y="2087880"/>
            <a:ext cx="16383000" cy="28575"/>
          </a:xfrm>
          <a:prstGeom prst="rect">
            <a:avLst/>
          </a:prstGeom>
          <a:solidFill>
            <a:srgbClr val="211C14"/>
          </a:solidFill>
          <a:ln/>
        </p:spPr>
      </p:sp>
      <p:sp>
        <p:nvSpPr>
          <p:cNvPr id="5" name="Text 3"/>
          <p:cNvSpPr/>
          <p:nvPr/>
        </p:nvSpPr>
        <p:spPr>
          <a:xfrm>
            <a:off x="952500" y="2573655"/>
            <a:ext cx="8044815" cy="1345406"/>
          </a:xfrm>
          <a:prstGeom prst="rect">
            <a:avLst/>
          </a:prstGeom>
          <a:noFill/>
          <a:ln/>
        </p:spPr>
        <p:txBody>
          <a:bodyPr wrap="square" lIns="25400" tIns="25400" rIns="25400" bIns="25400" rtlCol="0" anchor="t">
            <a:normAutofit/>
          </a:bodyPr>
          <a:lstStyle/>
          <a:p>
            <a:pPr algn="l" indent="0" marL="0">
              <a:lnSpc>
                <a:spcPct val="133780"/>
              </a:lnSpc>
              <a:buNone/>
            </a:pPr>
            <a:r>
              <a:rPr lang="en-US" sz="2175" dirty="0">
                <a:solidFill>
                  <a:srgbClr val="211C14"/>
                </a:solidFill>
                <a:latin typeface="Arial" pitchFamily="34" charset="0"/>
                <a:ea typeface="Arial" pitchFamily="34" charset="-122"/>
                <a:cs typeface="Arial" pitchFamily="34" charset="-120"/>
              </a:rPr>
              <a:t>A drum is a rotating magnetic cylinder with </a:t>
            </a:r>
            <a:pPr algn="l" indent="0" marL="0">
              <a:lnSpc>
                <a:spcPct val="133780"/>
              </a:lnSpc>
              <a:buNone/>
            </a:pPr>
            <a:r>
              <a:rPr lang="en-US" sz="2175" b="1" dirty="0">
                <a:solidFill>
                  <a:srgbClr val="211C14"/>
                </a:solidFill>
                <a:latin typeface="Arial" pitchFamily="34" charset="0"/>
                <a:ea typeface="Arial" pitchFamily="34" charset="-122"/>
                <a:cs typeface="Arial" pitchFamily="34" charset="-120"/>
              </a:rPr>
              <a:t>one fixed head per track </a:t>
            </a:r>
            <a:pPr algn="l" indent="0" marL="0">
              <a:lnSpc>
                <a:spcPct val="133780"/>
              </a:lnSpc>
              <a:buNone/>
            </a:pPr>
            <a:r>
              <a:rPr lang="en-US" sz="2175" dirty="0">
                <a:solidFill>
                  <a:srgbClr val="211C14"/>
                </a:solidFill>
                <a:latin typeface="Arial" pitchFamily="34" charset="0"/>
                <a:ea typeface="Arial" pitchFamily="34" charset="-122"/>
                <a:cs typeface="Arial" pitchFamily="34" charset="-120"/>
              </a:rPr>
              <a:t>— no seek arm, no seek time. Latency is rotational only, which made it </a:t>
            </a:r>
            <a:pPr algn="l" indent="0" marL="0">
              <a:lnSpc>
                <a:spcPct val="133780"/>
              </a:lnSpc>
              <a:buNone/>
            </a:pPr>
            <a:r>
              <a:rPr lang="en-US" sz="2175" i="1" dirty="0">
                <a:solidFill>
                  <a:srgbClr val="211C14"/>
                </a:solidFill>
                <a:latin typeface="Arial" pitchFamily="34" charset="0"/>
                <a:ea typeface="Arial" pitchFamily="34" charset="-122"/>
                <a:cs typeface="Arial" pitchFamily="34" charset="-120"/>
              </a:rPr>
              <a:t>the </a:t>
            </a:r>
            <a:pPr algn="l" indent="0" marL="0">
              <a:lnSpc>
                <a:spcPct val="133780"/>
              </a:lnSpc>
              <a:buNone/>
            </a:pPr>
            <a:r>
              <a:rPr lang="en-US" sz="2175" dirty="0">
                <a:solidFill>
                  <a:srgbClr val="211C14"/>
                </a:solidFill>
                <a:latin typeface="Arial" pitchFamily="34" charset="0"/>
                <a:ea typeface="Arial" pitchFamily="34" charset="-122"/>
                <a:cs typeface="Arial" pitchFamily="34" charset="-120"/>
              </a:rPr>
              <a:t>swap device of its era.</a:t>
            </a:r>
            <a:endParaRPr lang="en-US" sz="2175" dirty="0"/>
          </a:p>
        </p:txBody>
      </p:sp>
      <p:sp>
        <p:nvSpPr>
          <p:cNvPr id="6" name="Text 4"/>
          <p:cNvSpPr/>
          <p:nvPr/>
        </p:nvSpPr>
        <p:spPr>
          <a:xfrm>
            <a:off x="952500" y="4147661"/>
            <a:ext cx="8044815" cy="902018"/>
          </a:xfrm>
          <a:prstGeom prst="rect">
            <a:avLst/>
          </a:prstGeom>
          <a:noFill/>
          <a:ln/>
        </p:spPr>
        <p:txBody>
          <a:bodyPr wrap="square" lIns="25400" tIns="25400" rIns="25400" bIns="25400" rtlCol="0" anchor="t">
            <a:normAutofit/>
          </a:bodyPr>
          <a:lstStyle/>
          <a:p>
            <a:pPr algn="l" indent="0" marL="0">
              <a:lnSpc>
                <a:spcPct val="133780"/>
              </a:lnSpc>
              <a:buNone/>
            </a:pPr>
            <a:r>
              <a:rPr lang="en-US" sz="2175" dirty="0">
                <a:solidFill>
                  <a:srgbClr val="211C14"/>
                </a:solidFill>
                <a:latin typeface="Arial" pitchFamily="34" charset="0"/>
                <a:ea typeface="Arial" pitchFamily="34" charset="-122"/>
                <a:cs typeface="Arial" pitchFamily="34" charset="-120"/>
              </a:rPr>
              <a:t>The controller is a </a:t>
            </a:r>
            <a:pPr algn="l" indent="0" marL="0">
              <a:lnSpc>
                <a:spcPct val="133780"/>
              </a:lnSpc>
              <a:buNone/>
            </a:pPr>
            <a:r>
              <a:rPr lang="en-US" sz="2175" b="1" dirty="0">
                <a:solidFill>
                  <a:srgbClr val="211C14"/>
                </a:solidFill>
                <a:latin typeface="Arial" pitchFamily="34" charset="0"/>
                <a:ea typeface="Arial" pitchFamily="34" charset="-122"/>
                <a:cs typeface="Arial" pitchFamily="34" charset="-120"/>
              </a:rPr>
              <a:t>DMA block device </a:t>
            </a:r>
            <a:pPr algn="l" indent="0" marL="0">
              <a:lnSpc>
                <a:spcPct val="133780"/>
              </a:lnSpc>
              <a:buNone/>
            </a:pPr>
            <a:r>
              <a:rPr lang="en-US" sz="2175" dirty="0">
                <a:solidFill>
                  <a:srgbClr val="211C14"/>
                </a:solidFill>
                <a:latin typeface="Arial" pitchFamily="34" charset="0"/>
                <a:ea typeface="Arial" pitchFamily="34" charset="-122"/>
                <a:cs typeface="Arial" pitchFamily="34" charset="-120"/>
              </a:rPr>
              <a:t>: load core address, block address and word count, start it, take an interrupt when done.</a:t>
            </a:r>
            <a:endParaRPr lang="en-US" sz="2175" dirty="0"/>
          </a:p>
        </p:txBody>
      </p:sp>
      <p:sp>
        <p:nvSpPr>
          <p:cNvPr id="7" name="Text 5"/>
          <p:cNvSpPr/>
          <p:nvPr/>
        </p:nvSpPr>
        <p:spPr>
          <a:xfrm>
            <a:off x="952500" y="5278279"/>
            <a:ext cx="8044815" cy="1330166"/>
          </a:xfrm>
          <a:prstGeom prst="rect">
            <a:avLst/>
          </a:prstGeom>
          <a:noFill/>
          <a:ln/>
        </p:spPr>
        <p:txBody>
          <a:bodyPr wrap="square" lIns="25400" tIns="25400" rIns="25400" bIns="25400" rtlCol="0" anchor="t">
            <a:normAutofit/>
          </a:bodyPr>
          <a:lstStyle/>
          <a:p>
            <a:pPr algn="l" indent="0" marL="0">
              <a:lnSpc>
                <a:spcPct val="133780"/>
              </a:lnSpc>
              <a:buNone/>
            </a:pPr>
            <a:r>
              <a:rPr lang="en-US" sz="2175" dirty="0">
                <a:solidFill>
                  <a:srgbClr val="211C14"/>
                </a:solidFill>
                <a:latin typeface="Arial" pitchFamily="34" charset="0"/>
                <a:ea typeface="Arial" pitchFamily="34" charset="-122"/>
                <a:cs typeface="Arial" pitchFamily="34" charset="-120"/>
              </a:rPr>
              <a:t>TSS ran on the NORD-1 too — but the drum driver itself is </a:t>
            </a:r>
            <a:pPr algn="l" indent="0" marL="0">
              <a:lnSpc>
                <a:spcPct val="133780"/>
              </a:lnSpc>
              <a:buNone/>
            </a:pPr>
            <a:r>
              <a:rPr lang="en-US" sz="2175" b="1" dirty="0">
                <a:solidFill>
                  <a:srgbClr val="211C14"/>
                </a:solidFill>
                <a:latin typeface="Arial" pitchFamily="34" charset="0"/>
                <a:ea typeface="Arial" pitchFamily="34" charset="-122"/>
                <a:cs typeface="Arial" pitchFamily="34" charset="-120"/>
              </a:rPr>
              <a:t>NORD-10 code only</a:t>
            </a:r>
            <a:pPr algn="l" indent="0" marL="0">
              <a:lnSpc>
                <a:spcPct val="133780"/>
              </a:lnSpc>
              <a:buNone/>
            </a:pPr>
            <a:r>
              <a:rPr lang="en-US" sz="2175" dirty="0">
                <a:solidFill>
                  <a:srgbClr val="211C14"/>
                </a:solidFill>
                <a:latin typeface="Arial" pitchFamily="34" charset="0"/>
                <a:ea typeface="Arial" pitchFamily="34" charset="-122"/>
                <a:cs typeface="Arial" pitchFamily="34" charset="-120"/>
              </a:rPr>
              <a:t>: pure IOX, guarded by </a:t>
            </a:r>
            <a:pPr algn="l" indent="0" marL="0">
              <a:lnSpc>
                <a:spcPct val="133780"/>
              </a:lnSpc>
              <a:buNone/>
            </a:pPr>
            <a:r>
              <a:rPr lang="en-US" sz="2175" dirty="0">
                <a:solidFill>
                  <a:srgbClr val="211C14"/>
                </a:solidFill>
                <a:latin typeface="Courier New" pitchFamily="34" charset="0"/>
                <a:ea typeface="Courier New" pitchFamily="34" charset="-122"/>
                <a:cs typeface="Courier New" pitchFamily="34" charset="-120"/>
              </a:rPr>
              <a:t>"DRUM N10 </a:t>
            </a:r>
            <a:pPr algn="l" indent="0" marL="0">
              <a:lnSpc>
                <a:spcPct val="133780"/>
              </a:lnSpc>
              <a:buNone/>
            </a:pPr>
            <a:r>
              <a:rPr lang="en-US" sz="2175" dirty="0">
                <a:solidFill>
                  <a:srgbClr val="211C14"/>
                </a:solidFill>
                <a:latin typeface="Arial" pitchFamily="34" charset="0"/>
                <a:ea typeface="Arial" pitchFamily="34" charset="-122"/>
                <a:cs typeface="Arial" pitchFamily="34" charset="-120"/>
              </a:rPr>
              <a:t>, dated 17/4/73.</a:t>
            </a:r>
            <a:endParaRPr lang="en-US" sz="2175" dirty="0"/>
          </a:p>
        </p:txBody>
      </p:sp>
      <p:sp>
        <p:nvSpPr>
          <p:cNvPr id="8" name="Shape 6"/>
          <p:cNvSpPr/>
          <p:nvPr/>
        </p:nvSpPr>
        <p:spPr>
          <a:xfrm>
            <a:off x="9525000" y="2573655"/>
            <a:ext cx="7810500" cy="22860"/>
          </a:xfrm>
          <a:prstGeom prst="rect">
            <a:avLst/>
          </a:prstGeom>
          <a:solidFill>
            <a:srgbClr val="211C14"/>
          </a:solidFill>
          <a:ln/>
        </p:spPr>
      </p:sp>
      <p:sp>
        <p:nvSpPr>
          <p:cNvPr id="9" name="Shape 7"/>
          <p:cNvSpPr/>
          <p:nvPr/>
        </p:nvSpPr>
        <p:spPr>
          <a:xfrm>
            <a:off x="9525000" y="3381375"/>
            <a:ext cx="7810500" cy="9525"/>
          </a:xfrm>
          <a:prstGeom prst="rect">
            <a:avLst/>
          </a:prstGeom>
          <a:solidFill>
            <a:srgbClr val="CEC4AD"/>
          </a:solidFill>
          <a:ln/>
        </p:spPr>
      </p:sp>
      <p:sp>
        <p:nvSpPr>
          <p:cNvPr id="10" name="Text 8"/>
          <p:cNvSpPr/>
          <p:nvPr/>
        </p:nvSpPr>
        <p:spPr>
          <a:xfrm>
            <a:off x="9525000" y="2806065"/>
            <a:ext cx="1769519" cy="373380"/>
          </a:xfrm>
          <a:prstGeom prst="rect">
            <a:avLst/>
          </a:prstGeom>
          <a:noFill/>
          <a:ln/>
        </p:spPr>
        <p:txBody>
          <a:bodyPr wrap="square" lIns="25400" tIns="25400" rIns="25400" bIns="25400" rtlCol="0" anchor="t">
            <a:normAutofit/>
          </a:bodyPr>
          <a:lstStyle/>
          <a:p>
            <a:pPr algn="l" indent="0" marL="0">
              <a:buNone/>
            </a:pPr>
            <a:r>
              <a:rPr lang="en-US" sz="2025" dirty="0">
                <a:solidFill>
                  <a:srgbClr val="211C14"/>
                </a:solidFill>
                <a:latin typeface="Arial" pitchFamily="34" charset="0"/>
                <a:ea typeface="Arial" pitchFamily="34" charset="-122"/>
                <a:cs typeface="Arial" pitchFamily="34" charset="-120"/>
              </a:rPr>
              <a:t>Sector (block)</a:t>
            </a:r>
            <a:endParaRPr lang="en-US" sz="2025" dirty="0"/>
          </a:p>
        </p:txBody>
      </p:sp>
      <p:sp>
        <p:nvSpPr>
          <p:cNvPr id="11" name="Text 9"/>
          <p:cNvSpPr/>
          <p:nvPr/>
        </p:nvSpPr>
        <p:spPr>
          <a:xfrm>
            <a:off x="15780664" y="2806065"/>
            <a:ext cx="1710321" cy="403860"/>
          </a:xfrm>
          <a:prstGeom prst="rect">
            <a:avLst/>
          </a:prstGeom>
          <a:noFill/>
          <a:ln/>
        </p:spPr>
        <p:txBody>
          <a:bodyPr wrap="square" lIns="25400" tIns="25400" rIns="25400" bIns="25400" rtlCol="0" anchor="t">
            <a:normAutofit/>
          </a:bodyPr>
          <a:lstStyle/>
          <a:p>
            <a:pPr algn="l" indent="0" marL="0">
              <a:buNone/>
            </a:pPr>
            <a:r>
              <a:rPr lang="en-US" sz="2550" b="1" dirty="0">
                <a:solidFill>
                  <a:srgbClr val="211C14"/>
                </a:solidFill>
                <a:latin typeface="Courier New" pitchFamily="34" charset="0"/>
                <a:ea typeface="Courier New" pitchFamily="34" charset="-122"/>
                <a:cs typeface="Courier New" pitchFamily="34" charset="-120"/>
              </a:rPr>
              <a:t>64 words</a:t>
            </a:r>
            <a:endParaRPr lang="en-US" sz="2550" dirty="0"/>
          </a:p>
        </p:txBody>
      </p:sp>
      <p:sp>
        <p:nvSpPr>
          <p:cNvPr id="12" name="Shape 10"/>
          <p:cNvSpPr/>
          <p:nvPr/>
        </p:nvSpPr>
        <p:spPr>
          <a:xfrm>
            <a:off x="9525000" y="4173855"/>
            <a:ext cx="7810500" cy="9525"/>
          </a:xfrm>
          <a:prstGeom prst="rect">
            <a:avLst/>
          </a:prstGeom>
          <a:solidFill>
            <a:srgbClr val="CEC4AD"/>
          </a:solidFill>
          <a:ln/>
        </p:spPr>
      </p:sp>
      <p:sp>
        <p:nvSpPr>
          <p:cNvPr id="13" name="Text 11"/>
          <p:cNvSpPr/>
          <p:nvPr/>
        </p:nvSpPr>
        <p:spPr>
          <a:xfrm>
            <a:off x="9525000" y="3598545"/>
            <a:ext cx="2161377" cy="373380"/>
          </a:xfrm>
          <a:prstGeom prst="rect">
            <a:avLst/>
          </a:prstGeom>
          <a:noFill/>
          <a:ln/>
        </p:spPr>
        <p:txBody>
          <a:bodyPr wrap="square" lIns="25400" tIns="25400" rIns="25400" bIns="25400" rtlCol="0" anchor="t">
            <a:normAutofit/>
          </a:bodyPr>
          <a:lstStyle/>
          <a:p>
            <a:pPr algn="l" indent="0" marL="0">
              <a:buNone/>
            </a:pPr>
            <a:r>
              <a:rPr lang="en-US" sz="2025" dirty="0">
                <a:solidFill>
                  <a:srgbClr val="211C14"/>
                </a:solidFill>
                <a:latin typeface="Arial" pitchFamily="34" charset="0"/>
                <a:ea typeface="Arial" pitchFamily="34" charset="-122"/>
                <a:cs typeface="Arial" pitchFamily="34" charset="-120"/>
              </a:rPr>
              <a:t>Sectors per track</a:t>
            </a:r>
            <a:endParaRPr lang="en-US" sz="2025" dirty="0"/>
          </a:p>
        </p:txBody>
      </p:sp>
      <p:sp>
        <p:nvSpPr>
          <p:cNvPr id="14" name="Text 12"/>
          <p:cNvSpPr/>
          <p:nvPr/>
        </p:nvSpPr>
        <p:spPr>
          <a:xfrm>
            <a:off x="16946761" y="3598545"/>
            <a:ext cx="464939" cy="403860"/>
          </a:xfrm>
          <a:prstGeom prst="rect">
            <a:avLst/>
          </a:prstGeom>
          <a:noFill/>
          <a:ln/>
        </p:spPr>
        <p:txBody>
          <a:bodyPr wrap="square" lIns="25400" tIns="25400" rIns="25400" bIns="25400" rtlCol="0" anchor="t">
            <a:normAutofit/>
          </a:bodyPr>
          <a:lstStyle/>
          <a:p>
            <a:pPr algn="l" indent="0" marL="0">
              <a:buNone/>
            </a:pPr>
            <a:r>
              <a:rPr lang="en-US" sz="2550" b="1" dirty="0">
                <a:solidFill>
                  <a:srgbClr val="211C14"/>
                </a:solidFill>
                <a:latin typeface="Courier New" pitchFamily="34" charset="0"/>
                <a:ea typeface="Courier New" pitchFamily="34" charset="-122"/>
                <a:cs typeface="Courier New" pitchFamily="34" charset="-120"/>
              </a:rPr>
              <a:t>32</a:t>
            </a:r>
            <a:endParaRPr lang="en-US" sz="2550" dirty="0"/>
          </a:p>
        </p:txBody>
      </p:sp>
      <p:sp>
        <p:nvSpPr>
          <p:cNvPr id="15" name="Shape 13"/>
          <p:cNvSpPr/>
          <p:nvPr/>
        </p:nvSpPr>
        <p:spPr>
          <a:xfrm>
            <a:off x="9525000" y="4966335"/>
            <a:ext cx="7810500" cy="9525"/>
          </a:xfrm>
          <a:prstGeom prst="rect">
            <a:avLst/>
          </a:prstGeom>
          <a:solidFill>
            <a:srgbClr val="CEC4AD"/>
          </a:solidFill>
          <a:ln/>
        </p:spPr>
      </p:sp>
      <p:sp>
        <p:nvSpPr>
          <p:cNvPr id="16" name="Text 14"/>
          <p:cNvSpPr/>
          <p:nvPr/>
        </p:nvSpPr>
        <p:spPr>
          <a:xfrm>
            <a:off x="9525000" y="4391025"/>
            <a:ext cx="1979724" cy="373380"/>
          </a:xfrm>
          <a:prstGeom prst="rect">
            <a:avLst/>
          </a:prstGeom>
          <a:noFill/>
          <a:ln/>
        </p:spPr>
        <p:txBody>
          <a:bodyPr wrap="square" lIns="25400" tIns="25400" rIns="25400" bIns="25400" rtlCol="0" anchor="t">
            <a:normAutofit/>
          </a:bodyPr>
          <a:lstStyle/>
          <a:p>
            <a:pPr algn="l" indent="0" marL="0">
              <a:buNone/>
            </a:pPr>
            <a:r>
              <a:rPr lang="en-US" sz="2025" dirty="0">
                <a:solidFill>
                  <a:srgbClr val="211C14"/>
                </a:solidFill>
                <a:latin typeface="Arial" pitchFamily="34" charset="0"/>
                <a:ea typeface="Arial" pitchFamily="34" charset="-122"/>
                <a:cs typeface="Arial" pitchFamily="34" charset="-120"/>
              </a:rPr>
              <a:t>Track = 32 × 64</a:t>
            </a:r>
            <a:endParaRPr lang="en-US" sz="2025" dirty="0"/>
          </a:p>
        </p:txBody>
      </p:sp>
      <p:sp>
        <p:nvSpPr>
          <p:cNvPr id="17" name="Text 15"/>
          <p:cNvSpPr/>
          <p:nvPr/>
        </p:nvSpPr>
        <p:spPr>
          <a:xfrm>
            <a:off x="13448586" y="4391025"/>
            <a:ext cx="4275606" cy="403860"/>
          </a:xfrm>
          <a:prstGeom prst="rect">
            <a:avLst/>
          </a:prstGeom>
          <a:noFill/>
          <a:ln/>
        </p:spPr>
        <p:txBody>
          <a:bodyPr wrap="square" lIns="25400" tIns="25400" rIns="25400" bIns="25400" rtlCol="0" anchor="t">
            <a:normAutofit/>
          </a:bodyPr>
          <a:lstStyle/>
          <a:p>
            <a:pPr algn="l" indent="0" marL="0">
              <a:buNone/>
            </a:pPr>
            <a:r>
              <a:rPr lang="en-US" sz="2550" b="1" dirty="0">
                <a:solidFill>
                  <a:srgbClr val="211C14"/>
                </a:solidFill>
                <a:latin typeface="Courier New" pitchFamily="34" charset="0"/>
                <a:ea typeface="Courier New" pitchFamily="34" charset="-122"/>
                <a:cs typeface="Courier New" pitchFamily="34" charset="-120"/>
              </a:rPr>
              <a:t>2,048 w = 1 TSS page</a:t>
            </a:r>
            <a:endParaRPr lang="en-US" sz="2550" dirty="0"/>
          </a:p>
        </p:txBody>
      </p:sp>
      <p:sp>
        <p:nvSpPr>
          <p:cNvPr id="18" name="Shape 16"/>
          <p:cNvSpPr/>
          <p:nvPr/>
        </p:nvSpPr>
        <p:spPr>
          <a:xfrm>
            <a:off x="9525000" y="5789295"/>
            <a:ext cx="7810500" cy="9525"/>
          </a:xfrm>
          <a:prstGeom prst="rect">
            <a:avLst/>
          </a:prstGeom>
          <a:solidFill>
            <a:srgbClr val="CEC4AD"/>
          </a:solidFill>
          <a:ln/>
        </p:spPr>
      </p:sp>
      <p:sp>
        <p:nvSpPr>
          <p:cNvPr id="19" name="Text 17"/>
          <p:cNvSpPr/>
          <p:nvPr/>
        </p:nvSpPr>
        <p:spPr>
          <a:xfrm>
            <a:off x="9525000" y="5213985"/>
            <a:ext cx="2670584" cy="373380"/>
          </a:xfrm>
          <a:prstGeom prst="rect">
            <a:avLst/>
          </a:prstGeom>
          <a:noFill/>
          <a:ln/>
        </p:spPr>
        <p:txBody>
          <a:bodyPr wrap="square" lIns="25400" tIns="25400" rIns="25400" bIns="25400" rtlCol="0" anchor="t">
            <a:normAutofit/>
          </a:bodyPr>
          <a:lstStyle/>
          <a:p>
            <a:pPr algn="l" indent="0" marL="0">
              <a:buNone/>
            </a:pPr>
            <a:r>
              <a:rPr lang="en-US" sz="2025" dirty="0">
                <a:solidFill>
                  <a:srgbClr val="211C14"/>
                </a:solidFill>
                <a:latin typeface="Arial" pitchFamily="34" charset="0"/>
                <a:ea typeface="Arial" pitchFamily="34" charset="-122"/>
                <a:cs typeface="Arial" pitchFamily="34" charset="-120"/>
              </a:rPr>
              <a:t>Default size (DRMSZ)</a:t>
            </a:r>
            <a:endParaRPr lang="en-US" sz="2025" dirty="0"/>
          </a:p>
        </p:txBody>
      </p:sp>
      <p:sp>
        <p:nvSpPr>
          <p:cNvPr id="20" name="Text 18"/>
          <p:cNvSpPr/>
          <p:nvPr/>
        </p:nvSpPr>
        <p:spPr>
          <a:xfrm>
            <a:off x="14825306" y="5183505"/>
            <a:ext cx="2761214" cy="434340"/>
          </a:xfrm>
          <a:prstGeom prst="rect">
            <a:avLst/>
          </a:prstGeom>
          <a:noFill/>
          <a:ln/>
        </p:spPr>
        <p:txBody>
          <a:bodyPr wrap="square" lIns="25400" tIns="25400" rIns="25400" bIns="25400" rtlCol="0" anchor="t">
            <a:normAutofit/>
          </a:bodyPr>
          <a:lstStyle/>
          <a:p>
            <a:pPr algn="l" indent="0" marL="0">
              <a:buNone/>
            </a:pPr>
            <a:r>
              <a:rPr lang="en-US" sz="2550" b="1" dirty="0">
                <a:solidFill>
                  <a:srgbClr val="211C14"/>
                </a:solidFill>
                <a:latin typeface="Courier New" pitchFamily="34" charset="0"/>
                <a:ea typeface="Courier New" pitchFamily="34" charset="-122"/>
                <a:cs typeface="Courier New" pitchFamily="34" charset="-120"/>
              </a:rPr>
              <a:t>2000₈ × 256 w</a:t>
            </a:r>
            <a:endParaRPr lang="en-US" sz="2550" dirty="0"/>
          </a:p>
        </p:txBody>
      </p:sp>
      <p:sp>
        <p:nvSpPr>
          <p:cNvPr id="21" name="Shape 19"/>
          <p:cNvSpPr/>
          <p:nvPr/>
        </p:nvSpPr>
        <p:spPr>
          <a:xfrm>
            <a:off x="9525000" y="6581775"/>
            <a:ext cx="7810500" cy="9525"/>
          </a:xfrm>
          <a:prstGeom prst="rect">
            <a:avLst/>
          </a:prstGeom>
          <a:solidFill>
            <a:srgbClr val="CEC4AD"/>
          </a:solidFill>
          <a:ln/>
        </p:spPr>
      </p:sp>
      <p:sp>
        <p:nvSpPr>
          <p:cNvPr id="22" name="Text 20"/>
          <p:cNvSpPr/>
          <p:nvPr/>
        </p:nvSpPr>
        <p:spPr>
          <a:xfrm>
            <a:off x="9525000" y="6006465"/>
            <a:ext cx="1949208" cy="373380"/>
          </a:xfrm>
          <a:prstGeom prst="rect">
            <a:avLst/>
          </a:prstGeom>
          <a:noFill/>
          <a:ln/>
        </p:spPr>
        <p:txBody>
          <a:bodyPr wrap="square" lIns="25400" tIns="25400" rIns="25400" bIns="25400" rtlCol="0" anchor="t">
            <a:normAutofit/>
          </a:bodyPr>
          <a:lstStyle/>
          <a:p>
            <a:pPr algn="l" indent="0" marL="0">
              <a:buNone/>
            </a:pPr>
            <a:r>
              <a:rPr lang="en-US" sz="2025" dirty="0">
                <a:solidFill>
                  <a:srgbClr val="211C14"/>
                </a:solidFill>
                <a:latin typeface="Arial" pitchFamily="34" charset="0"/>
                <a:ea typeface="Arial" pitchFamily="34" charset="-122"/>
                <a:cs typeface="Arial" pitchFamily="34" charset="-120"/>
              </a:rPr>
              <a:t>= total capacity</a:t>
            </a:r>
            <a:endParaRPr lang="en-US" sz="2025" dirty="0"/>
          </a:p>
        </p:txBody>
      </p:sp>
      <p:sp>
        <p:nvSpPr>
          <p:cNvPr id="23" name="Text 21"/>
          <p:cNvSpPr/>
          <p:nvPr/>
        </p:nvSpPr>
        <p:spPr>
          <a:xfrm>
            <a:off x="12865537" y="6006465"/>
            <a:ext cx="4916960" cy="403860"/>
          </a:xfrm>
          <a:prstGeom prst="rect">
            <a:avLst/>
          </a:prstGeom>
          <a:noFill/>
          <a:ln/>
        </p:spPr>
        <p:txBody>
          <a:bodyPr wrap="square" lIns="25400" tIns="25400" rIns="25400" bIns="25400" rtlCol="0" anchor="t">
            <a:normAutofit/>
          </a:bodyPr>
          <a:lstStyle/>
          <a:p>
            <a:pPr algn="l" indent="0" marL="0">
              <a:buNone/>
            </a:pPr>
            <a:r>
              <a:rPr lang="en-US" sz="2550" b="1" dirty="0">
                <a:solidFill>
                  <a:srgbClr val="A03E14"/>
                </a:solidFill>
                <a:latin typeface="Courier New" pitchFamily="34" charset="0"/>
                <a:ea typeface="Courier New" pitchFamily="34" charset="-122"/>
                <a:cs typeface="Courier New" pitchFamily="34" charset="-120"/>
              </a:rPr>
              <a:t>256K words · 128 tracks</a:t>
            </a:r>
            <a:endParaRPr lang="en-US" sz="25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2EDE1"/>
        </a:solidFill>
      </p:bgPr>
    </p:bg>
    <p:spTree>
      <p:nvGrpSpPr>
        <p:cNvPr id="1" name=""/>
        <p:cNvGrpSpPr/>
        <p:nvPr/>
      </p:nvGrpSpPr>
      <p:grpSpPr>
        <a:xfrm>
          <a:off x="0" y="0"/>
          <a:ext cx="0" cy="0"/>
          <a:chOff x="0" y="0"/>
          <a:chExt cx="0" cy="0"/>
        </a:xfrm>
      </p:grpSpPr>
      <p:sp>
        <p:nvSpPr>
          <p:cNvPr id="2" name="Text 0"/>
          <p:cNvSpPr/>
          <p:nvPr/>
        </p:nvSpPr>
        <p:spPr>
          <a:xfrm>
            <a:off x="952500" y="857250"/>
            <a:ext cx="18021300" cy="33528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C8501E"/>
                </a:solidFill>
                <a:latin typeface="Courier New" pitchFamily="34" charset="0"/>
                <a:ea typeface="Courier New" pitchFamily="34" charset="-122"/>
                <a:cs typeface="Courier New" pitchFamily="34" charset="-120"/>
              </a:rPr>
              <a:t>SECTION 04 · THE DRUM</a:t>
            </a:r>
            <a:endParaRPr lang="en-US" sz="1800" dirty="0"/>
          </a:p>
        </p:txBody>
      </p:sp>
      <p:sp>
        <p:nvSpPr>
          <p:cNvPr id="3" name="Text 1"/>
          <p:cNvSpPr/>
          <p:nvPr/>
        </p:nvSpPr>
        <p:spPr>
          <a:xfrm>
            <a:off x="952500" y="1306830"/>
            <a:ext cx="18021300" cy="666750"/>
          </a:xfrm>
          <a:prstGeom prst="rect">
            <a:avLst/>
          </a:prstGeom>
          <a:noFill/>
          <a:ln/>
        </p:spPr>
        <p:txBody>
          <a:bodyPr wrap="square" lIns="25400" tIns="25400" rIns="25400" bIns="25400" rtlCol="0" anchor="t">
            <a:normAutofit/>
          </a:bodyPr>
          <a:lstStyle/>
          <a:p>
            <a:pPr algn="l" indent="0" marL="0">
              <a:lnSpc>
                <a:spcPct val="97059"/>
              </a:lnSpc>
              <a:buNone/>
            </a:pPr>
            <a:r>
              <a:rPr lang="en-US" sz="4500" b="1" dirty="0">
                <a:solidFill>
                  <a:srgbClr val="211C14"/>
                </a:solidFill>
                <a:latin typeface="Courier New" pitchFamily="34" charset="0"/>
                <a:ea typeface="Courier New" pitchFamily="34" charset="-122"/>
                <a:cs typeface="Courier New" pitchFamily="34" charset="-120"/>
              </a:rPr>
              <a:t>TRSFR — Drum or Disk?</a:t>
            </a:r>
            <a:endParaRPr lang="en-US" sz="4500" dirty="0"/>
          </a:p>
        </p:txBody>
      </p:sp>
      <p:sp>
        <p:nvSpPr>
          <p:cNvPr id="4" name="Shape 2"/>
          <p:cNvSpPr/>
          <p:nvPr/>
        </p:nvSpPr>
        <p:spPr>
          <a:xfrm>
            <a:off x="952500" y="2087880"/>
            <a:ext cx="16383000" cy="28575"/>
          </a:xfrm>
          <a:prstGeom prst="rect">
            <a:avLst/>
          </a:prstGeom>
          <a:solidFill>
            <a:srgbClr val="211C14"/>
          </a:solidFill>
          <a:ln/>
        </p:spPr>
      </p:sp>
      <p:sp>
        <p:nvSpPr>
          <p:cNvPr id="5" name="Shape 3"/>
          <p:cNvSpPr/>
          <p:nvPr/>
        </p:nvSpPr>
        <p:spPr>
          <a:xfrm>
            <a:off x="952500" y="2497455"/>
            <a:ext cx="7810500" cy="6035040"/>
          </a:xfrm>
          <a:prstGeom prst="rect">
            <a:avLst/>
          </a:prstGeom>
          <a:solidFill>
            <a:srgbClr val="2A2620"/>
          </a:solidFill>
          <a:ln/>
        </p:spPr>
      </p:sp>
      <p:sp>
        <p:nvSpPr>
          <p:cNvPr id="6" name="Text 4"/>
          <p:cNvSpPr/>
          <p:nvPr/>
        </p:nvSpPr>
        <p:spPr>
          <a:xfrm>
            <a:off x="1333500" y="2840355"/>
            <a:ext cx="7259955" cy="449580"/>
          </a:xfrm>
          <a:prstGeom prst="rect">
            <a:avLst/>
          </a:prstGeom>
          <a:noFill/>
          <a:ln/>
        </p:spPr>
        <p:txBody>
          <a:bodyPr wrap="square" lIns="25400" tIns="25400" rIns="25400" bIns="25400" rtlCol="0" anchor="t">
            <a:normAutofit/>
          </a:bodyPr>
          <a:lstStyle/>
          <a:p>
            <a:pPr algn="l" indent="0" marL="0">
              <a:lnSpc>
                <a:spcPct val="158824"/>
              </a:lnSpc>
              <a:buNone/>
            </a:pPr>
            <a:r>
              <a:rPr lang="en-US" sz="1800" dirty="0">
                <a:solidFill>
                  <a:srgbClr val="E8935A"/>
                </a:solidFill>
                <a:latin typeface="Courier New" pitchFamily="34" charset="0"/>
                <a:ea typeface="Courier New" pitchFamily="34" charset="-122"/>
                <a:cs typeface="Courier New" pitchFamily="34" charset="-120"/>
              </a:rPr>
              <a:t>"DRUM N10 </a:t>
            </a:r>
            <a:pPr algn="l" indent="0" marL="0">
              <a:lnSpc>
                <a:spcPct val="158824"/>
              </a:lnSpc>
              <a:buNone/>
            </a:pPr>
            <a:r>
              <a:rPr lang="en-US" sz="1800" dirty="0">
                <a:solidFill>
                  <a:srgbClr val="8F8570"/>
                </a:solidFill>
                <a:latin typeface="Courier New" pitchFamily="34" charset="0"/>
                <a:ea typeface="Courier New" pitchFamily="34" charset="-122"/>
                <a:cs typeface="Courier New" pitchFamily="34" charset="-120"/>
              </a:rPr>
              <a:t>% ONLY WITH BOTH MARKS</a:t>
            </a:r>
            <a:endParaRPr lang="en-US" sz="1800" dirty="0"/>
          </a:p>
        </p:txBody>
      </p:sp>
      <p:sp>
        <p:nvSpPr>
          <p:cNvPr id="7" name="Text 5"/>
          <p:cNvSpPr/>
          <p:nvPr/>
        </p:nvSpPr>
        <p:spPr>
          <a:xfrm>
            <a:off x="1333500" y="3251835"/>
            <a:ext cx="7259955" cy="449580"/>
          </a:xfrm>
          <a:prstGeom prst="rect">
            <a:avLst/>
          </a:prstGeom>
          <a:noFill/>
          <a:ln/>
        </p:spPr>
        <p:txBody>
          <a:bodyPr wrap="square" lIns="25400" tIns="25400" rIns="25400" bIns="25400" rtlCol="0" anchor="t">
            <a:normAutofit/>
          </a:bodyPr>
          <a:lstStyle/>
          <a:p>
            <a:pPr algn="l" indent="0" marL="0">
              <a:lnSpc>
                <a:spcPct val="158824"/>
              </a:lnSpc>
              <a:buNone/>
            </a:pPr>
            <a:r>
              <a:rPr lang="en-US" sz="1800" dirty="0">
                <a:solidFill>
                  <a:srgbClr val="E6DEC9"/>
                </a:solidFill>
                <a:latin typeface="Courier New" pitchFamily="34" charset="0"/>
                <a:ea typeface="Courier New" pitchFamily="34" charset="-122"/>
                <a:cs typeface="Courier New" pitchFamily="34" charset="-120"/>
              </a:rPr>
              <a:t>TRSFR, STF TRSAV; STX TRSX; ...</a:t>
            </a:r>
            <a:endParaRPr lang="en-US" sz="1800" dirty="0"/>
          </a:p>
        </p:txBody>
      </p:sp>
      <p:sp>
        <p:nvSpPr>
          <p:cNvPr id="8" name="Text 6"/>
          <p:cNvSpPr/>
          <p:nvPr/>
        </p:nvSpPr>
        <p:spPr>
          <a:xfrm>
            <a:off x="1333500" y="3663315"/>
            <a:ext cx="7259955" cy="449580"/>
          </a:xfrm>
          <a:prstGeom prst="rect">
            <a:avLst/>
          </a:prstGeom>
          <a:noFill/>
          <a:ln/>
        </p:spPr>
        <p:txBody>
          <a:bodyPr wrap="square" lIns="25400" tIns="25400" rIns="25400" bIns="25400" rtlCol="0" anchor="t">
            <a:normAutofit/>
          </a:bodyPr>
          <a:lstStyle/>
          <a:p>
            <a:pPr algn="l" indent="0" marL="0">
              <a:lnSpc>
                <a:spcPct val="158824"/>
              </a:lnSpc>
              <a:buNone/>
            </a:pPr>
            <a:r>
              <a:rPr lang="en-US" sz="1800" dirty="0">
                <a:solidFill>
                  <a:srgbClr val="E6DEC9"/>
                </a:solidFill>
                <a:latin typeface="Courier New" pitchFamily="34" charset="0"/>
                <a:ea typeface="Courier New" pitchFamily="34" charset="-122"/>
                <a:cs typeface="Courier New" pitchFamily="34" charset="-120"/>
              </a:rPr>
              <a:t>TRSF1, LDA TRSAV; </a:t>
            </a:r>
            <a:pPr algn="l" indent="0" marL="0">
              <a:lnSpc>
                <a:spcPct val="158824"/>
              </a:lnSpc>
              <a:buNone/>
            </a:pPr>
            <a:r>
              <a:rPr lang="en-US" sz="1800" dirty="0">
                <a:solidFill>
                  <a:srgbClr val="E8935A"/>
                </a:solidFill>
                <a:latin typeface="Courier New" pitchFamily="34" charset="0"/>
                <a:ea typeface="Courier New" pitchFamily="34" charset="-122"/>
                <a:cs typeface="Courier New" pitchFamily="34" charset="-120"/>
              </a:rPr>
              <a:t>SUB (DKA1; SHA 2</a:t>
            </a:r>
            <a:endParaRPr lang="en-US" sz="1800" dirty="0"/>
          </a:p>
        </p:txBody>
      </p:sp>
      <p:sp>
        <p:nvSpPr>
          <p:cNvPr id="9" name="Text 7"/>
          <p:cNvSpPr/>
          <p:nvPr/>
        </p:nvSpPr>
        <p:spPr>
          <a:xfrm>
            <a:off x="1333500" y="4074795"/>
            <a:ext cx="7259955" cy="449580"/>
          </a:xfrm>
          <a:prstGeom prst="rect">
            <a:avLst/>
          </a:prstGeom>
          <a:noFill/>
          <a:ln/>
        </p:spPr>
        <p:txBody>
          <a:bodyPr wrap="square" lIns="25400" tIns="25400" rIns="25400" bIns="25400" rtlCol="0" anchor="t">
            <a:normAutofit/>
          </a:bodyPr>
          <a:lstStyle/>
          <a:p>
            <a:pPr algn="l" indent="0" marL="0">
              <a:lnSpc>
                <a:spcPct val="158824"/>
              </a:lnSpc>
              <a:buNone/>
            </a:pPr>
            <a:r>
              <a:rPr lang="en-US" sz="1800" dirty="0">
                <a:solidFill>
                  <a:srgbClr val="E6DEC9"/>
                </a:solidFill>
                <a:latin typeface="Courier New" pitchFamily="34" charset="0"/>
                <a:ea typeface="Courier New" pitchFamily="34" charset="-122"/>
                <a:cs typeface="Courier New" pitchFamily="34" charset="-120"/>
              </a:rPr>
              <a:t>COPY DD SA </a:t>
            </a:r>
            <a:pPr algn="l" indent="0" marL="0">
              <a:lnSpc>
                <a:spcPct val="158824"/>
              </a:lnSpc>
              <a:buNone/>
            </a:pPr>
            <a:r>
              <a:rPr lang="en-US" sz="1800" dirty="0">
                <a:solidFill>
                  <a:srgbClr val="8F8570"/>
                </a:solidFill>
                <a:latin typeface="Courier New" pitchFamily="34" charset="0"/>
                <a:ea typeface="Courier New" pitchFamily="34" charset="-122"/>
                <a:cs typeface="Courier New" pitchFamily="34" charset="-120"/>
              </a:rPr>
              <a:t>% D = (T-DKA1)*4</a:t>
            </a:r>
            <a:endParaRPr lang="en-US" sz="1800" dirty="0"/>
          </a:p>
        </p:txBody>
      </p:sp>
      <p:sp>
        <p:nvSpPr>
          <p:cNvPr id="10" name="Text 8"/>
          <p:cNvSpPr/>
          <p:nvPr/>
        </p:nvSpPr>
        <p:spPr>
          <a:xfrm>
            <a:off x="1333500" y="4486275"/>
            <a:ext cx="7259955" cy="449580"/>
          </a:xfrm>
          <a:prstGeom prst="rect">
            <a:avLst/>
          </a:prstGeom>
          <a:noFill/>
          <a:ln/>
        </p:spPr>
        <p:txBody>
          <a:bodyPr wrap="square" lIns="25400" tIns="25400" rIns="25400" bIns="25400" rtlCol="0" anchor="t">
            <a:normAutofit/>
          </a:bodyPr>
          <a:lstStyle/>
          <a:p>
            <a:pPr algn="l" indent="0" marL="0">
              <a:lnSpc>
                <a:spcPct val="158824"/>
              </a:lnSpc>
              <a:buNone/>
            </a:pPr>
            <a:r>
              <a:rPr lang="en-US" sz="1800" dirty="0">
                <a:solidFill>
                  <a:srgbClr val="E8935A"/>
                </a:solidFill>
                <a:latin typeface="Courier New" pitchFamily="34" charset="0"/>
                <a:ea typeface="Courier New" pitchFamily="34" charset="-122"/>
                <a:cs typeface="Courier New" pitchFamily="34" charset="-120"/>
              </a:rPr>
              <a:t>SUB (DRMSZ*4; JAN TRSF2</a:t>
            </a:r>
            <a:pPr algn="l" indent="0" marL="0">
              <a:lnSpc>
                <a:spcPct val="158824"/>
              </a:lnSpc>
              <a:buNone/>
            </a:pPr>
            <a:r>
              <a:rPr lang="en-US" sz="1800" dirty="0">
                <a:solidFill>
                  <a:srgbClr val="8F8570"/>
                </a:solidFill>
                <a:latin typeface="Courier New" pitchFamily="34" charset="0"/>
                <a:ea typeface="Courier New" pitchFamily="34" charset="-122"/>
                <a:cs typeface="Courier New" pitchFamily="34" charset="-120"/>
              </a:rPr>
              <a:t>% FITS?</a:t>
            </a:r>
            <a:endParaRPr lang="en-US" sz="1800" dirty="0"/>
          </a:p>
        </p:txBody>
      </p:sp>
      <p:sp>
        <p:nvSpPr>
          <p:cNvPr id="11" name="Text 9"/>
          <p:cNvSpPr/>
          <p:nvPr/>
        </p:nvSpPr>
        <p:spPr>
          <a:xfrm>
            <a:off x="1333500" y="4897755"/>
            <a:ext cx="7259955" cy="449580"/>
          </a:xfrm>
          <a:prstGeom prst="rect">
            <a:avLst/>
          </a:prstGeom>
          <a:noFill/>
          <a:ln/>
        </p:spPr>
        <p:txBody>
          <a:bodyPr wrap="square" lIns="25400" tIns="25400" rIns="25400" bIns="25400" rtlCol="0" anchor="t">
            <a:normAutofit/>
          </a:bodyPr>
          <a:lstStyle/>
          <a:p>
            <a:pPr algn="l" indent="0" marL="0">
              <a:lnSpc>
                <a:spcPct val="158824"/>
              </a:lnSpc>
              <a:buNone/>
            </a:pPr>
            <a:r>
              <a:rPr lang="en-US" sz="1800" dirty="0">
                <a:solidFill>
                  <a:srgbClr val="E6DEC9"/>
                </a:solidFill>
                <a:latin typeface="Courier New" pitchFamily="34" charset="0"/>
                <a:ea typeface="Courier New" pitchFamily="34" charset="-122"/>
                <a:cs typeface="Courier New" pitchFamily="34" charset="-120"/>
              </a:rPr>
              <a:t>LDA TRSAV; SUB (DRMSZ; ...</a:t>
            </a:r>
            <a:endParaRPr lang="en-US" sz="1800" dirty="0"/>
          </a:p>
        </p:txBody>
      </p:sp>
      <p:sp>
        <p:nvSpPr>
          <p:cNvPr id="12" name="Text 10"/>
          <p:cNvSpPr/>
          <p:nvPr/>
        </p:nvSpPr>
        <p:spPr>
          <a:xfrm>
            <a:off x="1333500" y="5309235"/>
            <a:ext cx="7259955" cy="449580"/>
          </a:xfrm>
          <a:prstGeom prst="rect">
            <a:avLst/>
          </a:prstGeom>
          <a:noFill/>
          <a:ln/>
        </p:spPr>
        <p:txBody>
          <a:bodyPr wrap="square" lIns="25400" tIns="25400" rIns="25400" bIns="25400" rtlCol="0" anchor="t">
            <a:normAutofit/>
          </a:bodyPr>
          <a:lstStyle/>
          <a:p>
            <a:pPr algn="l" indent="0" marL="0">
              <a:lnSpc>
                <a:spcPct val="158824"/>
              </a:lnSpc>
              <a:buNone/>
            </a:pPr>
            <a:r>
              <a:rPr lang="en-US" sz="1800" dirty="0">
                <a:solidFill>
                  <a:srgbClr val="E6DEC9"/>
                </a:solidFill>
                <a:latin typeface="Courier New" pitchFamily="34" charset="0"/>
                <a:ea typeface="Courier New" pitchFamily="34" charset="-122"/>
                <a:cs typeface="Courier New" pitchFamily="34" charset="-120"/>
              </a:rPr>
              <a:t>JPL </a:t>
            </a:r>
            <a:pPr algn="l" indent="0" marL="0">
              <a:lnSpc>
                <a:spcPct val="158824"/>
              </a:lnSpc>
              <a:buNone/>
            </a:pPr>
            <a:r>
              <a:rPr lang="en-US" sz="1800" dirty="0">
                <a:solidFill>
                  <a:srgbClr val="E8935A"/>
                </a:solidFill>
                <a:latin typeface="Courier New" pitchFamily="34" charset="0"/>
                <a:ea typeface="Courier New" pitchFamily="34" charset="-122"/>
                <a:cs typeface="Courier New" pitchFamily="34" charset="-120"/>
              </a:rPr>
              <a:t>TRXX</a:t>
            </a:r>
            <a:pPr algn="l" indent="0" marL="0">
              <a:lnSpc>
                <a:spcPct val="158824"/>
              </a:lnSpc>
              <a:buNone/>
            </a:pPr>
            <a:r>
              <a:rPr lang="en-US" sz="1800" dirty="0">
                <a:solidFill>
                  <a:srgbClr val="8F8570"/>
                </a:solidFill>
                <a:latin typeface="Courier New" pitchFamily="34" charset="0"/>
                <a:ea typeface="Courier New" pitchFamily="34" charset="-122"/>
                <a:cs typeface="Courier New" pitchFamily="34" charset="-120"/>
              </a:rPr>
              <a:t>% NO → DISK @ T-DRMSZ</a:t>
            </a:r>
            <a:endParaRPr lang="en-US" sz="1800" dirty="0"/>
          </a:p>
        </p:txBody>
      </p:sp>
      <p:sp>
        <p:nvSpPr>
          <p:cNvPr id="13" name="Text 11"/>
          <p:cNvSpPr/>
          <p:nvPr/>
        </p:nvSpPr>
        <p:spPr>
          <a:xfrm>
            <a:off x="1333500" y="5720715"/>
            <a:ext cx="7259955" cy="449580"/>
          </a:xfrm>
          <a:prstGeom prst="rect">
            <a:avLst/>
          </a:prstGeom>
          <a:noFill/>
          <a:ln/>
        </p:spPr>
        <p:txBody>
          <a:bodyPr wrap="square" lIns="25400" tIns="25400" rIns="25400" bIns="25400" rtlCol="0" anchor="t">
            <a:normAutofit/>
          </a:bodyPr>
          <a:lstStyle/>
          <a:p>
            <a:pPr algn="l" indent="0" marL="0">
              <a:lnSpc>
                <a:spcPct val="158824"/>
              </a:lnSpc>
              <a:buNone/>
            </a:pPr>
            <a:r>
              <a:rPr lang="en-US" sz="1800" dirty="0">
                <a:solidFill>
                  <a:srgbClr val="E6DEC9"/>
                </a:solidFill>
                <a:latin typeface="Courier New" pitchFamily="34" charset="0"/>
                <a:ea typeface="Courier New" pitchFamily="34" charset="-122"/>
                <a:cs typeface="Courier New" pitchFamily="34" charset="-120"/>
              </a:rPr>
              <a:t>TRSF2, LDT TRSAV+1; SHT ZIN SHR 1</a:t>
            </a:r>
            <a:endParaRPr lang="en-US" sz="1800" dirty="0"/>
          </a:p>
        </p:txBody>
      </p:sp>
      <p:sp>
        <p:nvSpPr>
          <p:cNvPr id="14" name="Text 12"/>
          <p:cNvSpPr/>
          <p:nvPr/>
        </p:nvSpPr>
        <p:spPr>
          <a:xfrm>
            <a:off x="1333500" y="6132195"/>
            <a:ext cx="7259955" cy="449580"/>
          </a:xfrm>
          <a:prstGeom prst="rect">
            <a:avLst/>
          </a:prstGeom>
          <a:noFill/>
          <a:ln/>
        </p:spPr>
        <p:txBody>
          <a:bodyPr wrap="square" lIns="25400" tIns="25400" rIns="25400" bIns="25400" rtlCol="0" anchor="t">
            <a:normAutofit/>
          </a:bodyPr>
          <a:lstStyle/>
          <a:p>
            <a:pPr algn="l" indent="0" marL="0">
              <a:lnSpc>
                <a:spcPct val="158824"/>
              </a:lnSpc>
              <a:buNone/>
            </a:pPr>
            <a:r>
              <a:rPr lang="en-US" sz="1800" dirty="0">
                <a:solidFill>
                  <a:srgbClr val="E8935A"/>
                </a:solidFill>
                <a:latin typeface="Courier New" pitchFamily="34" charset="0"/>
                <a:ea typeface="Courier New" pitchFamily="34" charset="-122"/>
                <a:cs typeface="Courier New" pitchFamily="34" charset="-120"/>
              </a:rPr>
              <a:t>SAX 40</a:t>
            </a:r>
            <a:pPr algn="l" indent="0" marL="0">
              <a:lnSpc>
                <a:spcPct val="158824"/>
              </a:lnSpc>
              <a:buNone/>
            </a:pPr>
            <a:r>
              <a:rPr lang="en-US" sz="1800" dirty="0">
                <a:solidFill>
                  <a:srgbClr val="8F8570"/>
                </a:solidFill>
                <a:latin typeface="Courier New" pitchFamily="34" charset="0"/>
                <a:ea typeface="Courier New" pitchFamily="34" charset="-122"/>
                <a:cs typeface="Courier New" pitchFamily="34" charset="-120"/>
              </a:rPr>
              <a:t>% 32 BLOCKS = ONE 2K PAGE</a:t>
            </a:r>
            <a:endParaRPr lang="en-US" sz="1800" dirty="0"/>
          </a:p>
        </p:txBody>
      </p:sp>
      <p:sp>
        <p:nvSpPr>
          <p:cNvPr id="15" name="Text 13"/>
          <p:cNvSpPr/>
          <p:nvPr/>
        </p:nvSpPr>
        <p:spPr>
          <a:xfrm>
            <a:off x="1333500" y="6543675"/>
            <a:ext cx="7259955" cy="449580"/>
          </a:xfrm>
          <a:prstGeom prst="rect">
            <a:avLst/>
          </a:prstGeom>
          <a:noFill/>
          <a:ln/>
        </p:spPr>
        <p:txBody>
          <a:bodyPr wrap="square" lIns="25400" tIns="25400" rIns="25400" bIns="25400" rtlCol="0" anchor="t">
            <a:normAutofit/>
          </a:bodyPr>
          <a:lstStyle/>
          <a:p>
            <a:pPr algn="l" indent="0" marL="0">
              <a:lnSpc>
                <a:spcPct val="158824"/>
              </a:lnSpc>
              <a:buNone/>
            </a:pPr>
            <a:r>
              <a:rPr lang="en-US" sz="1800" dirty="0">
                <a:solidFill>
                  <a:srgbClr val="E6DEC9"/>
                </a:solidFill>
                <a:latin typeface="Courier New" pitchFamily="34" charset="0"/>
                <a:ea typeface="Courier New" pitchFamily="34" charset="-122"/>
                <a:cs typeface="Courier New" pitchFamily="34" charset="-120"/>
              </a:rPr>
              <a:t>JPL </a:t>
            </a:r>
            <a:pPr algn="l" indent="0" marL="0">
              <a:lnSpc>
                <a:spcPct val="158824"/>
              </a:lnSpc>
              <a:buNone/>
            </a:pPr>
            <a:r>
              <a:rPr lang="en-US" sz="1800" dirty="0">
                <a:solidFill>
                  <a:srgbClr val="E8935A"/>
                </a:solidFill>
                <a:latin typeface="Courier New" pitchFamily="34" charset="0"/>
                <a:ea typeface="Courier New" pitchFamily="34" charset="-122"/>
                <a:cs typeface="Courier New" pitchFamily="34" charset="-120"/>
              </a:rPr>
              <a:t>XDRUM</a:t>
            </a:r>
            <a:endParaRPr lang="en-US" sz="1800" dirty="0"/>
          </a:p>
        </p:txBody>
      </p:sp>
      <p:sp>
        <p:nvSpPr>
          <p:cNvPr id="16" name="Text 14"/>
          <p:cNvSpPr/>
          <p:nvPr/>
        </p:nvSpPr>
        <p:spPr>
          <a:xfrm>
            <a:off x="1333500" y="6955155"/>
            <a:ext cx="7259955" cy="449580"/>
          </a:xfrm>
          <a:prstGeom prst="rect">
            <a:avLst/>
          </a:prstGeom>
          <a:noFill/>
          <a:ln/>
        </p:spPr>
        <p:txBody>
          <a:bodyPr wrap="square" lIns="25400" tIns="25400" rIns="25400" bIns="25400" rtlCol="0" anchor="t">
            <a:normAutofit/>
          </a:bodyPr>
          <a:lstStyle/>
          <a:p>
            <a:pPr algn="l" indent="0" marL="0">
              <a:lnSpc>
                <a:spcPct val="158824"/>
              </a:lnSpc>
              <a:buNone/>
            </a:pPr>
            <a:r>
              <a:rPr lang="en-US" sz="1800" dirty="0">
                <a:solidFill>
                  <a:srgbClr val="E6DEC9"/>
                </a:solidFill>
                <a:latin typeface="Courier New" pitchFamily="34" charset="0"/>
                <a:ea typeface="Courier New" pitchFamily="34" charset="-122"/>
                <a:cs typeface="Courier New" pitchFamily="34" charset="-120"/>
              </a:rPr>
              <a:t>JMP TRSF1 </a:t>
            </a:r>
            <a:pPr algn="l" indent="0" marL="0">
              <a:lnSpc>
                <a:spcPct val="158824"/>
              </a:lnSpc>
              <a:buNone/>
            </a:pPr>
            <a:r>
              <a:rPr lang="en-US" sz="1800" dirty="0">
                <a:solidFill>
                  <a:srgbClr val="8F8570"/>
                </a:solidFill>
                <a:latin typeface="Courier New" pitchFamily="34" charset="0"/>
                <a:ea typeface="Courier New" pitchFamily="34" charset="-122"/>
                <a:cs typeface="Courier New" pitchFamily="34" charset="-120"/>
              </a:rPr>
              <a:t>% ERROR → RESTART ALL</a:t>
            </a:r>
            <a:endParaRPr lang="en-US" sz="1800" dirty="0"/>
          </a:p>
        </p:txBody>
      </p:sp>
      <p:sp>
        <p:nvSpPr>
          <p:cNvPr id="17" name="Text 15"/>
          <p:cNvSpPr/>
          <p:nvPr/>
        </p:nvSpPr>
        <p:spPr>
          <a:xfrm>
            <a:off x="1333500" y="7366635"/>
            <a:ext cx="7259955" cy="449580"/>
          </a:xfrm>
          <a:prstGeom prst="rect">
            <a:avLst/>
          </a:prstGeom>
          <a:noFill/>
          <a:ln/>
        </p:spPr>
        <p:txBody>
          <a:bodyPr wrap="square" lIns="25400" tIns="25400" rIns="25400" bIns="25400" rtlCol="0" anchor="t">
            <a:normAutofit/>
          </a:bodyPr>
          <a:lstStyle/>
          <a:p>
            <a:pPr algn="l" indent="0" marL="0">
              <a:lnSpc>
                <a:spcPct val="158824"/>
              </a:lnSpc>
              <a:buNone/>
            </a:pPr>
            <a:r>
              <a:rPr lang="en-US" sz="1800" dirty="0">
                <a:solidFill>
                  <a:srgbClr val="E6DEC9"/>
                </a:solidFill>
                <a:latin typeface="Courier New" pitchFamily="34" charset="0"/>
                <a:ea typeface="Courier New" pitchFamily="34" charset="-122"/>
                <a:cs typeface="Courier New" pitchFamily="34" charset="-120"/>
              </a:rPr>
              <a:t>JMP *-2 </a:t>
            </a:r>
            <a:pPr algn="l" indent="0" marL="0">
              <a:lnSpc>
                <a:spcPct val="158824"/>
              </a:lnSpc>
              <a:buNone/>
            </a:pPr>
            <a:r>
              <a:rPr lang="en-US" sz="1800" dirty="0">
                <a:solidFill>
                  <a:srgbClr val="8F8570"/>
                </a:solidFill>
                <a:latin typeface="Courier New" pitchFamily="34" charset="0"/>
                <a:ea typeface="Courier New" pitchFamily="34" charset="-122"/>
                <a:cs typeface="Courier New" pitchFamily="34" charset="-120"/>
              </a:rPr>
              <a:t>% BUSY → CALL AGAIN</a:t>
            </a:r>
            <a:endParaRPr lang="en-US" sz="1800" dirty="0"/>
          </a:p>
        </p:txBody>
      </p:sp>
      <p:sp>
        <p:nvSpPr>
          <p:cNvPr id="18" name="Text 16"/>
          <p:cNvSpPr/>
          <p:nvPr/>
        </p:nvSpPr>
        <p:spPr>
          <a:xfrm>
            <a:off x="1333500" y="7778115"/>
            <a:ext cx="7259955" cy="449580"/>
          </a:xfrm>
          <a:prstGeom prst="rect">
            <a:avLst/>
          </a:prstGeom>
          <a:noFill/>
          <a:ln/>
        </p:spPr>
        <p:txBody>
          <a:bodyPr wrap="square" lIns="25400" tIns="25400" rIns="25400" bIns="25400" rtlCol="0" anchor="t">
            <a:normAutofit/>
          </a:bodyPr>
          <a:lstStyle/>
          <a:p>
            <a:pPr algn="l" indent="0" marL="0">
              <a:lnSpc>
                <a:spcPct val="158824"/>
              </a:lnSpc>
              <a:buNone/>
            </a:pPr>
            <a:r>
              <a:rPr lang="en-US" sz="1800" dirty="0">
                <a:solidFill>
                  <a:srgbClr val="E6DEC9"/>
                </a:solidFill>
                <a:latin typeface="Courier New" pitchFamily="34" charset="0"/>
                <a:ea typeface="Courier New" pitchFamily="34" charset="-122"/>
                <a:cs typeface="Courier New" pitchFamily="34" charset="-120"/>
              </a:rPr>
              <a:t>TRSF3, ... JMP I TRSVL </a:t>
            </a:r>
            <a:pPr algn="l" indent="0" marL="0">
              <a:lnSpc>
                <a:spcPct val="158824"/>
              </a:lnSpc>
              <a:buNone/>
            </a:pPr>
            <a:r>
              <a:rPr lang="en-US" sz="1800" dirty="0">
                <a:solidFill>
                  <a:srgbClr val="8F8570"/>
                </a:solidFill>
                <a:latin typeface="Courier New" pitchFamily="34" charset="0"/>
                <a:ea typeface="Courier New" pitchFamily="34" charset="-122"/>
                <a:cs typeface="Courier New" pitchFamily="34" charset="-120"/>
              </a:rPr>
              <a:t>% FINISHED</a:t>
            </a:r>
            <a:endParaRPr lang="en-US" sz="1800" dirty="0"/>
          </a:p>
        </p:txBody>
      </p:sp>
      <p:sp>
        <p:nvSpPr>
          <p:cNvPr id="19" name="Shape 17"/>
          <p:cNvSpPr/>
          <p:nvPr/>
        </p:nvSpPr>
        <p:spPr>
          <a:xfrm>
            <a:off x="9334500" y="2497455"/>
            <a:ext cx="8001000" cy="1318260"/>
          </a:xfrm>
          <a:prstGeom prst="rect">
            <a:avLst/>
          </a:prstGeom>
          <a:solidFill>
            <a:srgbClr val="E9E2CF"/>
          </a:solidFill>
          <a:ln w="15240">
            <a:solidFill>
              <a:srgbClr val="211C14"/>
            </a:solidFill>
            <a:prstDash val="solid"/>
          </a:ln>
        </p:spPr>
      </p:sp>
      <p:sp>
        <p:nvSpPr>
          <p:cNvPr id="20" name="Text 18"/>
          <p:cNvSpPr/>
          <p:nvPr/>
        </p:nvSpPr>
        <p:spPr>
          <a:xfrm>
            <a:off x="9635490" y="2741295"/>
            <a:ext cx="7639050" cy="868680"/>
          </a:xfrm>
          <a:prstGeom prst="rect">
            <a:avLst/>
          </a:prstGeom>
          <a:noFill/>
          <a:ln/>
        </p:spPr>
        <p:txBody>
          <a:bodyPr wrap="square" lIns="25400" tIns="25400" rIns="25400" bIns="25400" rtlCol="0" anchor="t">
            <a:normAutofit/>
          </a:bodyPr>
          <a:lstStyle/>
          <a:p>
            <a:pPr algn="l" indent="0" marL="0">
              <a:lnSpc>
                <a:spcPct val="131250"/>
              </a:lnSpc>
              <a:buNone/>
            </a:pPr>
            <a:r>
              <a:rPr lang="en-US" sz="2100" b="1" dirty="0">
                <a:solidFill>
                  <a:srgbClr val="211C14"/>
                </a:solidFill>
                <a:latin typeface="Courier New" pitchFamily="34" charset="0"/>
                <a:ea typeface="Courier New" pitchFamily="34" charset="-122"/>
                <a:cs typeface="Courier New" pitchFamily="34" charset="-120"/>
              </a:rPr>
              <a:t>D = (T − DKA1) × 4 </a:t>
            </a:r>
            <a:pPr algn="l" indent="0" marL="0">
              <a:lnSpc>
                <a:spcPct val="131250"/>
              </a:lnSpc>
              <a:buNone/>
            </a:pPr>
            <a:r>
              <a:rPr lang="en-US" sz="1950" dirty="0">
                <a:solidFill>
                  <a:srgbClr val="4A4335"/>
                </a:solidFill>
                <a:latin typeface="Arial" pitchFamily="34" charset="0"/>
                <a:ea typeface="Arial" pitchFamily="34" charset="-122"/>
                <a:cs typeface="Arial" pitchFamily="34" charset="-120"/>
              </a:rPr>
              <a:t>disk sectors are 256 words, drum blocks 64 — factor 4</a:t>
            </a:r>
            <a:endParaRPr lang="en-US" sz="2100" dirty="0"/>
          </a:p>
        </p:txBody>
      </p:sp>
      <p:sp>
        <p:nvSpPr>
          <p:cNvPr id="21" name="Shape 19"/>
          <p:cNvSpPr/>
          <p:nvPr/>
        </p:nvSpPr>
        <p:spPr>
          <a:xfrm>
            <a:off x="9334500" y="4044315"/>
            <a:ext cx="8001000" cy="1295400"/>
          </a:xfrm>
          <a:prstGeom prst="rect">
            <a:avLst/>
          </a:prstGeom>
          <a:solidFill>
            <a:srgbClr val="F7E3D4"/>
          </a:solidFill>
          <a:ln w="15240">
            <a:solidFill>
              <a:srgbClr val="C8501E"/>
            </a:solidFill>
            <a:prstDash val="solid"/>
          </a:ln>
        </p:spPr>
      </p:sp>
      <p:sp>
        <p:nvSpPr>
          <p:cNvPr id="22" name="Text 20"/>
          <p:cNvSpPr/>
          <p:nvPr/>
        </p:nvSpPr>
        <p:spPr>
          <a:xfrm>
            <a:off x="9635490" y="4288155"/>
            <a:ext cx="7639050" cy="845820"/>
          </a:xfrm>
          <a:prstGeom prst="rect">
            <a:avLst/>
          </a:prstGeom>
          <a:noFill/>
          <a:ln/>
        </p:spPr>
        <p:txBody>
          <a:bodyPr wrap="square" lIns="25400" tIns="25400" rIns="25400" bIns="25400" rtlCol="0" anchor="t">
            <a:normAutofit/>
          </a:bodyPr>
          <a:lstStyle/>
          <a:p>
            <a:pPr algn="l" indent="0" marL="0">
              <a:lnSpc>
                <a:spcPct val="131250"/>
              </a:lnSpc>
              <a:buNone/>
            </a:pPr>
            <a:r>
              <a:rPr lang="en-US" sz="2100" b="1" dirty="0">
                <a:solidFill>
                  <a:srgbClr val="A03E14"/>
                </a:solidFill>
                <a:latin typeface="Arial" pitchFamily="34" charset="0"/>
                <a:ea typeface="Arial" pitchFamily="34" charset="-122"/>
                <a:cs typeface="Arial" pitchFamily="34" charset="-120"/>
              </a:rPr>
              <a:t>First DRMSZ pages of swap → drum. </a:t>
            </a:r>
            <a:pPr algn="l" indent="0" marL="0">
              <a:lnSpc>
                <a:spcPct val="131250"/>
              </a:lnSpc>
              <a:buNone/>
            </a:pPr>
            <a:r>
              <a:rPr lang="en-US" sz="1950" dirty="0">
                <a:solidFill>
                  <a:srgbClr val="6D4830"/>
                </a:solidFill>
                <a:latin typeface="Arial" pitchFamily="34" charset="0"/>
                <a:ea typeface="Arial" pitchFamily="34" charset="-122"/>
                <a:cs typeface="Arial" pitchFamily="34" charset="-120"/>
              </a:rPr>
              <a:t>Beyond → CDC disk at T−DRMSZ via TRXX / DKTR.</a:t>
            </a:r>
            <a:endParaRPr lang="en-US" sz="2100" dirty="0"/>
          </a:p>
        </p:txBody>
      </p:sp>
      <p:sp>
        <p:nvSpPr>
          <p:cNvPr id="23" name="Shape 21"/>
          <p:cNvSpPr/>
          <p:nvPr/>
        </p:nvSpPr>
        <p:spPr>
          <a:xfrm>
            <a:off x="9334500" y="5568315"/>
            <a:ext cx="8001000" cy="1695450"/>
          </a:xfrm>
          <a:prstGeom prst="rect">
            <a:avLst/>
          </a:prstGeom>
          <a:solidFill>
            <a:srgbClr val="E9E2CF"/>
          </a:solidFill>
          <a:ln w="15240">
            <a:solidFill>
              <a:srgbClr val="211C14"/>
            </a:solidFill>
            <a:prstDash val="solid"/>
          </a:ln>
        </p:spPr>
      </p:sp>
      <p:sp>
        <p:nvSpPr>
          <p:cNvPr id="24" name="Text 22"/>
          <p:cNvSpPr/>
          <p:nvPr/>
        </p:nvSpPr>
        <p:spPr>
          <a:xfrm>
            <a:off x="9635490" y="5812155"/>
            <a:ext cx="7639050" cy="1245870"/>
          </a:xfrm>
          <a:prstGeom prst="rect">
            <a:avLst/>
          </a:prstGeom>
          <a:noFill/>
          <a:ln/>
        </p:spPr>
        <p:txBody>
          <a:bodyPr wrap="square" lIns="25400" tIns="25400" rIns="25400" bIns="25400" rtlCol="0" anchor="t">
            <a:normAutofit/>
          </a:bodyPr>
          <a:lstStyle/>
          <a:p>
            <a:pPr algn="l" indent="0" marL="0">
              <a:lnSpc>
                <a:spcPct val="131250"/>
              </a:lnSpc>
              <a:buNone/>
            </a:pPr>
            <a:r>
              <a:rPr lang="en-US" sz="2100" b="1" dirty="0">
                <a:solidFill>
                  <a:srgbClr val="211C14"/>
                </a:solidFill>
                <a:latin typeface="Arial" pitchFamily="34" charset="0"/>
                <a:ea typeface="Arial" pitchFamily="34" charset="-122"/>
                <a:cs typeface="Arial" pitchFamily="34" charset="-120"/>
              </a:rPr>
              <a:t>Op translation: </a:t>
            </a:r>
            <a:pPr algn="l" indent="0" marL="0">
              <a:lnSpc>
                <a:spcPct val="131250"/>
              </a:lnSpc>
              <a:buNone/>
            </a:pPr>
            <a:r>
              <a:rPr lang="en-US" sz="2100" dirty="0">
                <a:solidFill>
                  <a:srgbClr val="211C14"/>
                </a:solidFill>
                <a:highlight>
                  <a:srgbClr val="E9E2CF"/>
                </a:highlight>
                <a:latin typeface="Arial" pitchFamily="34" charset="0"/>
                <a:ea typeface="Arial" pitchFamily="34" charset="-122"/>
                <a:cs typeface="Arial" pitchFamily="34" charset="-120"/>
              </a:rPr>
              <a:t>swap ops 1/3 (read/write) shift right → drum functions 0/1. </a:t>
            </a:r>
            <a:pPr algn="l" indent="0" marL="0">
              <a:lnSpc>
                <a:spcPct val="131250"/>
              </a:lnSpc>
              <a:buNone/>
            </a:pPr>
            <a:r>
              <a:rPr lang="en-US" sz="1950" dirty="0">
                <a:solidFill>
                  <a:srgbClr val="4A4335"/>
                </a:solidFill>
                <a:latin typeface="Arial" pitchFamily="34" charset="0"/>
                <a:ea typeface="Arial" pitchFamily="34" charset="-122"/>
                <a:cs typeface="Arial" pitchFamily="34" charset="-120"/>
              </a:rPr>
              <a:t>Without the DRUM mark: </a:t>
            </a:r>
            <a:pPr algn="l" indent="0" marL="0">
              <a:lnSpc>
                <a:spcPct val="131250"/>
              </a:lnSpc>
              <a:buNone/>
            </a:pPr>
            <a:r>
              <a:rPr lang="en-US" sz="1950" dirty="0">
                <a:solidFill>
                  <a:srgbClr val="4A4335"/>
                </a:solidFill>
                <a:latin typeface="Courier New" pitchFamily="34" charset="0"/>
                <a:ea typeface="Courier New" pitchFamily="34" charset="-122"/>
                <a:cs typeface="Courier New" pitchFamily="34" charset="-120"/>
              </a:rPr>
              <a:t>TRSFR=TRXX </a:t>
            </a:r>
            <a:pPr algn="l" indent="0" marL="0">
              <a:lnSpc>
                <a:spcPct val="131250"/>
              </a:lnSpc>
              <a:buNone/>
            </a:pPr>
            <a:r>
              <a:rPr lang="en-US" sz="1950" dirty="0">
                <a:solidFill>
                  <a:srgbClr val="4A4335"/>
                </a:solidFill>
                <a:latin typeface="Arial" pitchFamily="34" charset="0"/>
                <a:ea typeface="Arial" pitchFamily="34" charset="-122"/>
                <a:cs typeface="Arial" pitchFamily="34" charset="-120"/>
              </a:rPr>
              <a:t>— disk only.</a:t>
            </a:r>
            <a:endParaRPr lang="en-US" sz="2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2EDE1"/>
        </a:solidFill>
      </p:bgPr>
    </p:bg>
    <p:spTree>
      <p:nvGrpSpPr>
        <p:cNvPr id="1" name=""/>
        <p:cNvGrpSpPr/>
        <p:nvPr/>
      </p:nvGrpSpPr>
      <p:grpSpPr>
        <a:xfrm>
          <a:off x="0" y="0"/>
          <a:ext cx="0" cy="0"/>
          <a:chOff x="0" y="0"/>
          <a:chExt cx="0" cy="0"/>
        </a:xfrm>
      </p:grpSpPr>
      <p:sp>
        <p:nvSpPr>
          <p:cNvPr id="2" name="Text 0"/>
          <p:cNvSpPr/>
          <p:nvPr/>
        </p:nvSpPr>
        <p:spPr>
          <a:xfrm>
            <a:off x="952500" y="857250"/>
            <a:ext cx="18021300" cy="33528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C8501E"/>
                </a:solidFill>
                <a:latin typeface="Courier New" pitchFamily="34" charset="0"/>
                <a:ea typeface="Courier New" pitchFamily="34" charset="-122"/>
                <a:cs typeface="Courier New" pitchFamily="34" charset="-120"/>
              </a:rPr>
              <a:t>SECTION 04 · THE DRUM</a:t>
            </a:r>
            <a:endParaRPr lang="en-US" sz="1800" dirty="0"/>
          </a:p>
        </p:txBody>
      </p:sp>
      <p:sp>
        <p:nvSpPr>
          <p:cNvPr id="3" name="Text 1"/>
          <p:cNvSpPr/>
          <p:nvPr/>
        </p:nvSpPr>
        <p:spPr>
          <a:xfrm>
            <a:off x="952500" y="1306830"/>
            <a:ext cx="18021300" cy="666750"/>
          </a:xfrm>
          <a:prstGeom prst="rect">
            <a:avLst/>
          </a:prstGeom>
          <a:noFill/>
          <a:ln/>
        </p:spPr>
        <p:txBody>
          <a:bodyPr wrap="square" lIns="25400" tIns="25400" rIns="25400" bIns="25400" rtlCol="0" anchor="t">
            <a:normAutofit/>
          </a:bodyPr>
          <a:lstStyle/>
          <a:p>
            <a:pPr algn="l" indent="0" marL="0">
              <a:lnSpc>
                <a:spcPct val="97059"/>
              </a:lnSpc>
              <a:buNone/>
            </a:pPr>
            <a:r>
              <a:rPr lang="en-US" sz="4500" b="1" dirty="0">
                <a:solidFill>
                  <a:srgbClr val="211C14"/>
                </a:solidFill>
                <a:latin typeface="Courier New" pitchFamily="34" charset="0"/>
                <a:ea typeface="Courier New" pitchFamily="34" charset="-122"/>
                <a:cs typeface="Courier New" pitchFamily="34" charset="-120"/>
              </a:rPr>
              <a:t>XDRUM — the Programming Interface</a:t>
            </a:r>
            <a:endParaRPr lang="en-US" sz="4500" dirty="0"/>
          </a:p>
        </p:txBody>
      </p:sp>
      <p:sp>
        <p:nvSpPr>
          <p:cNvPr id="4" name="Shape 2"/>
          <p:cNvSpPr/>
          <p:nvPr/>
        </p:nvSpPr>
        <p:spPr>
          <a:xfrm>
            <a:off x="952500" y="2087880"/>
            <a:ext cx="16383000" cy="28575"/>
          </a:xfrm>
          <a:prstGeom prst="rect">
            <a:avLst/>
          </a:prstGeom>
          <a:solidFill>
            <a:srgbClr val="211C14"/>
          </a:solidFill>
          <a:ln/>
        </p:spPr>
      </p:sp>
      <p:sp>
        <p:nvSpPr>
          <p:cNvPr id="5" name="Shape 3"/>
          <p:cNvSpPr/>
          <p:nvPr/>
        </p:nvSpPr>
        <p:spPr>
          <a:xfrm>
            <a:off x="952500" y="2497455"/>
            <a:ext cx="6667500" cy="2628900"/>
          </a:xfrm>
          <a:prstGeom prst="rect">
            <a:avLst/>
          </a:prstGeom>
          <a:solidFill>
            <a:srgbClr val="2A2620"/>
          </a:solidFill>
          <a:ln/>
        </p:spPr>
      </p:sp>
      <p:sp>
        <p:nvSpPr>
          <p:cNvPr id="6" name="Text 4"/>
          <p:cNvSpPr/>
          <p:nvPr/>
        </p:nvSpPr>
        <p:spPr>
          <a:xfrm>
            <a:off x="1295400" y="2783205"/>
            <a:ext cx="6161151" cy="449580"/>
          </a:xfrm>
          <a:prstGeom prst="rect">
            <a:avLst/>
          </a:prstGeom>
          <a:noFill/>
          <a:ln/>
        </p:spPr>
        <p:txBody>
          <a:bodyPr wrap="square" lIns="25400" tIns="25400" rIns="25400" bIns="25400" rtlCol="0" anchor="t">
            <a:normAutofit/>
          </a:bodyPr>
          <a:lstStyle/>
          <a:p>
            <a:pPr algn="l" indent="0" marL="0">
              <a:lnSpc>
                <a:spcPct val="158824"/>
              </a:lnSpc>
              <a:buNone/>
            </a:pPr>
            <a:r>
              <a:rPr lang="en-US" sz="1800" dirty="0">
                <a:solidFill>
                  <a:srgbClr val="E8935A"/>
                </a:solidFill>
                <a:latin typeface="Courier New" pitchFamily="34" charset="0"/>
                <a:ea typeface="Courier New" pitchFamily="34" charset="-122"/>
                <a:cs typeface="Courier New" pitchFamily="34" charset="-120"/>
              </a:rPr>
              <a:t>% CALLING SEQUENCE</a:t>
            </a:r>
            <a:endParaRPr lang="en-US" sz="1800" dirty="0"/>
          </a:p>
        </p:txBody>
      </p:sp>
      <p:sp>
        <p:nvSpPr>
          <p:cNvPr id="7" name="Text 5"/>
          <p:cNvSpPr/>
          <p:nvPr/>
        </p:nvSpPr>
        <p:spPr>
          <a:xfrm>
            <a:off x="1295400" y="3194685"/>
            <a:ext cx="6161151" cy="449580"/>
          </a:xfrm>
          <a:prstGeom prst="rect">
            <a:avLst/>
          </a:prstGeom>
          <a:noFill/>
          <a:ln/>
        </p:spPr>
        <p:txBody>
          <a:bodyPr wrap="square" lIns="25400" tIns="25400" rIns="25400" bIns="25400" rtlCol="0" anchor="t">
            <a:normAutofit/>
          </a:bodyPr>
          <a:lstStyle/>
          <a:p>
            <a:pPr algn="l" indent="0" marL="0">
              <a:lnSpc>
                <a:spcPct val="158824"/>
              </a:lnSpc>
              <a:buNone/>
            </a:pPr>
            <a:r>
              <a:rPr lang="en-US" sz="1800" dirty="0">
                <a:solidFill>
                  <a:srgbClr val="E6DEC9"/>
                </a:solidFill>
                <a:latin typeface="Courier New" pitchFamily="34" charset="0"/>
                <a:ea typeface="Courier New" pitchFamily="34" charset="-122"/>
                <a:cs typeface="Courier New" pitchFamily="34" charset="-120"/>
              </a:rPr>
              <a:t>JPL I (XDRUM</a:t>
            </a:r>
            <a:endParaRPr lang="en-US" sz="1800" dirty="0"/>
          </a:p>
        </p:txBody>
      </p:sp>
      <p:sp>
        <p:nvSpPr>
          <p:cNvPr id="8" name="Text 6"/>
          <p:cNvSpPr/>
          <p:nvPr/>
        </p:nvSpPr>
        <p:spPr>
          <a:xfrm>
            <a:off x="1295400" y="3606165"/>
            <a:ext cx="6161151" cy="449580"/>
          </a:xfrm>
          <a:prstGeom prst="rect">
            <a:avLst/>
          </a:prstGeom>
          <a:noFill/>
          <a:ln/>
        </p:spPr>
        <p:txBody>
          <a:bodyPr wrap="square" lIns="25400" tIns="25400" rIns="25400" bIns="25400" rtlCol="0" anchor="t">
            <a:normAutofit/>
          </a:bodyPr>
          <a:lstStyle/>
          <a:p>
            <a:pPr algn="l" indent="0" marL="0">
              <a:lnSpc>
                <a:spcPct val="158824"/>
              </a:lnSpc>
              <a:buNone/>
            </a:pPr>
            <a:r>
              <a:rPr lang="en-US" sz="1800" dirty="0">
                <a:solidFill>
                  <a:srgbClr val="E6DEC9"/>
                </a:solidFill>
                <a:latin typeface="Courier New" pitchFamily="34" charset="0"/>
                <a:ea typeface="Courier New" pitchFamily="34" charset="-122"/>
                <a:cs typeface="Courier New" pitchFamily="34" charset="-120"/>
              </a:rPr>
              <a:t>JMP ERROR </a:t>
            </a:r>
            <a:pPr algn="l" indent="0" marL="0">
              <a:lnSpc>
                <a:spcPct val="158824"/>
              </a:lnSpc>
              <a:buNone/>
            </a:pPr>
            <a:r>
              <a:rPr lang="en-US" sz="1800" dirty="0">
                <a:solidFill>
                  <a:srgbClr val="8F8570"/>
                </a:solidFill>
                <a:latin typeface="Courier New" pitchFamily="34" charset="0"/>
                <a:ea typeface="Courier New" pitchFamily="34" charset="-122"/>
                <a:cs typeface="Courier New" pitchFamily="34" charset="-120"/>
              </a:rPr>
              <a:t>% X=STATUS REG</a:t>
            </a:r>
            <a:endParaRPr lang="en-US" sz="1800" dirty="0"/>
          </a:p>
        </p:txBody>
      </p:sp>
      <p:sp>
        <p:nvSpPr>
          <p:cNvPr id="9" name="Text 7"/>
          <p:cNvSpPr/>
          <p:nvPr/>
        </p:nvSpPr>
        <p:spPr>
          <a:xfrm>
            <a:off x="1295400" y="4017645"/>
            <a:ext cx="6161151" cy="449580"/>
          </a:xfrm>
          <a:prstGeom prst="rect">
            <a:avLst/>
          </a:prstGeom>
          <a:noFill/>
          <a:ln/>
        </p:spPr>
        <p:txBody>
          <a:bodyPr wrap="square" lIns="25400" tIns="25400" rIns="25400" bIns="25400" rtlCol="0" anchor="t">
            <a:normAutofit/>
          </a:bodyPr>
          <a:lstStyle/>
          <a:p>
            <a:pPr algn="l" indent="0" marL="0">
              <a:lnSpc>
                <a:spcPct val="158824"/>
              </a:lnSpc>
              <a:buNone/>
            </a:pPr>
            <a:r>
              <a:rPr lang="en-US" sz="1800" dirty="0">
                <a:solidFill>
                  <a:srgbClr val="E6DEC9"/>
                </a:solidFill>
                <a:latin typeface="Courier New" pitchFamily="34" charset="0"/>
                <a:ea typeface="Courier New" pitchFamily="34" charset="-122"/>
                <a:cs typeface="Courier New" pitchFamily="34" charset="-120"/>
              </a:rPr>
              <a:t>JMP BUSY </a:t>
            </a:r>
            <a:pPr algn="l" indent="0" marL="0">
              <a:lnSpc>
                <a:spcPct val="158824"/>
              </a:lnSpc>
              <a:buNone/>
            </a:pPr>
            <a:r>
              <a:rPr lang="en-US" sz="1800" dirty="0">
                <a:solidFill>
                  <a:srgbClr val="8F8570"/>
                </a:solidFill>
                <a:latin typeface="Courier New" pitchFamily="34" charset="0"/>
                <a:ea typeface="Courier New" pitchFamily="34" charset="-122"/>
                <a:cs typeface="Courier New" pitchFamily="34" charset="-120"/>
              </a:rPr>
              <a:t>% RE-CALL, REGS UNCHANGED</a:t>
            </a:r>
            <a:endParaRPr lang="en-US" sz="1800" dirty="0"/>
          </a:p>
        </p:txBody>
      </p:sp>
      <p:sp>
        <p:nvSpPr>
          <p:cNvPr id="10" name="Text 8"/>
          <p:cNvSpPr/>
          <p:nvPr/>
        </p:nvSpPr>
        <p:spPr>
          <a:xfrm>
            <a:off x="1295400" y="4429125"/>
            <a:ext cx="6161151" cy="449580"/>
          </a:xfrm>
          <a:prstGeom prst="rect">
            <a:avLst/>
          </a:prstGeom>
          <a:noFill/>
          <a:ln/>
        </p:spPr>
        <p:txBody>
          <a:bodyPr wrap="square" lIns="25400" tIns="25400" rIns="25400" bIns="25400" rtlCol="0" anchor="t">
            <a:normAutofit/>
          </a:bodyPr>
          <a:lstStyle/>
          <a:p>
            <a:pPr algn="l" indent="0" marL="0">
              <a:lnSpc>
                <a:spcPct val="158824"/>
              </a:lnSpc>
              <a:buNone/>
            </a:pPr>
            <a:r>
              <a:rPr lang="en-US" sz="1800" dirty="0">
                <a:solidFill>
                  <a:srgbClr val="E6DEC9"/>
                </a:solidFill>
                <a:latin typeface="Courier New" pitchFamily="34" charset="0"/>
                <a:ea typeface="Courier New" pitchFamily="34" charset="-122"/>
                <a:cs typeface="Courier New" pitchFamily="34" charset="-120"/>
              </a:rPr>
              <a:t>JMP FINIS </a:t>
            </a:r>
            <a:pPr algn="l" indent="0" marL="0">
              <a:lnSpc>
                <a:spcPct val="158824"/>
              </a:lnSpc>
              <a:buNone/>
            </a:pPr>
            <a:r>
              <a:rPr lang="en-US" sz="1800" dirty="0">
                <a:solidFill>
                  <a:srgbClr val="8F8570"/>
                </a:solidFill>
                <a:latin typeface="Courier New" pitchFamily="34" charset="0"/>
                <a:ea typeface="Courier New" pitchFamily="34" charset="-122"/>
                <a:cs typeface="Courier New" pitchFamily="34" charset="-120"/>
              </a:rPr>
              <a:t>% X=STATUS, A=CORE ADDR</a:t>
            </a:r>
            <a:endParaRPr lang="en-US" sz="1800" dirty="0"/>
          </a:p>
        </p:txBody>
      </p:sp>
      <p:sp>
        <p:nvSpPr>
          <p:cNvPr id="11" name="Shape 9"/>
          <p:cNvSpPr/>
          <p:nvPr/>
        </p:nvSpPr>
        <p:spPr>
          <a:xfrm>
            <a:off x="952500" y="5354955"/>
            <a:ext cx="6667500" cy="1609725"/>
          </a:xfrm>
          <a:prstGeom prst="rect">
            <a:avLst/>
          </a:prstGeom>
          <a:solidFill>
            <a:srgbClr val="E9E2CF"/>
          </a:solidFill>
          <a:ln w="15240">
            <a:solidFill>
              <a:srgbClr val="211C14"/>
            </a:solidFill>
            <a:prstDash val="solid"/>
          </a:ln>
        </p:spPr>
      </p:sp>
      <p:sp>
        <p:nvSpPr>
          <p:cNvPr id="12" name="Text 10"/>
          <p:cNvSpPr/>
          <p:nvPr/>
        </p:nvSpPr>
        <p:spPr>
          <a:xfrm>
            <a:off x="1253490" y="5598795"/>
            <a:ext cx="6265545" cy="1160145"/>
          </a:xfrm>
          <a:prstGeom prst="rect">
            <a:avLst/>
          </a:prstGeom>
          <a:noFill/>
          <a:ln/>
        </p:spPr>
        <p:txBody>
          <a:bodyPr wrap="square" lIns="25400" tIns="25400" rIns="25400" bIns="25400" rtlCol="0" anchor="t">
            <a:normAutofit/>
          </a:bodyPr>
          <a:lstStyle/>
          <a:p>
            <a:pPr algn="l" indent="0" marL="0">
              <a:lnSpc>
                <a:spcPct val="131757"/>
              </a:lnSpc>
              <a:buNone/>
            </a:pPr>
            <a:r>
              <a:rPr lang="en-US" sz="1950" b="1" dirty="0">
                <a:solidFill>
                  <a:srgbClr val="211C14"/>
                </a:solidFill>
                <a:latin typeface="Arial" pitchFamily="34" charset="0"/>
                <a:ea typeface="Arial" pitchFamily="34" charset="-122"/>
                <a:cs typeface="Arial" pitchFamily="34" charset="-120"/>
              </a:rPr>
              <a:t>Busy-exit protocol: </a:t>
            </a:r>
            <a:pPr algn="l" indent="0" marL="0">
              <a:lnSpc>
                <a:spcPct val="131757"/>
              </a:lnSpc>
              <a:buNone/>
            </a:pPr>
            <a:r>
              <a:rPr lang="en-US" sz="1950" dirty="0">
                <a:solidFill>
                  <a:srgbClr val="4A4335"/>
                </a:solidFill>
                <a:highlight>
                  <a:srgbClr val="E9E2CF"/>
                </a:highlight>
                <a:latin typeface="Arial" pitchFamily="34" charset="0"/>
                <a:ea typeface="Arial" pitchFamily="34" charset="-122"/>
                <a:cs typeface="Arial" pitchFamily="34" charset="-120"/>
              </a:rPr>
              <a:t>call again at once, or after the drum interrupt, with X T A D untouched. The B register is never used.</a:t>
            </a:r>
            <a:endParaRPr lang="en-US" sz="1950" dirty="0"/>
          </a:p>
        </p:txBody>
      </p:sp>
      <p:sp>
        <p:nvSpPr>
          <p:cNvPr id="13" name="Shape 11"/>
          <p:cNvSpPr/>
          <p:nvPr/>
        </p:nvSpPr>
        <p:spPr>
          <a:xfrm>
            <a:off x="8191500" y="3213735"/>
            <a:ext cx="9144000" cy="9525"/>
          </a:xfrm>
          <a:prstGeom prst="rect">
            <a:avLst/>
          </a:prstGeom>
          <a:solidFill>
            <a:srgbClr val="CEC4AD"/>
          </a:solidFill>
          <a:ln/>
        </p:spPr>
      </p:sp>
      <p:sp>
        <p:nvSpPr>
          <p:cNvPr id="14" name="Text 12"/>
          <p:cNvSpPr/>
          <p:nvPr/>
        </p:nvSpPr>
        <p:spPr>
          <a:xfrm>
            <a:off x="8191500" y="2676525"/>
            <a:ext cx="685800" cy="403860"/>
          </a:xfrm>
          <a:prstGeom prst="rect">
            <a:avLst/>
          </a:prstGeom>
          <a:noFill/>
          <a:ln/>
        </p:spPr>
        <p:txBody>
          <a:bodyPr wrap="square" lIns="25400" tIns="25400" rIns="25400" bIns="25400" rtlCol="0" anchor="t">
            <a:normAutofit/>
          </a:bodyPr>
          <a:lstStyle/>
          <a:p>
            <a:pPr algn="l" indent="0" marL="0">
              <a:buNone/>
            </a:pPr>
            <a:r>
              <a:rPr lang="en-US" sz="2550" b="1" dirty="0">
                <a:solidFill>
                  <a:srgbClr val="211C14"/>
                </a:solidFill>
                <a:latin typeface="Courier New" pitchFamily="34" charset="0"/>
                <a:ea typeface="Courier New" pitchFamily="34" charset="-122"/>
                <a:cs typeface="Courier New" pitchFamily="34" charset="-120"/>
              </a:rPr>
              <a:t>X</a:t>
            </a:r>
            <a:endParaRPr lang="en-US" sz="2550" dirty="0"/>
          </a:p>
        </p:txBody>
      </p:sp>
      <p:sp>
        <p:nvSpPr>
          <p:cNvPr id="15" name="Text 13"/>
          <p:cNvSpPr/>
          <p:nvPr/>
        </p:nvSpPr>
        <p:spPr>
          <a:xfrm>
            <a:off x="9048750" y="2668905"/>
            <a:ext cx="9115425" cy="388620"/>
          </a:xfrm>
          <a:prstGeom prst="rect">
            <a:avLst/>
          </a:prstGeom>
          <a:noFill/>
          <a:ln/>
        </p:spPr>
        <p:txBody>
          <a:bodyPr wrap="square" lIns="25400" tIns="25400" rIns="25400" bIns="25400" rtlCol="0" anchor="t">
            <a:normAutofit/>
          </a:bodyPr>
          <a:lstStyle/>
          <a:p>
            <a:pPr algn="l" indent="0" marL="0">
              <a:buNone/>
            </a:pPr>
            <a:r>
              <a:rPr lang="en-US" sz="2100" dirty="0">
                <a:solidFill>
                  <a:srgbClr val="211C14"/>
                </a:solidFill>
                <a:latin typeface="Arial" pitchFamily="34" charset="0"/>
                <a:ea typeface="Arial" pitchFamily="34" charset="-122"/>
                <a:cs typeface="Arial" pitchFamily="34" charset="-120"/>
              </a:rPr>
              <a:t>Number of blocks (64-word sectors) to transfer</a:t>
            </a:r>
            <a:endParaRPr lang="en-US" sz="2100" dirty="0"/>
          </a:p>
        </p:txBody>
      </p:sp>
      <p:sp>
        <p:nvSpPr>
          <p:cNvPr id="16" name="Shape 14"/>
          <p:cNvSpPr/>
          <p:nvPr/>
        </p:nvSpPr>
        <p:spPr>
          <a:xfrm>
            <a:off x="8191500" y="4265295"/>
            <a:ext cx="9144000" cy="9525"/>
          </a:xfrm>
          <a:prstGeom prst="rect">
            <a:avLst/>
          </a:prstGeom>
          <a:solidFill>
            <a:srgbClr val="CEC4AD"/>
          </a:solidFill>
          <a:ln/>
        </p:spPr>
      </p:sp>
      <p:sp>
        <p:nvSpPr>
          <p:cNvPr id="17" name="Text 15"/>
          <p:cNvSpPr/>
          <p:nvPr/>
        </p:nvSpPr>
        <p:spPr>
          <a:xfrm>
            <a:off x="8191500" y="3400425"/>
            <a:ext cx="685800" cy="403860"/>
          </a:xfrm>
          <a:prstGeom prst="rect">
            <a:avLst/>
          </a:prstGeom>
          <a:noFill/>
          <a:ln/>
        </p:spPr>
        <p:txBody>
          <a:bodyPr wrap="square" lIns="25400" tIns="25400" rIns="25400" bIns="25400" rtlCol="0" anchor="t">
            <a:normAutofit/>
          </a:bodyPr>
          <a:lstStyle/>
          <a:p>
            <a:pPr algn="l" indent="0" marL="0">
              <a:buNone/>
            </a:pPr>
            <a:r>
              <a:rPr lang="en-US" sz="2550" b="1" dirty="0">
                <a:solidFill>
                  <a:srgbClr val="211C14"/>
                </a:solidFill>
                <a:latin typeface="Courier New" pitchFamily="34" charset="0"/>
                <a:ea typeface="Courier New" pitchFamily="34" charset="-122"/>
                <a:cs typeface="Courier New" pitchFamily="34" charset="-120"/>
              </a:rPr>
              <a:t>T</a:t>
            </a:r>
            <a:endParaRPr lang="en-US" sz="2550" dirty="0"/>
          </a:p>
        </p:txBody>
      </p:sp>
      <p:sp>
        <p:nvSpPr>
          <p:cNvPr id="18" name="Text 16"/>
          <p:cNvSpPr/>
          <p:nvPr/>
        </p:nvSpPr>
        <p:spPr>
          <a:xfrm>
            <a:off x="9048750" y="3392805"/>
            <a:ext cx="8535353" cy="739140"/>
          </a:xfrm>
          <a:prstGeom prst="rect">
            <a:avLst/>
          </a:prstGeom>
          <a:noFill/>
          <a:ln/>
        </p:spPr>
        <p:txBody>
          <a:bodyPr wrap="square" lIns="25400" tIns="25400" rIns="25400" bIns="25400" rtlCol="0" anchor="t">
            <a:normAutofit/>
          </a:bodyPr>
          <a:lstStyle/>
          <a:p>
            <a:pPr algn="l" indent="0" marL="0">
              <a:buNone/>
            </a:pPr>
            <a:r>
              <a:rPr lang="en-US" sz="2100" dirty="0">
                <a:solidFill>
                  <a:srgbClr val="211C14"/>
                </a:solidFill>
                <a:latin typeface="Arial" pitchFamily="34" charset="0"/>
                <a:ea typeface="Arial" pitchFamily="34" charset="-122"/>
                <a:cs typeface="Arial" pitchFamily="34" charset="-120"/>
              </a:rPr>
              <a:t>Function — </a:t>
            </a:r>
            <a:pPr algn="l" indent="0" marL="0">
              <a:buNone/>
            </a:pPr>
            <a:r>
              <a:rPr lang="en-US" sz="2100" dirty="0">
                <a:solidFill>
                  <a:srgbClr val="211C14"/>
                </a:solidFill>
                <a:latin typeface="Courier New" pitchFamily="34" charset="0"/>
                <a:ea typeface="Courier New" pitchFamily="34" charset="-122"/>
                <a:cs typeface="Courier New" pitchFamily="34" charset="-120"/>
              </a:rPr>
              <a:t>0 </a:t>
            </a:r>
            <a:pPr algn="l" indent="0" marL="0">
              <a:buNone/>
            </a:pPr>
            <a:r>
              <a:rPr lang="en-US" sz="2100" dirty="0">
                <a:solidFill>
                  <a:srgbClr val="211C14"/>
                </a:solidFill>
                <a:latin typeface="Arial" pitchFamily="34" charset="0"/>
                <a:ea typeface="Arial" pitchFamily="34" charset="-122"/>
                <a:cs typeface="Arial" pitchFamily="34" charset="-120"/>
              </a:rPr>
              <a:t>read · </a:t>
            </a:r>
            <a:pPr algn="l" indent="0" marL="0">
              <a:buNone/>
            </a:pPr>
            <a:r>
              <a:rPr lang="en-US" sz="2100" dirty="0">
                <a:solidFill>
                  <a:srgbClr val="211C14"/>
                </a:solidFill>
                <a:latin typeface="Courier New" pitchFamily="34" charset="0"/>
                <a:ea typeface="Courier New" pitchFamily="34" charset="-122"/>
                <a:cs typeface="Courier New" pitchFamily="34" charset="-120"/>
              </a:rPr>
              <a:t>1 </a:t>
            </a:r>
            <a:pPr algn="l" indent="0" marL="0">
              <a:buNone/>
            </a:pPr>
            <a:r>
              <a:rPr lang="en-US" sz="2100" dirty="0">
                <a:solidFill>
                  <a:srgbClr val="211C14"/>
                </a:solidFill>
                <a:latin typeface="Arial" pitchFamily="34" charset="0"/>
                <a:ea typeface="Arial" pitchFamily="34" charset="-122"/>
                <a:cs typeface="Arial" pitchFamily="34" charset="-120"/>
              </a:rPr>
              <a:t>write · </a:t>
            </a:r>
            <a:pPr algn="l" indent="0" marL="0">
              <a:buNone/>
            </a:pPr>
            <a:r>
              <a:rPr lang="en-US" sz="2100" dirty="0">
                <a:solidFill>
                  <a:srgbClr val="211C14"/>
                </a:solidFill>
                <a:latin typeface="Courier New" pitchFamily="34" charset="0"/>
                <a:ea typeface="Courier New" pitchFamily="34" charset="-122"/>
                <a:cs typeface="Courier New" pitchFamily="34" charset="-120"/>
              </a:rPr>
              <a:t>2 </a:t>
            </a:r>
            <a:pPr algn="l" indent="0" marL="0">
              <a:buNone/>
            </a:pPr>
            <a:r>
              <a:rPr lang="en-US" sz="2100" dirty="0">
                <a:solidFill>
                  <a:srgbClr val="211C14"/>
                </a:solidFill>
                <a:latin typeface="Arial" pitchFamily="34" charset="0"/>
                <a:ea typeface="Arial" pitchFamily="34" charset="-122"/>
                <a:cs typeface="Arial" pitchFamily="34" charset="-120"/>
              </a:rPr>
              <a:t>read test · </a:t>
            </a:r>
            <a:pPr algn="l" indent="0" marL="0">
              <a:buNone/>
            </a:pPr>
            <a:r>
              <a:rPr lang="en-US" sz="2100" dirty="0">
                <a:solidFill>
                  <a:srgbClr val="211C14"/>
                </a:solidFill>
                <a:latin typeface="Courier New" pitchFamily="34" charset="0"/>
                <a:ea typeface="Courier New" pitchFamily="34" charset="-122"/>
                <a:cs typeface="Courier New" pitchFamily="34" charset="-120"/>
              </a:rPr>
              <a:t>3 </a:t>
            </a:r>
            <a:pPr algn="l" indent="0" marL="0">
              <a:buNone/>
            </a:pPr>
            <a:r>
              <a:rPr lang="en-US" sz="2100" dirty="0">
                <a:solidFill>
                  <a:srgbClr val="211C14"/>
                </a:solidFill>
                <a:latin typeface="Arial" pitchFamily="34" charset="0"/>
                <a:ea typeface="Arial" pitchFamily="34" charset="-122"/>
                <a:cs typeface="Arial" pitchFamily="34" charset="-120"/>
              </a:rPr>
              <a:t>compare · </a:t>
            </a:r>
            <a:pPr algn="l" indent="0" marL="0">
              <a:buNone/>
            </a:pPr>
            <a:r>
              <a:rPr lang="en-US" sz="2100" dirty="0">
                <a:solidFill>
                  <a:srgbClr val="211C14"/>
                </a:solidFill>
                <a:latin typeface="Courier New" pitchFamily="34" charset="0"/>
                <a:ea typeface="Courier New" pitchFamily="34" charset="-122"/>
                <a:cs typeface="Courier New" pitchFamily="34" charset="-120"/>
              </a:rPr>
              <a:t>20₈ </a:t>
            </a:r>
            <a:pPr algn="l" indent="0" marL="0">
              <a:buNone/>
            </a:pPr>
            <a:r>
              <a:rPr lang="en-US" sz="2100" dirty="0">
                <a:solidFill>
                  <a:srgbClr val="211C14"/>
                </a:solidFill>
                <a:latin typeface="Arial" pitchFamily="34" charset="0"/>
                <a:ea typeface="Arial" pitchFamily="34" charset="-122"/>
                <a:cs typeface="Arial" pitchFamily="34" charset="-120"/>
              </a:rPr>
              <a:t>read status only. </a:t>
            </a:r>
            <a:pPr algn="l" indent="0" marL="0">
              <a:buNone/>
            </a:pPr>
            <a:r>
              <a:rPr lang="en-US" sz="2100" b="1" dirty="0">
                <a:solidFill>
                  <a:srgbClr val="211C14"/>
                </a:solidFill>
                <a:latin typeface="Arial" pitchFamily="34" charset="0"/>
                <a:ea typeface="Arial" pitchFamily="34" charset="-122"/>
                <a:cs typeface="Arial" pitchFamily="34" charset="-120"/>
              </a:rPr>
              <a:t>Bits 8–9 = core-address bits 16–17 </a:t>
            </a:r>
            <a:pPr algn="l" indent="0" marL="0">
              <a:buNone/>
            </a:pPr>
            <a:r>
              <a:rPr lang="en-US" sz="2100" dirty="0">
                <a:solidFill>
                  <a:srgbClr val="211C14"/>
                </a:solidFill>
                <a:latin typeface="Arial" pitchFamily="34" charset="0"/>
                <a:ea typeface="Arial" pitchFamily="34" charset="-122"/>
                <a:cs typeface="Arial" pitchFamily="34" charset="-120"/>
              </a:rPr>
              <a:t>(&gt;64K core!)</a:t>
            </a:r>
            <a:endParaRPr lang="en-US" sz="2100" dirty="0"/>
          </a:p>
        </p:txBody>
      </p:sp>
      <p:sp>
        <p:nvSpPr>
          <p:cNvPr id="19" name="Shape 17"/>
          <p:cNvSpPr/>
          <p:nvPr/>
        </p:nvSpPr>
        <p:spPr>
          <a:xfrm>
            <a:off x="8191500" y="4989195"/>
            <a:ext cx="9144000" cy="9525"/>
          </a:xfrm>
          <a:prstGeom prst="rect">
            <a:avLst/>
          </a:prstGeom>
          <a:solidFill>
            <a:srgbClr val="CEC4AD"/>
          </a:solidFill>
          <a:ln/>
        </p:spPr>
      </p:sp>
      <p:sp>
        <p:nvSpPr>
          <p:cNvPr id="20" name="Text 18"/>
          <p:cNvSpPr/>
          <p:nvPr/>
        </p:nvSpPr>
        <p:spPr>
          <a:xfrm>
            <a:off x="8191500" y="4451985"/>
            <a:ext cx="685800" cy="403860"/>
          </a:xfrm>
          <a:prstGeom prst="rect">
            <a:avLst/>
          </a:prstGeom>
          <a:noFill/>
          <a:ln/>
        </p:spPr>
        <p:txBody>
          <a:bodyPr wrap="square" lIns="25400" tIns="25400" rIns="25400" bIns="25400" rtlCol="0" anchor="t">
            <a:normAutofit/>
          </a:bodyPr>
          <a:lstStyle/>
          <a:p>
            <a:pPr algn="l" indent="0" marL="0">
              <a:buNone/>
            </a:pPr>
            <a:r>
              <a:rPr lang="en-US" sz="2550" b="1" dirty="0">
                <a:solidFill>
                  <a:srgbClr val="211C14"/>
                </a:solidFill>
                <a:latin typeface="Courier New" pitchFamily="34" charset="0"/>
                <a:ea typeface="Courier New" pitchFamily="34" charset="-122"/>
                <a:cs typeface="Courier New" pitchFamily="34" charset="-120"/>
              </a:rPr>
              <a:t>A</a:t>
            </a:r>
            <a:endParaRPr lang="en-US" sz="2550" dirty="0"/>
          </a:p>
        </p:txBody>
      </p:sp>
      <p:sp>
        <p:nvSpPr>
          <p:cNvPr id="21" name="Text 19"/>
          <p:cNvSpPr/>
          <p:nvPr/>
        </p:nvSpPr>
        <p:spPr>
          <a:xfrm>
            <a:off x="9048750" y="4444365"/>
            <a:ext cx="9115425" cy="388620"/>
          </a:xfrm>
          <a:prstGeom prst="rect">
            <a:avLst/>
          </a:prstGeom>
          <a:noFill/>
          <a:ln/>
        </p:spPr>
        <p:txBody>
          <a:bodyPr wrap="square" lIns="25400" tIns="25400" rIns="25400" bIns="25400" rtlCol="0" anchor="t">
            <a:normAutofit/>
          </a:bodyPr>
          <a:lstStyle/>
          <a:p>
            <a:pPr algn="l" indent="0" marL="0">
              <a:buNone/>
            </a:pPr>
            <a:r>
              <a:rPr lang="en-US" sz="2100" dirty="0">
                <a:solidFill>
                  <a:srgbClr val="211C14"/>
                </a:solidFill>
                <a:latin typeface="Arial" pitchFamily="34" charset="0"/>
                <a:ea typeface="Arial" pitchFamily="34" charset="-122"/>
                <a:cs typeface="Arial" pitchFamily="34" charset="-120"/>
              </a:rPr>
              <a:t>Core address (low 16 bits)</a:t>
            </a:r>
            <a:endParaRPr lang="en-US" sz="2100" dirty="0"/>
          </a:p>
        </p:txBody>
      </p:sp>
      <p:sp>
        <p:nvSpPr>
          <p:cNvPr id="22" name="Shape 20"/>
          <p:cNvSpPr/>
          <p:nvPr/>
        </p:nvSpPr>
        <p:spPr>
          <a:xfrm>
            <a:off x="8191500" y="5713095"/>
            <a:ext cx="9144000" cy="9525"/>
          </a:xfrm>
          <a:prstGeom prst="rect">
            <a:avLst/>
          </a:prstGeom>
          <a:solidFill>
            <a:srgbClr val="CEC4AD"/>
          </a:solidFill>
          <a:ln/>
        </p:spPr>
      </p:sp>
      <p:sp>
        <p:nvSpPr>
          <p:cNvPr id="23" name="Text 21"/>
          <p:cNvSpPr/>
          <p:nvPr/>
        </p:nvSpPr>
        <p:spPr>
          <a:xfrm>
            <a:off x="8191500" y="5175885"/>
            <a:ext cx="685800" cy="403860"/>
          </a:xfrm>
          <a:prstGeom prst="rect">
            <a:avLst/>
          </a:prstGeom>
          <a:noFill/>
          <a:ln/>
        </p:spPr>
        <p:txBody>
          <a:bodyPr wrap="square" lIns="25400" tIns="25400" rIns="25400" bIns="25400" rtlCol="0" anchor="t">
            <a:normAutofit/>
          </a:bodyPr>
          <a:lstStyle/>
          <a:p>
            <a:pPr algn="l" indent="0" marL="0">
              <a:buNone/>
            </a:pPr>
            <a:r>
              <a:rPr lang="en-US" sz="2550" b="1" dirty="0">
                <a:solidFill>
                  <a:srgbClr val="211C14"/>
                </a:solidFill>
                <a:latin typeface="Courier New" pitchFamily="34" charset="0"/>
                <a:ea typeface="Courier New" pitchFamily="34" charset="-122"/>
                <a:cs typeface="Courier New" pitchFamily="34" charset="-120"/>
              </a:rPr>
              <a:t>D</a:t>
            </a:r>
            <a:endParaRPr lang="en-US" sz="2550" dirty="0"/>
          </a:p>
        </p:txBody>
      </p:sp>
      <p:sp>
        <p:nvSpPr>
          <p:cNvPr id="24" name="Text 22"/>
          <p:cNvSpPr/>
          <p:nvPr/>
        </p:nvSpPr>
        <p:spPr>
          <a:xfrm>
            <a:off x="9048750" y="5168265"/>
            <a:ext cx="9115425" cy="388620"/>
          </a:xfrm>
          <a:prstGeom prst="rect">
            <a:avLst/>
          </a:prstGeom>
          <a:noFill/>
          <a:ln/>
        </p:spPr>
        <p:txBody>
          <a:bodyPr wrap="square" lIns="25400" tIns="25400" rIns="25400" bIns="25400" rtlCol="0" anchor="t">
            <a:normAutofit/>
          </a:bodyPr>
          <a:lstStyle/>
          <a:p>
            <a:pPr algn="l" indent="0" marL="0">
              <a:buNone/>
            </a:pPr>
            <a:r>
              <a:rPr lang="en-US" sz="2100" dirty="0">
                <a:solidFill>
                  <a:srgbClr val="211C14"/>
                </a:solidFill>
                <a:latin typeface="Arial" pitchFamily="34" charset="0"/>
                <a:ea typeface="Arial" pitchFamily="34" charset="-122"/>
                <a:cs typeface="Arial" pitchFamily="34" charset="-120"/>
              </a:rPr>
              <a:t>Block (drum) address — linear sector number</a:t>
            </a:r>
            <a:endParaRPr lang="en-US" sz="2100" dirty="0"/>
          </a:p>
        </p:txBody>
      </p:sp>
      <p:sp>
        <p:nvSpPr>
          <p:cNvPr id="25" name="Text 23"/>
          <p:cNvSpPr/>
          <p:nvPr/>
        </p:nvSpPr>
        <p:spPr>
          <a:xfrm>
            <a:off x="8191500" y="5930265"/>
            <a:ext cx="685800" cy="358140"/>
          </a:xfrm>
          <a:prstGeom prst="rect">
            <a:avLst/>
          </a:prstGeom>
          <a:noFill/>
          <a:ln/>
        </p:spPr>
        <p:txBody>
          <a:bodyPr wrap="square" lIns="25400" tIns="25400" rIns="25400" bIns="25400" rtlCol="0" anchor="t">
            <a:normAutofit/>
          </a:bodyPr>
          <a:lstStyle/>
          <a:p>
            <a:pPr algn="l" indent="0" marL="0">
              <a:buNone/>
            </a:pPr>
            <a:r>
              <a:rPr lang="en-US" sz="2250" b="1" dirty="0">
                <a:solidFill>
                  <a:srgbClr val="A03E14"/>
                </a:solidFill>
                <a:latin typeface="Courier New" pitchFamily="34" charset="0"/>
                <a:ea typeface="Courier New" pitchFamily="34" charset="-122"/>
                <a:cs typeface="Courier New" pitchFamily="34" charset="-120"/>
              </a:rPr>
              <a:t>→X</a:t>
            </a:r>
            <a:endParaRPr lang="en-US" sz="2250" dirty="0"/>
          </a:p>
        </p:txBody>
      </p:sp>
      <p:sp>
        <p:nvSpPr>
          <p:cNvPr id="26" name="Text 24"/>
          <p:cNvSpPr/>
          <p:nvPr/>
        </p:nvSpPr>
        <p:spPr>
          <a:xfrm>
            <a:off x="9048750" y="5892165"/>
            <a:ext cx="9115425" cy="388620"/>
          </a:xfrm>
          <a:prstGeom prst="rect">
            <a:avLst/>
          </a:prstGeom>
          <a:noFill/>
          <a:ln/>
        </p:spPr>
        <p:txBody>
          <a:bodyPr wrap="square" lIns="25400" tIns="25400" rIns="25400" bIns="25400" rtlCol="0" anchor="t">
            <a:normAutofit/>
          </a:bodyPr>
          <a:lstStyle/>
          <a:p>
            <a:pPr algn="l" indent="0" marL="0">
              <a:buNone/>
            </a:pPr>
            <a:r>
              <a:rPr lang="en-US" sz="2100" dirty="0">
                <a:solidFill>
                  <a:srgbClr val="211C14"/>
                </a:solidFill>
                <a:latin typeface="Arial" pitchFamily="34" charset="0"/>
                <a:ea typeface="Arial" pitchFamily="34" charset="-122"/>
                <a:cs typeface="Arial" pitchFamily="34" charset="-120"/>
              </a:rPr>
              <a:t>On error </a:t>
            </a:r>
            <a:pPr algn="l" indent="0" marL="0">
              <a:buNone/>
            </a:pPr>
            <a:r>
              <a:rPr lang="en-US" sz="2100" i="1" dirty="0">
                <a:solidFill>
                  <a:srgbClr val="211C14"/>
                </a:solidFill>
                <a:latin typeface="Arial" pitchFamily="34" charset="0"/>
                <a:ea typeface="Arial" pitchFamily="34" charset="-122"/>
                <a:cs typeface="Arial" pitchFamily="34" charset="-120"/>
              </a:rPr>
              <a:t>and </a:t>
            </a:r>
            <a:pPr algn="l" indent="0" marL="0">
              <a:buNone/>
            </a:pPr>
            <a:r>
              <a:rPr lang="en-US" sz="2100" dirty="0">
                <a:solidFill>
                  <a:srgbClr val="211C14"/>
                </a:solidFill>
                <a:latin typeface="Arial" pitchFamily="34" charset="0"/>
                <a:ea typeface="Arial" pitchFamily="34" charset="-122"/>
                <a:cs typeface="Arial" pitchFamily="34" charset="-120"/>
              </a:rPr>
              <a:t>on finish: the drum status register comes back in X</a:t>
            </a:r>
            <a:endParaRPr lang="en-US" sz="2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2EDE1"/>
        </a:solidFill>
      </p:bgPr>
    </p:bg>
    <p:spTree>
      <p:nvGrpSpPr>
        <p:cNvPr id="1" name=""/>
        <p:cNvGrpSpPr/>
        <p:nvPr/>
      </p:nvGrpSpPr>
      <p:grpSpPr>
        <a:xfrm>
          <a:off x="0" y="0"/>
          <a:ext cx="0" cy="0"/>
          <a:chOff x="0" y="0"/>
          <a:chExt cx="0" cy="0"/>
        </a:xfrm>
      </p:grpSpPr>
      <p:sp>
        <p:nvSpPr>
          <p:cNvPr id="2" name="Text 0"/>
          <p:cNvSpPr/>
          <p:nvPr/>
        </p:nvSpPr>
        <p:spPr>
          <a:xfrm>
            <a:off x="952500" y="762000"/>
            <a:ext cx="18021300" cy="33528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C8501E"/>
                </a:solidFill>
                <a:latin typeface="Courier New" pitchFamily="34" charset="0"/>
                <a:ea typeface="Courier New" pitchFamily="34" charset="-122"/>
                <a:cs typeface="Courier New" pitchFamily="34" charset="-120"/>
              </a:rPr>
              <a:t>SECTION 04 · THE DRUM</a:t>
            </a:r>
            <a:endParaRPr lang="en-US" sz="1800" dirty="0"/>
          </a:p>
        </p:txBody>
      </p:sp>
      <p:sp>
        <p:nvSpPr>
          <p:cNvPr id="3" name="Text 1"/>
          <p:cNvSpPr/>
          <p:nvPr/>
        </p:nvSpPr>
        <p:spPr>
          <a:xfrm>
            <a:off x="952500" y="1211580"/>
            <a:ext cx="18021300" cy="666750"/>
          </a:xfrm>
          <a:prstGeom prst="rect">
            <a:avLst/>
          </a:prstGeom>
          <a:noFill/>
          <a:ln/>
        </p:spPr>
        <p:txBody>
          <a:bodyPr wrap="square" lIns="25400" tIns="25400" rIns="25400" bIns="25400" rtlCol="0" anchor="t">
            <a:normAutofit/>
          </a:bodyPr>
          <a:lstStyle/>
          <a:p>
            <a:pPr algn="l" indent="0" marL="0">
              <a:lnSpc>
                <a:spcPct val="97059"/>
              </a:lnSpc>
              <a:buNone/>
            </a:pPr>
            <a:r>
              <a:rPr lang="en-US" sz="4500" b="1" dirty="0">
                <a:solidFill>
                  <a:srgbClr val="211C14"/>
                </a:solidFill>
                <a:latin typeface="Courier New" pitchFamily="34" charset="0"/>
                <a:ea typeface="Courier New" pitchFamily="34" charset="-122"/>
                <a:cs typeface="Courier New" pitchFamily="34" charset="-120"/>
              </a:rPr>
              <a:t>XDRUM — Registers &amp; Bits </a:t>
            </a:r>
            <a:pPr algn="l" indent="0" marL="0">
              <a:lnSpc>
                <a:spcPct val="97059"/>
              </a:lnSpc>
              <a:buNone/>
            </a:pPr>
            <a:r>
              <a:rPr lang="en-US" sz="2700" dirty="0">
                <a:solidFill>
                  <a:srgbClr val="6B6252"/>
                </a:solidFill>
                <a:latin typeface="Courier New" pitchFamily="34" charset="0"/>
                <a:ea typeface="Courier New" pitchFamily="34" charset="-122"/>
                <a:cs typeface="Courier New" pitchFamily="34" charset="-120"/>
              </a:rPr>
              <a:t>IOX 540₈+n</a:t>
            </a:r>
            <a:endParaRPr lang="en-US" sz="4500" dirty="0"/>
          </a:p>
        </p:txBody>
      </p:sp>
      <p:sp>
        <p:nvSpPr>
          <p:cNvPr id="4" name="Shape 2"/>
          <p:cNvSpPr/>
          <p:nvPr/>
        </p:nvSpPr>
        <p:spPr>
          <a:xfrm>
            <a:off x="952500" y="1992630"/>
            <a:ext cx="16383000" cy="28575"/>
          </a:xfrm>
          <a:prstGeom prst="rect">
            <a:avLst/>
          </a:prstGeom>
          <a:solidFill>
            <a:srgbClr val="211C14"/>
          </a:solidFill>
          <a:ln/>
        </p:spPr>
      </p:sp>
      <p:sp>
        <p:nvSpPr>
          <p:cNvPr id="5" name="Shape 3"/>
          <p:cNvSpPr/>
          <p:nvPr/>
        </p:nvSpPr>
        <p:spPr>
          <a:xfrm>
            <a:off x="952500" y="2912745"/>
            <a:ext cx="5715000" cy="9525"/>
          </a:xfrm>
          <a:prstGeom prst="rect">
            <a:avLst/>
          </a:prstGeom>
          <a:solidFill>
            <a:srgbClr val="CEC4AD"/>
          </a:solidFill>
          <a:ln/>
        </p:spPr>
      </p:sp>
      <p:sp>
        <p:nvSpPr>
          <p:cNvPr id="6" name="Text 4"/>
          <p:cNvSpPr/>
          <p:nvPr/>
        </p:nvSpPr>
        <p:spPr>
          <a:xfrm>
            <a:off x="952500" y="2478405"/>
            <a:ext cx="1676400" cy="358140"/>
          </a:xfrm>
          <a:prstGeom prst="rect">
            <a:avLst/>
          </a:prstGeom>
          <a:noFill/>
          <a:ln/>
        </p:spPr>
        <p:txBody>
          <a:bodyPr wrap="square" lIns="25400" tIns="25400" rIns="25400" bIns="25400" rtlCol="0" anchor="t">
            <a:normAutofit/>
          </a:bodyPr>
          <a:lstStyle/>
          <a:p>
            <a:pPr algn="l" indent="0" marL="0">
              <a:buNone/>
            </a:pPr>
            <a:r>
              <a:rPr lang="en-US" sz="1950" b="1" dirty="0">
                <a:solidFill>
                  <a:srgbClr val="211C14"/>
                </a:solidFill>
                <a:latin typeface="Courier New" pitchFamily="34" charset="0"/>
                <a:ea typeface="Courier New" pitchFamily="34" charset="-122"/>
                <a:cs typeface="Courier New" pitchFamily="34" charset="-120"/>
              </a:rPr>
              <a:t>540 RCX</a:t>
            </a:r>
            <a:endParaRPr lang="en-US" sz="1950" dirty="0"/>
          </a:p>
        </p:txBody>
      </p:sp>
      <p:sp>
        <p:nvSpPr>
          <p:cNvPr id="7" name="Text 5"/>
          <p:cNvSpPr/>
          <p:nvPr/>
        </p:nvSpPr>
        <p:spPr>
          <a:xfrm>
            <a:off x="2686050" y="2478405"/>
            <a:ext cx="4379595" cy="358140"/>
          </a:xfrm>
          <a:prstGeom prst="rect">
            <a:avLst/>
          </a:prstGeom>
          <a:noFill/>
          <a:ln/>
        </p:spPr>
        <p:txBody>
          <a:bodyPr wrap="square" lIns="25400" tIns="25400" rIns="25400" bIns="25400" rtlCol="0" anchor="t">
            <a:normAutofit/>
          </a:bodyPr>
          <a:lstStyle/>
          <a:p>
            <a:pPr algn="l" indent="0" marL="0">
              <a:buNone/>
            </a:pPr>
            <a:r>
              <a:rPr lang="en-US" sz="1950" dirty="0">
                <a:solidFill>
                  <a:srgbClr val="211C14"/>
                </a:solidFill>
                <a:latin typeface="Arial" pitchFamily="34" charset="0"/>
                <a:ea typeface="Arial" pitchFamily="34" charset="-122"/>
                <a:cs typeface="Arial" pitchFamily="34" charset="-120"/>
              </a:rPr>
              <a:t>read core address (DMA pointer)</a:t>
            </a:r>
            <a:endParaRPr lang="en-US" sz="1950" dirty="0"/>
          </a:p>
        </p:txBody>
      </p:sp>
      <p:sp>
        <p:nvSpPr>
          <p:cNvPr id="8" name="Shape 6"/>
          <p:cNvSpPr/>
          <p:nvPr/>
        </p:nvSpPr>
        <p:spPr>
          <a:xfrm>
            <a:off x="952500" y="3469005"/>
            <a:ext cx="5715000" cy="9525"/>
          </a:xfrm>
          <a:prstGeom prst="rect">
            <a:avLst/>
          </a:prstGeom>
          <a:solidFill>
            <a:srgbClr val="CEC4AD"/>
          </a:solidFill>
          <a:ln/>
        </p:spPr>
      </p:sp>
      <p:sp>
        <p:nvSpPr>
          <p:cNvPr id="9" name="Text 7"/>
          <p:cNvSpPr/>
          <p:nvPr/>
        </p:nvSpPr>
        <p:spPr>
          <a:xfrm>
            <a:off x="952500" y="3034665"/>
            <a:ext cx="1676400" cy="358140"/>
          </a:xfrm>
          <a:prstGeom prst="rect">
            <a:avLst/>
          </a:prstGeom>
          <a:noFill/>
          <a:ln/>
        </p:spPr>
        <p:txBody>
          <a:bodyPr wrap="square" lIns="25400" tIns="25400" rIns="25400" bIns="25400" rtlCol="0" anchor="t">
            <a:normAutofit/>
          </a:bodyPr>
          <a:lstStyle/>
          <a:p>
            <a:pPr algn="l" indent="0" marL="0">
              <a:buNone/>
            </a:pPr>
            <a:r>
              <a:rPr lang="en-US" sz="1950" b="1" dirty="0">
                <a:solidFill>
                  <a:srgbClr val="211C14"/>
                </a:solidFill>
                <a:latin typeface="Courier New" pitchFamily="34" charset="0"/>
                <a:ea typeface="Courier New" pitchFamily="34" charset="-122"/>
                <a:cs typeface="Courier New" pitchFamily="34" charset="-120"/>
              </a:rPr>
              <a:t>541 LCX</a:t>
            </a:r>
            <a:endParaRPr lang="en-US" sz="1950" dirty="0"/>
          </a:p>
        </p:txBody>
      </p:sp>
      <p:sp>
        <p:nvSpPr>
          <p:cNvPr id="10" name="Text 8"/>
          <p:cNvSpPr/>
          <p:nvPr/>
        </p:nvSpPr>
        <p:spPr>
          <a:xfrm>
            <a:off x="2686050" y="3034665"/>
            <a:ext cx="4379595" cy="358140"/>
          </a:xfrm>
          <a:prstGeom prst="rect">
            <a:avLst/>
          </a:prstGeom>
          <a:noFill/>
          <a:ln/>
        </p:spPr>
        <p:txBody>
          <a:bodyPr wrap="square" lIns="25400" tIns="25400" rIns="25400" bIns="25400" rtlCol="0" anchor="t">
            <a:normAutofit/>
          </a:bodyPr>
          <a:lstStyle/>
          <a:p>
            <a:pPr algn="l" indent="0" marL="0">
              <a:buNone/>
            </a:pPr>
            <a:r>
              <a:rPr lang="en-US" sz="1950" dirty="0">
                <a:solidFill>
                  <a:srgbClr val="211C14"/>
                </a:solidFill>
                <a:latin typeface="Arial" pitchFamily="34" charset="0"/>
                <a:ea typeface="Arial" pitchFamily="34" charset="-122"/>
                <a:cs typeface="Arial" pitchFamily="34" charset="-120"/>
              </a:rPr>
              <a:t>load core address</a:t>
            </a:r>
            <a:endParaRPr lang="en-US" sz="1950" dirty="0"/>
          </a:p>
        </p:txBody>
      </p:sp>
      <p:sp>
        <p:nvSpPr>
          <p:cNvPr id="11" name="Shape 9"/>
          <p:cNvSpPr/>
          <p:nvPr/>
        </p:nvSpPr>
        <p:spPr>
          <a:xfrm>
            <a:off x="952500" y="4025265"/>
            <a:ext cx="5715000" cy="9525"/>
          </a:xfrm>
          <a:prstGeom prst="rect">
            <a:avLst/>
          </a:prstGeom>
          <a:solidFill>
            <a:srgbClr val="CEC4AD"/>
          </a:solidFill>
          <a:ln/>
        </p:spPr>
      </p:sp>
      <p:sp>
        <p:nvSpPr>
          <p:cNvPr id="12" name="Text 10"/>
          <p:cNvSpPr/>
          <p:nvPr/>
        </p:nvSpPr>
        <p:spPr>
          <a:xfrm>
            <a:off x="952500" y="3590925"/>
            <a:ext cx="1676400" cy="358140"/>
          </a:xfrm>
          <a:prstGeom prst="rect">
            <a:avLst/>
          </a:prstGeom>
          <a:noFill/>
          <a:ln/>
        </p:spPr>
        <p:txBody>
          <a:bodyPr wrap="square" lIns="25400" tIns="25400" rIns="25400" bIns="25400" rtlCol="0" anchor="t">
            <a:normAutofit/>
          </a:bodyPr>
          <a:lstStyle/>
          <a:p>
            <a:pPr algn="l" indent="0" marL="0">
              <a:buNone/>
            </a:pPr>
            <a:r>
              <a:rPr lang="en-US" sz="1950" b="1" dirty="0">
                <a:solidFill>
                  <a:srgbClr val="211C14"/>
                </a:solidFill>
                <a:latin typeface="Courier New" pitchFamily="34" charset="0"/>
                <a:ea typeface="Courier New" pitchFamily="34" charset="-122"/>
                <a:cs typeface="Courier New" pitchFamily="34" charset="-120"/>
              </a:rPr>
              <a:t>543 LBX</a:t>
            </a:r>
            <a:endParaRPr lang="en-US" sz="1950" dirty="0"/>
          </a:p>
        </p:txBody>
      </p:sp>
      <p:sp>
        <p:nvSpPr>
          <p:cNvPr id="13" name="Text 11"/>
          <p:cNvSpPr/>
          <p:nvPr/>
        </p:nvSpPr>
        <p:spPr>
          <a:xfrm>
            <a:off x="2686050" y="3590925"/>
            <a:ext cx="4379595" cy="358140"/>
          </a:xfrm>
          <a:prstGeom prst="rect">
            <a:avLst/>
          </a:prstGeom>
          <a:noFill/>
          <a:ln/>
        </p:spPr>
        <p:txBody>
          <a:bodyPr wrap="square" lIns="25400" tIns="25400" rIns="25400" bIns="25400" rtlCol="0" anchor="t">
            <a:normAutofit/>
          </a:bodyPr>
          <a:lstStyle/>
          <a:p>
            <a:pPr algn="l" indent="0" marL="0">
              <a:buNone/>
            </a:pPr>
            <a:r>
              <a:rPr lang="en-US" sz="1950" dirty="0">
                <a:solidFill>
                  <a:srgbClr val="211C14"/>
                </a:solidFill>
                <a:latin typeface="Arial" pitchFamily="34" charset="0"/>
                <a:ea typeface="Arial" pitchFamily="34" charset="-122"/>
                <a:cs typeface="Arial" pitchFamily="34" charset="-120"/>
              </a:rPr>
              <a:t>load block address (track · sector)</a:t>
            </a:r>
            <a:endParaRPr lang="en-US" sz="1950" dirty="0"/>
          </a:p>
        </p:txBody>
      </p:sp>
      <p:sp>
        <p:nvSpPr>
          <p:cNvPr id="14" name="Shape 12"/>
          <p:cNvSpPr/>
          <p:nvPr/>
        </p:nvSpPr>
        <p:spPr>
          <a:xfrm>
            <a:off x="952500" y="4581525"/>
            <a:ext cx="5715000" cy="9525"/>
          </a:xfrm>
          <a:prstGeom prst="rect">
            <a:avLst/>
          </a:prstGeom>
          <a:solidFill>
            <a:srgbClr val="CEC4AD"/>
          </a:solidFill>
          <a:ln/>
        </p:spPr>
      </p:sp>
      <p:sp>
        <p:nvSpPr>
          <p:cNvPr id="15" name="Text 13"/>
          <p:cNvSpPr/>
          <p:nvPr/>
        </p:nvSpPr>
        <p:spPr>
          <a:xfrm>
            <a:off x="952500" y="4147185"/>
            <a:ext cx="1676400" cy="358140"/>
          </a:xfrm>
          <a:prstGeom prst="rect">
            <a:avLst/>
          </a:prstGeom>
          <a:noFill/>
          <a:ln/>
        </p:spPr>
        <p:txBody>
          <a:bodyPr wrap="square" lIns="25400" tIns="25400" rIns="25400" bIns="25400" rtlCol="0" anchor="t">
            <a:normAutofit/>
          </a:bodyPr>
          <a:lstStyle/>
          <a:p>
            <a:pPr algn="l" indent="0" marL="0">
              <a:buNone/>
            </a:pPr>
            <a:r>
              <a:rPr lang="en-US" sz="1950" b="1" dirty="0">
                <a:solidFill>
                  <a:srgbClr val="211C14"/>
                </a:solidFill>
                <a:latin typeface="Courier New" pitchFamily="34" charset="0"/>
                <a:ea typeface="Courier New" pitchFamily="34" charset="-122"/>
                <a:cs typeface="Courier New" pitchFamily="34" charset="-120"/>
              </a:rPr>
              <a:t>544 RSX</a:t>
            </a:r>
            <a:endParaRPr lang="en-US" sz="1950" dirty="0"/>
          </a:p>
        </p:txBody>
      </p:sp>
      <p:sp>
        <p:nvSpPr>
          <p:cNvPr id="16" name="Text 14"/>
          <p:cNvSpPr/>
          <p:nvPr/>
        </p:nvSpPr>
        <p:spPr>
          <a:xfrm>
            <a:off x="2686050" y="4147185"/>
            <a:ext cx="4379595" cy="358140"/>
          </a:xfrm>
          <a:prstGeom prst="rect">
            <a:avLst/>
          </a:prstGeom>
          <a:noFill/>
          <a:ln/>
        </p:spPr>
        <p:txBody>
          <a:bodyPr wrap="square" lIns="25400" tIns="25400" rIns="25400" bIns="25400" rtlCol="0" anchor="t">
            <a:normAutofit/>
          </a:bodyPr>
          <a:lstStyle/>
          <a:p>
            <a:pPr algn="l" indent="0" marL="0">
              <a:buNone/>
            </a:pPr>
            <a:r>
              <a:rPr lang="en-US" sz="1950" dirty="0">
                <a:solidFill>
                  <a:srgbClr val="211C14"/>
                </a:solidFill>
                <a:latin typeface="Arial" pitchFamily="34" charset="0"/>
                <a:ea typeface="Arial" pitchFamily="34" charset="-122"/>
                <a:cs typeface="Arial" pitchFamily="34" charset="-120"/>
              </a:rPr>
              <a:t>read status register</a:t>
            </a:r>
            <a:endParaRPr lang="en-US" sz="1950" dirty="0"/>
          </a:p>
        </p:txBody>
      </p:sp>
      <p:sp>
        <p:nvSpPr>
          <p:cNvPr id="17" name="Shape 15"/>
          <p:cNvSpPr/>
          <p:nvPr/>
        </p:nvSpPr>
        <p:spPr>
          <a:xfrm>
            <a:off x="952500" y="5137785"/>
            <a:ext cx="5715000" cy="9525"/>
          </a:xfrm>
          <a:prstGeom prst="rect">
            <a:avLst/>
          </a:prstGeom>
          <a:solidFill>
            <a:srgbClr val="CEC4AD"/>
          </a:solidFill>
          <a:ln/>
        </p:spPr>
      </p:sp>
      <p:sp>
        <p:nvSpPr>
          <p:cNvPr id="18" name="Text 16"/>
          <p:cNvSpPr/>
          <p:nvPr/>
        </p:nvSpPr>
        <p:spPr>
          <a:xfrm>
            <a:off x="952500" y="4703445"/>
            <a:ext cx="1676400" cy="358140"/>
          </a:xfrm>
          <a:prstGeom prst="rect">
            <a:avLst/>
          </a:prstGeom>
          <a:noFill/>
          <a:ln/>
        </p:spPr>
        <p:txBody>
          <a:bodyPr wrap="square" lIns="25400" tIns="25400" rIns="25400" bIns="25400" rtlCol="0" anchor="t">
            <a:normAutofit/>
          </a:bodyPr>
          <a:lstStyle/>
          <a:p>
            <a:pPr algn="l" indent="0" marL="0">
              <a:buNone/>
            </a:pPr>
            <a:r>
              <a:rPr lang="en-US" sz="1950" b="1" dirty="0">
                <a:solidFill>
                  <a:srgbClr val="211C14"/>
                </a:solidFill>
                <a:latin typeface="Courier New" pitchFamily="34" charset="0"/>
                <a:ea typeface="Courier New" pitchFamily="34" charset="-122"/>
                <a:cs typeface="Courier New" pitchFamily="34" charset="-120"/>
              </a:rPr>
              <a:t>545 LCR</a:t>
            </a:r>
            <a:endParaRPr lang="en-US" sz="1950" dirty="0"/>
          </a:p>
        </p:txBody>
      </p:sp>
      <p:sp>
        <p:nvSpPr>
          <p:cNvPr id="19" name="Text 17"/>
          <p:cNvSpPr/>
          <p:nvPr/>
        </p:nvSpPr>
        <p:spPr>
          <a:xfrm>
            <a:off x="2686050" y="4703445"/>
            <a:ext cx="4379595" cy="358140"/>
          </a:xfrm>
          <a:prstGeom prst="rect">
            <a:avLst/>
          </a:prstGeom>
          <a:noFill/>
          <a:ln/>
        </p:spPr>
        <p:txBody>
          <a:bodyPr wrap="square" lIns="25400" tIns="25400" rIns="25400" bIns="25400" rtlCol="0" anchor="t">
            <a:normAutofit/>
          </a:bodyPr>
          <a:lstStyle/>
          <a:p>
            <a:pPr algn="l" indent="0" marL="0">
              <a:buNone/>
            </a:pPr>
            <a:r>
              <a:rPr lang="en-US" sz="1950" dirty="0">
                <a:solidFill>
                  <a:srgbClr val="211C14"/>
                </a:solidFill>
                <a:latin typeface="Arial" pitchFamily="34" charset="0"/>
                <a:ea typeface="Arial" pitchFamily="34" charset="-122"/>
                <a:cs typeface="Arial" pitchFamily="34" charset="-120"/>
              </a:rPr>
              <a:t>load control register (go!)</a:t>
            </a:r>
            <a:endParaRPr lang="en-US" sz="1950" dirty="0"/>
          </a:p>
        </p:txBody>
      </p:sp>
      <p:sp>
        <p:nvSpPr>
          <p:cNvPr id="20" name="Shape 18"/>
          <p:cNvSpPr/>
          <p:nvPr/>
        </p:nvSpPr>
        <p:spPr>
          <a:xfrm>
            <a:off x="952500" y="5694045"/>
            <a:ext cx="5715000" cy="22860"/>
          </a:xfrm>
          <a:prstGeom prst="rect">
            <a:avLst/>
          </a:prstGeom>
          <a:solidFill>
            <a:srgbClr val="211C14"/>
          </a:solidFill>
          <a:ln/>
        </p:spPr>
      </p:sp>
      <p:sp>
        <p:nvSpPr>
          <p:cNvPr id="21" name="Text 19"/>
          <p:cNvSpPr/>
          <p:nvPr/>
        </p:nvSpPr>
        <p:spPr>
          <a:xfrm>
            <a:off x="952500" y="5259705"/>
            <a:ext cx="1676400" cy="358140"/>
          </a:xfrm>
          <a:prstGeom prst="rect">
            <a:avLst/>
          </a:prstGeom>
          <a:noFill/>
          <a:ln/>
        </p:spPr>
        <p:txBody>
          <a:bodyPr wrap="square" lIns="25400" tIns="25400" rIns="25400" bIns="25400" rtlCol="0" anchor="t">
            <a:normAutofit/>
          </a:bodyPr>
          <a:lstStyle/>
          <a:p>
            <a:pPr algn="l" indent="0" marL="0">
              <a:buNone/>
            </a:pPr>
            <a:r>
              <a:rPr lang="en-US" sz="1950" b="1" dirty="0">
                <a:solidFill>
                  <a:srgbClr val="211C14"/>
                </a:solidFill>
                <a:latin typeface="Courier New" pitchFamily="34" charset="0"/>
                <a:ea typeface="Courier New" pitchFamily="34" charset="-122"/>
                <a:cs typeface="Courier New" pitchFamily="34" charset="-120"/>
              </a:rPr>
              <a:t>547 LWX</a:t>
            </a:r>
            <a:endParaRPr lang="en-US" sz="1950" dirty="0"/>
          </a:p>
        </p:txBody>
      </p:sp>
      <p:sp>
        <p:nvSpPr>
          <p:cNvPr id="22" name="Text 20"/>
          <p:cNvSpPr/>
          <p:nvPr/>
        </p:nvSpPr>
        <p:spPr>
          <a:xfrm>
            <a:off x="2686050" y="5259705"/>
            <a:ext cx="4379595" cy="358140"/>
          </a:xfrm>
          <a:prstGeom prst="rect">
            <a:avLst/>
          </a:prstGeom>
          <a:noFill/>
          <a:ln/>
        </p:spPr>
        <p:txBody>
          <a:bodyPr wrap="square" lIns="25400" tIns="25400" rIns="25400" bIns="25400" rtlCol="0" anchor="t">
            <a:normAutofit/>
          </a:bodyPr>
          <a:lstStyle/>
          <a:p>
            <a:pPr algn="l" indent="0" marL="0">
              <a:buNone/>
            </a:pPr>
            <a:r>
              <a:rPr lang="en-US" sz="1950" dirty="0">
                <a:solidFill>
                  <a:srgbClr val="211C14"/>
                </a:solidFill>
                <a:latin typeface="Arial" pitchFamily="34" charset="0"/>
                <a:ea typeface="Arial" pitchFamily="34" charset="-122"/>
                <a:cs typeface="Arial" pitchFamily="34" charset="-120"/>
              </a:rPr>
              <a:t>load word count = blocks × 64</a:t>
            </a:r>
            <a:endParaRPr lang="en-US" sz="1950" dirty="0"/>
          </a:p>
        </p:txBody>
      </p:sp>
      <p:sp>
        <p:nvSpPr>
          <p:cNvPr id="23" name="Text 21"/>
          <p:cNvSpPr/>
          <p:nvPr/>
        </p:nvSpPr>
        <p:spPr>
          <a:xfrm>
            <a:off x="952500" y="5945505"/>
            <a:ext cx="6286500"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252"/>
                </a:solidFill>
                <a:latin typeface="Courier New" pitchFamily="34" charset="0"/>
                <a:ea typeface="Courier New" pitchFamily="34" charset="-122"/>
                <a:cs typeface="Courier New" pitchFamily="34" charset="-120"/>
              </a:rPr>
              <a:t>STATUS REGISTER (RSX 544)</a:t>
            </a:r>
            <a:endParaRPr lang="en-US" sz="1800" dirty="0"/>
          </a:p>
        </p:txBody>
      </p:sp>
      <p:sp>
        <p:nvSpPr>
          <p:cNvPr id="24" name="Shape 22"/>
          <p:cNvSpPr/>
          <p:nvPr/>
        </p:nvSpPr>
        <p:spPr>
          <a:xfrm>
            <a:off x="952500" y="7115175"/>
            <a:ext cx="5715000" cy="9525"/>
          </a:xfrm>
          <a:prstGeom prst="rect">
            <a:avLst/>
          </a:prstGeom>
          <a:solidFill>
            <a:srgbClr val="CEC4AD"/>
          </a:solidFill>
          <a:ln/>
        </p:spPr>
      </p:sp>
      <p:sp>
        <p:nvSpPr>
          <p:cNvPr id="25" name="Text 23"/>
          <p:cNvSpPr/>
          <p:nvPr/>
        </p:nvSpPr>
        <p:spPr>
          <a:xfrm>
            <a:off x="952500" y="6404610"/>
            <a:ext cx="1600200" cy="662940"/>
          </a:xfrm>
          <a:prstGeom prst="rect">
            <a:avLst/>
          </a:prstGeom>
          <a:noFill/>
          <a:ln/>
        </p:spPr>
        <p:txBody>
          <a:bodyPr wrap="square" lIns="25400" tIns="25400" rIns="25400" bIns="25400" rtlCol="0" anchor="t">
            <a:normAutofit/>
          </a:bodyPr>
          <a:lstStyle/>
          <a:p>
            <a:pPr algn="l" indent="0" marL="0">
              <a:buNone/>
            </a:pPr>
            <a:r>
              <a:rPr lang="en-US" sz="1875" b="1" dirty="0">
                <a:solidFill>
                  <a:srgbClr val="211C14"/>
                </a:solidFill>
                <a:latin typeface="Courier New" pitchFamily="34" charset="0"/>
                <a:ea typeface="Courier New" pitchFamily="34" charset="-122"/>
                <a:cs typeface="Courier New" pitchFamily="34" charset="-120"/>
              </a:rPr>
              <a:t>bits 4–0</a:t>
            </a:r>
            <a:endParaRPr lang="en-US" sz="1875" dirty="0"/>
          </a:p>
        </p:txBody>
      </p:sp>
      <p:sp>
        <p:nvSpPr>
          <p:cNvPr id="26" name="Text 24"/>
          <p:cNvSpPr/>
          <p:nvPr/>
        </p:nvSpPr>
        <p:spPr>
          <a:xfrm>
            <a:off x="2686050" y="6404610"/>
            <a:ext cx="4100894" cy="662940"/>
          </a:xfrm>
          <a:prstGeom prst="rect">
            <a:avLst/>
          </a:prstGeom>
          <a:noFill/>
          <a:ln/>
        </p:spPr>
        <p:txBody>
          <a:bodyPr wrap="square" lIns="25400" tIns="25400" rIns="25400" bIns="25400" rtlCol="0" anchor="t">
            <a:normAutofit/>
          </a:bodyPr>
          <a:lstStyle/>
          <a:p>
            <a:pPr algn="l" indent="0" marL="0">
              <a:buNone/>
            </a:pPr>
            <a:r>
              <a:rPr lang="en-US" sz="1875" dirty="0">
                <a:solidFill>
                  <a:srgbClr val="211C14"/>
                </a:solidFill>
                <a:latin typeface="Arial" pitchFamily="34" charset="0"/>
                <a:ea typeface="Arial" pitchFamily="34" charset="-122"/>
                <a:cs typeface="Arial" pitchFamily="34" charset="-120"/>
              </a:rPr>
              <a:t>echo of current function code (masked 37₈)</a:t>
            </a:r>
            <a:endParaRPr lang="en-US" sz="1875" dirty="0"/>
          </a:p>
        </p:txBody>
      </p:sp>
      <p:sp>
        <p:nvSpPr>
          <p:cNvPr id="27" name="Shape 25"/>
          <p:cNvSpPr/>
          <p:nvPr/>
        </p:nvSpPr>
        <p:spPr>
          <a:xfrm>
            <a:off x="952500" y="7926705"/>
            <a:ext cx="5715000" cy="9525"/>
          </a:xfrm>
          <a:prstGeom prst="rect">
            <a:avLst/>
          </a:prstGeom>
          <a:solidFill>
            <a:srgbClr val="CEC4AD"/>
          </a:solidFill>
          <a:ln/>
        </p:spPr>
      </p:sp>
      <p:sp>
        <p:nvSpPr>
          <p:cNvPr id="28" name="Text 26"/>
          <p:cNvSpPr/>
          <p:nvPr/>
        </p:nvSpPr>
        <p:spPr>
          <a:xfrm>
            <a:off x="952500" y="7284720"/>
            <a:ext cx="1600200" cy="594360"/>
          </a:xfrm>
          <a:prstGeom prst="rect">
            <a:avLst/>
          </a:prstGeom>
          <a:noFill/>
          <a:ln/>
        </p:spPr>
        <p:txBody>
          <a:bodyPr wrap="square" lIns="25400" tIns="25400" rIns="25400" bIns="25400" rtlCol="0" anchor="t">
            <a:normAutofit/>
          </a:bodyPr>
          <a:lstStyle/>
          <a:p>
            <a:pPr algn="l" indent="0" marL="0">
              <a:buNone/>
            </a:pPr>
            <a:r>
              <a:rPr lang="en-US" sz="1875" b="1" dirty="0">
                <a:solidFill>
                  <a:srgbClr val="211C14"/>
                </a:solidFill>
                <a:latin typeface="Courier New" pitchFamily="34" charset="0"/>
                <a:ea typeface="Courier New" pitchFamily="34" charset="-122"/>
                <a:cs typeface="Courier New" pitchFamily="34" charset="-120"/>
              </a:rPr>
              <a:t>bit 4 DVA=20₈</a:t>
            </a:r>
            <a:endParaRPr lang="en-US" sz="1875" dirty="0"/>
          </a:p>
        </p:txBody>
      </p:sp>
      <p:sp>
        <p:nvSpPr>
          <p:cNvPr id="29" name="Text 27"/>
          <p:cNvSpPr/>
          <p:nvPr/>
        </p:nvSpPr>
        <p:spPr>
          <a:xfrm>
            <a:off x="2686050" y="7284720"/>
            <a:ext cx="4100894" cy="594360"/>
          </a:xfrm>
          <a:prstGeom prst="rect">
            <a:avLst/>
          </a:prstGeom>
          <a:noFill/>
          <a:ln/>
        </p:spPr>
        <p:txBody>
          <a:bodyPr wrap="square" lIns="25400" tIns="25400" rIns="25400" bIns="25400" rtlCol="0" anchor="t">
            <a:normAutofit/>
          </a:bodyPr>
          <a:lstStyle/>
          <a:p>
            <a:pPr algn="l" indent="0" marL="0">
              <a:buNone/>
            </a:pPr>
            <a:r>
              <a:rPr lang="en-US" sz="1875" b="1" dirty="0">
                <a:solidFill>
                  <a:srgbClr val="211C14"/>
                </a:solidFill>
                <a:latin typeface="Arial" pitchFamily="34" charset="0"/>
                <a:ea typeface="Arial" pitchFamily="34" charset="-122"/>
                <a:cs typeface="Arial" pitchFamily="34" charset="-120"/>
              </a:rPr>
              <a:t>device active </a:t>
            </a:r>
            <a:pPr algn="l" indent="0" marL="0">
              <a:buNone/>
            </a:pPr>
            <a:r>
              <a:rPr lang="en-US" sz="1875" dirty="0">
                <a:solidFill>
                  <a:srgbClr val="211C14"/>
                </a:solidFill>
                <a:latin typeface="Arial" pitchFamily="34" charset="0"/>
                <a:ea typeface="Arial" pitchFamily="34" charset="-122"/>
                <a:cs typeface="Arial" pitchFamily="34" charset="-120"/>
              </a:rPr>
              <a:t>→ busy exit</a:t>
            </a:r>
            <a:endParaRPr lang="en-US" sz="1875" dirty="0"/>
          </a:p>
        </p:txBody>
      </p:sp>
      <p:sp>
        <p:nvSpPr>
          <p:cNvPr id="30" name="Shape 28"/>
          <p:cNvSpPr/>
          <p:nvPr/>
        </p:nvSpPr>
        <p:spPr>
          <a:xfrm>
            <a:off x="952500" y="8738235"/>
            <a:ext cx="5715000" cy="9525"/>
          </a:xfrm>
          <a:prstGeom prst="rect">
            <a:avLst/>
          </a:prstGeom>
          <a:solidFill>
            <a:srgbClr val="CEC4AD"/>
          </a:solidFill>
          <a:ln/>
        </p:spPr>
      </p:sp>
      <p:sp>
        <p:nvSpPr>
          <p:cNvPr id="31" name="Text 29"/>
          <p:cNvSpPr/>
          <p:nvPr/>
        </p:nvSpPr>
        <p:spPr>
          <a:xfrm>
            <a:off x="952500" y="8096250"/>
            <a:ext cx="1600200" cy="594360"/>
          </a:xfrm>
          <a:prstGeom prst="rect">
            <a:avLst/>
          </a:prstGeom>
          <a:noFill/>
          <a:ln/>
        </p:spPr>
        <p:txBody>
          <a:bodyPr wrap="square" lIns="25400" tIns="25400" rIns="25400" bIns="25400" rtlCol="0" anchor="t">
            <a:normAutofit/>
          </a:bodyPr>
          <a:lstStyle/>
          <a:p>
            <a:pPr algn="l" indent="0" marL="0">
              <a:buNone/>
            </a:pPr>
            <a:r>
              <a:rPr lang="en-US" sz="1875" b="1" dirty="0">
                <a:solidFill>
                  <a:srgbClr val="211C14"/>
                </a:solidFill>
                <a:latin typeface="Courier New" pitchFamily="34" charset="0"/>
                <a:ea typeface="Courier New" pitchFamily="34" charset="-122"/>
                <a:cs typeface="Courier New" pitchFamily="34" charset="-120"/>
              </a:rPr>
              <a:t>bit 5 ERR=40₈</a:t>
            </a:r>
            <a:endParaRPr lang="en-US" sz="1875" dirty="0"/>
          </a:p>
        </p:txBody>
      </p:sp>
      <p:sp>
        <p:nvSpPr>
          <p:cNvPr id="32" name="Text 30"/>
          <p:cNvSpPr/>
          <p:nvPr/>
        </p:nvSpPr>
        <p:spPr>
          <a:xfrm>
            <a:off x="2686050" y="8096250"/>
            <a:ext cx="4100894" cy="594360"/>
          </a:xfrm>
          <a:prstGeom prst="rect">
            <a:avLst/>
          </a:prstGeom>
          <a:noFill/>
          <a:ln/>
        </p:spPr>
        <p:txBody>
          <a:bodyPr wrap="square" lIns="25400" tIns="25400" rIns="25400" bIns="25400" rtlCol="0" anchor="t">
            <a:normAutofit/>
          </a:bodyPr>
          <a:lstStyle/>
          <a:p>
            <a:pPr algn="l" indent="0" marL="0">
              <a:buNone/>
            </a:pPr>
            <a:r>
              <a:rPr lang="en-US" sz="1875" b="1" dirty="0">
                <a:solidFill>
                  <a:srgbClr val="211C14"/>
                </a:solidFill>
                <a:latin typeface="Arial" pitchFamily="34" charset="0"/>
                <a:ea typeface="Arial" pitchFamily="34" charset="-122"/>
                <a:cs typeface="Arial" pitchFamily="34" charset="-120"/>
              </a:rPr>
              <a:t>inclusive OR of errors </a:t>
            </a:r>
            <a:pPr algn="l" indent="0" marL="0">
              <a:buNone/>
            </a:pPr>
            <a:r>
              <a:rPr lang="en-US" sz="1875" dirty="0">
                <a:solidFill>
                  <a:srgbClr val="211C14"/>
                </a:solidFill>
                <a:latin typeface="Arial" pitchFamily="34" charset="0"/>
                <a:ea typeface="Arial" pitchFamily="34" charset="-122"/>
                <a:cs typeface="Arial" pitchFamily="34" charset="-120"/>
              </a:rPr>
              <a:t>→ error exit</a:t>
            </a:r>
            <a:endParaRPr lang="en-US" sz="1875" dirty="0"/>
          </a:p>
        </p:txBody>
      </p:sp>
      <p:sp>
        <p:nvSpPr>
          <p:cNvPr id="33" name="Text 31"/>
          <p:cNvSpPr/>
          <p:nvPr/>
        </p:nvSpPr>
        <p:spPr>
          <a:xfrm>
            <a:off x="7200900" y="2364105"/>
            <a:ext cx="11148060"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252"/>
                </a:solidFill>
                <a:latin typeface="Courier New" pitchFamily="34" charset="0"/>
                <a:ea typeface="Courier New" pitchFamily="34" charset="-122"/>
                <a:cs typeface="Courier New" pitchFamily="34" charset="-120"/>
              </a:rPr>
              <a:t>CONTROL REGISTER (LCR 545) — AS ASSEMBLED BY XDRUM</a:t>
            </a:r>
            <a:endParaRPr lang="en-US" sz="1800" dirty="0"/>
          </a:p>
        </p:txBody>
      </p:sp>
      <p:sp>
        <p:nvSpPr>
          <p:cNvPr id="34" name="Shape 32"/>
          <p:cNvSpPr/>
          <p:nvPr/>
        </p:nvSpPr>
        <p:spPr>
          <a:xfrm>
            <a:off x="7200900" y="2756535"/>
            <a:ext cx="948571" cy="1131570"/>
          </a:xfrm>
          <a:prstGeom prst="rect">
            <a:avLst/>
          </a:prstGeom>
          <a:solidFill>
            <a:srgbClr val="E9E2CF"/>
          </a:solidFill>
          <a:ln w="15240">
            <a:solidFill>
              <a:srgbClr val="211C14"/>
            </a:solidFill>
            <a:prstDash val="solid"/>
          </a:ln>
        </p:spPr>
      </p:sp>
      <p:sp>
        <p:nvSpPr>
          <p:cNvPr id="35" name="Text 33"/>
          <p:cNvSpPr/>
          <p:nvPr/>
        </p:nvSpPr>
        <p:spPr>
          <a:xfrm>
            <a:off x="7206615" y="2876550"/>
            <a:ext cx="937141" cy="929640"/>
          </a:xfrm>
          <a:prstGeom prst="rect">
            <a:avLst/>
          </a:prstGeom>
          <a:noFill/>
          <a:ln/>
        </p:spPr>
        <p:txBody>
          <a:bodyPr wrap="square" lIns="25400" tIns="25400" rIns="25400" bIns="25400" rtlCol="0" anchor="t">
            <a:normAutofit/>
          </a:bodyPr>
          <a:lstStyle/>
          <a:p>
            <a:pPr algn="ctr" indent="0" marL="0">
              <a:buNone/>
            </a:pPr>
            <a:r>
              <a:rPr lang="en-US" sz="1800" dirty="0">
                <a:solidFill>
                  <a:srgbClr val="211C14"/>
                </a:solidFill>
                <a:latin typeface="Courier New" pitchFamily="34" charset="0"/>
                <a:ea typeface="Courier New" pitchFamily="34" charset="-122"/>
                <a:cs typeface="Courier New" pitchFamily="34" charset="-120"/>
              </a:rPr>
              <a:t>15</a:t>
            </a:r>
            <a:endParaRPr lang="en-US" sz="1800" dirty="0"/>
          </a:p>
        </p:txBody>
      </p:sp>
      <p:sp>
        <p:nvSpPr>
          <p:cNvPr id="36" name="Shape 34"/>
          <p:cNvSpPr/>
          <p:nvPr/>
        </p:nvSpPr>
        <p:spPr>
          <a:xfrm>
            <a:off x="8149471" y="2756535"/>
            <a:ext cx="1794153" cy="1131570"/>
          </a:xfrm>
          <a:prstGeom prst="rect">
            <a:avLst/>
          </a:prstGeom>
          <a:solidFill>
            <a:srgbClr val="F7E3D4"/>
          </a:solidFill>
          <a:ln/>
        </p:spPr>
      </p:sp>
      <p:sp>
        <p:nvSpPr>
          <p:cNvPr id="37" name="Shape 35"/>
          <p:cNvSpPr/>
          <p:nvPr/>
        </p:nvSpPr>
        <p:spPr>
          <a:xfrm>
            <a:off x="8149471" y="3872865"/>
            <a:ext cx="1794153" cy="15240"/>
          </a:xfrm>
          <a:prstGeom prst="rect">
            <a:avLst/>
          </a:prstGeom>
          <a:solidFill>
            <a:srgbClr val="C8501E"/>
          </a:solidFill>
          <a:ln/>
        </p:spPr>
      </p:sp>
      <p:sp>
        <p:nvSpPr>
          <p:cNvPr id="38" name="Shape 36"/>
          <p:cNvSpPr/>
          <p:nvPr/>
        </p:nvSpPr>
        <p:spPr>
          <a:xfrm>
            <a:off x="8149471" y="2756535"/>
            <a:ext cx="1794153" cy="15240"/>
          </a:xfrm>
          <a:prstGeom prst="rect">
            <a:avLst/>
          </a:prstGeom>
          <a:solidFill>
            <a:srgbClr val="C8501E"/>
          </a:solidFill>
          <a:ln/>
        </p:spPr>
      </p:sp>
      <p:sp>
        <p:nvSpPr>
          <p:cNvPr id="39" name="Shape 37"/>
          <p:cNvSpPr/>
          <p:nvPr/>
        </p:nvSpPr>
        <p:spPr>
          <a:xfrm>
            <a:off x="9928384" y="2756535"/>
            <a:ext cx="15240" cy="1131570"/>
          </a:xfrm>
          <a:prstGeom prst="rect">
            <a:avLst/>
          </a:prstGeom>
          <a:solidFill>
            <a:srgbClr val="C8501E"/>
          </a:solidFill>
          <a:ln/>
        </p:spPr>
      </p:sp>
      <p:sp>
        <p:nvSpPr>
          <p:cNvPr id="40" name="Text 38"/>
          <p:cNvSpPr/>
          <p:nvPr/>
        </p:nvSpPr>
        <p:spPr>
          <a:xfrm>
            <a:off x="8139946" y="2876550"/>
            <a:ext cx="1797963" cy="929640"/>
          </a:xfrm>
          <a:prstGeom prst="rect">
            <a:avLst/>
          </a:prstGeom>
          <a:noFill/>
          <a:ln/>
        </p:spPr>
        <p:txBody>
          <a:bodyPr wrap="square" lIns="25400" tIns="25400" rIns="25400" bIns="25400" rtlCol="0" anchor="t">
            <a:normAutofit/>
          </a:bodyPr>
          <a:lstStyle/>
          <a:p>
            <a:pPr algn="ctr" indent="0" marL="0">
              <a:buNone/>
            </a:pPr>
            <a:r>
              <a:rPr lang="en-US" sz="1800" dirty="0">
                <a:solidFill>
                  <a:srgbClr val="A03E14"/>
                </a:solidFill>
                <a:highlight>
                  <a:srgbClr val="F7E3D4"/>
                </a:highlight>
                <a:latin typeface="Courier New" pitchFamily="34" charset="0"/>
                <a:ea typeface="Courier New" pitchFamily="34" charset="-122"/>
                <a:cs typeface="Courier New" pitchFamily="34" charset="-120"/>
              </a:rPr>
              <a:t>14–13 FUNCTION 0–3</a:t>
            </a:r>
            <a:endParaRPr lang="en-US" sz="1800" dirty="0"/>
          </a:p>
        </p:txBody>
      </p:sp>
      <p:sp>
        <p:nvSpPr>
          <p:cNvPr id="41" name="Shape 39"/>
          <p:cNvSpPr/>
          <p:nvPr/>
        </p:nvSpPr>
        <p:spPr>
          <a:xfrm>
            <a:off x="9943624" y="2756535"/>
            <a:ext cx="2511505" cy="1131570"/>
          </a:xfrm>
          <a:prstGeom prst="rect">
            <a:avLst/>
          </a:prstGeom>
          <a:solidFill>
            <a:srgbClr val="E9E2CF"/>
          </a:solidFill>
          <a:ln/>
        </p:spPr>
      </p:sp>
      <p:sp>
        <p:nvSpPr>
          <p:cNvPr id="42" name="Shape 40"/>
          <p:cNvSpPr/>
          <p:nvPr/>
        </p:nvSpPr>
        <p:spPr>
          <a:xfrm>
            <a:off x="9943624" y="3872865"/>
            <a:ext cx="2511505" cy="15240"/>
          </a:xfrm>
          <a:prstGeom prst="rect">
            <a:avLst/>
          </a:prstGeom>
          <a:solidFill>
            <a:srgbClr val="211C14"/>
          </a:solidFill>
          <a:ln/>
        </p:spPr>
      </p:sp>
      <p:sp>
        <p:nvSpPr>
          <p:cNvPr id="43" name="Shape 41"/>
          <p:cNvSpPr/>
          <p:nvPr/>
        </p:nvSpPr>
        <p:spPr>
          <a:xfrm>
            <a:off x="9943624" y="2756535"/>
            <a:ext cx="2511505" cy="15240"/>
          </a:xfrm>
          <a:prstGeom prst="rect">
            <a:avLst/>
          </a:prstGeom>
          <a:solidFill>
            <a:srgbClr val="211C14"/>
          </a:solidFill>
          <a:ln/>
        </p:spPr>
      </p:sp>
      <p:sp>
        <p:nvSpPr>
          <p:cNvPr id="44" name="Shape 42"/>
          <p:cNvSpPr/>
          <p:nvPr/>
        </p:nvSpPr>
        <p:spPr>
          <a:xfrm>
            <a:off x="12439889" y="2756535"/>
            <a:ext cx="15240" cy="1131570"/>
          </a:xfrm>
          <a:prstGeom prst="rect">
            <a:avLst/>
          </a:prstGeom>
          <a:solidFill>
            <a:srgbClr val="211C14"/>
          </a:solidFill>
          <a:ln/>
        </p:spPr>
      </p:sp>
      <p:sp>
        <p:nvSpPr>
          <p:cNvPr id="45" name="Text 43"/>
          <p:cNvSpPr/>
          <p:nvPr/>
        </p:nvSpPr>
        <p:spPr>
          <a:xfrm>
            <a:off x="9934099" y="2876550"/>
            <a:ext cx="2515315" cy="929640"/>
          </a:xfrm>
          <a:prstGeom prst="rect">
            <a:avLst/>
          </a:prstGeom>
          <a:noFill/>
          <a:ln/>
        </p:spPr>
        <p:txBody>
          <a:bodyPr wrap="square" lIns="25400" tIns="25400" rIns="25400" bIns="25400" rtlCol="0" anchor="t">
            <a:normAutofit/>
          </a:bodyPr>
          <a:lstStyle/>
          <a:p>
            <a:pPr algn="ctr" indent="0" marL="0">
              <a:buNone/>
            </a:pPr>
            <a:r>
              <a:rPr lang="en-US" sz="1800" dirty="0">
                <a:solidFill>
                  <a:srgbClr val="211C14"/>
                </a:solidFill>
                <a:highlight>
                  <a:srgbClr val="E9E2CF"/>
                </a:highlight>
                <a:latin typeface="Courier New" pitchFamily="34" charset="0"/>
                <a:ea typeface="Courier New" pitchFamily="34" charset="-122"/>
                <a:cs typeface="Courier New" pitchFamily="34" charset="-120"/>
              </a:rPr>
              <a:t>12–7 —</a:t>
            </a:r>
            <a:endParaRPr lang="en-US" sz="1800" dirty="0"/>
          </a:p>
        </p:txBody>
      </p:sp>
      <p:sp>
        <p:nvSpPr>
          <p:cNvPr id="46" name="Shape 44"/>
          <p:cNvSpPr/>
          <p:nvPr/>
        </p:nvSpPr>
        <p:spPr>
          <a:xfrm>
            <a:off x="12455128" y="2756535"/>
            <a:ext cx="1794153" cy="1131570"/>
          </a:xfrm>
          <a:prstGeom prst="rect">
            <a:avLst/>
          </a:prstGeom>
          <a:solidFill>
            <a:srgbClr val="F7E3D4"/>
          </a:solidFill>
          <a:ln/>
        </p:spPr>
      </p:sp>
      <p:sp>
        <p:nvSpPr>
          <p:cNvPr id="47" name="Shape 45"/>
          <p:cNvSpPr/>
          <p:nvPr/>
        </p:nvSpPr>
        <p:spPr>
          <a:xfrm>
            <a:off x="12455128" y="3872865"/>
            <a:ext cx="1794153" cy="15240"/>
          </a:xfrm>
          <a:prstGeom prst="rect">
            <a:avLst/>
          </a:prstGeom>
          <a:solidFill>
            <a:srgbClr val="C8501E"/>
          </a:solidFill>
          <a:ln/>
        </p:spPr>
      </p:sp>
      <p:sp>
        <p:nvSpPr>
          <p:cNvPr id="48" name="Shape 46"/>
          <p:cNvSpPr/>
          <p:nvPr/>
        </p:nvSpPr>
        <p:spPr>
          <a:xfrm>
            <a:off x="12455128" y="2756535"/>
            <a:ext cx="1794153" cy="15240"/>
          </a:xfrm>
          <a:prstGeom prst="rect">
            <a:avLst/>
          </a:prstGeom>
          <a:solidFill>
            <a:srgbClr val="C8501E"/>
          </a:solidFill>
          <a:ln/>
        </p:spPr>
      </p:sp>
      <p:sp>
        <p:nvSpPr>
          <p:cNvPr id="49" name="Shape 47"/>
          <p:cNvSpPr/>
          <p:nvPr/>
        </p:nvSpPr>
        <p:spPr>
          <a:xfrm>
            <a:off x="14234041" y="2756535"/>
            <a:ext cx="15240" cy="1131570"/>
          </a:xfrm>
          <a:prstGeom prst="rect">
            <a:avLst/>
          </a:prstGeom>
          <a:solidFill>
            <a:srgbClr val="C8501E"/>
          </a:solidFill>
          <a:ln/>
        </p:spPr>
      </p:sp>
      <p:sp>
        <p:nvSpPr>
          <p:cNvPr id="50" name="Text 48"/>
          <p:cNvSpPr/>
          <p:nvPr/>
        </p:nvSpPr>
        <p:spPr>
          <a:xfrm>
            <a:off x="12445603" y="2876550"/>
            <a:ext cx="1797963" cy="929640"/>
          </a:xfrm>
          <a:prstGeom prst="rect">
            <a:avLst/>
          </a:prstGeom>
          <a:noFill/>
          <a:ln/>
        </p:spPr>
        <p:txBody>
          <a:bodyPr wrap="square" lIns="25400" tIns="25400" rIns="25400" bIns="25400" rtlCol="0" anchor="t">
            <a:normAutofit/>
          </a:bodyPr>
          <a:lstStyle/>
          <a:p>
            <a:pPr algn="ctr" indent="0" marL="0">
              <a:buNone/>
            </a:pPr>
            <a:r>
              <a:rPr lang="en-US" sz="1800" dirty="0">
                <a:solidFill>
                  <a:srgbClr val="A03E14"/>
                </a:solidFill>
                <a:highlight>
                  <a:srgbClr val="F7E3D4"/>
                </a:highlight>
                <a:latin typeface="Courier New" pitchFamily="34" charset="0"/>
                <a:ea typeface="Courier New" pitchFamily="34" charset="-122"/>
                <a:cs typeface="Courier New" pitchFamily="34" charset="-120"/>
              </a:rPr>
              <a:t>6–5 CORE A17–A16</a:t>
            </a:r>
            <a:endParaRPr lang="en-US" sz="1800" dirty="0"/>
          </a:p>
        </p:txBody>
      </p:sp>
      <p:sp>
        <p:nvSpPr>
          <p:cNvPr id="51" name="Shape 49"/>
          <p:cNvSpPr/>
          <p:nvPr/>
        </p:nvSpPr>
        <p:spPr>
          <a:xfrm>
            <a:off x="14249281" y="2756535"/>
            <a:ext cx="933331" cy="1131570"/>
          </a:xfrm>
          <a:prstGeom prst="rect">
            <a:avLst/>
          </a:prstGeom>
          <a:solidFill>
            <a:srgbClr val="E9E2CF"/>
          </a:solidFill>
          <a:ln/>
        </p:spPr>
      </p:sp>
      <p:sp>
        <p:nvSpPr>
          <p:cNvPr id="52" name="Shape 50"/>
          <p:cNvSpPr/>
          <p:nvPr/>
        </p:nvSpPr>
        <p:spPr>
          <a:xfrm>
            <a:off x="14249281" y="3872865"/>
            <a:ext cx="933331" cy="15240"/>
          </a:xfrm>
          <a:prstGeom prst="rect">
            <a:avLst/>
          </a:prstGeom>
          <a:solidFill>
            <a:srgbClr val="211C14"/>
          </a:solidFill>
          <a:ln/>
        </p:spPr>
      </p:sp>
      <p:sp>
        <p:nvSpPr>
          <p:cNvPr id="53" name="Shape 51"/>
          <p:cNvSpPr/>
          <p:nvPr/>
        </p:nvSpPr>
        <p:spPr>
          <a:xfrm>
            <a:off x="14249281" y="2756535"/>
            <a:ext cx="933331" cy="15240"/>
          </a:xfrm>
          <a:prstGeom prst="rect">
            <a:avLst/>
          </a:prstGeom>
          <a:solidFill>
            <a:srgbClr val="211C14"/>
          </a:solidFill>
          <a:ln/>
        </p:spPr>
      </p:sp>
      <p:sp>
        <p:nvSpPr>
          <p:cNvPr id="54" name="Shape 52"/>
          <p:cNvSpPr/>
          <p:nvPr/>
        </p:nvSpPr>
        <p:spPr>
          <a:xfrm>
            <a:off x="15167372" y="2756535"/>
            <a:ext cx="15240" cy="1131570"/>
          </a:xfrm>
          <a:prstGeom prst="rect">
            <a:avLst/>
          </a:prstGeom>
          <a:solidFill>
            <a:srgbClr val="211C14"/>
          </a:solidFill>
          <a:ln/>
        </p:spPr>
      </p:sp>
      <p:sp>
        <p:nvSpPr>
          <p:cNvPr id="55" name="Text 53"/>
          <p:cNvSpPr/>
          <p:nvPr/>
        </p:nvSpPr>
        <p:spPr>
          <a:xfrm>
            <a:off x="14239756" y="2876550"/>
            <a:ext cx="937141" cy="929640"/>
          </a:xfrm>
          <a:prstGeom prst="rect">
            <a:avLst/>
          </a:prstGeom>
          <a:noFill/>
          <a:ln/>
        </p:spPr>
        <p:txBody>
          <a:bodyPr wrap="square" lIns="25400" tIns="25400" rIns="25400" bIns="25400" rtlCol="0" anchor="t">
            <a:normAutofit/>
          </a:bodyPr>
          <a:lstStyle/>
          <a:p>
            <a:pPr algn="ctr" indent="0" marL="0">
              <a:buNone/>
            </a:pPr>
            <a:r>
              <a:rPr lang="en-US" sz="1800" dirty="0">
                <a:solidFill>
                  <a:srgbClr val="211C14"/>
                </a:solidFill>
                <a:highlight>
                  <a:srgbClr val="E9E2CF"/>
                </a:highlight>
                <a:latin typeface="Courier New" pitchFamily="34" charset="0"/>
                <a:ea typeface="Courier New" pitchFamily="34" charset="-122"/>
                <a:cs typeface="Courier New" pitchFamily="34" charset="-120"/>
              </a:rPr>
              <a:t>4–3 —</a:t>
            </a:r>
            <a:endParaRPr lang="en-US" sz="1800" dirty="0"/>
          </a:p>
        </p:txBody>
      </p:sp>
      <p:sp>
        <p:nvSpPr>
          <p:cNvPr id="56" name="Shape 54"/>
          <p:cNvSpPr/>
          <p:nvPr/>
        </p:nvSpPr>
        <p:spPr>
          <a:xfrm>
            <a:off x="15182612" y="2756535"/>
            <a:ext cx="2152888" cy="1131570"/>
          </a:xfrm>
          <a:prstGeom prst="rect">
            <a:avLst/>
          </a:prstGeom>
          <a:solidFill>
            <a:srgbClr val="F7E3D4"/>
          </a:solidFill>
          <a:ln/>
        </p:spPr>
      </p:sp>
      <p:sp>
        <p:nvSpPr>
          <p:cNvPr id="57" name="Shape 55"/>
          <p:cNvSpPr/>
          <p:nvPr/>
        </p:nvSpPr>
        <p:spPr>
          <a:xfrm>
            <a:off x="15182612" y="3872865"/>
            <a:ext cx="2152888" cy="15240"/>
          </a:xfrm>
          <a:prstGeom prst="rect">
            <a:avLst/>
          </a:prstGeom>
          <a:solidFill>
            <a:srgbClr val="C8501E"/>
          </a:solidFill>
          <a:ln/>
        </p:spPr>
      </p:sp>
      <p:sp>
        <p:nvSpPr>
          <p:cNvPr id="58" name="Shape 56"/>
          <p:cNvSpPr/>
          <p:nvPr/>
        </p:nvSpPr>
        <p:spPr>
          <a:xfrm>
            <a:off x="15182612" y="2756535"/>
            <a:ext cx="2152888" cy="15240"/>
          </a:xfrm>
          <a:prstGeom prst="rect">
            <a:avLst/>
          </a:prstGeom>
          <a:solidFill>
            <a:srgbClr val="C8501E"/>
          </a:solidFill>
          <a:ln/>
        </p:spPr>
      </p:sp>
      <p:sp>
        <p:nvSpPr>
          <p:cNvPr id="59" name="Shape 57"/>
          <p:cNvSpPr/>
          <p:nvPr/>
        </p:nvSpPr>
        <p:spPr>
          <a:xfrm>
            <a:off x="17320260" y="2756535"/>
            <a:ext cx="15240" cy="1131570"/>
          </a:xfrm>
          <a:prstGeom prst="rect">
            <a:avLst/>
          </a:prstGeom>
          <a:solidFill>
            <a:srgbClr val="C8501E"/>
          </a:solidFill>
          <a:ln/>
        </p:spPr>
      </p:sp>
      <p:sp>
        <p:nvSpPr>
          <p:cNvPr id="60" name="Text 58"/>
          <p:cNvSpPr/>
          <p:nvPr/>
        </p:nvSpPr>
        <p:spPr>
          <a:xfrm>
            <a:off x="15173087" y="2876550"/>
            <a:ext cx="2156698" cy="929640"/>
          </a:xfrm>
          <a:prstGeom prst="rect">
            <a:avLst/>
          </a:prstGeom>
          <a:noFill/>
          <a:ln/>
        </p:spPr>
        <p:txBody>
          <a:bodyPr wrap="square" lIns="25400" tIns="25400" rIns="25400" bIns="25400" rtlCol="0" anchor="t">
            <a:normAutofit/>
          </a:bodyPr>
          <a:lstStyle/>
          <a:p>
            <a:pPr algn="ctr" indent="0" marL="0">
              <a:buNone/>
            </a:pPr>
            <a:r>
              <a:rPr lang="en-US" sz="1800" dirty="0">
                <a:solidFill>
                  <a:srgbClr val="A03E14"/>
                </a:solidFill>
                <a:highlight>
                  <a:srgbClr val="F7E3D4"/>
                </a:highlight>
                <a:latin typeface="Courier New" pitchFamily="34" charset="0"/>
                <a:ea typeface="Courier New" pitchFamily="34" charset="-122"/>
                <a:cs typeface="Courier New" pitchFamily="34" charset="-120"/>
              </a:rPr>
              <a:t>2–0 = 7 INT EN + ACTIVATE</a:t>
            </a:r>
            <a:endParaRPr lang="en-US" sz="1800" dirty="0"/>
          </a:p>
        </p:txBody>
      </p:sp>
      <p:sp>
        <p:nvSpPr>
          <p:cNvPr id="61" name="Shape 59"/>
          <p:cNvSpPr/>
          <p:nvPr/>
        </p:nvSpPr>
        <p:spPr>
          <a:xfrm>
            <a:off x="7200900" y="3983355"/>
            <a:ext cx="10134600" cy="1546860"/>
          </a:xfrm>
          <a:prstGeom prst="rect">
            <a:avLst/>
          </a:prstGeom>
          <a:solidFill>
            <a:srgbClr val="2A2620"/>
          </a:solidFill>
          <a:ln/>
        </p:spPr>
      </p:sp>
      <p:sp>
        <p:nvSpPr>
          <p:cNvPr id="62" name="Text 60"/>
          <p:cNvSpPr/>
          <p:nvPr/>
        </p:nvSpPr>
        <p:spPr>
          <a:xfrm>
            <a:off x="7467600" y="4173855"/>
            <a:ext cx="9889236" cy="42672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E6DEC9"/>
                </a:solidFill>
                <a:latin typeface="Courier New" pitchFamily="34" charset="0"/>
                <a:ea typeface="Courier New" pitchFamily="34" charset="-122"/>
                <a:cs typeface="Courier New" pitchFamily="34" charset="-120"/>
              </a:rPr>
              <a:t>SAA 3; AND DTREG; SHA ZIN 13 </a:t>
            </a:r>
            <a:pPr algn="l" indent="0" marL="0">
              <a:lnSpc>
                <a:spcPct val="150000"/>
              </a:lnSpc>
              <a:buNone/>
            </a:pPr>
            <a:r>
              <a:rPr lang="en-US" sz="1800" dirty="0">
                <a:solidFill>
                  <a:srgbClr val="8F8570"/>
                </a:solidFill>
                <a:latin typeface="Courier New" pitchFamily="34" charset="0"/>
                <a:ea typeface="Courier New" pitchFamily="34" charset="-122"/>
                <a:cs typeface="Courier New" pitchFamily="34" charset="-120"/>
              </a:rPr>
              <a:t>% FCN→13-14</a:t>
            </a:r>
            <a:endParaRPr lang="en-US" sz="1800" dirty="0"/>
          </a:p>
        </p:txBody>
      </p:sp>
      <p:sp>
        <p:nvSpPr>
          <p:cNvPr id="63" name="Text 61"/>
          <p:cNvSpPr/>
          <p:nvPr/>
        </p:nvSpPr>
        <p:spPr>
          <a:xfrm>
            <a:off x="7467600" y="4562475"/>
            <a:ext cx="9889236" cy="42672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E6DEC9"/>
                </a:solidFill>
                <a:latin typeface="Courier New" pitchFamily="34" charset="0"/>
                <a:ea typeface="Courier New" pitchFamily="34" charset="-122"/>
                <a:cs typeface="Courier New" pitchFamily="34" charset="-120"/>
              </a:rPr>
              <a:t>LDA (1400; AND DTREG; SHA ZIN SHR 3 </a:t>
            </a:r>
            <a:pPr algn="l" indent="0" marL="0">
              <a:lnSpc>
                <a:spcPct val="150000"/>
              </a:lnSpc>
              <a:buNone/>
            </a:pPr>
            <a:r>
              <a:rPr lang="en-US" sz="1800" dirty="0">
                <a:solidFill>
                  <a:srgbClr val="8F8570"/>
                </a:solidFill>
                <a:latin typeface="Courier New" pitchFamily="34" charset="0"/>
                <a:ea typeface="Courier New" pitchFamily="34" charset="-122"/>
                <a:cs typeface="Courier New" pitchFamily="34" charset="-120"/>
              </a:rPr>
              <a:t>% A16/17→5-6</a:t>
            </a:r>
            <a:endParaRPr lang="en-US" sz="1800" dirty="0"/>
          </a:p>
        </p:txBody>
      </p:sp>
      <p:sp>
        <p:nvSpPr>
          <p:cNvPr id="64" name="Text 62"/>
          <p:cNvSpPr/>
          <p:nvPr/>
        </p:nvSpPr>
        <p:spPr>
          <a:xfrm>
            <a:off x="7467600" y="4951095"/>
            <a:ext cx="9889236" cy="42672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E6DEC9"/>
                </a:solidFill>
                <a:latin typeface="Courier New" pitchFamily="34" charset="0"/>
                <a:ea typeface="Courier New" pitchFamily="34" charset="-122"/>
                <a:cs typeface="Courier New" pitchFamily="34" charset="-120"/>
              </a:rPr>
              <a:t>AAA 7; IOX DRM LCR </a:t>
            </a:r>
            <a:pPr algn="l" indent="0" marL="0">
              <a:lnSpc>
                <a:spcPct val="150000"/>
              </a:lnSpc>
              <a:buNone/>
            </a:pPr>
            <a:r>
              <a:rPr lang="en-US" sz="1800" dirty="0">
                <a:solidFill>
                  <a:srgbClr val="8F8570"/>
                </a:solidFill>
                <a:latin typeface="Courier New" pitchFamily="34" charset="0"/>
                <a:ea typeface="Courier New" pitchFamily="34" charset="-122"/>
                <a:cs typeface="Courier New" pitchFamily="34" charset="-120"/>
              </a:rPr>
              <a:t>% +INT+ACT → GO</a:t>
            </a:r>
            <a:endParaRPr lang="en-US" sz="1800" dirty="0"/>
          </a:p>
        </p:txBody>
      </p:sp>
      <p:sp>
        <p:nvSpPr>
          <p:cNvPr id="65" name="Text 63"/>
          <p:cNvSpPr/>
          <p:nvPr/>
        </p:nvSpPr>
        <p:spPr>
          <a:xfrm>
            <a:off x="7200900" y="5758815"/>
            <a:ext cx="11148060"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252"/>
                </a:solidFill>
                <a:latin typeface="Courier New" pitchFamily="34" charset="0"/>
                <a:ea typeface="Courier New" pitchFamily="34" charset="-122"/>
                <a:cs typeface="Courier New" pitchFamily="34" charset="-120"/>
              </a:rPr>
              <a:t>BLOCK ADDRESS (LBX 543) — FROM LINEAR SECTOR NO.</a:t>
            </a:r>
            <a:endParaRPr lang="en-US" sz="1800" dirty="0"/>
          </a:p>
        </p:txBody>
      </p:sp>
      <p:sp>
        <p:nvSpPr>
          <p:cNvPr id="66" name="Shape 64"/>
          <p:cNvSpPr/>
          <p:nvPr/>
        </p:nvSpPr>
        <p:spPr>
          <a:xfrm>
            <a:off x="7200900" y="6151245"/>
            <a:ext cx="3499961" cy="834390"/>
          </a:xfrm>
          <a:prstGeom prst="rect">
            <a:avLst/>
          </a:prstGeom>
          <a:solidFill>
            <a:srgbClr val="D8CFB6"/>
          </a:solidFill>
          <a:ln w="15240">
            <a:solidFill>
              <a:srgbClr val="211C14"/>
            </a:solidFill>
            <a:prstDash val="solid"/>
          </a:ln>
        </p:spPr>
      </p:sp>
      <p:sp>
        <p:nvSpPr>
          <p:cNvPr id="67" name="Text 65"/>
          <p:cNvSpPr/>
          <p:nvPr/>
        </p:nvSpPr>
        <p:spPr>
          <a:xfrm>
            <a:off x="7192216" y="6271260"/>
            <a:ext cx="3517330" cy="632460"/>
          </a:xfrm>
          <a:prstGeom prst="rect">
            <a:avLst/>
          </a:prstGeom>
          <a:noFill/>
          <a:ln/>
        </p:spPr>
        <p:txBody>
          <a:bodyPr wrap="square" lIns="25400" tIns="25400" rIns="25400" bIns="25400" rtlCol="0" anchor="t">
            <a:normAutofit/>
          </a:bodyPr>
          <a:lstStyle/>
          <a:p>
            <a:pPr algn="ctr" indent="0" marL="0">
              <a:buNone/>
            </a:pPr>
            <a:r>
              <a:rPr lang="en-US" sz="1800" dirty="0">
                <a:solidFill>
                  <a:srgbClr val="211C14"/>
                </a:solidFill>
                <a:highlight>
                  <a:srgbClr val="D8CFB6"/>
                </a:highlight>
                <a:latin typeface="Courier New" pitchFamily="34" charset="0"/>
                <a:ea typeface="Courier New" pitchFamily="34" charset="-122"/>
                <a:cs typeface="Courier New" pitchFamily="34" charset="-120"/>
              </a:rPr>
              <a:t>15–11 SECTOR 0–31</a:t>
            </a:r>
            <a:endParaRPr lang="en-US" sz="1800" dirty="0"/>
          </a:p>
        </p:txBody>
      </p:sp>
      <p:sp>
        <p:nvSpPr>
          <p:cNvPr id="68" name="Shape 66"/>
          <p:cNvSpPr/>
          <p:nvPr/>
        </p:nvSpPr>
        <p:spPr>
          <a:xfrm>
            <a:off x="10700862" y="6151245"/>
            <a:ext cx="6634639" cy="834390"/>
          </a:xfrm>
          <a:prstGeom prst="rect">
            <a:avLst/>
          </a:prstGeom>
          <a:solidFill>
            <a:srgbClr val="E9E2CF"/>
          </a:solidFill>
          <a:ln/>
        </p:spPr>
      </p:sp>
      <p:sp>
        <p:nvSpPr>
          <p:cNvPr id="69" name="Shape 67"/>
          <p:cNvSpPr/>
          <p:nvPr/>
        </p:nvSpPr>
        <p:spPr>
          <a:xfrm>
            <a:off x="10700862" y="6970395"/>
            <a:ext cx="6634639" cy="15240"/>
          </a:xfrm>
          <a:prstGeom prst="rect">
            <a:avLst/>
          </a:prstGeom>
          <a:solidFill>
            <a:srgbClr val="211C14"/>
          </a:solidFill>
          <a:ln/>
        </p:spPr>
      </p:sp>
      <p:sp>
        <p:nvSpPr>
          <p:cNvPr id="70" name="Shape 68"/>
          <p:cNvSpPr/>
          <p:nvPr/>
        </p:nvSpPr>
        <p:spPr>
          <a:xfrm>
            <a:off x="10700862" y="6151245"/>
            <a:ext cx="6634639" cy="15240"/>
          </a:xfrm>
          <a:prstGeom prst="rect">
            <a:avLst/>
          </a:prstGeom>
          <a:solidFill>
            <a:srgbClr val="211C14"/>
          </a:solidFill>
          <a:ln/>
        </p:spPr>
      </p:sp>
      <p:sp>
        <p:nvSpPr>
          <p:cNvPr id="71" name="Shape 69"/>
          <p:cNvSpPr/>
          <p:nvPr/>
        </p:nvSpPr>
        <p:spPr>
          <a:xfrm>
            <a:off x="17320261" y="6151245"/>
            <a:ext cx="15240" cy="834390"/>
          </a:xfrm>
          <a:prstGeom prst="rect">
            <a:avLst/>
          </a:prstGeom>
          <a:solidFill>
            <a:srgbClr val="211C14"/>
          </a:solidFill>
          <a:ln/>
        </p:spPr>
      </p:sp>
      <p:sp>
        <p:nvSpPr>
          <p:cNvPr id="72" name="Text 70"/>
          <p:cNvSpPr/>
          <p:nvPr/>
        </p:nvSpPr>
        <p:spPr>
          <a:xfrm>
            <a:off x="10629917" y="6271260"/>
            <a:ext cx="6761288" cy="632460"/>
          </a:xfrm>
          <a:prstGeom prst="rect">
            <a:avLst/>
          </a:prstGeom>
          <a:noFill/>
          <a:ln/>
        </p:spPr>
        <p:txBody>
          <a:bodyPr wrap="square" lIns="25400" tIns="25400" rIns="25400" bIns="25400" rtlCol="0" anchor="t">
            <a:normAutofit/>
          </a:bodyPr>
          <a:lstStyle/>
          <a:p>
            <a:pPr algn="ctr" indent="0" marL="0">
              <a:buNone/>
            </a:pPr>
            <a:r>
              <a:rPr lang="en-US" sz="1800" dirty="0">
                <a:solidFill>
                  <a:srgbClr val="211C14"/>
                </a:solidFill>
                <a:highlight>
                  <a:srgbClr val="E9E2CF"/>
                </a:highlight>
                <a:latin typeface="Courier New" pitchFamily="34" charset="0"/>
                <a:ea typeface="Courier New" pitchFamily="34" charset="-122"/>
                <a:cs typeface="Courier New" pitchFamily="34" charset="-120"/>
              </a:rPr>
              <a:t>10–0 TRACK</a:t>
            </a:r>
            <a:endParaRPr lang="en-US" sz="1800" dirty="0"/>
          </a:p>
        </p:txBody>
      </p:sp>
      <p:sp>
        <p:nvSpPr>
          <p:cNvPr id="73" name="Text 71"/>
          <p:cNvSpPr/>
          <p:nvPr/>
        </p:nvSpPr>
        <p:spPr>
          <a:xfrm>
            <a:off x="7200900" y="7118985"/>
            <a:ext cx="10438638" cy="7239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6B6252"/>
                </a:solidFill>
                <a:latin typeface="Arial" pitchFamily="34" charset="0"/>
                <a:ea typeface="Arial" pitchFamily="34" charset="-122"/>
                <a:cs typeface="Arial" pitchFamily="34" charset="-120"/>
              </a:rPr>
              <a:t>The driver splits D into track (D÷32) and sector (D mod 32) with the ROT-13 / ROT-5 shuffle at DRDLC.</a:t>
            </a:r>
            <a:endParaRPr lang="en-US" sz="1800" dirty="0"/>
          </a:p>
        </p:txBody>
      </p:sp>
      <p:sp>
        <p:nvSpPr>
          <p:cNvPr id="74" name="Shape 72"/>
          <p:cNvSpPr/>
          <p:nvPr/>
        </p:nvSpPr>
        <p:spPr>
          <a:xfrm>
            <a:off x="7200900" y="8033385"/>
            <a:ext cx="10134600" cy="1141095"/>
          </a:xfrm>
          <a:prstGeom prst="rect">
            <a:avLst/>
          </a:prstGeom>
          <a:solidFill>
            <a:srgbClr val="E9E2CF"/>
          </a:solidFill>
          <a:ln w="15240">
            <a:solidFill>
              <a:srgbClr val="211C14"/>
            </a:solidFill>
            <a:prstDash val="solid"/>
          </a:ln>
        </p:spPr>
      </p:sp>
      <p:sp>
        <p:nvSpPr>
          <p:cNvPr id="75" name="Text 73"/>
          <p:cNvSpPr/>
          <p:nvPr/>
        </p:nvSpPr>
        <p:spPr>
          <a:xfrm>
            <a:off x="7482840" y="8239125"/>
            <a:ext cx="9874758" cy="767715"/>
          </a:xfrm>
          <a:prstGeom prst="rect">
            <a:avLst/>
          </a:prstGeom>
          <a:noFill/>
          <a:ln/>
        </p:spPr>
        <p:txBody>
          <a:bodyPr wrap="square" lIns="25400" tIns="25400" rIns="25400" bIns="25400" rtlCol="0" anchor="t">
            <a:normAutofit/>
          </a:bodyPr>
          <a:lstStyle/>
          <a:p>
            <a:pPr algn="l" indent="0" marL="0">
              <a:lnSpc>
                <a:spcPct val="130208"/>
              </a:lnSpc>
              <a:buNone/>
            </a:pPr>
            <a:r>
              <a:rPr lang="en-US" sz="1875" b="1" dirty="0">
                <a:solidFill>
                  <a:srgbClr val="211C14"/>
                </a:solidFill>
                <a:latin typeface="Arial" pitchFamily="34" charset="0"/>
                <a:ea typeface="Arial" pitchFamily="34" charset="-122"/>
                <a:cs typeface="Arial" pitchFamily="34" charset="-120"/>
              </a:rPr>
              <a:t>Error path: </a:t>
            </a:r>
            <a:pPr algn="l" indent="0" marL="0">
              <a:lnSpc>
                <a:spcPct val="130208"/>
              </a:lnSpc>
              <a:buNone/>
            </a:pPr>
            <a:r>
              <a:rPr lang="en-US" sz="1875" dirty="0">
                <a:solidFill>
                  <a:srgbClr val="4A4335"/>
                </a:solidFill>
                <a:highlight>
                  <a:srgbClr val="E9E2CF"/>
                </a:highlight>
                <a:latin typeface="Arial" pitchFamily="34" charset="0"/>
                <a:ea typeface="Arial" pitchFamily="34" charset="-122"/>
                <a:cs typeface="Arial" pitchFamily="34" charset="-120"/>
              </a:rPr>
              <a:t>X ← status, then </a:t>
            </a:r>
            <a:pPr algn="l" indent="0" marL="0">
              <a:lnSpc>
                <a:spcPct val="130208"/>
              </a:lnSpc>
              <a:buNone/>
            </a:pPr>
            <a:r>
              <a:rPr lang="en-US" sz="1875" dirty="0">
                <a:solidFill>
                  <a:srgbClr val="4A4335"/>
                </a:solidFill>
                <a:latin typeface="Courier New" pitchFamily="34" charset="0"/>
                <a:ea typeface="Courier New" pitchFamily="34" charset="-122"/>
                <a:cs typeface="Courier New" pitchFamily="34" charset="-120"/>
              </a:rPr>
              <a:t>SAA 4; IOX 545 </a:t>
            </a:r>
            <a:pPr algn="l" indent="0" marL="0">
              <a:lnSpc>
                <a:spcPct val="130208"/>
              </a:lnSpc>
              <a:buNone/>
            </a:pPr>
            <a:r>
              <a:rPr lang="en-US" sz="1875" dirty="0">
                <a:solidFill>
                  <a:srgbClr val="4A4335"/>
                </a:solidFill>
                <a:highlight>
                  <a:srgbClr val="E9E2CF"/>
                </a:highlight>
                <a:latin typeface="Arial" pitchFamily="34" charset="0"/>
                <a:ea typeface="Arial" pitchFamily="34" charset="-122"/>
                <a:cs typeface="Arial" pitchFamily="34" charset="-120"/>
              </a:rPr>
              <a:t>— control ← 4 = device clear by the standard convention </a:t>
            </a:r>
            <a:pPr algn="l" indent="0" marL="0">
              <a:lnSpc>
                <a:spcPct val="130208"/>
              </a:lnSpc>
              <a:buNone/>
            </a:pPr>
            <a:r>
              <a:rPr lang="en-US" sz="1875" i="1" dirty="0">
                <a:solidFill>
                  <a:srgbClr val="4A4335"/>
                </a:solidFill>
                <a:latin typeface="Arial" pitchFamily="34" charset="0"/>
                <a:ea typeface="Arial" pitchFamily="34" charset="-122"/>
                <a:cs typeface="Arial" pitchFamily="34" charset="-120"/>
              </a:rPr>
              <a:t>[assumed — no controller manual]</a:t>
            </a:r>
            <a:pPr algn="l" indent="0" marL="0">
              <a:lnSpc>
                <a:spcPct val="130208"/>
              </a:lnSpc>
              <a:buNone/>
            </a:pPr>
            <a:r>
              <a:rPr lang="en-US" sz="1875" dirty="0">
                <a:solidFill>
                  <a:srgbClr val="4A4335"/>
                </a:solidFill>
                <a:highlight>
                  <a:srgbClr val="E9E2CF"/>
                </a:highlight>
                <a:latin typeface="Arial" pitchFamily="34" charset="0"/>
                <a:ea typeface="Arial" pitchFamily="34" charset="-122"/>
                <a:cs typeface="Arial" pitchFamily="34" charset="-120"/>
              </a:rPr>
              <a:t>.</a:t>
            </a:r>
            <a:endParaRPr lang="en-US" sz="187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2EDE1"/>
        </a:solidFill>
      </p:bgPr>
    </p:bg>
    <p:spTree>
      <p:nvGrpSpPr>
        <p:cNvPr id="1" name=""/>
        <p:cNvGrpSpPr/>
        <p:nvPr/>
      </p:nvGrpSpPr>
      <p:grpSpPr>
        <a:xfrm>
          <a:off x="0" y="0"/>
          <a:ext cx="0" cy="0"/>
          <a:chOff x="0" y="0"/>
          <a:chExt cx="0" cy="0"/>
        </a:xfrm>
      </p:grpSpPr>
      <p:sp>
        <p:nvSpPr>
          <p:cNvPr id="2" name="Text 0"/>
          <p:cNvSpPr/>
          <p:nvPr/>
        </p:nvSpPr>
        <p:spPr>
          <a:xfrm>
            <a:off x="952500" y="762000"/>
            <a:ext cx="18021300" cy="33528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C8501E"/>
                </a:solidFill>
                <a:latin typeface="Courier New" pitchFamily="34" charset="0"/>
                <a:ea typeface="Courier New" pitchFamily="34" charset="-122"/>
                <a:cs typeface="Courier New" pitchFamily="34" charset="-120"/>
              </a:rPr>
              <a:t>SECTION 04 · THE DRUM · REGISTER DETAIL 1/3</a:t>
            </a:r>
            <a:endParaRPr lang="en-US" sz="1800" dirty="0"/>
          </a:p>
        </p:txBody>
      </p:sp>
      <p:sp>
        <p:nvSpPr>
          <p:cNvPr id="3" name="Text 1"/>
          <p:cNvSpPr/>
          <p:nvPr/>
        </p:nvSpPr>
        <p:spPr>
          <a:xfrm>
            <a:off x="952500" y="1211580"/>
            <a:ext cx="18021300" cy="666750"/>
          </a:xfrm>
          <a:prstGeom prst="rect">
            <a:avLst/>
          </a:prstGeom>
          <a:noFill/>
          <a:ln/>
        </p:spPr>
        <p:txBody>
          <a:bodyPr wrap="square" lIns="25400" tIns="25400" rIns="25400" bIns="25400" rtlCol="0" anchor="t">
            <a:normAutofit/>
          </a:bodyPr>
          <a:lstStyle/>
          <a:p>
            <a:pPr algn="l" indent="0" marL="0">
              <a:lnSpc>
                <a:spcPct val="97059"/>
              </a:lnSpc>
              <a:buNone/>
            </a:pPr>
            <a:r>
              <a:rPr lang="en-US" sz="4500" b="1" dirty="0">
                <a:solidFill>
                  <a:srgbClr val="211C14"/>
                </a:solidFill>
                <a:latin typeface="Courier New" pitchFamily="34" charset="0"/>
                <a:ea typeface="Courier New" pitchFamily="34" charset="-122"/>
                <a:cs typeface="Courier New" pitchFamily="34" charset="-120"/>
              </a:rPr>
              <a:t>Address &amp; Count Registers </a:t>
            </a:r>
            <a:pPr algn="l" indent="0" marL="0">
              <a:lnSpc>
                <a:spcPct val="97059"/>
              </a:lnSpc>
              <a:buNone/>
            </a:pPr>
            <a:r>
              <a:rPr lang="en-US" sz="2700" dirty="0">
                <a:solidFill>
                  <a:srgbClr val="6B6252"/>
                </a:solidFill>
                <a:latin typeface="Courier New" pitchFamily="34" charset="0"/>
                <a:ea typeface="Courier New" pitchFamily="34" charset="-122"/>
                <a:cs typeface="Courier New" pitchFamily="34" charset="-120"/>
              </a:rPr>
              <a:t>540 · 541 · 543 · 547</a:t>
            </a:r>
            <a:endParaRPr lang="en-US" sz="4500" dirty="0"/>
          </a:p>
        </p:txBody>
      </p:sp>
      <p:sp>
        <p:nvSpPr>
          <p:cNvPr id="4" name="Shape 2"/>
          <p:cNvSpPr/>
          <p:nvPr/>
        </p:nvSpPr>
        <p:spPr>
          <a:xfrm>
            <a:off x="952500" y="1992630"/>
            <a:ext cx="16383000" cy="28575"/>
          </a:xfrm>
          <a:prstGeom prst="rect">
            <a:avLst/>
          </a:prstGeom>
          <a:solidFill>
            <a:srgbClr val="211C14"/>
          </a:solidFill>
          <a:ln/>
        </p:spPr>
      </p:sp>
      <p:sp>
        <p:nvSpPr>
          <p:cNvPr id="5" name="Shape 3"/>
          <p:cNvSpPr/>
          <p:nvPr/>
        </p:nvSpPr>
        <p:spPr>
          <a:xfrm>
            <a:off x="952500" y="3781425"/>
            <a:ext cx="16383000" cy="9525"/>
          </a:xfrm>
          <a:prstGeom prst="rect">
            <a:avLst/>
          </a:prstGeom>
          <a:solidFill>
            <a:srgbClr val="CEC4AD"/>
          </a:solidFill>
          <a:ln/>
        </p:spPr>
      </p:sp>
      <p:sp>
        <p:nvSpPr>
          <p:cNvPr id="6" name="Text 4"/>
          <p:cNvSpPr/>
          <p:nvPr/>
        </p:nvSpPr>
        <p:spPr>
          <a:xfrm>
            <a:off x="952500" y="2638425"/>
            <a:ext cx="3562350" cy="381000"/>
          </a:xfrm>
          <a:prstGeom prst="rect">
            <a:avLst/>
          </a:prstGeom>
          <a:noFill/>
          <a:ln/>
        </p:spPr>
        <p:txBody>
          <a:bodyPr wrap="square" lIns="25400" tIns="25400" rIns="25400" bIns="25400" rtlCol="0" anchor="t">
            <a:normAutofit/>
          </a:bodyPr>
          <a:lstStyle/>
          <a:p>
            <a:pPr algn="l" indent="0" marL="0">
              <a:buNone/>
            </a:pPr>
            <a:r>
              <a:rPr lang="en-US" sz="2400" b="1" dirty="0">
                <a:solidFill>
                  <a:srgbClr val="211C14"/>
                </a:solidFill>
                <a:latin typeface="Courier New" pitchFamily="34" charset="0"/>
                <a:ea typeface="Courier New" pitchFamily="34" charset="-122"/>
                <a:cs typeface="Courier New" pitchFamily="34" charset="-120"/>
              </a:rPr>
              <a:t>541 LCX </a:t>
            </a:r>
            <a:pPr algn="l" indent="0" marL="0">
              <a:buNone/>
            </a:pPr>
            <a:r>
              <a:rPr lang="en-US" sz="1800" dirty="0">
                <a:solidFill>
                  <a:srgbClr val="6B6252"/>
                </a:solidFill>
                <a:latin typeface="Courier New" pitchFamily="34" charset="0"/>
                <a:ea typeface="Courier New" pitchFamily="34" charset="-122"/>
                <a:cs typeface="Courier New" pitchFamily="34" charset="-120"/>
              </a:rPr>
              <a:t>write</a:t>
            </a:r>
            <a:endParaRPr lang="en-US" sz="2400" dirty="0"/>
          </a:p>
        </p:txBody>
      </p:sp>
      <p:sp>
        <p:nvSpPr>
          <p:cNvPr id="7" name="Text 5"/>
          <p:cNvSpPr/>
          <p:nvPr/>
        </p:nvSpPr>
        <p:spPr>
          <a:xfrm>
            <a:off x="952500" y="2981325"/>
            <a:ext cx="3562350" cy="335280"/>
          </a:xfrm>
          <a:prstGeom prst="rect">
            <a:avLst/>
          </a:prstGeom>
          <a:noFill/>
          <a:ln/>
        </p:spPr>
        <p:txBody>
          <a:bodyPr wrap="square" lIns="25400" tIns="25400" rIns="25400" bIns="25400" rtlCol="0" anchor="t">
            <a:normAutofit/>
          </a:bodyPr>
          <a:lstStyle/>
          <a:p>
            <a:pPr algn="l" indent="0" marL="0">
              <a:buNone/>
            </a:pPr>
            <a:r>
              <a:rPr lang="en-US" sz="1800" dirty="0">
                <a:solidFill>
                  <a:srgbClr val="6B6252"/>
                </a:solidFill>
                <a:latin typeface="Arial" pitchFamily="34" charset="0"/>
                <a:ea typeface="Arial" pitchFamily="34" charset="-122"/>
                <a:cs typeface="Arial" pitchFamily="34" charset="-120"/>
              </a:rPr>
              <a:t>540 RCX reads it back</a:t>
            </a:r>
            <a:endParaRPr lang="en-US" sz="1800" dirty="0"/>
          </a:p>
        </p:txBody>
      </p:sp>
      <p:sp>
        <p:nvSpPr>
          <p:cNvPr id="8" name="Shape 6"/>
          <p:cNvSpPr/>
          <p:nvPr/>
        </p:nvSpPr>
        <p:spPr>
          <a:xfrm>
            <a:off x="4572000" y="2364105"/>
            <a:ext cx="12763500" cy="518160"/>
          </a:xfrm>
          <a:prstGeom prst="rect">
            <a:avLst/>
          </a:prstGeom>
          <a:solidFill>
            <a:srgbClr val="E9E2CF"/>
          </a:solidFill>
          <a:ln w="15240">
            <a:solidFill>
              <a:srgbClr val="211C14"/>
            </a:solidFill>
            <a:prstDash val="solid"/>
          </a:ln>
        </p:spPr>
      </p:sp>
      <p:sp>
        <p:nvSpPr>
          <p:cNvPr id="9" name="Text 7"/>
          <p:cNvSpPr/>
          <p:nvPr/>
        </p:nvSpPr>
        <p:spPr>
          <a:xfrm>
            <a:off x="4433888" y="2474595"/>
            <a:ext cx="13039725" cy="335280"/>
          </a:xfrm>
          <a:prstGeom prst="rect">
            <a:avLst/>
          </a:prstGeom>
          <a:noFill/>
          <a:ln/>
        </p:spPr>
        <p:txBody>
          <a:bodyPr wrap="square" lIns="25400" tIns="25400" rIns="25400" bIns="25400" rtlCol="0" anchor="t">
            <a:normAutofit/>
          </a:bodyPr>
          <a:lstStyle/>
          <a:p>
            <a:pPr algn="ctr" indent="0" marL="0">
              <a:buNone/>
            </a:pPr>
            <a:r>
              <a:rPr lang="en-US" sz="1800" dirty="0">
                <a:solidFill>
                  <a:srgbClr val="211C14"/>
                </a:solidFill>
                <a:latin typeface="Courier New" pitchFamily="34" charset="0"/>
                <a:ea typeface="Courier New" pitchFamily="34" charset="-122"/>
                <a:cs typeface="Courier New" pitchFamily="34" charset="-120"/>
              </a:rPr>
              <a:t>15–0 · CORE ADDRESS (word address, DMA target/source)</a:t>
            </a:r>
            <a:endParaRPr lang="en-US" sz="1800" dirty="0"/>
          </a:p>
        </p:txBody>
      </p:sp>
      <p:sp>
        <p:nvSpPr>
          <p:cNvPr id="10" name="Text 8"/>
          <p:cNvSpPr/>
          <p:nvPr/>
        </p:nvSpPr>
        <p:spPr>
          <a:xfrm>
            <a:off x="4572000" y="2958465"/>
            <a:ext cx="13146405" cy="632460"/>
          </a:xfrm>
          <a:prstGeom prst="rect">
            <a:avLst/>
          </a:prstGeom>
          <a:noFill/>
          <a:ln/>
        </p:spPr>
        <p:txBody>
          <a:bodyPr wrap="square" lIns="25400" tIns="25400" rIns="25400" bIns="25400" rtlCol="0" anchor="t">
            <a:normAutofit/>
          </a:bodyPr>
          <a:lstStyle/>
          <a:p>
            <a:pPr algn="l" indent="0" marL="0">
              <a:buNone/>
            </a:pPr>
            <a:r>
              <a:rPr lang="en-US" sz="1800" dirty="0">
                <a:solidFill>
                  <a:srgbClr val="6B6252"/>
                </a:solidFill>
                <a:latin typeface="Arial" pitchFamily="34" charset="0"/>
                <a:ea typeface="Arial" pitchFamily="34" charset="-122"/>
                <a:cs typeface="Arial" pitchFamily="34" charset="-120"/>
              </a:rPr>
              <a:t>Only 16 bits wide — core-address bits 16–17 go in the </a:t>
            </a:r>
            <a:pPr algn="l" indent="0" marL="0">
              <a:buNone/>
            </a:pPr>
            <a:r>
              <a:rPr lang="en-US" sz="1800" b="1" dirty="0">
                <a:solidFill>
                  <a:srgbClr val="6B6252"/>
                </a:solidFill>
                <a:latin typeface="Arial" pitchFamily="34" charset="0"/>
                <a:ea typeface="Arial" pitchFamily="34" charset="-122"/>
                <a:cs typeface="Arial" pitchFamily="34" charset="-120"/>
              </a:rPr>
              <a:t>control register </a:t>
            </a:r>
            <a:pPr algn="l" indent="0" marL="0">
              <a:buNone/>
            </a:pPr>
            <a:r>
              <a:rPr lang="en-US" sz="1800" dirty="0">
                <a:solidFill>
                  <a:srgbClr val="6B6252"/>
                </a:solidFill>
                <a:latin typeface="Arial" pitchFamily="34" charset="0"/>
                <a:ea typeface="Arial" pitchFamily="34" charset="-122"/>
                <a:cs typeface="Arial" pitchFamily="34" charset="-120"/>
              </a:rPr>
              <a:t>(next slides). RCX exists for diagnostics; XDRUM never reads it.</a:t>
            </a:r>
            <a:endParaRPr lang="en-US" sz="1800" dirty="0"/>
          </a:p>
        </p:txBody>
      </p:sp>
      <p:sp>
        <p:nvSpPr>
          <p:cNvPr id="11" name="Shape 9"/>
          <p:cNvSpPr/>
          <p:nvPr/>
        </p:nvSpPr>
        <p:spPr>
          <a:xfrm>
            <a:off x="952500" y="5473065"/>
            <a:ext cx="16383000" cy="9525"/>
          </a:xfrm>
          <a:prstGeom prst="rect">
            <a:avLst/>
          </a:prstGeom>
          <a:solidFill>
            <a:srgbClr val="CEC4AD"/>
          </a:solidFill>
          <a:ln/>
        </p:spPr>
      </p:sp>
      <p:sp>
        <p:nvSpPr>
          <p:cNvPr id="12" name="Text 10"/>
          <p:cNvSpPr/>
          <p:nvPr/>
        </p:nvSpPr>
        <p:spPr>
          <a:xfrm>
            <a:off x="952500" y="4330065"/>
            <a:ext cx="3562350" cy="381000"/>
          </a:xfrm>
          <a:prstGeom prst="rect">
            <a:avLst/>
          </a:prstGeom>
          <a:noFill/>
          <a:ln/>
        </p:spPr>
        <p:txBody>
          <a:bodyPr wrap="square" lIns="25400" tIns="25400" rIns="25400" bIns="25400" rtlCol="0" anchor="t">
            <a:normAutofit/>
          </a:bodyPr>
          <a:lstStyle/>
          <a:p>
            <a:pPr algn="l" indent="0" marL="0">
              <a:buNone/>
            </a:pPr>
            <a:r>
              <a:rPr lang="en-US" sz="2400" b="1" dirty="0">
                <a:solidFill>
                  <a:srgbClr val="211C14"/>
                </a:solidFill>
                <a:latin typeface="Courier New" pitchFamily="34" charset="0"/>
                <a:ea typeface="Courier New" pitchFamily="34" charset="-122"/>
                <a:cs typeface="Courier New" pitchFamily="34" charset="-120"/>
              </a:rPr>
              <a:t>547 LWX </a:t>
            </a:r>
            <a:pPr algn="l" indent="0" marL="0">
              <a:buNone/>
            </a:pPr>
            <a:r>
              <a:rPr lang="en-US" sz="1800" dirty="0">
                <a:solidFill>
                  <a:srgbClr val="6B6252"/>
                </a:solidFill>
                <a:latin typeface="Courier New" pitchFamily="34" charset="0"/>
                <a:ea typeface="Courier New" pitchFamily="34" charset="-122"/>
                <a:cs typeface="Courier New" pitchFamily="34" charset="-120"/>
              </a:rPr>
              <a:t>write</a:t>
            </a:r>
            <a:endParaRPr lang="en-US" sz="2400" dirty="0"/>
          </a:p>
        </p:txBody>
      </p:sp>
      <p:sp>
        <p:nvSpPr>
          <p:cNvPr id="13" name="Text 11"/>
          <p:cNvSpPr/>
          <p:nvPr/>
        </p:nvSpPr>
        <p:spPr>
          <a:xfrm>
            <a:off x="952500" y="4672965"/>
            <a:ext cx="3562350" cy="335280"/>
          </a:xfrm>
          <a:prstGeom prst="rect">
            <a:avLst/>
          </a:prstGeom>
          <a:noFill/>
          <a:ln/>
        </p:spPr>
        <p:txBody>
          <a:bodyPr wrap="square" lIns="25400" tIns="25400" rIns="25400" bIns="25400" rtlCol="0" anchor="t">
            <a:normAutofit/>
          </a:bodyPr>
          <a:lstStyle/>
          <a:p>
            <a:pPr algn="l" indent="0" marL="0">
              <a:buNone/>
            </a:pPr>
            <a:r>
              <a:rPr lang="en-US" sz="1800" dirty="0">
                <a:solidFill>
                  <a:srgbClr val="6B6252"/>
                </a:solidFill>
                <a:latin typeface="Arial" pitchFamily="34" charset="0"/>
                <a:ea typeface="Arial" pitchFamily="34" charset="-122"/>
                <a:cs typeface="Arial" pitchFamily="34" charset="-120"/>
              </a:rPr>
              <a:t>word count</a:t>
            </a:r>
            <a:endParaRPr lang="en-US" sz="1800" dirty="0"/>
          </a:p>
        </p:txBody>
      </p:sp>
      <p:sp>
        <p:nvSpPr>
          <p:cNvPr id="14" name="Shape 12"/>
          <p:cNvSpPr/>
          <p:nvPr/>
        </p:nvSpPr>
        <p:spPr>
          <a:xfrm>
            <a:off x="4572000" y="4055745"/>
            <a:ext cx="12763500" cy="518160"/>
          </a:xfrm>
          <a:prstGeom prst="rect">
            <a:avLst/>
          </a:prstGeom>
          <a:solidFill>
            <a:srgbClr val="E9E2CF"/>
          </a:solidFill>
          <a:ln w="15240">
            <a:solidFill>
              <a:srgbClr val="211C14"/>
            </a:solidFill>
            <a:prstDash val="solid"/>
          </a:ln>
        </p:spPr>
      </p:sp>
      <p:sp>
        <p:nvSpPr>
          <p:cNvPr id="15" name="Text 13"/>
          <p:cNvSpPr/>
          <p:nvPr/>
        </p:nvSpPr>
        <p:spPr>
          <a:xfrm>
            <a:off x="4433888" y="4166235"/>
            <a:ext cx="13039725" cy="335280"/>
          </a:xfrm>
          <a:prstGeom prst="rect">
            <a:avLst/>
          </a:prstGeom>
          <a:noFill/>
          <a:ln/>
        </p:spPr>
        <p:txBody>
          <a:bodyPr wrap="square" lIns="25400" tIns="25400" rIns="25400" bIns="25400" rtlCol="0" anchor="t">
            <a:normAutofit/>
          </a:bodyPr>
          <a:lstStyle/>
          <a:p>
            <a:pPr algn="ctr" indent="0" marL="0">
              <a:buNone/>
            </a:pPr>
            <a:r>
              <a:rPr lang="en-US" sz="1800" dirty="0">
                <a:solidFill>
                  <a:srgbClr val="211C14"/>
                </a:solidFill>
                <a:latin typeface="Courier New" pitchFamily="34" charset="0"/>
                <a:ea typeface="Courier New" pitchFamily="34" charset="-122"/>
                <a:cs typeface="Courier New" pitchFamily="34" charset="-120"/>
              </a:rPr>
              <a:t>WORDS TO TRANSFER = CHUNK × 64 (64 … 2048)</a:t>
            </a:r>
            <a:endParaRPr lang="en-US" sz="1800" dirty="0"/>
          </a:p>
        </p:txBody>
      </p:sp>
      <p:sp>
        <p:nvSpPr>
          <p:cNvPr id="16" name="Text 14"/>
          <p:cNvSpPr/>
          <p:nvPr/>
        </p:nvSpPr>
        <p:spPr>
          <a:xfrm>
            <a:off x="4572000" y="4650105"/>
            <a:ext cx="13146405" cy="632460"/>
          </a:xfrm>
          <a:prstGeom prst="rect">
            <a:avLst/>
          </a:prstGeom>
          <a:noFill/>
          <a:ln/>
        </p:spPr>
        <p:txBody>
          <a:bodyPr wrap="square" lIns="25400" tIns="25400" rIns="25400" bIns="25400" rtlCol="0" anchor="t">
            <a:normAutofit/>
          </a:bodyPr>
          <a:lstStyle/>
          <a:p>
            <a:pPr algn="l" indent="0" marL="0">
              <a:buNone/>
            </a:pPr>
            <a:r>
              <a:rPr lang="en-US" sz="1800" dirty="0">
                <a:solidFill>
                  <a:srgbClr val="6B6252"/>
                </a:solidFill>
                <a:latin typeface="Arial" pitchFamily="34" charset="0"/>
                <a:ea typeface="Arial" pitchFamily="34" charset="-122"/>
                <a:cs typeface="Arial" pitchFamily="34" charset="-120"/>
              </a:rPr>
              <a:t>Driver: </a:t>
            </a:r>
            <a:pPr algn="l" indent="0" marL="0">
              <a:buNone/>
            </a:pPr>
            <a:r>
              <a:rPr lang="en-US" sz="1800" dirty="0">
                <a:solidFill>
                  <a:srgbClr val="6B6252"/>
                </a:solidFill>
                <a:latin typeface="Courier New" pitchFamily="34" charset="0"/>
                <a:ea typeface="Courier New" pitchFamily="34" charset="-122"/>
                <a:cs typeface="Courier New" pitchFamily="34" charset="-120"/>
              </a:rPr>
              <a:t>SHA ZIN 6 </a:t>
            </a:r>
            <a:pPr algn="l" indent="0" marL="0">
              <a:buNone/>
            </a:pPr>
            <a:r>
              <a:rPr lang="en-US" sz="1800" dirty="0">
                <a:solidFill>
                  <a:srgbClr val="6B6252"/>
                </a:solidFill>
                <a:latin typeface="Arial" pitchFamily="34" charset="0"/>
                <a:ea typeface="Arial" pitchFamily="34" charset="-122"/>
                <a:cs typeface="Arial" pitchFamily="34" charset="-120"/>
              </a:rPr>
              <a:t>(shift left 6 = ×64). Max one full track: 32 sectors = 2048 words. Whole 64-word sectors only — there is no partial-sector transfer.</a:t>
            </a:r>
            <a:endParaRPr lang="en-US" sz="1800" dirty="0"/>
          </a:p>
        </p:txBody>
      </p:sp>
      <p:sp>
        <p:nvSpPr>
          <p:cNvPr id="17" name="Text 15"/>
          <p:cNvSpPr/>
          <p:nvPr/>
        </p:nvSpPr>
        <p:spPr>
          <a:xfrm>
            <a:off x="952500" y="6284595"/>
            <a:ext cx="3562350" cy="381000"/>
          </a:xfrm>
          <a:prstGeom prst="rect">
            <a:avLst/>
          </a:prstGeom>
          <a:noFill/>
          <a:ln/>
        </p:spPr>
        <p:txBody>
          <a:bodyPr wrap="square" lIns="25400" tIns="25400" rIns="25400" bIns="25400" rtlCol="0" anchor="t">
            <a:normAutofit/>
          </a:bodyPr>
          <a:lstStyle/>
          <a:p>
            <a:pPr algn="l" indent="0" marL="0">
              <a:buNone/>
            </a:pPr>
            <a:r>
              <a:rPr lang="en-US" sz="2400" b="1" dirty="0">
                <a:solidFill>
                  <a:srgbClr val="A03E14"/>
                </a:solidFill>
                <a:latin typeface="Courier New" pitchFamily="34" charset="0"/>
                <a:ea typeface="Courier New" pitchFamily="34" charset="-122"/>
                <a:cs typeface="Courier New" pitchFamily="34" charset="-120"/>
              </a:rPr>
              <a:t>543 LBX </a:t>
            </a:r>
            <a:pPr algn="l" indent="0" marL="0">
              <a:buNone/>
            </a:pPr>
            <a:r>
              <a:rPr lang="en-US" sz="1800" dirty="0">
                <a:solidFill>
                  <a:srgbClr val="6B6252"/>
                </a:solidFill>
                <a:latin typeface="Courier New" pitchFamily="34" charset="0"/>
                <a:ea typeface="Courier New" pitchFamily="34" charset="-122"/>
                <a:cs typeface="Courier New" pitchFamily="34" charset="-120"/>
              </a:rPr>
              <a:t>write</a:t>
            </a:r>
            <a:endParaRPr lang="en-US" sz="2400" dirty="0"/>
          </a:p>
        </p:txBody>
      </p:sp>
      <p:sp>
        <p:nvSpPr>
          <p:cNvPr id="18" name="Text 16"/>
          <p:cNvSpPr/>
          <p:nvPr/>
        </p:nvSpPr>
        <p:spPr>
          <a:xfrm>
            <a:off x="952500" y="6627495"/>
            <a:ext cx="3562350" cy="335280"/>
          </a:xfrm>
          <a:prstGeom prst="rect">
            <a:avLst/>
          </a:prstGeom>
          <a:noFill/>
          <a:ln/>
        </p:spPr>
        <p:txBody>
          <a:bodyPr wrap="square" lIns="25400" tIns="25400" rIns="25400" bIns="25400" rtlCol="0" anchor="t">
            <a:normAutofit/>
          </a:bodyPr>
          <a:lstStyle/>
          <a:p>
            <a:pPr algn="l" indent="0" marL="0">
              <a:buNone/>
            </a:pPr>
            <a:r>
              <a:rPr lang="en-US" sz="1800" dirty="0">
                <a:solidFill>
                  <a:srgbClr val="6B6252"/>
                </a:solidFill>
                <a:latin typeface="Arial" pitchFamily="34" charset="0"/>
                <a:ea typeface="Arial" pitchFamily="34" charset="-122"/>
                <a:cs typeface="Arial" pitchFamily="34" charset="-120"/>
              </a:rPr>
              <a:t>hardware block address</a:t>
            </a:r>
            <a:endParaRPr lang="en-US" sz="1800" dirty="0"/>
          </a:p>
        </p:txBody>
      </p:sp>
      <p:sp>
        <p:nvSpPr>
          <p:cNvPr id="19" name="Shape 17"/>
          <p:cNvSpPr/>
          <p:nvPr/>
        </p:nvSpPr>
        <p:spPr>
          <a:xfrm>
            <a:off x="4572000" y="5747385"/>
            <a:ext cx="4074676" cy="518160"/>
          </a:xfrm>
          <a:prstGeom prst="rect">
            <a:avLst/>
          </a:prstGeom>
          <a:solidFill>
            <a:srgbClr val="F7E3D4"/>
          </a:solidFill>
          <a:ln w="15240">
            <a:solidFill>
              <a:srgbClr val="C8501E"/>
            </a:solidFill>
            <a:prstDash val="solid"/>
          </a:ln>
        </p:spPr>
      </p:sp>
      <p:sp>
        <p:nvSpPr>
          <p:cNvPr id="20" name="Text 18"/>
          <p:cNvSpPr/>
          <p:nvPr/>
        </p:nvSpPr>
        <p:spPr>
          <a:xfrm>
            <a:off x="4564220" y="5857875"/>
            <a:ext cx="4090236" cy="335280"/>
          </a:xfrm>
          <a:prstGeom prst="rect">
            <a:avLst/>
          </a:prstGeom>
          <a:noFill/>
          <a:ln/>
        </p:spPr>
        <p:txBody>
          <a:bodyPr wrap="square" lIns="25400" tIns="25400" rIns="25400" bIns="25400" rtlCol="0" anchor="t">
            <a:normAutofit/>
          </a:bodyPr>
          <a:lstStyle/>
          <a:p>
            <a:pPr algn="ctr" indent="0" marL="0">
              <a:buNone/>
            </a:pPr>
            <a:r>
              <a:rPr lang="en-US" sz="1800" dirty="0">
                <a:solidFill>
                  <a:srgbClr val="A03E14"/>
                </a:solidFill>
                <a:latin typeface="Courier New" pitchFamily="34" charset="0"/>
                <a:ea typeface="Courier New" pitchFamily="34" charset="-122"/>
                <a:cs typeface="Courier New" pitchFamily="34" charset="-120"/>
              </a:rPr>
              <a:t>15–11 · SECTOR 0–31</a:t>
            </a:r>
            <a:endParaRPr lang="en-US" sz="1800" dirty="0"/>
          </a:p>
        </p:txBody>
      </p:sp>
      <p:sp>
        <p:nvSpPr>
          <p:cNvPr id="21" name="Shape 19"/>
          <p:cNvSpPr/>
          <p:nvPr/>
        </p:nvSpPr>
        <p:spPr>
          <a:xfrm>
            <a:off x="8646676" y="5747385"/>
            <a:ext cx="8688824" cy="518160"/>
          </a:xfrm>
          <a:prstGeom prst="rect">
            <a:avLst/>
          </a:prstGeom>
          <a:solidFill>
            <a:srgbClr val="E9E2CF"/>
          </a:solidFill>
          <a:ln/>
        </p:spPr>
      </p:sp>
      <p:sp>
        <p:nvSpPr>
          <p:cNvPr id="22" name="Shape 20"/>
          <p:cNvSpPr/>
          <p:nvPr/>
        </p:nvSpPr>
        <p:spPr>
          <a:xfrm>
            <a:off x="8646676" y="6250305"/>
            <a:ext cx="8688824" cy="15240"/>
          </a:xfrm>
          <a:prstGeom prst="rect">
            <a:avLst/>
          </a:prstGeom>
          <a:solidFill>
            <a:srgbClr val="211C14"/>
          </a:solidFill>
          <a:ln/>
        </p:spPr>
      </p:sp>
      <p:sp>
        <p:nvSpPr>
          <p:cNvPr id="23" name="Shape 21"/>
          <p:cNvSpPr/>
          <p:nvPr/>
        </p:nvSpPr>
        <p:spPr>
          <a:xfrm>
            <a:off x="8646676" y="5747385"/>
            <a:ext cx="8688824" cy="15240"/>
          </a:xfrm>
          <a:prstGeom prst="rect">
            <a:avLst/>
          </a:prstGeom>
          <a:solidFill>
            <a:srgbClr val="211C14"/>
          </a:solidFill>
          <a:ln/>
        </p:spPr>
      </p:sp>
      <p:sp>
        <p:nvSpPr>
          <p:cNvPr id="24" name="Shape 22"/>
          <p:cNvSpPr/>
          <p:nvPr/>
        </p:nvSpPr>
        <p:spPr>
          <a:xfrm>
            <a:off x="17320261" y="5747385"/>
            <a:ext cx="15240" cy="518160"/>
          </a:xfrm>
          <a:prstGeom prst="rect">
            <a:avLst/>
          </a:prstGeom>
          <a:solidFill>
            <a:srgbClr val="211C14"/>
          </a:solidFill>
          <a:ln/>
        </p:spPr>
      </p:sp>
      <p:sp>
        <p:nvSpPr>
          <p:cNvPr id="25" name="Text 23"/>
          <p:cNvSpPr/>
          <p:nvPr/>
        </p:nvSpPr>
        <p:spPr>
          <a:xfrm>
            <a:off x="8554444" y="5857875"/>
            <a:ext cx="8858049" cy="335280"/>
          </a:xfrm>
          <a:prstGeom prst="rect">
            <a:avLst/>
          </a:prstGeom>
          <a:noFill/>
          <a:ln/>
        </p:spPr>
        <p:txBody>
          <a:bodyPr wrap="square" lIns="25400" tIns="25400" rIns="25400" bIns="25400" rtlCol="0" anchor="t">
            <a:normAutofit/>
          </a:bodyPr>
          <a:lstStyle/>
          <a:p>
            <a:pPr algn="ctr" indent="0" marL="0">
              <a:buNone/>
            </a:pPr>
            <a:r>
              <a:rPr lang="en-US" sz="1800" dirty="0">
                <a:solidFill>
                  <a:srgbClr val="211C14"/>
                </a:solidFill>
                <a:latin typeface="Courier New" pitchFamily="34" charset="0"/>
                <a:ea typeface="Courier New" pitchFamily="34" charset="-122"/>
                <a:cs typeface="Courier New" pitchFamily="34" charset="-120"/>
              </a:rPr>
              <a:t>10–0 · TRACK (0–127 on the default drum)</a:t>
            </a:r>
            <a:endParaRPr lang="en-US" sz="1800" dirty="0"/>
          </a:p>
        </p:txBody>
      </p:sp>
      <p:sp>
        <p:nvSpPr>
          <p:cNvPr id="26" name="Shape 24"/>
          <p:cNvSpPr/>
          <p:nvPr/>
        </p:nvSpPr>
        <p:spPr>
          <a:xfrm>
            <a:off x="4572000" y="6341745"/>
            <a:ext cx="12763500" cy="1120140"/>
          </a:xfrm>
          <a:prstGeom prst="rect">
            <a:avLst/>
          </a:prstGeom>
          <a:solidFill>
            <a:srgbClr val="2A2620"/>
          </a:solidFill>
          <a:ln/>
        </p:spPr>
      </p:sp>
      <p:sp>
        <p:nvSpPr>
          <p:cNvPr id="27" name="Text 25"/>
          <p:cNvSpPr/>
          <p:nvPr/>
        </p:nvSpPr>
        <p:spPr>
          <a:xfrm>
            <a:off x="4819650" y="6513195"/>
            <a:ext cx="12636246" cy="42672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E6DEC9"/>
                </a:solidFill>
                <a:latin typeface="Courier New" pitchFamily="34" charset="0"/>
                <a:ea typeface="Courier New" pitchFamily="34" charset="-122"/>
                <a:cs typeface="Courier New" pitchFamily="34" charset="-120"/>
              </a:rPr>
              <a:t>SAD ZIN 13; SHA ROT 13; RADD SA DD </a:t>
            </a:r>
            <a:pPr algn="l" indent="0" marL="0">
              <a:lnSpc>
                <a:spcPct val="150000"/>
              </a:lnSpc>
              <a:buNone/>
            </a:pPr>
            <a:r>
              <a:rPr lang="en-US" sz="1800" dirty="0">
                <a:solidFill>
                  <a:srgbClr val="8F8570"/>
                </a:solidFill>
                <a:latin typeface="Courier New" pitchFamily="34" charset="0"/>
                <a:ea typeface="Courier New" pitchFamily="34" charset="-122"/>
                <a:cs typeface="Courier New" pitchFamily="34" charset="-120"/>
              </a:rPr>
              <a:t>% FROM LINEAR D:</a:t>
            </a:r>
            <a:endParaRPr lang="en-US" sz="1800" dirty="0"/>
          </a:p>
        </p:txBody>
      </p:sp>
      <p:sp>
        <p:nvSpPr>
          <p:cNvPr id="28" name="Text 26"/>
          <p:cNvSpPr/>
          <p:nvPr/>
        </p:nvSpPr>
        <p:spPr>
          <a:xfrm>
            <a:off x="4819650" y="6901815"/>
            <a:ext cx="12636246" cy="42672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E6DEC9"/>
                </a:solidFill>
                <a:latin typeface="Courier New" pitchFamily="34" charset="0"/>
                <a:ea typeface="Courier New" pitchFamily="34" charset="-122"/>
                <a:cs typeface="Courier New" pitchFamily="34" charset="-120"/>
              </a:rPr>
              <a:t>SHA ROT 5; SAD 5 </a:t>
            </a:r>
            <a:pPr algn="l" indent="0" marL="0">
              <a:lnSpc>
                <a:spcPct val="150000"/>
              </a:lnSpc>
              <a:buNone/>
            </a:pPr>
            <a:r>
              <a:rPr lang="en-US" sz="1800" dirty="0">
                <a:solidFill>
                  <a:srgbClr val="8F8570"/>
                </a:solidFill>
                <a:latin typeface="Courier New" pitchFamily="34" charset="0"/>
                <a:ea typeface="Courier New" pitchFamily="34" charset="-122"/>
                <a:cs typeface="Courier New" pitchFamily="34" charset="-120"/>
              </a:rPr>
              <a:t>% SECTOR=D MOD 32 → 15-11, TRACK=D/32 → 10-0</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2EDE1"/>
        </a:solidFill>
      </p:bgPr>
    </p:bg>
    <p:spTree>
      <p:nvGrpSpPr>
        <p:cNvPr id="1" name=""/>
        <p:cNvGrpSpPr/>
        <p:nvPr/>
      </p:nvGrpSpPr>
      <p:grpSpPr>
        <a:xfrm>
          <a:off x="0" y="0"/>
          <a:ext cx="0" cy="0"/>
          <a:chOff x="0" y="0"/>
          <a:chExt cx="0" cy="0"/>
        </a:xfrm>
      </p:grpSpPr>
      <p:sp>
        <p:nvSpPr>
          <p:cNvPr id="2" name="Text 0"/>
          <p:cNvSpPr/>
          <p:nvPr/>
        </p:nvSpPr>
        <p:spPr>
          <a:xfrm>
            <a:off x="952500" y="762000"/>
            <a:ext cx="18021300" cy="33528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C8501E"/>
                </a:solidFill>
                <a:latin typeface="Courier New" pitchFamily="34" charset="0"/>
                <a:ea typeface="Courier New" pitchFamily="34" charset="-122"/>
                <a:cs typeface="Courier New" pitchFamily="34" charset="-120"/>
              </a:rPr>
              <a:t>SECTION 04 · THE DRUM · REGISTER DETAIL 2/3</a:t>
            </a:r>
            <a:endParaRPr lang="en-US" sz="1800" dirty="0"/>
          </a:p>
        </p:txBody>
      </p:sp>
      <p:sp>
        <p:nvSpPr>
          <p:cNvPr id="3" name="Text 1"/>
          <p:cNvSpPr/>
          <p:nvPr/>
        </p:nvSpPr>
        <p:spPr>
          <a:xfrm>
            <a:off x="952500" y="1211580"/>
            <a:ext cx="18021300" cy="666750"/>
          </a:xfrm>
          <a:prstGeom prst="rect">
            <a:avLst/>
          </a:prstGeom>
          <a:noFill/>
          <a:ln/>
        </p:spPr>
        <p:txBody>
          <a:bodyPr wrap="square" lIns="25400" tIns="25400" rIns="25400" bIns="25400" rtlCol="0" anchor="t">
            <a:normAutofit/>
          </a:bodyPr>
          <a:lstStyle/>
          <a:p>
            <a:pPr algn="l" indent="0" marL="0">
              <a:lnSpc>
                <a:spcPct val="97059"/>
              </a:lnSpc>
              <a:buNone/>
            </a:pPr>
            <a:r>
              <a:rPr lang="en-US" sz="4500" b="1" dirty="0">
                <a:solidFill>
                  <a:srgbClr val="211C14"/>
                </a:solidFill>
                <a:latin typeface="Courier New" pitchFamily="34" charset="0"/>
                <a:ea typeface="Courier New" pitchFamily="34" charset="-122"/>
                <a:cs typeface="Courier New" pitchFamily="34" charset="-120"/>
              </a:rPr>
              <a:t>Status Register </a:t>
            </a:r>
            <a:pPr algn="l" indent="0" marL="0">
              <a:lnSpc>
                <a:spcPct val="97059"/>
              </a:lnSpc>
              <a:buNone/>
            </a:pPr>
            <a:r>
              <a:rPr lang="en-US" sz="2700" dirty="0">
                <a:solidFill>
                  <a:srgbClr val="6B6252"/>
                </a:solidFill>
                <a:latin typeface="Courier New" pitchFamily="34" charset="0"/>
                <a:ea typeface="Courier New" pitchFamily="34" charset="-122"/>
                <a:cs typeface="Courier New" pitchFamily="34" charset="-120"/>
              </a:rPr>
              <a:t>544 RSX · read</a:t>
            </a:r>
            <a:endParaRPr lang="en-US" sz="4500" dirty="0"/>
          </a:p>
        </p:txBody>
      </p:sp>
      <p:sp>
        <p:nvSpPr>
          <p:cNvPr id="4" name="Shape 2"/>
          <p:cNvSpPr/>
          <p:nvPr/>
        </p:nvSpPr>
        <p:spPr>
          <a:xfrm>
            <a:off x="952500" y="1992630"/>
            <a:ext cx="16383000" cy="28575"/>
          </a:xfrm>
          <a:prstGeom prst="rect">
            <a:avLst/>
          </a:prstGeom>
          <a:solidFill>
            <a:srgbClr val="211C14"/>
          </a:solidFill>
          <a:ln/>
        </p:spPr>
      </p:sp>
      <p:sp>
        <p:nvSpPr>
          <p:cNvPr id="5" name="Shape 3"/>
          <p:cNvSpPr/>
          <p:nvPr/>
        </p:nvSpPr>
        <p:spPr>
          <a:xfrm>
            <a:off x="952500" y="2364105"/>
            <a:ext cx="7515106" cy="1188720"/>
          </a:xfrm>
          <a:prstGeom prst="rect">
            <a:avLst/>
          </a:prstGeom>
          <a:solidFill>
            <a:srgbClr val="E9E2CF"/>
          </a:solidFill>
          <a:ln w="15240">
            <a:solidFill>
              <a:srgbClr val="211C14"/>
            </a:solidFill>
            <a:prstDash val="solid"/>
          </a:ln>
        </p:spPr>
      </p:sp>
      <p:sp>
        <p:nvSpPr>
          <p:cNvPr id="6" name="Text 4"/>
          <p:cNvSpPr/>
          <p:nvPr/>
        </p:nvSpPr>
        <p:spPr>
          <a:xfrm>
            <a:off x="893113" y="2512695"/>
            <a:ext cx="7633879" cy="929640"/>
          </a:xfrm>
          <a:prstGeom prst="rect">
            <a:avLst/>
          </a:prstGeom>
          <a:noFill/>
          <a:ln/>
        </p:spPr>
        <p:txBody>
          <a:bodyPr wrap="square" lIns="25400" tIns="25400" rIns="25400" bIns="25400" rtlCol="0" anchor="t">
            <a:normAutofit/>
          </a:bodyPr>
          <a:lstStyle/>
          <a:p>
            <a:pPr algn="ctr" indent="0" marL="0">
              <a:buNone/>
            </a:pPr>
            <a:r>
              <a:rPr lang="en-US" sz="1800" dirty="0">
                <a:solidFill>
                  <a:srgbClr val="211C14"/>
                </a:solidFill>
                <a:highlight>
                  <a:srgbClr val="E9E2CF"/>
                </a:highlight>
                <a:latin typeface="Courier New" pitchFamily="34" charset="0"/>
                <a:ea typeface="Courier New" pitchFamily="34" charset="-122"/>
                <a:cs typeface="Courier New" pitchFamily="34" charset="-120"/>
              </a:rPr>
              <a:t>15–6 controller-specific — undocumented, returned to caller in X</a:t>
            </a:r>
            <a:endParaRPr lang="en-US" sz="1800" dirty="0"/>
          </a:p>
        </p:txBody>
      </p:sp>
      <p:sp>
        <p:nvSpPr>
          <p:cNvPr id="7" name="Shape 5"/>
          <p:cNvSpPr/>
          <p:nvPr/>
        </p:nvSpPr>
        <p:spPr>
          <a:xfrm>
            <a:off x="8467606" y="2364105"/>
            <a:ext cx="2165747" cy="1188720"/>
          </a:xfrm>
          <a:prstGeom prst="rect">
            <a:avLst/>
          </a:prstGeom>
          <a:solidFill>
            <a:srgbClr val="F7E3D4"/>
          </a:solidFill>
          <a:ln/>
        </p:spPr>
      </p:sp>
      <p:sp>
        <p:nvSpPr>
          <p:cNvPr id="8" name="Shape 6"/>
          <p:cNvSpPr/>
          <p:nvPr/>
        </p:nvSpPr>
        <p:spPr>
          <a:xfrm>
            <a:off x="8467606" y="3537585"/>
            <a:ext cx="2165747" cy="15240"/>
          </a:xfrm>
          <a:prstGeom prst="rect">
            <a:avLst/>
          </a:prstGeom>
          <a:solidFill>
            <a:srgbClr val="C8501E"/>
          </a:solidFill>
          <a:ln/>
        </p:spPr>
      </p:sp>
      <p:sp>
        <p:nvSpPr>
          <p:cNvPr id="9" name="Shape 7"/>
          <p:cNvSpPr/>
          <p:nvPr/>
        </p:nvSpPr>
        <p:spPr>
          <a:xfrm>
            <a:off x="8467606" y="2364105"/>
            <a:ext cx="2165747" cy="15240"/>
          </a:xfrm>
          <a:prstGeom prst="rect">
            <a:avLst/>
          </a:prstGeom>
          <a:solidFill>
            <a:srgbClr val="C8501E"/>
          </a:solidFill>
          <a:ln/>
        </p:spPr>
      </p:sp>
      <p:sp>
        <p:nvSpPr>
          <p:cNvPr id="10" name="Shape 8"/>
          <p:cNvSpPr/>
          <p:nvPr/>
        </p:nvSpPr>
        <p:spPr>
          <a:xfrm>
            <a:off x="10618113" y="2364105"/>
            <a:ext cx="15240" cy="1188720"/>
          </a:xfrm>
          <a:prstGeom prst="rect">
            <a:avLst/>
          </a:prstGeom>
          <a:solidFill>
            <a:srgbClr val="C8501E"/>
          </a:solidFill>
          <a:ln/>
        </p:spPr>
      </p:sp>
      <p:sp>
        <p:nvSpPr>
          <p:cNvPr id="11" name="Text 9"/>
          <p:cNvSpPr/>
          <p:nvPr/>
        </p:nvSpPr>
        <p:spPr>
          <a:xfrm>
            <a:off x="8467606" y="2512695"/>
            <a:ext cx="2150507" cy="929640"/>
          </a:xfrm>
          <a:prstGeom prst="rect">
            <a:avLst/>
          </a:prstGeom>
          <a:noFill/>
          <a:ln/>
        </p:spPr>
        <p:txBody>
          <a:bodyPr wrap="square" lIns="25400" tIns="25400" rIns="25400" bIns="25400" rtlCol="0" anchor="t">
            <a:normAutofit/>
          </a:bodyPr>
          <a:lstStyle/>
          <a:p>
            <a:pPr algn="ctr" indent="0" marL="0">
              <a:buNone/>
            </a:pPr>
            <a:r>
              <a:rPr lang="en-US" sz="1800" dirty="0">
                <a:solidFill>
                  <a:srgbClr val="A03E14"/>
                </a:solidFill>
                <a:highlight>
                  <a:srgbClr val="F7E3D4"/>
                </a:highlight>
                <a:latin typeface="Courier New" pitchFamily="34" charset="0"/>
                <a:ea typeface="Courier New" pitchFamily="34" charset="-122"/>
                <a:cs typeface="Courier New" pitchFamily="34" charset="-120"/>
              </a:rPr>
              <a:t>5 · ERR =40₈</a:t>
            </a:r>
            <a:endParaRPr lang="en-US" sz="1800" dirty="0"/>
          </a:p>
        </p:txBody>
      </p:sp>
      <p:sp>
        <p:nvSpPr>
          <p:cNvPr id="12" name="Shape 10"/>
          <p:cNvSpPr/>
          <p:nvPr/>
        </p:nvSpPr>
        <p:spPr>
          <a:xfrm>
            <a:off x="10633353" y="2364105"/>
            <a:ext cx="2165747" cy="1188720"/>
          </a:xfrm>
          <a:prstGeom prst="rect">
            <a:avLst/>
          </a:prstGeom>
          <a:solidFill>
            <a:srgbClr val="F7E3D4"/>
          </a:solidFill>
          <a:ln/>
        </p:spPr>
      </p:sp>
      <p:sp>
        <p:nvSpPr>
          <p:cNvPr id="13" name="Shape 11"/>
          <p:cNvSpPr/>
          <p:nvPr/>
        </p:nvSpPr>
        <p:spPr>
          <a:xfrm>
            <a:off x="10633353" y="3537585"/>
            <a:ext cx="2165747" cy="15240"/>
          </a:xfrm>
          <a:prstGeom prst="rect">
            <a:avLst/>
          </a:prstGeom>
          <a:solidFill>
            <a:srgbClr val="C8501E"/>
          </a:solidFill>
          <a:ln/>
        </p:spPr>
      </p:sp>
      <p:sp>
        <p:nvSpPr>
          <p:cNvPr id="14" name="Shape 12"/>
          <p:cNvSpPr/>
          <p:nvPr/>
        </p:nvSpPr>
        <p:spPr>
          <a:xfrm>
            <a:off x="10633353" y="2364105"/>
            <a:ext cx="2165747" cy="15240"/>
          </a:xfrm>
          <a:prstGeom prst="rect">
            <a:avLst/>
          </a:prstGeom>
          <a:solidFill>
            <a:srgbClr val="C8501E"/>
          </a:solidFill>
          <a:ln/>
        </p:spPr>
      </p:sp>
      <p:sp>
        <p:nvSpPr>
          <p:cNvPr id="15" name="Shape 13"/>
          <p:cNvSpPr/>
          <p:nvPr/>
        </p:nvSpPr>
        <p:spPr>
          <a:xfrm>
            <a:off x="12783860" y="2364105"/>
            <a:ext cx="15240" cy="1188720"/>
          </a:xfrm>
          <a:prstGeom prst="rect">
            <a:avLst/>
          </a:prstGeom>
          <a:solidFill>
            <a:srgbClr val="C8501E"/>
          </a:solidFill>
          <a:ln/>
        </p:spPr>
      </p:sp>
      <p:sp>
        <p:nvSpPr>
          <p:cNvPr id="16" name="Text 14"/>
          <p:cNvSpPr/>
          <p:nvPr/>
        </p:nvSpPr>
        <p:spPr>
          <a:xfrm>
            <a:off x="10633353" y="2512695"/>
            <a:ext cx="2150507" cy="929640"/>
          </a:xfrm>
          <a:prstGeom prst="rect">
            <a:avLst/>
          </a:prstGeom>
          <a:noFill/>
          <a:ln/>
        </p:spPr>
        <p:txBody>
          <a:bodyPr wrap="square" lIns="25400" tIns="25400" rIns="25400" bIns="25400" rtlCol="0" anchor="t">
            <a:normAutofit/>
          </a:bodyPr>
          <a:lstStyle/>
          <a:p>
            <a:pPr algn="ctr" indent="0" marL="0">
              <a:buNone/>
            </a:pPr>
            <a:r>
              <a:rPr lang="en-US" sz="1800" dirty="0">
                <a:solidFill>
                  <a:srgbClr val="A03E14"/>
                </a:solidFill>
                <a:highlight>
                  <a:srgbClr val="F7E3D4"/>
                </a:highlight>
                <a:latin typeface="Courier New" pitchFamily="34" charset="0"/>
                <a:ea typeface="Courier New" pitchFamily="34" charset="-122"/>
                <a:cs typeface="Courier New" pitchFamily="34" charset="-120"/>
              </a:rPr>
              <a:t>4 · DVA =20₈</a:t>
            </a:r>
            <a:endParaRPr lang="en-US" sz="1800" dirty="0"/>
          </a:p>
        </p:txBody>
      </p:sp>
      <p:sp>
        <p:nvSpPr>
          <p:cNvPr id="17" name="Shape 15"/>
          <p:cNvSpPr/>
          <p:nvPr/>
        </p:nvSpPr>
        <p:spPr>
          <a:xfrm>
            <a:off x="12799100" y="2364105"/>
            <a:ext cx="4536400" cy="1188720"/>
          </a:xfrm>
          <a:prstGeom prst="rect">
            <a:avLst/>
          </a:prstGeom>
          <a:solidFill>
            <a:srgbClr val="D8CFB6"/>
          </a:solidFill>
          <a:ln/>
        </p:spPr>
      </p:sp>
      <p:sp>
        <p:nvSpPr>
          <p:cNvPr id="18" name="Shape 16"/>
          <p:cNvSpPr/>
          <p:nvPr/>
        </p:nvSpPr>
        <p:spPr>
          <a:xfrm>
            <a:off x="12799100" y="3537585"/>
            <a:ext cx="4536400" cy="15240"/>
          </a:xfrm>
          <a:prstGeom prst="rect">
            <a:avLst/>
          </a:prstGeom>
          <a:solidFill>
            <a:srgbClr val="211C14"/>
          </a:solidFill>
          <a:ln/>
        </p:spPr>
      </p:sp>
      <p:sp>
        <p:nvSpPr>
          <p:cNvPr id="19" name="Shape 17"/>
          <p:cNvSpPr/>
          <p:nvPr/>
        </p:nvSpPr>
        <p:spPr>
          <a:xfrm>
            <a:off x="12799100" y="2364105"/>
            <a:ext cx="4536400" cy="15240"/>
          </a:xfrm>
          <a:prstGeom prst="rect">
            <a:avLst/>
          </a:prstGeom>
          <a:solidFill>
            <a:srgbClr val="211C14"/>
          </a:solidFill>
          <a:ln/>
        </p:spPr>
      </p:sp>
      <p:sp>
        <p:nvSpPr>
          <p:cNvPr id="20" name="Shape 18"/>
          <p:cNvSpPr/>
          <p:nvPr/>
        </p:nvSpPr>
        <p:spPr>
          <a:xfrm>
            <a:off x="17320261" y="2364105"/>
            <a:ext cx="15240" cy="1188720"/>
          </a:xfrm>
          <a:prstGeom prst="rect">
            <a:avLst/>
          </a:prstGeom>
          <a:solidFill>
            <a:srgbClr val="211C14"/>
          </a:solidFill>
          <a:ln/>
        </p:spPr>
      </p:sp>
      <p:sp>
        <p:nvSpPr>
          <p:cNvPr id="21" name="Text 19"/>
          <p:cNvSpPr/>
          <p:nvPr/>
        </p:nvSpPr>
        <p:spPr>
          <a:xfrm>
            <a:off x="12769154" y="2512695"/>
            <a:ext cx="4581052" cy="929640"/>
          </a:xfrm>
          <a:prstGeom prst="rect">
            <a:avLst/>
          </a:prstGeom>
          <a:noFill/>
          <a:ln/>
        </p:spPr>
        <p:txBody>
          <a:bodyPr wrap="square" lIns="25400" tIns="25400" rIns="25400" bIns="25400" rtlCol="0" anchor="t">
            <a:normAutofit/>
          </a:bodyPr>
          <a:lstStyle/>
          <a:p>
            <a:pPr algn="ctr" indent="0" marL="0">
              <a:buNone/>
            </a:pPr>
            <a:r>
              <a:rPr lang="en-US" sz="1800" dirty="0">
                <a:solidFill>
                  <a:srgbClr val="211C14"/>
                </a:solidFill>
                <a:highlight>
                  <a:srgbClr val="D8CFB6"/>
                </a:highlight>
                <a:latin typeface="Courier New" pitchFamily="34" charset="0"/>
                <a:ea typeface="Courier New" pitchFamily="34" charset="-122"/>
                <a:cs typeface="Courier New" pitchFamily="34" charset="-120"/>
              </a:rPr>
              <a:t>3–0 (&amp; 4) FUNCTION ECHO · mask 37₈</a:t>
            </a:r>
            <a:endParaRPr lang="en-US" sz="1800" dirty="0"/>
          </a:p>
        </p:txBody>
      </p:sp>
      <p:sp>
        <p:nvSpPr>
          <p:cNvPr id="22" name="Shape 20"/>
          <p:cNvSpPr/>
          <p:nvPr/>
        </p:nvSpPr>
        <p:spPr>
          <a:xfrm>
            <a:off x="952500" y="4939665"/>
            <a:ext cx="16383000" cy="9525"/>
          </a:xfrm>
          <a:prstGeom prst="rect">
            <a:avLst/>
          </a:prstGeom>
          <a:solidFill>
            <a:srgbClr val="CEC4AD"/>
          </a:solidFill>
          <a:ln/>
        </p:spPr>
      </p:sp>
      <p:sp>
        <p:nvSpPr>
          <p:cNvPr id="23" name="Text 21"/>
          <p:cNvSpPr/>
          <p:nvPr/>
        </p:nvSpPr>
        <p:spPr>
          <a:xfrm>
            <a:off x="952500" y="4120515"/>
            <a:ext cx="2619375"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A03E14"/>
                </a:solidFill>
                <a:latin typeface="Courier New" pitchFamily="34" charset="0"/>
                <a:ea typeface="Courier New" pitchFamily="34" charset="-122"/>
                <a:cs typeface="Courier New" pitchFamily="34" charset="-120"/>
              </a:rPr>
              <a:t>bit 4 · DVA</a:t>
            </a:r>
            <a:endParaRPr lang="en-US" sz="2100" dirty="0"/>
          </a:p>
        </p:txBody>
      </p:sp>
      <p:sp>
        <p:nvSpPr>
          <p:cNvPr id="24" name="Text 22"/>
          <p:cNvSpPr/>
          <p:nvPr/>
        </p:nvSpPr>
        <p:spPr>
          <a:xfrm>
            <a:off x="3619500" y="4067175"/>
            <a:ext cx="14127480" cy="739140"/>
          </a:xfrm>
          <a:prstGeom prst="rect">
            <a:avLst/>
          </a:prstGeom>
          <a:noFill/>
          <a:ln/>
        </p:spPr>
        <p:txBody>
          <a:bodyPr wrap="square" lIns="25400" tIns="25400" rIns="25400" bIns="25400" rtlCol="0" anchor="t">
            <a:normAutofit/>
          </a:bodyPr>
          <a:lstStyle/>
          <a:p>
            <a:pPr algn="l" indent="0" marL="0">
              <a:buNone/>
            </a:pPr>
            <a:r>
              <a:rPr lang="en-US" sz="2100" b="1" dirty="0">
                <a:solidFill>
                  <a:srgbClr val="211C14"/>
                </a:solidFill>
                <a:latin typeface="Arial" pitchFamily="34" charset="0"/>
                <a:ea typeface="Arial" pitchFamily="34" charset="-122"/>
                <a:cs typeface="Arial" pitchFamily="34" charset="-120"/>
              </a:rPr>
              <a:t>Device active </a:t>
            </a:r>
            <a:pPr algn="l" indent="0" marL="0">
              <a:buNone/>
            </a:pPr>
            <a:r>
              <a:rPr lang="en-US" sz="2100" dirty="0">
                <a:solidFill>
                  <a:srgbClr val="211C14"/>
                </a:solidFill>
                <a:latin typeface="Arial" pitchFamily="34" charset="0"/>
                <a:ea typeface="Arial" pitchFamily="34" charset="-122"/>
                <a:cs typeface="Arial" pitchFamily="34" charset="-120"/>
              </a:rPr>
              <a:t>— operation in progress. Driver: </a:t>
            </a:r>
            <a:pPr algn="l" indent="0" marL="0">
              <a:buNone/>
            </a:pPr>
            <a:r>
              <a:rPr lang="en-US" sz="1875" dirty="0">
                <a:solidFill>
                  <a:srgbClr val="211C14"/>
                </a:solidFill>
                <a:latin typeface="Courier New" pitchFamily="34" charset="0"/>
                <a:ea typeface="Courier New" pitchFamily="34" charset="-122"/>
                <a:cs typeface="Courier New" pitchFamily="34" charset="-120"/>
              </a:rPr>
              <a:t>BSKP ZRO DVA DA → JMP DBUSY </a:t>
            </a:r>
            <a:pPr algn="l" indent="0" marL="0">
              <a:buNone/>
            </a:pPr>
            <a:r>
              <a:rPr lang="en-US" sz="2100" dirty="0">
                <a:solidFill>
                  <a:srgbClr val="211C14"/>
                </a:solidFill>
                <a:latin typeface="Arial" pitchFamily="34" charset="0"/>
                <a:ea typeface="Arial" pitchFamily="34" charset="-122"/>
                <a:cs typeface="Arial" pitchFamily="34" charset="-120"/>
              </a:rPr>
              <a:t>— restore registers, take the </a:t>
            </a:r>
            <a:pPr algn="l" indent="0" marL="0">
              <a:buNone/>
            </a:pPr>
            <a:r>
              <a:rPr lang="en-US" sz="2100" b="1" dirty="0">
                <a:solidFill>
                  <a:srgbClr val="211C14"/>
                </a:solidFill>
                <a:latin typeface="Arial" pitchFamily="34" charset="0"/>
                <a:ea typeface="Arial" pitchFamily="34" charset="-122"/>
                <a:cs typeface="Arial" pitchFamily="34" charset="-120"/>
              </a:rPr>
              <a:t>busy exit </a:t>
            </a:r>
            <a:pPr algn="l" indent="0" marL="0">
              <a:buNone/>
            </a:pPr>
            <a:r>
              <a:rPr lang="en-US" sz="2100" dirty="0">
                <a:solidFill>
                  <a:srgbClr val="211C14"/>
                </a:solidFill>
                <a:latin typeface="Arial" pitchFamily="34" charset="0"/>
                <a:ea typeface="Arial" pitchFamily="34" charset="-122"/>
                <a:cs typeface="Arial" pitchFamily="34" charset="-120"/>
              </a:rPr>
              <a:t>, caller re-calls after the interrupt.</a:t>
            </a:r>
            <a:endParaRPr lang="en-US" sz="2100" dirty="0"/>
          </a:p>
        </p:txBody>
      </p:sp>
      <p:sp>
        <p:nvSpPr>
          <p:cNvPr id="25" name="Shape 23"/>
          <p:cNvSpPr/>
          <p:nvPr/>
        </p:nvSpPr>
        <p:spPr>
          <a:xfrm>
            <a:off x="952500" y="5991225"/>
            <a:ext cx="16383000" cy="9525"/>
          </a:xfrm>
          <a:prstGeom prst="rect">
            <a:avLst/>
          </a:prstGeom>
          <a:solidFill>
            <a:srgbClr val="CEC4AD"/>
          </a:solidFill>
          <a:ln/>
        </p:spPr>
      </p:sp>
      <p:sp>
        <p:nvSpPr>
          <p:cNvPr id="26" name="Text 24"/>
          <p:cNvSpPr/>
          <p:nvPr/>
        </p:nvSpPr>
        <p:spPr>
          <a:xfrm>
            <a:off x="952500" y="5172075"/>
            <a:ext cx="2619375"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A03E14"/>
                </a:solidFill>
                <a:latin typeface="Courier New" pitchFamily="34" charset="0"/>
                <a:ea typeface="Courier New" pitchFamily="34" charset="-122"/>
                <a:cs typeface="Courier New" pitchFamily="34" charset="-120"/>
              </a:rPr>
              <a:t>bit 5 · ERR</a:t>
            </a:r>
            <a:endParaRPr lang="en-US" sz="2100" dirty="0"/>
          </a:p>
        </p:txBody>
      </p:sp>
      <p:sp>
        <p:nvSpPr>
          <p:cNvPr id="27" name="Text 25"/>
          <p:cNvSpPr/>
          <p:nvPr/>
        </p:nvSpPr>
        <p:spPr>
          <a:xfrm>
            <a:off x="3619500" y="5118735"/>
            <a:ext cx="14127480" cy="739140"/>
          </a:xfrm>
          <a:prstGeom prst="rect">
            <a:avLst/>
          </a:prstGeom>
          <a:noFill/>
          <a:ln/>
        </p:spPr>
        <p:txBody>
          <a:bodyPr wrap="square" lIns="25400" tIns="25400" rIns="25400" bIns="25400" rtlCol="0" anchor="t">
            <a:normAutofit/>
          </a:bodyPr>
          <a:lstStyle/>
          <a:p>
            <a:pPr algn="l" indent="0" marL="0">
              <a:buNone/>
            </a:pPr>
            <a:r>
              <a:rPr lang="en-US" sz="2100" b="1" dirty="0">
                <a:solidFill>
                  <a:srgbClr val="211C14"/>
                </a:solidFill>
                <a:latin typeface="Arial" pitchFamily="34" charset="0"/>
                <a:ea typeface="Arial" pitchFamily="34" charset="-122"/>
                <a:cs typeface="Arial" pitchFamily="34" charset="-120"/>
              </a:rPr>
              <a:t>Inclusive OR of all errors</a:t>
            </a:r>
            <a:pPr algn="l" indent="0" marL="0">
              <a:buNone/>
            </a:pPr>
            <a:r>
              <a:rPr lang="en-US" sz="2100" dirty="0">
                <a:solidFill>
                  <a:srgbClr val="211C14"/>
                </a:solidFill>
                <a:latin typeface="Arial" pitchFamily="34" charset="0"/>
                <a:ea typeface="Arial" pitchFamily="34" charset="-122"/>
                <a:cs typeface="Arial" pitchFamily="34" charset="-120"/>
              </a:rPr>
              <a:t>. Driver: </a:t>
            </a:r>
            <a:pPr algn="l" indent="0" marL="0">
              <a:buNone/>
            </a:pPr>
            <a:r>
              <a:rPr lang="en-US" sz="1875" dirty="0">
                <a:solidFill>
                  <a:srgbClr val="211C14"/>
                </a:solidFill>
                <a:latin typeface="Courier New" pitchFamily="34" charset="0"/>
                <a:ea typeface="Courier New" pitchFamily="34" charset="-122"/>
                <a:cs typeface="Courier New" pitchFamily="34" charset="-120"/>
              </a:rPr>
              <a:t>BSKP ZRO ERR DA → JMP DERRO </a:t>
            </a:r>
            <a:pPr algn="l" indent="0" marL="0">
              <a:buNone/>
            </a:pPr>
            <a:r>
              <a:rPr lang="en-US" sz="2100" dirty="0">
                <a:solidFill>
                  <a:srgbClr val="211C14"/>
                </a:solidFill>
                <a:latin typeface="Arial" pitchFamily="34" charset="0"/>
                <a:ea typeface="Arial" pitchFamily="34" charset="-122"/>
                <a:cs typeface="Arial" pitchFamily="34" charset="-120"/>
              </a:rPr>
              <a:t>— status → X, device clear, </a:t>
            </a:r>
            <a:pPr algn="l" indent="0" marL="0">
              <a:buNone/>
            </a:pPr>
            <a:r>
              <a:rPr lang="en-US" sz="2100" b="1" dirty="0">
                <a:solidFill>
                  <a:srgbClr val="211C14"/>
                </a:solidFill>
                <a:latin typeface="Arial" pitchFamily="34" charset="0"/>
                <a:ea typeface="Arial" pitchFamily="34" charset="-122"/>
                <a:cs typeface="Arial" pitchFamily="34" charset="-120"/>
              </a:rPr>
              <a:t>error exit </a:t>
            </a:r>
            <a:pPr algn="l" indent="0" marL="0">
              <a:buNone/>
            </a:pPr>
            <a:r>
              <a:rPr lang="en-US" sz="2100" dirty="0">
                <a:solidFill>
                  <a:srgbClr val="211C14"/>
                </a:solidFill>
                <a:latin typeface="Arial" pitchFamily="34" charset="0"/>
                <a:ea typeface="Arial" pitchFamily="34" charset="-122"/>
                <a:cs typeface="Arial" pitchFamily="34" charset="-120"/>
              </a:rPr>
              <a:t>. Individual error causes (parity, timing, address) are controller detail — no manual survives.</a:t>
            </a:r>
            <a:endParaRPr lang="en-US" sz="2100" dirty="0"/>
          </a:p>
        </p:txBody>
      </p:sp>
      <p:sp>
        <p:nvSpPr>
          <p:cNvPr id="28" name="Shape 26"/>
          <p:cNvSpPr/>
          <p:nvPr/>
        </p:nvSpPr>
        <p:spPr>
          <a:xfrm>
            <a:off x="952500" y="7042785"/>
            <a:ext cx="16383000" cy="9525"/>
          </a:xfrm>
          <a:prstGeom prst="rect">
            <a:avLst/>
          </a:prstGeom>
          <a:solidFill>
            <a:srgbClr val="CEC4AD"/>
          </a:solidFill>
          <a:ln/>
        </p:spPr>
      </p:sp>
      <p:sp>
        <p:nvSpPr>
          <p:cNvPr id="29" name="Text 27"/>
          <p:cNvSpPr/>
          <p:nvPr/>
        </p:nvSpPr>
        <p:spPr>
          <a:xfrm>
            <a:off x="952500" y="6223635"/>
            <a:ext cx="2619375"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211C14"/>
                </a:solidFill>
                <a:latin typeface="Courier New" pitchFamily="34" charset="0"/>
                <a:ea typeface="Courier New" pitchFamily="34" charset="-122"/>
                <a:cs typeface="Courier New" pitchFamily="34" charset="-120"/>
              </a:rPr>
              <a:t>bits 4–0 echo</a:t>
            </a:r>
            <a:endParaRPr lang="en-US" sz="2100" dirty="0"/>
          </a:p>
        </p:txBody>
      </p:sp>
      <p:sp>
        <p:nvSpPr>
          <p:cNvPr id="30" name="Text 28"/>
          <p:cNvSpPr/>
          <p:nvPr/>
        </p:nvSpPr>
        <p:spPr>
          <a:xfrm>
            <a:off x="3619500" y="6170295"/>
            <a:ext cx="14127480" cy="739140"/>
          </a:xfrm>
          <a:prstGeom prst="rect">
            <a:avLst/>
          </a:prstGeom>
          <a:noFill/>
          <a:ln/>
        </p:spPr>
        <p:txBody>
          <a:bodyPr wrap="square" lIns="25400" tIns="25400" rIns="25400" bIns="25400" rtlCol="0" anchor="t">
            <a:normAutofit/>
          </a:bodyPr>
          <a:lstStyle/>
          <a:p>
            <a:pPr algn="l" indent="0" marL="0">
              <a:buNone/>
            </a:pPr>
            <a:r>
              <a:rPr lang="en-US" sz="2100" dirty="0">
                <a:solidFill>
                  <a:srgbClr val="211C14"/>
                </a:solidFill>
                <a:latin typeface="Arial" pitchFamily="34" charset="0"/>
                <a:ea typeface="Arial" pitchFamily="34" charset="-122"/>
                <a:cs typeface="Arial" pitchFamily="34" charset="-120"/>
              </a:rPr>
              <a:t>Readback of the last </a:t>
            </a:r>
            <a:pPr algn="l" indent="0" marL="0">
              <a:buNone/>
            </a:pPr>
            <a:r>
              <a:rPr lang="en-US" sz="2100" b="1" dirty="0">
                <a:solidFill>
                  <a:srgbClr val="211C14"/>
                </a:solidFill>
                <a:latin typeface="Arial" pitchFamily="34" charset="0"/>
                <a:ea typeface="Arial" pitchFamily="34" charset="-122"/>
                <a:cs typeface="Arial" pitchFamily="34" charset="-120"/>
              </a:rPr>
              <a:t>function code</a:t>
            </a:r>
            <a:pPr algn="l" indent="0" marL="0">
              <a:buNone/>
            </a:pPr>
            <a:r>
              <a:rPr lang="en-US" sz="2100" dirty="0">
                <a:solidFill>
                  <a:srgbClr val="211C14"/>
                </a:solidFill>
                <a:latin typeface="Arial" pitchFamily="34" charset="0"/>
                <a:ea typeface="Arial" pitchFamily="34" charset="-122"/>
                <a:cs typeface="Arial" pitchFamily="34" charset="-120"/>
              </a:rPr>
              <a:t>. Driver: </a:t>
            </a:r>
            <a:pPr algn="l" indent="0" marL="0">
              <a:buNone/>
            </a:pPr>
            <a:r>
              <a:rPr lang="en-US" sz="1875" dirty="0">
                <a:solidFill>
                  <a:srgbClr val="211C14"/>
                </a:solidFill>
                <a:latin typeface="Courier New" pitchFamily="34" charset="0"/>
                <a:ea typeface="Courier New" pitchFamily="34" charset="-122"/>
                <a:cs typeface="Courier New" pitchFamily="34" charset="-120"/>
              </a:rPr>
              <a:t>SAA 37; RAND ST DA</a:t>
            </a:r>
            <a:pPr algn="l" indent="0" marL="0">
              <a:buNone/>
            </a:pPr>
            <a:r>
              <a:rPr lang="en-US" sz="2100" dirty="0">
                <a:solidFill>
                  <a:srgbClr val="211C14"/>
                </a:solidFill>
                <a:latin typeface="Arial" pitchFamily="34" charset="0"/>
                <a:ea typeface="Arial" pitchFamily="34" charset="-122"/>
                <a:cs typeface="Arial" pitchFamily="34" charset="-120"/>
              </a:rPr>
              <a:t>, then </a:t>
            </a:r>
            <a:pPr algn="l" indent="0" marL="0">
              <a:buNone/>
            </a:pPr>
            <a:r>
              <a:rPr lang="en-US" sz="1875" dirty="0">
                <a:solidFill>
                  <a:srgbClr val="211C14"/>
                </a:solidFill>
                <a:latin typeface="Courier New" pitchFamily="34" charset="0"/>
                <a:ea typeface="Courier New" pitchFamily="34" charset="-122"/>
                <a:cs typeface="Courier New" pitchFamily="34" charset="-120"/>
              </a:rPr>
              <a:t>AAA -20; JAZ DRDS1 </a:t>
            </a:r>
            <a:pPr algn="l" indent="0" marL="0">
              <a:buNone/>
            </a:pPr>
            <a:r>
              <a:rPr lang="en-US" sz="2100" dirty="0">
                <a:solidFill>
                  <a:srgbClr val="211C14"/>
                </a:solidFill>
                <a:latin typeface="Arial" pitchFamily="34" charset="0"/>
                <a:ea typeface="Arial" pitchFamily="34" charset="-122"/>
                <a:cs typeface="Arial" pitchFamily="34" charset="-120"/>
              </a:rPr>
              <a:t>(was it READ STATUS = 20₈? → finished) and </a:t>
            </a:r>
            <a:pPr algn="l" indent="0" marL="0">
              <a:buNone/>
            </a:pPr>
            <a:r>
              <a:rPr lang="en-US" sz="1875" dirty="0">
                <a:solidFill>
                  <a:srgbClr val="211C14"/>
                </a:solidFill>
                <a:latin typeface="Courier New" pitchFamily="34" charset="0"/>
                <a:ea typeface="Courier New" pitchFamily="34" charset="-122"/>
                <a:cs typeface="Courier New" pitchFamily="34" charset="-120"/>
              </a:rPr>
              <a:t>AAA 14; JAP DRILL </a:t>
            </a:r>
            <a:pPr algn="l" indent="0" marL="0">
              <a:buNone/>
            </a:pPr>
            <a:r>
              <a:rPr lang="en-US" sz="2100" dirty="0">
                <a:solidFill>
                  <a:srgbClr val="211C14"/>
                </a:solidFill>
                <a:latin typeface="Arial" pitchFamily="34" charset="0"/>
                <a:ea typeface="Arial" pitchFamily="34" charset="-122"/>
                <a:cs typeface="Arial" pitchFamily="34" charset="-120"/>
              </a:rPr>
              <a:t>(&gt; 3 → illegal function, error exit with X = −1).</a:t>
            </a:r>
            <a:endParaRPr lang="en-US" sz="2100" dirty="0"/>
          </a:p>
        </p:txBody>
      </p:sp>
      <p:sp>
        <p:nvSpPr>
          <p:cNvPr id="31" name="Text 29"/>
          <p:cNvSpPr/>
          <p:nvPr/>
        </p:nvSpPr>
        <p:spPr>
          <a:xfrm>
            <a:off x="952500" y="7275195"/>
            <a:ext cx="2619375"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211C14"/>
                </a:solidFill>
                <a:latin typeface="Courier New" pitchFamily="34" charset="0"/>
                <a:ea typeface="Courier New" pitchFamily="34" charset="-122"/>
                <a:cs typeface="Courier New" pitchFamily="34" charset="-120"/>
              </a:rPr>
              <a:t>whole word</a:t>
            </a:r>
            <a:endParaRPr lang="en-US" sz="2100" dirty="0"/>
          </a:p>
        </p:txBody>
      </p:sp>
      <p:sp>
        <p:nvSpPr>
          <p:cNvPr id="32" name="Text 30"/>
          <p:cNvSpPr/>
          <p:nvPr/>
        </p:nvSpPr>
        <p:spPr>
          <a:xfrm>
            <a:off x="3619500" y="7221855"/>
            <a:ext cx="15087600" cy="388620"/>
          </a:xfrm>
          <a:prstGeom prst="rect">
            <a:avLst/>
          </a:prstGeom>
          <a:noFill/>
          <a:ln/>
        </p:spPr>
        <p:txBody>
          <a:bodyPr wrap="square" lIns="25400" tIns="25400" rIns="25400" bIns="25400" rtlCol="0" anchor="t">
            <a:normAutofit/>
          </a:bodyPr>
          <a:lstStyle/>
          <a:p>
            <a:pPr algn="l" indent="0" marL="0">
              <a:buNone/>
            </a:pPr>
            <a:r>
              <a:rPr lang="en-US" sz="2100" dirty="0">
                <a:solidFill>
                  <a:srgbClr val="211C14"/>
                </a:solidFill>
                <a:latin typeface="Arial" pitchFamily="34" charset="0"/>
                <a:ea typeface="Arial" pitchFamily="34" charset="-122"/>
                <a:cs typeface="Arial" pitchFamily="34" charset="-120"/>
              </a:rPr>
              <a:t>Returned in </a:t>
            </a:r>
            <a:pPr algn="l" indent="0" marL="0">
              <a:buNone/>
            </a:pPr>
            <a:r>
              <a:rPr lang="en-US" sz="2100" b="1" dirty="0">
                <a:solidFill>
                  <a:srgbClr val="211C14"/>
                </a:solidFill>
                <a:latin typeface="Arial" pitchFamily="34" charset="0"/>
                <a:ea typeface="Arial" pitchFamily="34" charset="-122"/>
                <a:cs typeface="Arial" pitchFamily="34" charset="-120"/>
              </a:rPr>
              <a:t>X </a:t>
            </a:r>
            <a:pPr algn="l" indent="0" marL="0">
              <a:buNone/>
            </a:pPr>
            <a:r>
              <a:rPr lang="en-US" sz="2100" dirty="0">
                <a:solidFill>
                  <a:srgbClr val="211C14"/>
                </a:solidFill>
                <a:latin typeface="Arial" pitchFamily="34" charset="0"/>
                <a:ea typeface="Arial" pitchFamily="34" charset="-122"/>
                <a:cs typeface="Arial" pitchFamily="34" charset="-120"/>
              </a:rPr>
              <a:t>on both the error and the finished exit — the caller sees exactly what the controller reported.</a:t>
            </a:r>
            <a:endParaRPr lang="en-US" sz="2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2EDE1"/>
        </a:solidFill>
      </p:bgPr>
    </p:bg>
    <p:spTree>
      <p:nvGrpSpPr>
        <p:cNvPr id="1" name=""/>
        <p:cNvGrpSpPr/>
        <p:nvPr/>
      </p:nvGrpSpPr>
      <p:grpSpPr>
        <a:xfrm>
          <a:off x="0" y="0"/>
          <a:ext cx="0" cy="0"/>
          <a:chOff x="0" y="0"/>
          <a:chExt cx="0" cy="0"/>
        </a:xfrm>
      </p:grpSpPr>
      <p:sp>
        <p:nvSpPr>
          <p:cNvPr id="2" name="Text 0"/>
          <p:cNvSpPr/>
          <p:nvPr/>
        </p:nvSpPr>
        <p:spPr>
          <a:xfrm>
            <a:off x="952500" y="609600"/>
            <a:ext cx="18021300" cy="33528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C8501E"/>
                </a:solidFill>
                <a:latin typeface="Courier New" pitchFamily="34" charset="0"/>
                <a:ea typeface="Courier New" pitchFamily="34" charset="-122"/>
                <a:cs typeface="Courier New" pitchFamily="34" charset="-120"/>
              </a:rPr>
              <a:t>SECTION 04 · THE DRUM · REGISTER DETAIL 3/3</a:t>
            </a:r>
            <a:endParaRPr lang="en-US" sz="1800" dirty="0"/>
          </a:p>
        </p:txBody>
      </p:sp>
      <p:sp>
        <p:nvSpPr>
          <p:cNvPr id="3" name="Text 1"/>
          <p:cNvSpPr/>
          <p:nvPr/>
        </p:nvSpPr>
        <p:spPr>
          <a:xfrm>
            <a:off x="952500" y="1021080"/>
            <a:ext cx="18021300" cy="666750"/>
          </a:xfrm>
          <a:prstGeom prst="rect">
            <a:avLst/>
          </a:prstGeom>
          <a:noFill/>
          <a:ln/>
        </p:spPr>
        <p:txBody>
          <a:bodyPr wrap="square" lIns="25400" tIns="25400" rIns="25400" bIns="25400" rtlCol="0" anchor="t">
            <a:normAutofit/>
          </a:bodyPr>
          <a:lstStyle/>
          <a:p>
            <a:pPr algn="l" indent="0" marL="0">
              <a:lnSpc>
                <a:spcPct val="97059"/>
              </a:lnSpc>
              <a:buNone/>
            </a:pPr>
            <a:r>
              <a:rPr lang="en-US" sz="4500" b="1" dirty="0">
                <a:solidFill>
                  <a:srgbClr val="211C14"/>
                </a:solidFill>
                <a:latin typeface="Courier New" pitchFamily="34" charset="0"/>
                <a:ea typeface="Courier New" pitchFamily="34" charset="-122"/>
                <a:cs typeface="Courier New" pitchFamily="34" charset="-120"/>
              </a:rPr>
              <a:t>Control Register </a:t>
            </a:r>
            <a:pPr algn="l" indent="0" marL="0">
              <a:lnSpc>
                <a:spcPct val="97059"/>
              </a:lnSpc>
              <a:buNone/>
            </a:pPr>
            <a:r>
              <a:rPr lang="en-US" sz="2700" dirty="0">
                <a:solidFill>
                  <a:srgbClr val="6B6252"/>
                </a:solidFill>
                <a:latin typeface="Courier New" pitchFamily="34" charset="0"/>
                <a:ea typeface="Courier New" pitchFamily="34" charset="-122"/>
                <a:cs typeface="Courier New" pitchFamily="34" charset="-120"/>
              </a:rPr>
              <a:t>545 LCR · write = GO</a:t>
            </a:r>
            <a:endParaRPr lang="en-US" sz="4500" dirty="0"/>
          </a:p>
        </p:txBody>
      </p:sp>
      <p:sp>
        <p:nvSpPr>
          <p:cNvPr id="4" name="Shape 2"/>
          <p:cNvSpPr/>
          <p:nvPr/>
        </p:nvSpPr>
        <p:spPr>
          <a:xfrm>
            <a:off x="952500" y="1764030"/>
            <a:ext cx="16383000" cy="28575"/>
          </a:xfrm>
          <a:prstGeom prst="rect">
            <a:avLst/>
          </a:prstGeom>
          <a:solidFill>
            <a:srgbClr val="211C14"/>
          </a:solidFill>
          <a:ln/>
        </p:spPr>
      </p:sp>
      <p:sp>
        <p:nvSpPr>
          <p:cNvPr id="5" name="Shape 3"/>
          <p:cNvSpPr/>
          <p:nvPr/>
        </p:nvSpPr>
        <p:spPr>
          <a:xfrm>
            <a:off x="952500" y="2040255"/>
            <a:ext cx="1069896" cy="872490"/>
          </a:xfrm>
          <a:prstGeom prst="rect">
            <a:avLst/>
          </a:prstGeom>
          <a:solidFill>
            <a:srgbClr val="E9E2CF"/>
          </a:solidFill>
          <a:ln w="15240">
            <a:solidFill>
              <a:srgbClr val="211C14"/>
            </a:solidFill>
            <a:prstDash val="solid"/>
          </a:ln>
        </p:spPr>
      </p:sp>
      <p:sp>
        <p:nvSpPr>
          <p:cNvPr id="6" name="Text 4"/>
          <p:cNvSpPr/>
          <p:nvPr/>
        </p:nvSpPr>
        <p:spPr>
          <a:xfrm>
            <a:off x="958215" y="2179320"/>
            <a:ext cx="1058466" cy="632460"/>
          </a:xfrm>
          <a:prstGeom prst="rect">
            <a:avLst/>
          </a:prstGeom>
          <a:noFill/>
          <a:ln/>
        </p:spPr>
        <p:txBody>
          <a:bodyPr wrap="square" lIns="25400" tIns="25400" rIns="25400" bIns="25400" rtlCol="0" anchor="t">
            <a:normAutofit/>
          </a:bodyPr>
          <a:lstStyle/>
          <a:p>
            <a:pPr algn="ctr" indent="0" marL="0">
              <a:buNone/>
            </a:pPr>
            <a:r>
              <a:rPr lang="en-US" sz="1800" dirty="0">
                <a:solidFill>
                  <a:srgbClr val="211C14"/>
                </a:solidFill>
                <a:highlight>
                  <a:srgbClr val="E9E2CF"/>
                </a:highlight>
                <a:latin typeface="Courier New" pitchFamily="34" charset="0"/>
                <a:ea typeface="Courier New" pitchFamily="34" charset="-122"/>
                <a:cs typeface="Courier New" pitchFamily="34" charset="-120"/>
              </a:rPr>
              <a:t>15 —</a:t>
            </a:r>
            <a:endParaRPr lang="en-US" sz="1800" dirty="0"/>
          </a:p>
        </p:txBody>
      </p:sp>
      <p:sp>
        <p:nvSpPr>
          <p:cNvPr id="7" name="Shape 5"/>
          <p:cNvSpPr/>
          <p:nvPr/>
        </p:nvSpPr>
        <p:spPr>
          <a:xfrm>
            <a:off x="2022396" y="2040255"/>
            <a:ext cx="2036921" cy="872490"/>
          </a:xfrm>
          <a:prstGeom prst="rect">
            <a:avLst/>
          </a:prstGeom>
          <a:solidFill>
            <a:srgbClr val="F7E3D4"/>
          </a:solidFill>
          <a:ln/>
        </p:spPr>
      </p:sp>
      <p:sp>
        <p:nvSpPr>
          <p:cNvPr id="8" name="Shape 6"/>
          <p:cNvSpPr/>
          <p:nvPr/>
        </p:nvSpPr>
        <p:spPr>
          <a:xfrm>
            <a:off x="2022396" y="2897505"/>
            <a:ext cx="2036921" cy="15240"/>
          </a:xfrm>
          <a:prstGeom prst="rect">
            <a:avLst/>
          </a:prstGeom>
          <a:solidFill>
            <a:srgbClr val="C8501E"/>
          </a:solidFill>
          <a:ln/>
        </p:spPr>
      </p:sp>
      <p:sp>
        <p:nvSpPr>
          <p:cNvPr id="9" name="Shape 7"/>
          <p:cNvSpPr/>
          <p:nvPr/>
        </p:nvSpPr>
        <p:spPr>
          <a:xfrm>
            <a:off x="2022396" y="2040255"/>
            <a:ext cx="2036921" cy="15240"/>
          </a:xfrm>
          <a:prstGeom prst="rect">
            <a:avLst/>
          </a:prstGeom>
          <a:solidFill>
            <a:srgbClr val="C8501E"/>
          </a:solidFill>
          <a:ln/>
        </p:spPr>
      </p:sp>
      <p:sp>
        <p:nvSpPr>
          <p:cNvPr id="10" name="Shape 8"/>
          <p:cNvSpPr/>
          <p:nvPr/>
        </p:nvSpPr>
        <p:spPr>
          <a:xfrm>
            <a:off x="4044077" y="2040255"/>
            <a:ext cx="15240" cy="872490"/>
          </a:xfrm>
          <a:prstGeom prst="rect">
            <a:avLst/>
          </a:prstGeom>
          <a:solidFill>
            <a:srgbClr val="C8501E"/>
          </a:solidFill>
          <a:ln/>
        </p:spPr>
      </p:sp>
      <p:sp>
        <p:nvSpPr>
          <p:cNvPr id="11" name="Text 9"/>
          <p:cNvSpPr/>
          <p:nvPr/>
        </p:nvSpPr>
        <p:spPr>
          <a:xfrm>
            <a:off x="2012871" y="2179320"/>
            <a:ext cx="2040731" cy="632460"/>
          </a:xfrm>
          <a:prstGeom prst="rect">
            <a:avLst/>
          </a:prstGeom>
          <a:noFill/>
          <a:ln/>
        </p:spPr>
        <p:txBody>
          <a:bodyPr wrap="square" lIns="25400" tIns="25400" rIns="25400" bIns="25400" rtlCol="0" anchor="t">
            <a:normAutofit/>
          </a:bodyPr>
          <a:lstStyle/>
          <a:p>
            <a:pPr algn="ctr" indent="0" marL="0">
              <a:buNone/>
            </a:pPr>
            <a:r>
              <a:rPr lang="en-US" sz="1800" dirty="0">
                <a:solidFill>
                  <a:srgbClr val="A03E14"/>
                </a:solidFill>
                <a:highlight>
                  <a:srgbClr val="F7E3D4"/>
                </a:highlight>
                <a:latin typeface="Courier New" pitchFamily="34" charset="0"/>
                <a:ea typeface="Courier New" pitchFamily="34" charset="-122"/>
                <a:cs typeface="Courier New" pitchFamily="34" charset="-120"/>
              </a:rPr>
              <a:t>14–13 FUNCTION</a:t>
            </a:r>
            <a:endParaRPr lang="en-US" sz="1800" dirty="0"/>
          </a:p>
        </p:txBody>
      </p:sp>
      <p:sp>
        <p:nvSpPr>
          <p:cNvPr id="12" name="Shape 10"/>
          <p:cNvSpPr/>
          <p:nvPr/>
        </p:nvSpPr>
        <p:spPr>
          <a:xfrm>
            <a:off x="4059317" y="2040255"/>
            <a:ext cx="4394359" cy="872490"/>
          </a:xfrm>
          <a:prstGeom prst="rect">
            <a:avLst/>
          </a:prstGeom>
          <a:solidFill>
            <a:srgbClr val="E9E2CF"/>
          </a:solidFill>
          <a:ln/>
        </p:spPr>
      </p:sp>
      <p:sp>
        <p:nvSpPr>
          <p:cNvPr id="13" name="Shape 11"/>
          <p:cNvSpPr/>
          <p:nvPr/>
        </p:nvSpPr>
        <p:spPr>
          <a:xfrm>
            <a:off x="4059317" y="2897505"/>
            <a:ext cx="4394359" cy="15240"/>
          </a:xfrm>
          <a:prstGeom prst="rect">
            <a:avLst/>
          </a:prstGeom>
          <a:solidFill>
            <a:srgbClr val="211C14"/>
          </a:solidFill>
          <a:ln/>
        </p:spPr>
      </p:sp>
      <p:sp>
        <p:nvSpPr>
          <p:cNvPr id="14" name="Shape 12"/>
          <p:cNvSpPr/>
          <p:nvPr/>
        </p:nvSpPr>
        <p:spPr>
          <a:xfrm>
            <a:off x="4059317" y="2040255"/>
            <a:ext cx="4394359" cy="15240"/>
          </a:xfrm>
          <a:prstGeom prst="rect">
            <a:avLst/>
          </a:prstGeom>
          <a:solidFill>
            <a:srgbClr val="211C14"/>
          </a:solidFill>
          <a:ln/>
        </p:spPr>
      </p:sp>
      <p:sp>
        <p:nvSpPr>
          <p:cNvPr id="15" name="Shape 13"/>
          <p:cNvSpPr/>
          <p:nvPr/>
        </p:nvSpPr>
        <p:spPr>
          <a:xfrm>
            <a:off x="8438436" y="2040255"/>
            <a:ext cx="15240" cy="872490"/>
          </a:xfrm>
          <a:prstGeom prst="rect">
            <a:avLst/>
          </a:prstGeom>
          <a:solidFill>
            <a:srgbClr val="211C14"/>
          </a:solidFill>
          <a:ln/>
        </p:spPr>
      </p:sp>
      <p:sp>
        <p:nvSpPr>
          <p:cNvPr id="16" name="Text 14"/>
          <p:cNvSpPr/>
          <p:nvPr/>
        </p:nvSpPr>
        <p:spPr>
          <a:xfrm>
            <a:off x="4021977" y="2179320"/>
            <a:ext cx="4453800" cy="632460"/>
          </a:xfrm>
          <a:prstGeom prst="rect">
            <a:avLst/>
          </a:prstGeom>
          <a:noFill/>
          <a:ln/>
        </p:spPr>
        <p:txBody>
          <a:bodyPr wrap="square" lIns="25400" tIns="25400" rIns="25400" bIns="25400" rtlCol="0" anchor="t">
            <a:normAutofit/>
          </a:bodyPr>
          <a:lstStyle/>
          <a:p>
            <a:pPr algn="ctr" indent="0" marL="0">
              <a:buNone/>
            </a:pPr>
            <a:r>
              <a:rPr lang="en-US" sz="1800" dirty="0">
                <a:solidFill>
                  <a:srgbClr val="211C14"/>
                </a:solidFill>
                <a:highlight>
                  <a:srgbClr val="E9E2CF"/>
                </a:highlight>
                <a:latin typeface="Courier New" pitchFamily="34" charset="0"/>
                <a:ea typeface="Courier New" pitchFamily="34" charset="-122"/>
                <a:cs typeface="Courier New" pitchFamily="34" charset="-120"/>
              </a:rPr>
              <a:t>12–7 —</a:t>
            </a:r>
            <a:endParaRPr lang="en-US" sz="1800" dirty="0"/>
          </a:p>
        </p:txBody>
      </p:sp>
      <p:sp>
        <p:nvSpPr>
          <p:cNvPr id="17" name="Shape 15"/>
          <p:cNvSpPr/>
          <p:nvPr/>
        </p:nvSpPr>
        <p:spPr>
          <a:xfrm>
            <a:off x="8453676" y="2040255"/>
            <a:ext cx="2036921" cy="872490"/>
          </a:xfrm>
          <a:prstGeom prst="rect">
            <a:avLst/>
          </a:prstGeom>
          <a:solidFill>
            <a:srgbClr val="F7E3D4"/>
          </a:solidFill>
          <a:ln/>
        </p:spPr>
      </p:sp>
      <p:sp>
        <p:nvSpPr>
          <p:cNvPr id="18" name="Shape 16"/>
          <p:cNvSpPr/>
          <p:nvPr/>
        </p:nvSpPr>
        <p:spPr>
          <a:xfrm>
            <a:off x="8453676" y="2897505"/>
            <a:ext cx="2036921" cy="15240"/>
          </a:xfrm>
          <a:prstGeom prst="rect">
            <a:avLst/>
          </a:prstGeom>
          <a:solidFill>
            <a:srgbClr val="C8501E"/>
          </a:solidFill>
          <a:ln/>
        </p:spPr>
      </p:sp>
      <p:sp>
        <p:nvSpPr>
          <p:cNvPr id="19" name="Shape 17"/>
          <p:cNvSpPr/>
          <p:nvPr/>
        </p:nvSpPr>
        <p:spPr>
          <a:xfrm>
            <a:off x="8453676" y="2040255"/>
            <a:ext cx="2036921" cy="15240"/>
          </a:xfrm>
          <a:prstGeom prst="rect">
            <a:avLst/>
          </a:prstGeom>
          <a:solidFill>
            <a:srgbClr val="C8501E"/>
          </a:solidFill>
          <a:ln/>
        </p:spPr>
      </p:sp>
      <p:sp>
        <p:nvSpPr>
          <p:cNvPr id="20" name="Shape 18"/>
          <p:cNvSpPr/>
          <p:nvPr/>
        </p:nvSpPr>
        <p:spPr>
          <a:xfrm>
            <a:off x="10475357" y="2040255"/>
            <a:ext cx="15240" cy="872490"/>
          </a:xfrm>
          <a:prstGeom prst="rect">
            <a:avLst/>
          </a:prstGeom>
          <a:solidFill>
            <a:srgbClr val="C8501E"/>
          </a:solidFill>
          <a:ln/>
        </p:spPr>
      </p:sp>
      <p:sp>
        <p:nvSpPr>
          <p:cNvPr id="21" name="Text 19"/>
          <p:cNvSpPr/>
          <p:nvPr/>
        </p:nvSpPr>
        <p:spPr>
          <a:xfrm>
            <a:off x="8444151" y="2179320"/>
            <a:ext cx="2040731" cy="632460"/>
          </a:xfrm>
          <a:prstGeom prst="rect">
            <a:avLst/>
          </a:prstGeom>
          <a:noFill/>
          <a:ln/>
        </p:spPr>
        <p:txBody>
          <a:bodyPr wrap="square" lIns="25400" tIns="25400" rIns="25400" bIns="25400" rtlCol="0" anchor="t">
            <a:normAutofit/>
          </a:bodyPr>
          <a:lstStyle/>
          <a:p>
            <a:pPr algn="ctr" indent="0" marL="0">
              <a:buNone/>
            </a:pPr>
            <a:r>
              <a:rPr lang="en-US" sz="1800" dirty="0">
                <a:solidFill>
                  <a:srgbClr val="A03E14"/>
                </a:solidFill>
                <a:highlight>
                  <a:srgbClr val="F7E3D4"/>
                </a:highlight>
                <a:latin typeface="Courier New" pitchFamily="34" charset="0"/>
                <a:ea typeface="Courier New" pitchFamily="34" charset="-122"/>
                <a:cs typeface="Courier New" pitchFamily="34" charset="-120"/>
              </a:rPr>
              <a:t>6–5 CORE A17–A16</a:t>
            </a:r>
            <a:endParaRPr lang="en-US" sz="1800" dirty="0"/>
          </a:p>
        </p:txBody>
      </p:sp>
      <p:sp>
        <p:nvSpPr>
          <p:cNvPr id="22" name="Shape 20"/>
          <p:cNvSpPr/>
          <p:nvPr/>
        </p:nvSpPr>
        <p:spPr>
          <a:xfrm>
            <a:off x="10490597" y="2040255"/>
            <a:ext cx="1447562" cy="872490"/>
          </a:xfrm>
          <a:prstGeom prst="rect">
            <a:avLst/>
          </a:prstGeom>
          <a:solidFill>
            <a:srgbClr val="D8CFB6"/>
          </a:solidFill>
          <a:ln/>
        </p:spPr>
      </p:sp>
      <p:sp>
        <p:nvSpPr>
          <p:cNvPr id="23" name="Shape 21"/>
          <p:cNvSpPr/>
          <p:nvPr/>
        </p:nvSpPr>
        <p:spPr>
          <a:xfrm>
            <a:off x="10490597" y="2897505"/>
            <a:ext cx="1447562" cy="15240"/>
          </a:xfrm>
          <a:prstGeom prst="rect">
            <a:avLst/>
          </a:prstGeom>
          <a:solidFill>
            <a:srgbClr val="211C14"/>
          </a:solidFill>
          <a:ln/>
        </p:spPr>
      </p:sp>
      <p:sp>
        <p:nvSpPr>
          <p:cNvPr id="24" name="Shape 22"/>
          <p:cNvSpPr/>
          <p:nvPr/>
        </p:nvSpPr>
        <p:spPr>
          <a:xfrm>
            <a:off x="10490597" y="2040255"/>
            <a:ext cx="1447562" cy="15240"/>
          </a:xfrm>
          <a:prstGeom prst="rect">
            <a:avLst/>
          </a:prstGeom>
          <a:solidFill>
            <a:srgbClr val="211C14"/>
          </a:solidFill>
          <a:ln/>
        </p:spPr>
      </p:sp>
      <p:sp>
        <p:nvSpPr>
          <p:cNvPr id="25" name="Shape 23"/>
          <p:cNvSpPr/>
          <p:nvPr/>
        </p:nvSpPr>
        <p:spPr>
          <a:xfrm>
            <a:off x="11922919" y="2040255"/>
            <a:ext cx="15240" cy="872490"/>
          </a:xfrm>
          <a:prstGeom prst="rect">
            <a:avLst/>
          </a:prstGeom>
          <a:solidFill>
            <a:srgbClr val="211C14"/>
          </a:solidFill>
          <a:ln/>
        </p:spPr>
      </p:sp>
      <p:sp>
        <p:nvSpPr>
          <p:cNvPr id="26" name="Text 24"/>
          <p:cNvSpPr/>
          <p:nvPr/>
        </p:nvSpPr>
        <p:spPr>
          <a:xfrm>
            <a:off x="10481072" y="2179320"/>
            <a:ext cx="1451372" cy="632460"/>
          </a:xfrm>
          <a:prstGeom prst="rect">
            <a:avLst/>
          </a:prstGeom>
          <a:noFill/>
          <a:ln/>
        </p:spPr>
        <p:txBody>
          <a:bodyPr wrap="square" lIns="25400" tIns="25400" rIns="25400" bIns="25400" rtlCol="0" anchor="t">
            <a:normAutofit/>
          </a:bodyPr>
          <a:lstStyle/>
          <a:p>
            <a:pPr algn="ctr" indent="0" marL="0">
              <a:buNone/>
            </a:pPr>
            <a:r>
              <a:rPr lang="en-US" sz="1800" dirty="0">
                <a:solidFill>
                  <a:srgbClr val="211C14"/>
                </a:solidFill>
                <a:highlight>
                  <a:srgbClr val="D8CFB6"/>
                </a:highlight>
                <a:latin typeface="Courier New" pitchFamily="34" charset="0"/>
                <a:ea typeface="Courier New" pitchFamily="34" charset="-122"/>
                <a:cs typeface="Courier New" pitchFamily="34" charset="-120"/>
              </a:rPr>
              <a:t>4 DEV.CLR*</a:t>
            </a:r>
            <a:endParaRPr lang="en-US" sz="1800" dirty="0"/>
          </a:p>
        </p:txBody>
      </p:sp>
      <p:sp>
        <p:nvSpPr>
          <p:cNvPr id="27" name="Shape 25"/>
          <p:cNvSpPr/>
          <p:nvPr/>
        </p:nvSpPr>
        <p:spPr>
          <a:xfrm>
            <a:off x="11938159" y="2040255"/>
            <a:ext cx="1054656" cy="872490"/>
          </a:xfrm>
          <a:prstGeom prst="rect">
            <a:avLst/>
          </a:prstGeom>
          <a:solidFill>
            <a:srgbClr val="E9E2CF"/>
          </a:solidFill>
          <a:ln/>
        </p:spPr>
      </p:sp>
      <p:sp>
        <p:nvSpPr>
          <p:cNvPr id="28" name="Shape 26"/>
          <p:cNvSpPr/>
          <p:nvPr/>
        </p:nvSpPr>
        <p:spPr>
          <a:xfrm>
            <a:off x="11938159" y="2897505"/>
            <a:ext cx="1054656" cy="15240"/>
          </a:xfrm>
          <a:prstGeom prst="rect">
            <a:avLst/>
          </a:prstGeom>
          <a:solidFill>
            <a:srgbClr val="211C14"/>
          </a:solidFill>
          <a:ln/>
        </p:spPr>
      </p:sp>
      <p:sp>
        <p:nvSpPr>
          <p:cNvPr id="29" name="Shape 27"/>
          <p:cNvSpPr/>
          <p:nvPr/>
        </p:nvSpPr>
        <p:spPr>
          <a:xfrm>
            <a:off x="11938159" y="2040255"/>
            <a:ext cx="1054656" cy="15240"/>
          </a:xfrm>
          <a:prstGeom prst="rect">
            <a:avLst/>
          </a:prstGeom>
          <a:solidFill>
            <a:srgbClr val="211C14"/>
          </a:solidFill>
          <a:ln/>
        </p:spPr>
      </p:sp>
      <p:sp>
        <p:nvSpPr>
          <p:cNvPr id="30" name="Shape 28"/>
          <p:cNvSpPr/>
          <p:nvPr/>
        </p:nvSpPr>
        <p:spPr>
          <a:xfrm>
            <a:off x="12977574" y="2040255"/>
            <a:ext cx="15240" cy="872490"/>
          </a:xfrm>
          <a:prstGeom prst="rect">
            <a:avLst/>
          </a:prstGeom>
          <a:solidFill>
            <a:srgbClr val="211C14"/>
          </a:solidFill>
          <a:ln/>
        </p:spPr>
      </p:sp>
      <p:sp>
        <p:nvSpPr>
          <p:cNvPr id="31" name="Text 29"/>
          <p:cNvSpPr/>
          <p:nvPr/>
        </p:nvSpPr>
        <p:spPr>
          <a:xfrm>
            <a:off x="11928634" y="2179320"/>
            <a:ext cx="1058466" cy="632460"/>
          </a:xfrm>
          <a:prstGeom prst="rect">
            <a:avLst/>
          </a:prstGeom>
          <a:noFill/>
          <a:ln/>
        </p:spPr>
        <p:txBody>
          <a:bodyPr wrap="square" lIns="25400" tIns="25400" rIns="25400" bIns="25400" rtlCol="0" anchor="t">
            <a:normAutofit/>
          </a:bodyPr>
          <a:lstStyle/>
          <a:p>
            <a:pPr algn="ctr" indent="0" marL="0">
              <a:buNone/>
            </a:pPr>
            <a:r>
              <a:rPr lang="en-US" sz="1800" dirty="0">
                <a:solidFill>
                  <a:srgbClr val="211C14"/>
                </a:solidFill>
                <a:highlight>
                  <a:srgbClr val="E9E2CF"/>
                </a:highlight>
                <a:latin typeface="Courier New" pitchFamily="34" charset="0"/>
                <a:ea typeface="Courier New" pitchFamily="34" charset="-122"/>
                <a:cs typeface="Courier New" pitchFamily="34" charset="-120"/>
              </a:rPr>
              <a:t>3 —</a:t>
            </a:r>
            <a:endParaRPr lang="en-US" sz="1800" dirty="0"/>
          </a:p>
        </p:txBody>
      </p:sp>
      <p:sp>
        <p:nvSpPr>
          <p:cNvPr id="32" name="Shape 30"/>
          <p:cNvSpPr/>
          <p:nvPr/>
        </p:nvSpPr>
        <p:spPr>
          <a:xfrm>
            <a:off x="12992815" y="2040255"/>
            <a:ext cx="1447562" cy="872490"/>
          </a:xfrm>
          <a:prstGeom prst="rect">
            <a:avLst/>
          </a:prstGeom>
          <a:solidFill>
            <a:srgbClr val="F7E3D4"/>
          </a:solidFill>
          <a:ln/>
        </p:spPr>
      </p:sp>
      <p:sp>
        <p:nvSpPr>
          <p:cNvPr id="33" name="Shape 31"/>
          <p:cNvSpPr/>
          <p:nvPr/>
        </p:nvSpPr>
        <p:spPr>
          <a:xfrm>
            <a:off x="12992815" y="2897505"/>
            <a:ext cx="1447562" cy="15240"/>
          </a:xfrm>
          <a:prstGeom prst="rect">
            <a:avLst/>
          </a:prstGeom>
          <a:solidFill>
            <a:srgbClr val="C8501E"/>
          </a:solidFill>
          <a:ln/>
        </p:spPr>
      </p:sp>
      <p:sp>
        <p:nvSpPr>
          <p:cNvPr id="34" name="Shape 32"/>
          <p:cNvSpPr/>
          <p:nvPr/>
        </p:nvSpPr>
        <p:spPr>
          <a:xfrm>
            <a:off x="12992815" y="2040255"/>
            <a:ext cx="1447562" cy="15240"/>
          </a:xfrm>
          <a:prstGeom prst="rect">
            <a:avLst/>
          </a:prstGeom>
          <a:solidFill>
            <a:srgbClr val="C8501E"/>
          </a:solidFill>
          <a:ln/>
        </p:spPr>
      </p:sp>
      <p:sp>
        <p:nvSpPr>
          <p:cNvPr id="35" name="Shape 33"/>
          <p:cNvSpPr/>
          <p:nvPr/>
        </p:nvSpPr>
        <p:spPr>
          <a:xfrm>
            <a:off x="14425137" y="2040255"/>
            <a:ext cx="15240" cy="872490"/>
          </a:xfrm>
          <a:prstGeom prst="rect">
            <a:avLst/>
          </a:prstGeom>
          <a:solidFill>
            <a:srgbClr val="C8501E"/>
          </a:solidFill>
          <a:ln/>
        </p:spPr>
      </p:sp>
      <p:sp>
        <p:nvSpPr>
          <p:cNvPr id="36" name="Text 34"/>
          <p:cNvSpPr/>
          <p:nvPr/>
        </p:nvSpPr>
        <p:spPr>
          <a:xfrm>
            <a:off x="12983290" y="2179320"/>
            <a:ext cx="1451372" cy="632460"/>
          </a:xfrm>
          <a:prstGeom prst="rect">
            <a:avLst/>
          </a:prstGeom>
          <a:noFill/>
          <a:ln/>
        </p:spPr>
        <p:txBody>
          <a:bodyPr wrap="square" lIns="25400" tIns="25400" rIns="25400" bIns="25400" rtlCol="0" anchor="t">
            <a:normAutofit/>
          </a:bodyPr>
          <a:lstStyle/>
          <a:p>
            <a:pPr algn="ctr" indent="0" marL="0">
              <a:buNone/>
            </a:pPr>
            <a:r>
              <a:rPr lang="en-US" sz="1800" dirty="0">
                <a:solidFill>
                  <a:srgbClr val="A03E14"/>
                </a:solidFill>
                <a:highlight>
                  <a:srgbClr val="F7E3D4"/>
                </a:highlight>
                <a:latin typeface="Courier New" pitchFamily="34" charset="0"/>
                <a:ea typeface="Courier New" pitchFamily="34" charset="-122"/>
                <a:cs typeface="Courier New" pitchFamily="34" charset="-120"/>
              </a:rPr>
              <a:t>2 ACTIVATE</a:t>
            </a:r>
            <a:endParaRPr lang="en-US" sz="1800" dirty="0"/>
          </a:p>
        </p:txBody>
      </p:sp>
      <p:sp>
        <p:nvSpPr>
          <p:cNvPr id="37" name="Shape 35"/>
          <p:cNvSpPr/>
          <p:nvPr/>
        </p:nvSpPr>
        <p:spPr>
          <a:xfrm>
            <a:off x="14440377" y="2040255"/>
            <a:ext cx="1447562" cy="872490"/>
          </a:xfrm>
          <a:prstGeom prst="rect">
            <a:avLst/>
          </a:prstGeom>
          <a:solidFill>
            <a:srgbClr val="D8CFB6"/>
          </a:solidFill>
          <a:ln/>
        </p:spPr>
      </p:sp>
      <p:sp>
        <p:nvSpPr>
          <p:cNvPr id="38" name="Shape 36"/>
          <p:cNvSpPr/>
          <p:nvPr/>
        </p:nvSpPr>
        <p:spPr>
          <a:xfrm>
            <a:off x="14440377" y="2897505"/>
            <a:ext cx="1447562" cy="15240"/>
          </a:xfrm>
          <a:prstGeom prst="rect">
            <a:avLst/>
          </a:prstGeom>
          <a:solidFill>
            <a:srgbClr val="211C14"/>
          </a:solidFill>
          <a:ln/>
        </p:spPr>
      </p:sp>
      <p:sp>
        <p:nvSpPr>
          <p:cNvPr id="39" name="Shape 37"/>
          <p:cNvSpPr/>
          <p:nvPr/>
        </p:nvSpPr>
        <p:spPr>
          <a:xfrm>
            <a:off x="14440377" y="2040255"/>
            <a:ext cx="1447562" cy="15240"/>
          </a:xfrm>
          <a:prstGeom prst="rect">
            <a:avLst/>
          </a:prstGeom>
          <a:solidFill>
            <a:srgbClr val="211C14"/>
          </a:solidFill>
          <a:ln/>
        </p:spPr>
      </p:sp>
      <p:sp>
        <p:nvSpPr>
          <p:cNvPr id="40" name="Shape 38"/>
          <p:cNvSpPr/>
          <p:nvPr/>
        </p:nvSpPr>
        <p:spPr>
          <a:xfrm>
            <a:off x="15872699" y="2040255"/>
            <a:ext cx="15240" cy="872490"/>
          </a:xfrm>
          <a:prstGeom prst="rect">
            <a:avLst/>
          </a:prstGeom>
          <a:solidFill>
            <a:srgbClr val="211C14"/>
          </a:solidFill>
          <a:ln/>
        </p:spPr>
      </p:sp>
      <p:sp>
        <p:nvSpPr>
          <p:cNvPr id="41" name="Text 39"/>
          <p:cNvSpPr/>
          <p:nvPr/>
        </p:nvSpPr>
        <p:spPr>
          <a:xfrm>
            <a:off x="14430852" y="2179320"/>
            <a:ext cx="1451372" cy="632460"/>
          </a:xfrm>
          <a:prstGeom prst="rect">
            <a:avLst/>
          </a:prstGeom>
          <a:noFill/>
          <a:ln/>
        </p:spPr>
        <p:txBody>
          <a:bodyPr wrap="square" lIns="25400" tIns="25400" rIns="25400" bIns="25400" rtlCol="0" anchor="t">
            <a:normAutofit/>
          </a:bodyPr>
          <a:lstStyle/>
          <a:p>
            <a:pPr algn="ctr" indent="0" marL="0">
              <a:buNone/>
            </a:pPr>
            <a:r>
              <a:rPr lang="en-US" sz="1800" dirty="0">
                <a:solidFill>
                  <a:srgbClr val="211C14"/>
                </a:solidFill>
                <a:highlight>
                  <a:srgbClr val="D8CFB6"/>
                </a:highlight>
                <a:latin typeface="Courier New" pitchFamily="34" charset="0"/>
                <a:ea typeface="Courier New" pitchFamily="34" charset="-122"/>
                <a:cs typeface="Courier New" pitchFamily="34" charset="-120"/>
              </a:rPr>
              <a:t>1 ERR INT*</a:t>
            </a:r>
            <a:endParaRPr lang="en-US" sz="1800" dirty="0"/>
          </a:p>
        </p:txBody>
      </p:sp>
      <p:sp>
        <p:nvSpPr>
          <p:cNvPr id="42" name="Shape 40"/>
          <p:cNvSpPr/>
          <p:nvPr/>
        </p:nvSpPr>
        <p:spPr>
          <a:xfrm>
            <a:off x="15887938" y="2040255"/>
            <a:ext cx="1447562" cy="872490"/>
          </a:xfrm>
          <a:prstGeom prst="rect">
            <a:avLst/>
          </a:prstGeom>
          <a:solidFill>
            <a:srgbClr val="F7E3D4"/>
          </a:solidFill>
          <a:ln/>
        </p:spPr>
      </p:sp>
      <p:sp>
        <p:nvSpPr>
          <p:cNvPr id="43" name="Shape 41"/>
          <p:cNvSpPr/>
          <p:nvPr/>
        </p:nvSpPr>
        <p:spPr>
          <a:xfrm>
            <a:off x="15887938" y="2897505"/>
            <a:ext cx="1447562" cy="15240"/>
          </a:xfrm>
          <a:prstGeom prst="rect">
            <a:avLst/>
          </a:prstGeom>
          <a:solidFill>
            <a:srgbClr val="C8501E"/>
          </a:solidFill>
          <a:ln/>
        </p:spPr>
      </p:sp>
      <p:sp>
        <p:nvSpPr>
          <p:cNvPr id="44" name="Shape 42"/>
          <p:cNvSpPr/>
          <p:nvPr/>
        </p:nvSpPr>
        <p:spPr>
          <a:xfrm>
            <a:off x="15887938" y="2040255"/>
            <a:ext cx="1447562" cy="15240"/>
          </a:xfrm>
          <a:prstGeom prst="rect">
            <a:avLst/>
          </a:prstGeom>
          <a:solidFill>
            <a:srgbClr val="C8501E"/>
          </a:solidFill>
          <a:ln/>
        </p:spPr>
      </p:sp>
      <p:sp>
        <p:nvSpPr>
          <p:cNvPr id="45" name="Shape 43"/>
          <p:cNvSpPr/>
          <p:nvPr/>
        </p:nvSpPr>
        <p:spPr>
          <a:xfrm>
            <a:off x="17320260" y="2040255"/>
            <a:ext cx="15240" cy="872490"/>
          </a:xfrm>
          <a:prstGeom prst="rect">
            <a:avLst/>
          </a:prstGeom>
          <a:solidFill>
            <a:srgbClr val="C8501E"/>
          </a:solidFill>
          <a:ln/>
        </p:spPr>
      </p:sp>
      <p:sp>
        <p:nvSpPr>
          <p:cNvPr id="46" name="Text 44"/>
          <p:cNvSpPr/>
          <p:nvPr/>
        </p:nvSpPr>
        <p:spPr>
          <a:xfrm>
            <a:off x="15878413" y="2179320"/>
            <a:ext cx="1451372" cy="632460"/>
          </a:xfrm>
          <a:prstGeom prst="rect">
            <a:avLst/>
          </a:prstGeom>
          <a:noFill/>
          <a:ln/>
        </p:spPr>
        <p:txBody>
          <a:bodyPr wrap="square" lIns="25400" tIns="25400" rIns="25400" bIns="25400" rtlCol="0" anchor="t">
            <a:normAutofit/>
          </a:bodyPr>
          <a:lstStyle/>
          <a:p>
            <a:pPr algn="ctr" indent="0" marL="0">
              <a:buNone/>
            </a:pPr>
            <a:r>
              <a:rPr lang="en-US" sz="1800" dirty="0">
                <a:solidFill>
                  <a:srgbClr val="A03E14"/>
                </a:solidFill>
                <a:highlight>
                  <a:srgbClr val="F7E3D4"/>
                </a:highlight>
                <a:latin typeface="Courier New" pitchFamily="34" charset="0"/>
                <a:ea typeface="Courier New" pitchFamily="34" charset="-122"/>
                <a:cs typeface="Courier New" pitchFamily="34" charset="-120"/>
              </a:rPr>
              <a:t>0 RDY INT</a:t>
            </a:r>
            <a:endParaRPr lang="en-US" sz="1800" dirty="0"/>
          </a:p>
        </p:txBody>
      </p:sp>
      <p:sp>
        <p:nvSpPr>
          <p:cNvPr id="47" name="Text 45"/>
          <p:cNvSpPr/>
          <p:nvPr/>
        </p:nvSpPr>
        <p:spPr>
          <a:xfrm>
            <a:off x="952500" y="3141345"/>
            <a:ext cx="10242423"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252"/>
                </a:solidFill>
                <a:latin typeface="Courier New" pitchFamily="34" charset="0"/>
                <a:ea typeface="Courier New" pitchFamily="34" charset="-122"/>
                <a:cs typeface="Courier New" pitchFamily="34" charset="-120"/>
              </a:rPr>
              <a:t>FUNCTION CODES (BITS 14–13)</a:t>
            </a:r>
            <a:endParaRPr lang="en-US" sz="1800" dirty="0"/>
          </a:p>
        </p:txBody>
      </p:sp>
      <p:sp>
        <p:nvSpPr>
          <p:cNvPr id="48" name="Shape 46"/>
          <p:cNvSpPr/>
          <p:nvPr/>
        </p:nvSpPr>
        <p:spPr>
          <a:xfrm>
            <a:off x="952500" y="3552825"/>
            <a:ext cx="9944100" cy="9525"/>
          </a:xfrm>
          <a:prstGeom prst="rect">
            <a:avLst/>
          </a:prstGeom>
          <a:solidFill>
            <a:srgbClr val="CEC4AD"/>
          </a:solidFill>
          <a:ln/>
        </p:spPr>
      </p:sp>
      <p:sp>
        <p:nvSpPr>
          <p:cNvPr id="49" name="Text 47"/>
          <p:cNvSpPr/>
          <p:nvPr/>
        </p:nvSpPr>
        <p:spPr>
          <a:xfrm>
            <a:off x="952500" y="3718560"/>
            <a:ext cx="742950" cy="327660"/>
          </a:xfrm>
          <a:prstGeom prst="rect">
            <a:avLst/>
          </a:prstGeom>
          <a:noFill/>
          <a:ln/>
        </p:spPr>
        <p:txBody>
          <a:bodyPr wrap="square" lIns="25400" tIns="25400" rIns="25400" bIns="25400" rtlCol="0" anchor="t">
            <a:normAutofit/>
          </a:bodyPr>
          <a:lstStyle/>
          <a:p>
            <a:pPr algn="l" indent="0" marL="0">
              <a:buNone/>
            </a:pPr>
            <a:r>
              <a:rPr lang="en-US" sz="2025" b="1" dirty="0">
                <a:solidFill>
                  <a:srgbClr val="211C14"/>
                </a:solidFill>
                <a:latin typeface="Courier New" pitchFamily="34" charset="0"/>
                <a:ea typeface="Courier New" pitchFamily="34" charset="-122"/>
                <a:cs typeface="Courier New" pitchFamily="34" charset="-120"/>
              </a:rPr>
              <a:t>0</a:t>
            </a:r>
            <a:endParaRPr lang="en-US" sz="2025" dirty="0"/>
          </a:p>
        </p:txBody>
      </p:sp>
      <p:sp>
        <p:nvSpPr>
          <p:cNvPr id="50" name="Text 48"/>
          <p:cNvSpPr/>
          <p:nvPr/>
        </p:nvSpPr>
        <p:spPr>
          <a:xfrm>
            <a:off x="1866900" y="3665220"/>
            <a:ext cx="9932670" cy="373380"/>
          </a:xfrm>
          <a:prstGeom prst="rect">
            <a:avLst/>
          </a:prstGeom>
          <a:noFill/>
          <a:ln/>
        </p:spPr>
        <p:txBody>
          <a:bodyPr wrap="square" lIns="25400" tIns="25400" rIns="25400" bIns="25400" rtlCol="0" anchor="t">
            <a:normAutofit/>
          </a:bodyPr>
          <a:lstStyle/>
          <a:p>
            <a:pPr algn="l" indent="0" marL="0">
              <a:buNone/>
            </a:pPr>
            <a:r>
              <a:rPr lang="en-US" sz="2025" b="1" dirty="0">
                <a:solidFill>
                  <a:srgbClr val="211C14"/>
                </a:solidFill>
                <a:latin typeface="Arial" pitchFamily="34" charset="0"/>
                <a:ea typeface="Arial" pitchFamily="34" charset="-122"/>
                <a:cs typeface="Arial" pitchFamily="34" charset="-120"/>
              </a:rPr>
              <a:t>READ </a:t>
            </a:r>
            <a:pPr algn="l" indent="0" marL="0">
              <a:buNone/>
            </a:pPr>
            <a:r>
              <a:rPr lang="en-US" sz="2025" dirty="0">
                <a:solidFill>
                  <a:srgbClr val="211C14"/>
                </a:solidFill>
                <a:latin typeface="Arial" pitchFamily="34" charset="0"/>
                <a:ea typeface="Arial" pitchFamily="34" charset="-122"/>
                <a:cs typeface="Arial" pitchFamily="34" charset="-120"/>
              </a:rPr>
              <a:t>— drum → core (page in)</a:t>
            </a:r>
            <a:endParaRPr lang="en-US" sz="2025" dirty="0"/>
          </a:p>
        </p:txBody>
      </p:sp>
      <p:sp>
        <p:nvSpPr>
          <p:cNvPr id="51" name="Shape 49"/>
          <p:cNvSpPr/>
          <p:nvPr/>
        </p:nvSpPr>
        <p:spPr>
          <a:xfrm>
            <a:off x="952500" y="4112895"/>
            <a:ext cx="9944100" cy="9525"/>
          </a:xfrm>
          <a:prstGeom prst="rect">
            <a:avLst/>
          </a:prstGeom>
          <a:solidFill>
            <a:srgbClr val="CEC4AD"/>
          </a:solidFill>
          <a:ln/>
        </p:spPr>
      </p:sp>
      <p:sp>
        <p:nvSpPr>
          <p:cNvPr id="52" name="Text 50"/>
          <p:cNvSpPr/>
          <p:nvPr/>
        </p:nvSpPr>
        <p:spPr>
          <a:xfrm>
            <a:off x="952500" y="4278630"/>
            <a:ext cx="742950" cy="327660"/>
          </a:xfrm>
          <a:prstGeom prst="rect">
            <a:avLst/>
          </a:prstGeom>
          <a:noFill/>
          <a:ln/>
        </p:spPr>
        <p:txBody>
          <a:bodyPr wrap="square" lIns="25400" tIns="25400" rIns="25400" bIns="25400" rtlCol="0" anchor="t">
            <a:normAutofit/>
          </a:bodyPr>
          <a:lstStyle/>
          <a:p>
            <a:pPr algn="l" indent="0" marL="0">
              <a:buNone/>
            </a:pPr>
            <a:r>
              <a:rPr lang="en-US" sz="2025" b="1" dirty="0">
                <a:solidFill>
                  <a:srgbClr val="211C14"/>
                </a:solidFill>
                <a:latin typeface="Courier New" pitchFamily="34" charset="0"/>
                <a:ea typeface="Courier New" pitchFamily="34" charset="-122"/>
                <a:cs typeface="Courier New" pitchFamily="34" charset="-120"/>
              </a:rPr>
              <a:t>1</a:t>
            </a:r>
            <a:endParaRPr lang="en-US" sz="2025" dirty="0"/>
          </a:p>
        </p:txBody>
      </p:sp>
      <p:sp>
        <p:nvSpPr>
          <p:cNvPr id="53" name="Text 51"/>
          <p:cNvSpPr/>
          <p:nvPr/>
        </p:nvSpPr>
        <p:spPr>
          <a:xfrm>
            <a:off x="1866900" y="4225290"/>
            <a:ext cx="9932670" cy="373380"/>
          </a:xfrm>
          <a:prstGeom prst="rect">
            <a:avLst/>
          </a:prstGeom>
          <a:noFill/>
          <a:ln/>
        </p:spPr>
        <p:txBody>
          <a:bodyPr wrap="square" lIns="25400" tIns="25400" rIns="25400" bIns="25400" rtlCol="0" anchor="t">
            <a:normAutofit/>
          </a:bodyPr>
          <a:lstStyle/>
          <a:p>
            <a:pPr algn="l" indent="0" marL="0">
              <a:buNone/>
            </a:pPr>
            <a:r>
              <a:rPr lang="en-US" sz="2025" b="1" dirty="0">
                <a:solidFill>
                  <a:srgbClr val="211C14"/>
                </a:solidFill>
                <a:latin typeface="Arial" pitchFamily="34" charset="0"/>
                <a:ea typeface="Arial" pitchFamily="34" charset="-122"/>
                <a:cs typeface="Arial" pitchFamily="34" charset="-120"/>
              </a:rPr>
              <a:t>WRITE </a:t>
            </a:r>
            <a:pPr algn="l" indent="0" marL="0">
              <a:buNone/>
            </a:pPr>
            <a:r>
              <a:rPr lang="en-US" sz="2025" dirty="0">
                <a:solidFill>
                  <a:srgbClr val="211C14"/>
                </a:solidFill>
                <a:latin typeface="Arial" pitchFamily="34" charset="0"/>
                <a:ea typeface="Arial" pitchFamily="34" charset="-122"/>
                <a:cs typeface="Arial" pitchFamily="34" charset="-120"/>
              </a:rPr>
              <a:t>— core → drum (page out)</a:t>
            </a:r>
            <a:endParaRPr lang="en-US" sz="2025" dirty="0"/>
          </a:p>
        </p:txBody>
      </p:sp>
      <p:sp>
        <p:nvSpPr>
          <p:cNvPr id="54" name="Shape 52"/>
          <p:cNvSpPr/>
          <p:nvPr/>
        </p:nvSpPr>
        <p:spPr>
          <a:xfrm>
            <a:off x="952500" y="4672965"/>
            <a:ext cx="9944100" cy="9525"/>
          </a:xfrm>
          <a:prstGeom prst="rect">
            <a:avLst/>
          </a:prstGeom>
          <a:solidFill>
            <a:srgbClr val="CEC4AD"/>
          </a:solidFill>
          <a:ln/>
        </p:spPr>
      </p:sp>
      <p:sp>
        <p:nvSpPr>
          <p:cNvPr id="55" name="Text 53"/>
          <p:cNvSpPr/>
          <p:nvPr/>
        </p:nvSpPr>
        <p:spPr>
          <a:xfrm>
            <a:off x="952500" y="4838700"/>
            <a:ext cx="742950" cy="327660"/>
          </a:xfrm>
          <a:prstGeom prst="rect">
            <a:avLst/>
          </a:prstGeom>
          <a:noFill/>
          <a:ln/>
        </p:spPr>
        <p:txBody>
          <a:bodyPr wrap="square" lIns="25400" tIns="25400" rIns="25400" bIns="25400" rtlCol="0" anchor="t">
            <a:normAutofit/>
          </a:bodyPr>
          <a:lstStyle/>
          <a:p>
            <a:pPr algn="l" indent="0" marL="0">
              <a:buNone/>
            </a:pPr>
            <a:r>
              <a:rPr lang="en-US" sz="2025" b="1" dirty="0">
                <a:solidFill>
                  <a:srgbClr val="211C14"/>
                </a:solidFill>
                <a:latin typeface="Courier New" pitchFamily="34" charset="0"/>
                <a:ea typeface="Courier New" pitchFamily="34" charset="-122"/>
                <a:cs typeface="Courier New" pitchFamily="34" charset="-120"/>
              </a:rPr>
              <a:t>2</a:t>
            </a:r>
            <a:endParaRPr lang="en-US" sz="2025" dirty="0"/>
          </a:p>
        </p:txBody>
      </p:sp>
      <p:sp>
        <p:nvSpPr>
          <p:cNvPr id="56" name="Text 54"/>
          <p:cNvSpPr/>
          <p:nvPr/>
        </p:nvSpPr>
        <p:spPr>
          <a:xfrm>
            <a:off x="1866900" y="4785360"/>
            <a:ext cx="9932670" cy="373380"/>
          </a:xfrm>
          <a:prstGeom prst="rect">
            <a:avLst/>
          </a:prstGeom>
          <a:noFill/>
          <a:ln/>
        </p:spPr>
        <p:txBody>
          <a:bodyPr wrap="square" lIns="25400" tIns="25400" rIns="25400" bIns="25400" rtlCol="0" anchor="t">
            <a:normAutofit/>
          </a:bodyPr>
          <a:lstStyle/>
          <a:p>
            <a:pPr algn="l" indent="0" marL="0">
              <a:buNone/>
            </a:pPr>
            <a:r>
              <a:rPr lang="en-US" sz="2025" b="1" dirty="0">
                <a:solidFill>
                  <a:srgbClr val="211C14"/>
                </a:solidFill>
                <a:latin typeface="Arial" pitchFamily="34" charset="0"/>
                <a:ea typeface="Arial" pitchFamily="34" charset="-122"/>
                <a:cs typeface="Arial" pitchFamily="34" charset="-120"/>
              </a:rPr>
              <a:t>READ TEST </a:t>
            </a:r>
            <a:pPr algn="l" indent="0" marL="0">
              <a:buNone/>
            </a:pPr>
            <a:r>
              <a:rPr lang="en-US" sz="2025" dirty="0">
                <a:solidFill>
                  <a:srgbClr val="211C14"/>
                </a:solidFill>
                <a:latin typeface="Arial" pitchFamily="34" charset="0"/>
                <a:ea typeface="Arial" pitchFamily="34" charset="-122"/>
                <a:cs typeface="Arial" pitchFamily="34" charset="-120"/>
              </a:rPr>
              <a:t>— read &amp; check, no core transfer: surface / parity verify</a:t>
            </a:r>
            <a:endParaRPr lang="en-US" sz="2025" dirty="0"/>
          </a:p>
        </p:txBody>
      </p:sp>
      <p:sp>
        <p:nvSpPr>
          <p:cNvPr id="57" name="Shape 55"/>
          <p:cNvSpPr/>
          <p:nvPr/>
        </p:nvSpPr>
        <p:spPr>
          <a:xfrm>
            <a:off x="952500" y="5233035"/>
            <a:ext cx="9944100" cy="9525"/>
          </a:xfrm>
          <a:prstGeom prst="rect">
            <a:avLst/>
          </a:prstGeom>
          <a:solidFill>
            <a:srgbClr val="CEC4AD"/>
          </a:solidFill>
          <a:ln/>
        </p:spPr>
      </p:sp>
      <p:sp>
        <p:nvSpPr>
          <p:cNvPr id="58" name="Text 56"/>
          <p:cNvSpPr/>
          <p:nvPr/>
        </p:nvSpPr>
        <p:spPr>
          <a:xfrm>
            <a:off x="952500" y="5398770"/>
            <a:ext cx="742950" cy="327660"/>
          </a:xfrm>
          <a:prstGeom prst="rect">
            <a:avLst/>
          </a:prstGeom>
          <a:noFill/>
          <a:ln/>
        </p:spPr>
        <p:txBody>
          <a:bodyPr wrap="square" lIns="25400" tIns="25400" rIns="25400" bIns="25400" rtlCol="0" anchor="t">
            <a:normAutofit/>
          </a:bodyPr>
          <a:lstStyle/>
          <a:p>
            <a:pPr algn="l" indent="0" marL="0">
              <a:buNone/>
            </a:pPr>
            <a:r>
              <a:rPr lang="en-US" sz="2025" b="1" dirty="0">
                <a:solidFill>
                  <a:srgbClr val="211C14"/>
                </a:solidFill>
                <a:latin typeface="Courier New" pitchFamily="34" charset="0"/>
                <a:ea typeface="Courier New" pitchFamily="34" charset="-122"/>
                <a:cs typeface="Courier New" pitchFamily="34" charset="-120"/>
              </a:rPr>
              <a:t>3</a:t>
            </a:r>
            <a:endParaRPr lang="en-US" sz="2025" dirty="0"/>
          </a:p>
        </p:txBody>
      </p:sp>
      <p:sp>
        <p:nvSpPr>
          <p:cNvPr id="59" name="Text 57"/>
          <p:cNvSpPr/>
          <p:nvPr/>
        </p:nvSpPr>
        <p:spPr>
          <a:xfrm>
            <a:off x="1866900" y="5345430"/>
            <a:ext cx="9932670" cy="373380"/>
          </a:xfrm>
          <a:prstGeom prst="rect">
            <a:avLst/>
          </a:prstGeom>
          <a:noFill/>
          <a:ln/>
        </p:spPr>
        <p:txBody>
          <a:bodyPr wrap="square" lIns="25400" tIns="25400" rIns="25400" bIns="25400" rtlCol="0" anchor="t">
            <a:normAutofit/>
          </a:bodyPr>
          <a:lstStyle/>
          <a:p>
            <a:pPr algn="l" indent="0" marL="0">
              <a:buNone/>
            </a:pPr>
            <a:r>
              <a:rPr lang="en-US" sz="2025" b="1" dirty="0">
                <a:solidFill>
                  <a:srgbClr val="211C14"/>
                </a:solidFill>
                <a:latin typeface="Arial" pitchFamily="34" charset="0"/>
                <a:ea typeface="Arial" pitchFamily="34" charset="-122"/>
                <a:cs typeface="Arial" pitchFamily="34" charset="-120"/>
              </a:rPr>
              <a:t>COMPARE </a:t>
            </a:r>
            <a:pPr algn="l" indent="0" marL="0">
              <a:buNone/>
            </a:pPr>
            <a:r>
              <a:rPr lang="en-US" sz="2025" dirty="0">
                <a:solidFill>
                  <a:srgbClr val="211C14"/>
                </a:solidFill>
                <a:latin typeface="Arial" pitchFamily="34" charset="0"/>
                <a:ea typeface="Arial" pitchFamily="34" charset="-122"/>
                <a:cs typeface="Arial" pitchFamily="34" charset="-120"/>
              </a:rPr>
              <a:t>— read &amp; compare against core: write verify</a:t>
            </a:r>
            <a:endParaRPr lang="en-US" sz="2025" dirty="0"/>
          </a:p>
        </p:txBody>
      </p:sp>
      <p:sp>
        <p:nvSpPr>
          <p:cNvPr id="60" name="Shape 58"/>
          <p:cNvSpPr/>
          <p:nvPr/>
        </p:nvSpPr>
        <p:spPr>
          <a:xfrm>
            <a:off x="952500" y="6680835"/>
            <a:ext cx="9944100" cy="9525"/>
          </a:xfrm>
          <a:prstGeom prst="rect">
            <a:avLst/>
          </a:prstGeom>
          <a:solidFill>
            <a:srgbClr val="CEC4AD"/>
          </a:solidFill>
          <a:ln/>
        </p:spPr>
      </p:sp>
      <p:sp>
        <p:nvSpPr>
          <p:cNvPr id="61" name="Shape 59"/>
          <p:cNvSpPr/>
          <p:nvPr/>
        </p:nvSpPr>
        <p:spPr>
          <a:xfrm>
            <a:off x="952500" y="5793105"/>
            <a:ext cx="9944100" cy="9525"/>
          </a:xfrm>
          <a:prstGeom prst="rect">
            <a:avLst/>
          </a:prstGeom>
          <a:solidFill>
            <a:srgbClr val="CEC4AD"/>
          </a:solidFill>
          <a:ln/>
        </p:spPr>
      </p:sp>
      <p:sp>
        <p:nvSpPr>
          <p:cNvPr id="62" name="Text 60"/>
          <p:cNvSpPr/>
          <p:nvPr/>
        </p:nvSpPr>
        <p:spPr>
          <a:xfrm>
            <a:off x="952500" y="5935980"/>
            <a:ext cx="742950" cy="350520"/>
          </a:xfrm>
          <a:prstGeom prst="rect">
            <a:avLst/>
          </a:prstGeom>
          <a:noFill/>
          <a:ln/>
        </p:spPr>
        <p:txBody>
          <a:bodyPr wrap="square" lIns="25400" tIns="25400" rIns="25400" bIns="25400" rtlCol="0" anchor="t">
            <a:normAutofit/>
          </a:bodyPr>
          <a:lstStyle/>
          <a:p>
            <a:pPr algn="l" indent="0" marL="0">
              <a:buNone/>
            </a:pPr>
            <a:r>
              <a:rPr lang="en-US" sz="2025" b="1" dirty="0">
                <a:solidFill>
                  <a:srgbClr val="6B6252"/>
                </a:solidFill>
                <a:latin typeface="Courier New" pitchFamily="34" charset="0"/>
                <a:ea typeface="Courier New" pitchFamily="34" charset="-122"/>
                <a:cs typeface="Courier New" pitchFamily="34" charset="-120"/>
              </a:rPr>
              <a:t>20₈</a:t>
            </a:r>
            <a:endParaRPr lang="en-US" sz="2025" dirty="0"/>
          </a:p>
        </p:txBody>
      </p:sp>
      <p:sp>
        <p:nvSpPr>
          <p:cNvPr id="63" name="Text 61"/>
          <p:cNvSpPr/>
          <p:nvPr/>
        </p:nvSpPr>
        <p:spPr>
          <a:xfrm>
            <a:off x="1866900" y="5905500"/>
            <a:ext cx="9300591" cy="708660"/>
          </a:xfrm>
          <a:prstGeom prst="rect">
            <a:avLst/>
          </a:prstGeom>
          <a:noFill/>
          <a:ln/>
        </p:spPr>
        <p:txBody>
          <a:bodyPr wrap="square" lIns="25400" tIns="25400" rIns="25400" bIns="25400" rtlCol="0" anchor="t">
            <a:normAutofit/>
          </a:bodyPr>
          <a:lstStyle/>
          <a:p>
            <a:pPr algn="l" indent="0" marL="0">
              <a:buNone/>
            </a:pPr>
            <a:r>
              <a:rPr lang="en-US" sz="2025" dirty="0">
                <a:solidFill>
                  <a:srgbClr val="6B6252"/>
                </a:solidFill>
                <a:latin typeface="Arial" pitchFamily="34" charset="0"/>
                <a:ea typeface="Arial" pitchFamily="34" charset="-122"/>
                <a:cs typeface="Arial" pitchFamily="34" charset="-120"/>
              </a:rPr>
              <a:t>READ STATUS ONLY — software code, never written here: XDRUM answers it from RSX and exits finished</a:t>
            </a:r>
            <a:endParaRPr lang="en-US" sz="2025" dirty="0"/>
          </a:p>
        </p:txBody>
      </p:sp>
      <p:sp>
        <p:nvSpPr>
          <p:cNvPr id="64" name="Shape 62"/>
          <p:cNvSpPr/>
          <p:nvPr/>
        </p:nvSpPr>
        <p:spPr>
          <a:xfrm>
            <a:off x="11430000" y="3141345"/>
            <a:ext cx="5905500" cy="2903220"/>
          </a:xfrm>
          <a:prstGeom prst="rect">
            <a:avLst/>
          </a:prstGeom>
          <a:solidFill>
            <a:srgbClr val="2A2620"/>
          </a:solidFill>
          <a:ln/>
        </p:spPr>
      </p:sp>
      <p:sp>
        <p:nvSpPr>
          <p:cNvPr id="65" name="Text 63"/>
          <p:cNvSpPr/>
          <p:nvPr/>
        </p:nvSpPr>
        <p:spPr>
          <a:xfrm>
            <a:off x="11677650" y="3312795"/>
            <a:ext cx="5572506" cy="403860"/>
          </a:xfrm>
          <a:prstGeom prst="rect">
            <a:avLst/>
          </a:prstGeom>
          <a:noFill/>
          <a:ln/>
        </p:spPr>
        <p:txBody>
          <a:bodyPr wrap="square" lIns="25400" tIns="25400" rIns="25400" bIns="25400" rtlCol="0" anchor="t">
            <a:normAutofit/>
          </a:bodyPr>
          <a:lstStyle/>
          <a:p>
            <a:pPr algn="l" indent="0" marL="0">
              <a:lnSpc>
                <a:spcPct val="141176"/>
              </a:lnSpc>
              <a:buNone/>
            </a:pPr>
            <a:r>
              <a:rPr lang="en-US" sz="1800" dirty="0">
                <a:solidFill>
                  <a:srgbClr val="E8935A"/>
                </a:solidFill>
                <a:latin typeface="Courier New" pitchFamily="34" charset="0"/>
                <a:ea typeface="Courier New" pitchFamily="34" charset="-122"/>
                <a:cs typeface="Courier New" pitchFamily="34" charset="-120"/>
              </a:rPr>
              <a:t>% HOW XDRUM BUILDS THE WORD</a:t>
            </a:r>
            <a:endParaRPr lang="en-US" sz="1800" dirty="0"/>
          </a:p>
        </p:txBody>
      </p:sp>
      <p:sp>
        <p:nvSpPr>
          <p:cNvPr id="66" name="Text 64"/>
          <p:cNvSpPr/>
          <p:nvPr/>
        </p:nvSpPr>
        <p:spPr>
          <a:xfrm>
            <a:off x="11677650" y="3678555"/>
            <a:ext cx="5572506" cy="403860"/>
          </a:xfrm>
          <a:prstGeom prst="rect">
            <a:avLst/>
          </a:prstGeom>
          <a:noFill/>
          <a:ln/>
        </p:spPr>
        <p:txBody>
          <a:bodyPr wrap="square" lIns="25400" tIns="25400" rIns="25400" bIns="25400" rtlCol="0" anchor="t">
            <a:normAutofit/>
          </a:bodyPr>
          <a:lstStyle/>
          <a:p>
            <a:pPr algn="l" indent="0" marL="0">
              <a:lnSpc>
                <a:spcPct val="141176"/>
              </a:lnSpc>
              <a:buNone/>
            </a:pPr>
            <a:r>
              <a:rPr lang="en-US" sz="1800" dirty="0">
                <a:solidFill>
                  <a:srgbClr val="E6DEC9"/>
                </a:solidFill>
                <a:latin typeface="Courier New" pitchFamily="34" charset="0"/>
                <a:ea typeface="Courier New" pitchFamily="34" charset="-122"/>
                <a:cs typeface="Courier New" pitchFamily="34" charset="-120"/>
              </a:rPr>
              <a:t>SAA 3; AND DTREG </a:t>
            </a:r>
            <a:pPr algn="l" indent="0" marL="0">
              <a:lnSpc>
                <a:spcPct val="141176"/>
              </a:lnSpc>
              <a:buNone/>
            </a:pPr>
            <a:r>
              <a:rPr lang="en-US" sz="1800" dirty="0">
                <a:solidFill>
                  <a:srgbClr val="8F8570"/>
                </a:solidFill>
                <a:latin typeface="Courier New" pitchFamily="34" charset="0"/>
                <a:ea typeface="Courier New" pitchFamily="34" charset="-122"/>
                <a:cs typeface="Courier New" pitchFamily="34" charset="-120"/>
              </a:rPr>
              <a:t>% FCN = T &amp; 3</a:t>
            </a:r>
            <a:endParaRPr lang="en-US" sz="1800" dirty="0"/>
          </a:p>
        </p:txBody>
      </p:sp>
      <p:sp>
        <p:nvSpPr>
          <p:cNvPr id="67" name="Text 65"/>
          <p:cNvSpPr/>
          <p:nvPr/>
        </p:nvSpPr>
        <p:spPr>
          <a:xfrm>
            <a:off x="11677650" y="4044315"/>
            <a:ext cx="5572506" cy="403860"/>
          </a:xfrm>
          <a:prstGeom prst="rect">
            <a:avLst/>
          </a:prstGeom>
          <a:noFill/>
          <a:ln/>
        </p:spPr>
        <p:txBody>
          <a:bodyPr wrap="square" lIns="25400" tIns="25400" rIns="25400" bIns="25400" rtlCol="0" anchor="t">
            <a:normAutofit/>
          </a:bodyPr>
          <a:lstStyle/>
          <a:p>
            <a:pPr algn="l" indent="0" marL="0">
              <a:lnSpc>
                <a:spcPct val="141176"/>
              </a:lnSpc>
              <a:buNone/>
            </a:pPr>
            <a:r>
              <a:rPr lang="en-US" sz="1800" dirty="0">
                <a:solidFill>
                  <a:srgbClr val="E6DEC9"/>
                </a:solidFill>
                <a:latin typeface="Courier New" pitchFamily="34" charset="0"/>
                <a:ea typeface="Courier New" pitchFamily="34" charset="-122"/>
                <a:cs typeface="Courier New" pitchFamily="34" charset="-120"/>
              </a:rPr>
              <a:t>SHA ZIN 13 </a:t>
            </a:r>
            <a:pPr algn="l" indent="0" marL="0">
              <a:lnSpc>
                <a:spcPct val="141176"/>
              </a:lnSpc>
              <a:buNone/>
            </a:pPr>
            <a:r>
              <a:rPr lang="en-US" sz="1800" dirty="0">
                <a:solidFill>
                  <a:srgbClr val="8F8570"/>
                </a:solidFill>
                <a:latin typeface="Courier New" pitchFamily="34" charset="0"/>
                <a:ea typeface="Courier New" pitchFamily="34" charset="-122"/>
                <a:cs typeface="Courier New" pitchFamily="34" charset="-120"/>
              </a:rPr>
              <a:t>% → BITS 13-14</a:t>
            </a:r>
            <a:endParaRPr lang="en-US" sz="1800" dirty="0"/>
          </a:p>
        </p:txBody>
      </p:sp>
      <p:sp>
        <p:nvSpPr>
          <p:cNvPr id="68" name="Text 66"/>
          <p:cNvSpPr/>
          <p:nvPr/>
        </p:nvSpPr>
        <p:spPr>
          <a:xfrm>
            <a:off x="11677650" y="4410075"/>
            <a:ext cx="5572506" cy="403860"/>
          </a:xfrm>
          <a:prstGeom prst="rect">
            <a:avLst/>
          </a:prstGeom>
          <a:noFill/>
          <a:ln/>
        </p:spPr>
        <p:txBody>
          <a:bodyPr wrap="square" lIns="25400" tIns="25400" rIns="25400" bIns="25400" rtlCol="0" anchor="t">
            <a:normAutofit/>
          </a:bodyPr>
          <a:lstStyle/>
          <a:p>
            <a:pPr algn="l" indent="0" marL="0">
              <a:lnSpc>
                <a:spcPct val="141176"/>
              </a:lnSpc>
              <a:buNone/>
            </a:pPr>
            <a:r>
              <a:rPr lang="en-US" sz="1800" dirty="0">
                <a:solidFill>
                  <a:srgbClr val="E6DEC9"/>
                </a:solidFill>
                <a:latin typeface="Courier New" pitchFamily="34" charset="0"/>
                <a:ea typeface="Courier New" pitchFamily="34" charset="-122"/>
                <a:cs typeface="Courier New" pitchFamily="34" charset="-120"/>
              </a:rPr>
              <a:t>LDA (1400; AND DTREG </a:t>
            </a:r>
            <a:pPr algn="l" indent="0" marL="0">
              <a:lnSpc>
                <a:spcPct val="141176"/>
              </a:lnSpc>
              <a:buNone/>
            </a:pPr>
            <a:r>
              <a:rPr lang="en-US" sz="1800" dirty="0">
                <a:solidFill>
                  <a:srgbClr val="8F8570"/>
                </a:solidFill>
                <a:latin typeface="Courier New" pitchFamily="34" charset="0"/>
                <a:ea typeface="Courier New" pitchFamily="34" charset="-122"/>
                <a:cs typeface="Courier New" pitchFamily="34" charset="-120"/>
              </a:rPr>
              <a:t>% T BITS 8-9</a:t>
            </a:r>
            <a:endParaRPr lang="en-US" sz="1800" dirty="0"/>
          </a:p>
        </p:txBody>
      </p:sp>
      <p:sp>
        <p:nvSpPr>
          <p:cNvPr id="69" name="Text 67"/>
          <p:cNvSpPr/>
          <p:nvPr/>
        </p:nvSpPr>
        <p:spPr>
          <a:xfrm>
            <a:off x="11677650" y="4775835"/>
            <a:ext cx="5572506" cy="403860"/>
          </a:xfrm>
          <a:prstGeom prst="rect">
            <a:avLst/>
          </a:prstGeom>
          <a:noFill/>
          <a:ln/>
        </p:spPr>
        <p:txBody>
          <a:bodyPr wrap="square" lIns="25400" tIns="25400" rIns="25400" bIns="25400" rtlCol="0" anchor="t">
            <a:normAutofit/>
          </a:bodyPr>
          <a:lstStyle/>
          <a:p>
            <a:pPr algn="l" indent="0" marL="0">
              <a:lnSpc>
                <a:spcPct val="141176"/>
              </a:lnSpc>
              <a:buNone/>
            </a:pPr>
            <a:r>
              <a:rPr lang="en-US" sz="1800" dirty="0">
                <a:solidFill>
                  <a:srgbClr val="E6DEC9"/>
                </a:solidFill>
                <a:latin typeface="Courier New" pitchFamily="34" charset="0"/>
                <a:ea typeface="Courier New" pitchFamily="34" charset="-122"/>
                <a:cs typeface="Courier New" pitchFamily="34" charset="-120"/>
              </a:rPr>
              <a:t>SHA ZIN SHR 3 </a:t>
            </a:r>
            <a:pPr algn="l" indent="0" marL="0">
              <a:lnSpc>
                <a:spcPct val="141176"/>
              </a:lnSpc>
              <a:buNone/>
            </a:pPr>
            <a:r>
              <a:rPr lang="en-US" sz="1800" dirty="0">
                <a:solidFill>
                  <a:srgbClr val="8F8570"/>
                </a:solidFill>
                <a:latin typeface="Courier New" pitchFamily="34" charset="0"/>
                <a:ea typeface="Courier New" pitchFamily="34" charset="-122"/>
                <a:cs typeface="Courier New" pitchFamily="34" charset="-120"/>
              </a:rPr>
              <a:t>% → BITS 5-6 (A16/A17)</a:t>
            </a:r>
            <a:endParaRPr lang="en-US" sz="1800" dirty="0"/>
          </a:p>
        </p:txBody>
      </p:sp>
      <p:sp>
        <p:nvSpPr>
          <p:cNvPr id="70" name="Text 68"/>
          <p:cNvSpPr/>
          <p:nvPr/>
        </p:nvSpPr>
        <p:spPr>
          <a:xfrm>
            <a:off x="11677650" y="5141595"/>
            <a:ext cx="5572506" cy="403860"/>
          </a:xfrm>
          <a:prstGeom prst="rect">
            <a:avLst/>
          </a:prstGeom>
          <a:noFill/>
          <a:ln/>
        </p:spPr>
        <p:txBody>
          <a:bodyPr wrap="square" lIns="25400" tIns="25400" rIns="25400" bIns="25400" rtlCol="0" anchor="t">
            <a:normAutofit/>
          </a:bodyPr>
          <a:lstStyle/>
          <a:p>
            <a:pPr algn="l" indent="0" marL="0">
              <a:lnSpc>
                <a:spcPct val="141176"/>
              </a:lnSpc>
              <a:buNone/>
            </a:pPr>
            <a:r>
              <a:rPr lang="en-US" sz="1800" dirty="0">
                <a:solidFill>
                  <a:srgbClr val="E6DEC9"/>
                </a:solidFill>
                <a:latin typeface="Courier New" pitchFamily="34" charset="0"/>
                <a:ea typeface="Courier New" pitchFamily="34" charset="-122"/>
                <a:cs typeface="Courier New" pitchFamily="34" charset="-120"/>
              </a:rPr>
              <a:t>RORA ST DA; AAA 7 </a:t>
            </a:r>
            <a:pPr algn="l" indent="0" marL="0">
              <a:lnSpc>
                <a:spcPct val="141176"/>
              </a:lnSpc>
              <a:buNone/>
            </a:pPr>
            <a:r>
              <a:rPr lang="en-US" sz="1800" dirty="0">
                <a:solidFill>
                  <a:srgbClr val="8F8570"/>
                </a:solidFill>
                <a:latin typeface="Courier New" pitchFamily="34" charset="0"/>
                <a:ea typeface="Courier New" pitchFamily="34" charset="-122"/>
                <a:cs typeface="Courier New" pitchFamily="34" charset="-120"/>
              </a:rPr>
              <a:t>% + INT EN + ACTIVATE</a:t>
            </a:r>
            <a:endParaRPr lang="en-US" sz="1800" dirty="0"/>
          </a:p>
        </p:txBody>
      </p:sp>
      <p:sp>
        <p:nvSpPr>
          <p:cNvPr id="71" name="Text 69"/>
          <p:cNvSpPr/>
          <p:nvPr/>
        </p:nvSpPr>
        <p:spPr>
          <a:xfrm>
            <a:off x="11677650" y="5507355"/>
            <a:ext cx="5572506" cy="403860"/>
          </a:xfrm>
          <a:prstGeom prst="rect">
            <a:avLst/>
          </a:prstGeom>
          <a:noFill/>
          <a:ln/>
        </p:spPr>
        <p:txBody>
          <a:bodyPr wrap="square" lIns="25400" tIns="25400" rIns="25400" bIns="25400" rtlCol="0" anchor="t">
            <a:normAutofit/>
          </a:bodyPr>
          <a:lstStyle/>
          <a:p>
            <a:pPr algn="l" indent="0" marL="0">
              <a:lnSpc>
                <a:spcPct val="141176"/>
              </a:lnSpc>
              <a:buNone/>
            </a:pPr>
            <a:r>
              <a:rPr lang="en-US" sz="1800" dirty="0">
                <a:solidFill>
                  <a:srgbClr val="E6DEC9"/>
                </a:solidFill>
                <a:latin typeface="Courier New" pitchFamily="34" charset="0"/>
                <a:ea typeface="Courier New" pitchFamily="34" charset="-122"/>
                <a:cs typeface="Courier New" pitchFamily="34" charset="-120"/>
              </a:rPr>
              <a:t>IOX DRM LCR </a:t>
            </a:r>
            <a:pPr algn="l" indent="0" marL="0">
              <a:lnSpc>
                <a:spcPct val="141176"/>
              </a:lnSpc>
              <a:buNone/>
            </a:pPr>
            <a:r>
              <a:rPr lang="en-US" sz="1800" dirty="0">
                <a:solidFill>
                  <a:srgbClr val="8F8570"/>
                </a:solidFill>
                <a:latin typeface="Courier New" pitchFamily="34" charset="0"/>
                <a:ea typeface="Courier New" pitchFamily="34" charset="-122"/>
                <a:cs typeface="Courier New" pitchFamily="34" charset="-120"/>
              </a:rPr>
              <a:t>% GO</a:t>
            </a:r>
            <a:endParaRPr lang="en-US" sz="1800" dirty="0"/>
          </a:p>
        </p:txBody>
      </p:sp>
      <p:sp>
        <p:nvSpPr>
          <p:cNvPr id="72" name="Shape 70"/>
          <p:cNvSpPr/>
          <p:nvPr/>
        </p:nvSpPr>
        <p:spPr>
          <a:xfrm>
            <a:off x="11430000" y="6254115"/>
            <a:ext cx="5905500" cy="1729740"/>
          </a:xfrm>
          <a:prstGeom prst="rect">
            <a:avLst/>
          </a:prstGeom>
          <a:solidFill>
            <a:srgbClr val="E9E2CF"/>
          </a:solidFill>
          <a:ln w="15240">
            <a:solidFill>
              <a:srgbClr val="211C14"/>
            </a:solidFill>
            <a:prstDash val="solid"/>
          </a:ln>
        </p:spPr>
      </p:sp>
      <p:sp>
        <p:nvSpPr>
          <p:cNvPr id="73" name="Text 71"/>
          <p:cNvSpPr/>
          <p:nvPr/>
        </p:nvSpPr>
        <p:spPr>
          <a:xfrm>
            <a:off x="11692890" y="6421755"/>
            <a:ext cx="5556885" cy="1432560"/>
          </a:xfrm>
          <a:prstGeom prst="rect">
            <a:avLst/>
          </a:prstGeom>
          <a:noFill/>
          <a:ln/>
        </p:spPr>
        <p:txBody>
          <a:bodyPr wrap="square" lIns="25400" tIns="25400" rIns="25400" bIns="25400" rtlCol="0" anchor="t">
            <a:normAutofit/>
          </a:bodyPr>
          <a:lstStyle/>
          <a:p>
            <a:pPr algn="l" indent="0" marL="0">
              <a:lnSpc>
                <a:spcPct val="132353"/>
              </a:lnSpc>
              <a:buNone/>
            </a:pPr>
            <a:r>
              <a:rPr lang="en-US" sz="1800" b="1" dirty="0">
                <a:solidFill>
                  <a:srgbClr val="211C14"/>
                </a:solidFill>
                <a:latin typeface="Arial" pitchFamily="34" charset="0"/>
                <a:ea typeface="Arial" pitchFamily="34" charset="-122"/>
                <a:cs typeface="Arial" pitchFamily="34" charset="-120"/>
              </a:rPr>
              <a:t>Value 7 </a:t>
            </a:r>
            <a:pPr algn="l" indent="0" marL="0">
              <a:lnSpc>
                <a:spcPct val="132353"/>
              </a:lnSpc>
              <a:buNone/>
            </a:pPr>
            <a:r>
              <a:rPr lang="en-US" sz="1800" dirty="0">
                <a:solidFill>
                  <a:srgbClr val="4A4335"/>
                </a:solidFill>
                <a:highlight>
                  <a:srgbClr val="E9E2CF"/>
                </a:highlight>
                <a:latin typeface="Arial" pitchFamily="34" charset="0"/>
                <a:ea typeface="Arial" pitchFamily="34" charset="-122"/>
                <a:cs typeface="Arial" pitchFamily="34" charset="-120"/>
              </a:rPr>
              <a:t>(bits 0–2) = “enable interrupt and activate” per the source. </a:t>
            </a:r>
            <a:pPr algn="l" indent="0" marL="0">
              <a:lnSpc>
                <a:spcPct val="132353"/>
              </a:lnSpc>
              <a:buNone/>
            </a:pPr>
            <a:r>
              <a:rPr lang="en-US" sz="1800" b="1" dirty="0">
                <a:solidFill>
                  <a:srgbClr val="211C14"/>
                </a:solidFill>
                <a:latin typeface="Arial" pitchFamily="34" charset="0"/>
                <a:ea typeface="Arial" pitchFamily="34" charset="-122"/>
                <a:cs typeface="Arial" pitchFamily="34" charset="-120"/>
              </a:rPr>
              <a:t>Value 4 </a:t>
            </a:r>
            <a:pPr algn="l" indent="0" marL="0">
              <a:lnSpc>
                <a:spcPct val="132353"/>
              </a:lnSpc>
              <a:buNone/>
            </a:pPr>
            <a:r>
              <a:rPr lang="en-US" sz="1800" dirty="0">
                <a:solidFill>
                  <a:srgbClr val="4A4335"/>
                </a:solidFill>
                <a:highlight>
                  <a:srgbClr val="E9E2CF"/>
                </a:highlight>
                <a:latin typeface="Arial" pitchFamily="34" charset="0"/>
                <a:ea typeface="Arial" pitchFamily="34" charset="-122"/>
                <a:cs typeface="Arial" pitchFamily="34" charset="-120"/>
              </a:rPr>
              <a:t>on the error path = device clear / abort. Bits marked </a:t>
            </a:r>
            <a:pPr algn="l" indent="0" marL="0">
              <a:lnSpc>
                <a:spcPct val="132353"/>
              </a:lnSpc>
              <a:buNone/>
            </a:pPr>
            <a:r>
              <a:rPr lang="en-US" sz="1800" b="1" dirty="0">
                <a:solidFill>
                  <a:srgbClr val="4A4335"/>
                </a:solidFill>
                <a:latin typeface="Arial" pitchFamily="34" charset="0"/>
                <a:ea typeface="Arial" pitchFamily="34" charset="-122"/>
                <a:cs typeface="Arial" pitchFamily="34" charset="-120"/>
              </a:rPr>
              <a:t>* </a:t>
            </a:r>
            <a:pPr algn="l" indent="0" marL="0">
              <a:lnSpc>
                <a:spcPct val="132353"/>
              </a:lnSpc>
              <a:buNone/>
            </a:pPr>
            <a:r>
              <a:rPr lang="en-US" sz="1800" dirty="0">
                <a:solidFill>
                  <a:srgbClr val="4A4335"/>
                </a:solidFill>
                <a:highlight>
                  <a:srgbClr val="E9E2CF"/>
                </a:highlight>
                <a:latin typeface="Arial" pitchFamily="34" charset="0"/>
                <a:ea typeface="Arial" pitchFamily="34" charset="-122"/>
                <a:cs typeface="Arial" pitchFamily="34" charset="-120"/>
              </a:rPr>
              <a:t>are convention, unconfirmed.</a:t>
            </a:r>
            <a:endParaRPr lang="en-US" sz="1800" dirty="0"/>
          </a:p>
        </p:txBody>
      </p:sp>
      <p:sp>
        <p:nvSpPr>
          <p:cNvPr id="74" name="Shape 72"/>
          <p:cNvSpPr/>
          <p:nvPr/>
        </p:nvSpPr>
        <p:spPr>
          <a:xfrm>
            <a:off x="11430000" y="8193405"/>
            <a:ext cx="5905500" cy="1028700"/>
          </a:xfrm>
          <a:prstGeom prst="rect">
            <a:avLst/>
          </a:prstGeom>
          <a:solidFill>
            <a:srgbClr val="F7E3D4"/>
          </a:solidFill>
          <a:ln w="15240">
            <a:solidFill>
              <a:srgbClr val="C8501E"/>
            </a:solidFill>
            <a:prstDash val="solid"/>
          </a:ln>
        </p:spPr>
      </p:sp>
      <p:sp>
        <p:nvSpPr>
          <p:cNvPr id="75" name="Text 73"/>
          <p:cNvSpPr/>
          <p:nvPr/>
        </p:nvSpPr>
        <p:spPr>
          <a:xfrm>
            <a:off x="11692890" y="8361045"/>
            <a:ext cx="5556885" cy="731520"/>
          </a:xfrm>
          <a:prstGeom prst="rect">
            <a:avLst/>
          </a:prstGeom>
          <a:noFill/>
          <a:ln/>
        </p:spPr>
        <p:txBody>
          <a:bodyPr wrap="square" lIns="25400" tIns="25400" rIns="25400" bIns="25400" rtlCol="0" anchor="t">
            <a:normAutofit/>
          </a:bodyPr>
          <a:lstStyle/>
          <a:p>
            <a:pPr algn="l" indent="0" marL="0">
              <a:lnSpc>
                <a:spcPct val="132353"/>
              </a:lnSpc>
              <a:buNone/>
            </a:pPr>
            <a:r>
              <a:rPr lang="en-US" sz="1800" b="1" dirty="0">
                <a:solidFill>
                  <a:srgbClr val="A03E14"/>
                </a:solidFill>
                <a:latin typeface="Arial" pitchFamily="34" charset="0"/>
                <a:ea typeface="Arial" pitchFamily="34" charset="-122"/>
                <a:cs typeface="Arial" pitchFamily="34" charset="-120"/>
              </a:rPr>
              <a:t>A17–A16 (bits 6–5): </a:t>
            </a:r>
            <a:pPr algn="l" indent="0" marL="0">
              <a:lnSpc>
                <a:spcPct val="132353"/>
              </a:lnSpc>
              <a:buNone/>
            </a:pPr>
            <a:r>
              <a:rPr lang="en-US" sz="1800" dirty="0">
                <a:solidFill>
                  <a:srgbClr val="6D4830"/>
                </a:solidFill>
                <a:highlight>
                  <a:srgbClr val="F7E3D4"/>
                </a:highlight>
                <a:latin typeface="Arial" pitchFamily="34" charset="0"/>
                <a:ea typeface="Arial" pitchFamily="34" charset="-122"/>
                <a:cs typeface="Arial" pitchFamily="34" charset="-120"/>
              </a:rPr>
              <a:t>extend LCX to 18 bits — DMA into 256K words of core.</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2EDE1"/>
        </a:solidFill>
      </p:bgPr>
    </p:bg>
    <p:spTree>
      <p:nvGrpSpPr>
        <p:cNvPr id="1" name=""/>
        <p:cNvGrpSpPr/>
        <p:nvPr/>
      </p:nvGrpSpPr>
      <p:grpSpPr>
        <a:xfrm>
          <a:off x="0" y="0"/>
          <a:ext cx="0" cy="0"/>
          <a:chOff x="0" y="0"/>
          <a:chExt cx="0" cy="0"/>
        </a:xfrm>
      </p:grpSpPr>
      <p:sp>
        <p:nvSpPr>
          <p:cNvPr id="2" name="Text 0"/>
          <p:cNvSpPr/>
          <p:nvPr/>
        </p:nvSpPr>
        <p:spPr>
          <a:xfrm>
            <a:off x="952500" y="762000"/>
            <a:ext cx="18021300" cy="33528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C8501E"/>
                </a:solidFill>
                <a:latin typeface="Courier New" pitchFamily="34" charset="0"/>
                <a:ea typeface="Courier New" pitchFamily="34" charset="-122"/>
                <a:cs typeface="Courier New" pitchFamily="34" charset="-120"/>
              </a:rPr>
              <a:t>SECTION 04 · THE DRUM</a:t>
            </a:r>
            <a:endParaRPr lang="en-US" sz="1800" dirty="0"/>
          </a:p>
        </p:txBody>
      </p:sp>
      <p:sp>
        <p:nvSpPr>
          <p:cNvPr id="3" name="Text 1"/>
          <p:cNvSpPr/>
          <p:nvPr/>
        </p:nvSpPr>
        <p:spPr>
          <a:xfrm>
            <a:off x="952500" y="1211580"/>
            <a:ext cx="18021300" cy="666750"/>
          </a:xfrm>
          <a:prstGeom prst="rect">
            <a:avLst/>
          </a:prstGeom>
          <a:noFill/>
          <a:ln/>
        </p:spPr>
        <p:txBody>
          <a:bodyPr wrap="square" lIns="25400" tIns="25400" rIns="25400" bIns="25400" rtlCol="0" anchor="t">
            <a:normAutofit/>
          </a:bodyPr>
          <a:lstStyle/>
          <a:p>
            <a:pPr algn="l" indent="0" marL="0">
              <a:lnSpc>
                <a:spcPct val="97059"/>
              </a:lnSpc>
              <a:buNone/>
            </a:pPr>
            <a:r>
              <a:rPr lang="en-US" sz="4500" b="1" dirty="0">
                <a:solidFill>
                  <a:srgbClr val="211C14"/>
                </a:solidFill>
                <a:latin typeface="Courier New" pitchFamily="34" charset="0"/>
                <a:ea typeface="Courier New" pitchFamily="34" charset="-122"/>
                <a:cs typeface="Courier New" pitchFamily="34" charset="-120"/>
              </a:rPr>
              <a:t>XDRUM — Transfer Flow &amp; Track Splitting</a:t>
            </a:r>
            <a:endParaRPr lang="en-US" sz="4500" dirty="0"/>
          </a:p>
        </p:txBody>
      </p:sp>
      <p:sp>
        <p:nvSpPr>
          <p:cNvPr id="4" name="Shape 2"/>
          <p:cNvSpPr/>
          <p:nvPr/>
        </p:nvSpPr>
        <p:spPr>
          <a:xfrm>
            <a:off x="952500" y="1992630"/>
            <a:ext cx="16383000" cy="28575"/>
          </a:xfrm>
          <a:prstGeom prst="rect">
            <a:avLst/>
          </a:prstGeom>
          <a:solidFill>
            <a:srgbClr val="211C14"/>
          </a:solidFill>
          <a:ln/>
        </p:spPr>
      </p:sp>
      <p:sp>
        <p:nvSpPr>
          <p:cNvPr id="5" name="Shape 3"/>
          <p:cNvSpPr/>
          <p:nvPr/>
        </p:nvSpPr>
        <p:spPr>
          <a:xfrm>
            <a:off x="952500" y="2402205"/>
            <a:ext cx="735330" cy="735330"/>
          </a:xfrm>
          <a:prstGeom prst="rect">
            <a:avLst/>
          </a:prstGeom>
          <a:ln w="15240">
            <a:solidFill>
              <a:srgbClr val="211C14"/>
            </a:solidFill>
            <a:prstDash val="solid"/>
          </a:ln>
        </p:spPr>
      </p:sp>
      <p:sp>
        <p:nvSpPr>
          <p:cNvPr id="6" name="Text 4"/>
          <p:cNvSpPr/>
          <p:nvPr/>
        </p:nvSpPr>
        <p:spPr>
          <a:xfrm>
            <a:off x="929640" y="2417445"/>
            <a:ext cx="781050" cy="742950"/>
          </a:xfrm>
          <a:prstGeom prst="rect">
            <a:avLst/>
          </a:prstGeom>
          <a:noFill/>
          <a:ln/>
        </p:spPr>
        <p:txBody>
          <a:bodyPr wrap="square" lIns="25400" tIns="25400" rIns="25400" bIns="25400" rtlCol="0" anchor="ctr">
            <a:normAutofit/>
          </a:bodyPr>
          <a:lstStyle/>
          <a:p>
            <a:pPr algn="ctr" indent="0" marL="0">
              <a:buNone/>
            </a:pPr>
            <a:r>
              <a:rPr lang="en-US" sz="2250" b="1" dirty="0">
                <a:solidFill>
                  <a:srgbClr val="211C14"/>
                </a:solidFill>
                <a:latin typeface="Courier New" pitchFamily="34" charset="0"/>
                <a:ea typeface="Courier New" pitchFamily="34" charset="-122"/>
                <a:cs typeface="Courier New" pitchFamily="34" charset="-120"/>
              </a:rPr>
              <a:t>1</a:t>
            </a:r>
            <a:endParaRPr lang="en-US" sz="2250" dirty="0"/>
          </a:p>
        </p:txBody>
      </p:sp>
      <p:sp>
        <p:nvSpPr>
          <p:cNvPr id="7" name="Shape 5"/>
          <p:cNvSpPr/>
          <p:nvPr/>
        </p:nvSpPr>
        <p:spPr>
          <a:xfrm>
            <a:off x="1878330" y="3067050"/>
            <a:ext cx="9551670" cy="9525"/>
          </a:xfrm>
          <a:prstGeom prst="rect">
            <a:avLst/>
          </a:prstGeom>
          <a:solidFill>
            <a:srgbClr val="CEC4AD"/>
          </a:solidFill>
          <a:ln/>
        </p:spPr>
      </p:sp>
      <p:sp>
        <p:nvSpPr>
          <p:cNvPr id="8" name="Text 6"/>
          <p:cNvSpPr/>
          <p:nvPr/>
        </p:nvSpPr>
        <p:spPr>
          <a:xfrm>
            <a:off x="1878330" y="2598420"/>
            <a:ext cx="9838220" cy="373380"/>
          </a:xfrm>
          <a:prstGeom prst="rect">
            <a:avLst/>
          </a:prstGeom>
          <a:noFill/>
          <a:ln/>
        </p:spPr>
        <p:txBody>
          <a:bodyPr wrap="square" lIns="25400" tIns="25400" rIns="25400" bIns="25400" rtlCol="0" anchor="t">
            <a:normAutofit/>
          </a:bodyPr>
          <a:lstStyle/>
          <a:p>
            <a:pPr algn="l" indent="0" marL="0">
              <a:buNone/>
            </a:pPr>
            <a:r>
              <a:rPr lang="en-US" sz="2025" dirty="0">
                <a:solidFill>
                  <a:srgbClr val="211C14"/>
                </a:solidFill>
                <a:latin typeface="Courier New" pitchFamily="34" charset="0"/>
                <a:ea typeface="Courier New" pitchFamily="34" charset="-122"/>
                <a:cs typeface="Courier New" pitchFamily="34" charset="-120"/>
              </a:rPr>
              <a:t>IOX DRM RSX </a:t>
            </a:r>
            <a:pPr algn="l" indent="0" marL="0">
              <a:buNone/>
            </a:pPr>
            <a:r>
              <a:rPr lang="en-US" sz="2025" dirty="0">
                <a:solidFill>
                  <a:srgbClr val="211C14"/>
                </a:solidFill>
                <a:latin typeface="Arial" pitchFamily="34" charset="0"/>
                <a:ea typeface="Arial" pitchFamily="34" charset="-122"/>
                <a:cs typeface="Arial" pitchFamily="34" charset="-120"/>
              </a:rPr>
              <a:t>— DVA set → </a:t>
            </a:r>
            <a:pPr algn="l" indent="0" marL="0">
              <a:buNone/>
            </a:pPr>
            <a:r>
              <a:rPr lang="en-US" sz="2025" b="1" dirty="0">
                <a:solidFill>
                  <a:srgbClr val="211C14"/>
                </a:solidFill>
                <a:latin typeface="Arial" pitchFamily="34" charset="0"/>
                <a:ea typeface="Arial" pitchFamily="34" charset="-122"/>
                <a:cs typeface="Arial" pitchFamily="34" charset="-120"/>
              </a:rPr>
              <a:t>BUSY exit </a:t>
            </a:r>
            <a:pPr algn="l" indent="0" marL="0">
              <a:buNone/>
            </a:pPr>
            <a:r>
              <a:rPr lang="en-US" sz="2025" dirty="0">
                <a:solidFill>
                  <a:srgbClr val="211C14"/>
                </a:solidFill>
                <a:latin typeface="Arial" pitchFamily="34" charset="0"/>
                <a:ea typeface="Arial" pitchFamily="34" charset="-122"/>
                <a:cs typeface="Arial" pitchFamily="34" charset="-120"/>
              </a:rPr>
              <a:t>· ERR set → </a:t>
            </a:r>
            <a:pPr algn="l" indent="0" marL="0">
              <a:buNone/>
            </a:pPr>
            <a:r>
              <a:rPr lang="en-US" sz="2025" b="1" dirty="0">
                <a:solidFill>
                  <a:srgbClr val="211C14"/>
                </a:solidFill>
                <a:latin typeface="Arial" pitchFamily="34" charset="0"/>
                <a:ea typeface="Arial" pitchFamily="34" charset="-122"/>
                <a:cs typeface="Arial" pitchFamily="34" charset="-120"/>
              </a:rPr>
              <a:t>ERROR exit</a:t>
            </a:r>
            <a:endParaRPr lang="en-US" sz="2025" dirty="0"/>
          </a:p>
        </p:txBody>
      </p:sp>
      <p:sp>
        <p:nvSpPr>
          <p:cNvPr id="9" name="Shape 7"/>
          <p:cNvSpPr/>
          <p:nvPr/>
        </p:nvSpPr>
        <p:spPr>
          <a:xfrm>
            <a:off x="952500" y="3251835"/>
            <a:ext cx="735330" cy="735330"/>
          </a:xfrm>
          <a:prstGeom prst="rect">
            <a:avLst/>
          </a:prstGeom>
          <a:ln w="15240">
            <a:solidFill>
              <a:srgbClr val="211C14"/>
            </a:solidFill>
            <a:prstDash val="solid"/>
          </a:ln>
        </p:spPr>
      </p:sp>
      <p:sp>
        <p:nvSpPr>
          <p:cNvPr id="10" name="Text 8"/>
          <p:cNvSpPr/>
          <p:nvPr/>
        </p:nvSpPr>
        <p:spPr>
          <a:xfrm>
            <a:off x="929640" y="3267075"/>
            <a:ext cx="781050" cy="742950"/>
          </a:xfrm>
          <a:prstGeom prst="rect">
            <a:avLst/>
          </a:prstGeom>
          <a:noFill/>
          <a:ln/>
        </p:spPr>
        <p:txBody>
          <a:bodyPr wrap="square" lIns="25400" tIns="25400" rIns="25400" bIns="25400" rtlCol="0" anchor="ctr">
            <a:normAutofit/>
          </a:bodyPr>
          <a:lstStyle/>
          <a:p>
            <a:pPr algn="ctr" indent="0" marL="0">
              <a:buNone/>
            </a:pPr>
            <a:r>
              <a:rPr lang="en-US" sz="2250" b="1" dirty="0">
                <a:solidFill>
                  <a:srgbClr val="211C14"/>
                </a:solidFill>
                <a:latin typeface="Courier New" pitchFamily="34" charset="0"/>
                <a:ea typeface="Courier New" pitchFamily="34" charset="-122"/>
                <a:cs typeface="Courier New" pitchFamily="34" charset="-120"/>
              </a:rPr>
              <a:t>2</a:t>
            </a:r>
            <a:endParaRPr lang="en-US" sz="2250" dirty="0"/>
          </a:p>
        </p:txBody>
      </p:sp>
      <p:sp>
        <p:nvSpPr>
          <p:cNvPr id="11" name="Shape 9"/>
          <p:cNvSpPr/>
          <p:nvPr/>
        </p:nvSpPr>
        <p:spPr>
          <a:xfrm>
            <a:off x="1878330" y="3916680"/>
            <a:ext cx="9551670" cy="9525"/>
          </a:xfrm>
          <a:prstGeom prst="rect">
            <a:avLst/>
          </a:prstGeom>
          <a:solidFill>
            <a:srgbClr val="CEC4AD"/>
          </a:solidFill>
          <a:ln/>
        </p:spPr>
      </p:sp>
      <p:sp>
        <p:nvSpPr>
          <p:cNvPr id="12" name="Text 10"/>
          <p:cNvSpPr/>
          <p:nvPr/>
        </p:nvSpPr>
        <p:spPr>
          <a:xfrm>
            <a:off x="1878330" y="3448050"/>
            <a:ext cx="9838220" cy="373380"/>
          </a:xfrm>
          <a:prstGeom prst="rect">
            <a:avLst/>
          </a:prstGeom>
          <a:noFill/>
          <a:ln/>
        </p:spPr>
        <p:txBody>
          <a:bodyPr wrap="square" lIns="25400" tIns="25400" rIns="25400" bIns="25400" rtlCol="0" anchor="t">
            <a:normAutofit/>
          </a:bodyPr>
          <a:lstStyle/>
          <a:p>
            <a:pPr algn="l" indent="0" marL="0">
              <a:buNone/>
            </a:pPr>
            <a:r>
              <a:rPr lang="en-US" sz="2025" dirty="0">
                <a:solidFill>
                  <a:srgbClr val="211C14"/>
                </a:solidFill>
                <a:latin typeface="Arial" pitchFamily="34" charset="0"/>
                <a:ea typeface="Arial" pitchFamily="34" charset="-122"/>
                <a:cs typeface="Arial" pitchFamily="34" charset="-120"/>
              </a:rPr>
              <a:t>X = 0, or function = 20₈? → read status, </a:t>
            </a:r>
            <a:pPr algn="l" indent="0" marL="0">
              <a:buNone/>
            </a:pPr>
            <a:r>
              <a:rPr lang="en-US" sz="2025" b="1" dirty="0">
                <a:solidFill>
                  <a:srgbClr val="211C14"/>
                </a:solidFill>
                <a:latin typeface="Arial" pitchFamily="34" charset="0"/>
                <a:ea typeface="Arial" pitchFamily="34" charset="-122"/>
                <a:cs typeface="Arial" pitchFamily="34" charset="-120"/>
              </a:rPr>
              <a:t>FINISHED exit</a:t>
            </a:r>
            <a:endParaRPr lang="en-US" sz="2025" dirty="0"/>
          </a:p>
        </p:txBody>
      </p:sp>
      <p:sp>
        <p:nvSpPr>
          <p:cNvPr id="13" name="Shape 11"/>
          <p:cNvSpPr/>
          <p:nvPr/>
        </p:nvSpPr>
        <p:spPr>
          <a:xfrm>
            <a:off x="952500" y="4101465"/>
            <a:ext cx="735330" cy="735330"/>
          </a:xfrm>
          <a:prstGeom prst="rect">
            <a:avLst/>
          </a:prstGeom>
          <a:ln w="15240">
            <a:solidFill>
              <a:srgbClr val="C8501E"/>
            </a:solidFill>
            <a:prstDash val="solid"/>
          </a:ln>
        </p:spPr>
      </p:sp>
      <p:sp>
        <p:nvSpPr>
          <p:cNvPr id="14" name="Text 12"/>
          <p:cNvSpPr/>
          <p:nvPr/>
        </p:nvSpPr>
        <p:spPr>
          <a:xfrm>
            <a:off x="929640" y="4116705"/>
            <a:ext cx="781050" cy="742950"/>
          </a:xfrm>
          <a:prstGeom prst="rect">
            <a:avLst/>
          </a:prstGeom>
          <a:noFill/>
          <a:ln/>
        </p:spPr>
        <p:txBody>
          <a:bodyPr wrap="square" lIns="25400" tIns="25400" rIns="25400" bIns="25400" rtlCol="0" anchor="ctr">
            <a:normAutofit/>
          </a:bodyPr>
          <a:lstStyle/>
          <a:p>
            <a:pPr algn="ctr" indent="0" marL="0">
              <a:buNone/>
            </a:pPr>
            <a:r>
              <a:rPr lang="en-US" sz="2250" b="1" dirty="0">
                <a:solidFill>
                  <a:srgbClr val="A03E14"/>
                </a:solidFill>
                <a:latin typeface="Courier New" pitchFamily="34" charset="0"/>
                <a:ea typeface="Courier New" pitchFamily="34" charset="-122"/>
                <a:cs typeface="Courier New" pitchFamily="34" charset="-120"/>
              </a:rPr>
              <a:t>3</a:t>
            </a:r>
            <a:endParaRPr lang="en-US" sz="2250" dirty="0"/>
          </a:p>
        </p:txBody>
      </p:sp>
      <p:sp>
        <p:nvSpPr>
          <p:cNvPr id="15" name="Shape 13"/>
          <p:cNvSpPr/>
          <p:nvPr/>
        </p:nvSpPr>
        <p:spPr>
          <a:xfrm>
            <a:off x="1878330" y="4766310"/>
            <a:ext cx="9551670" cy="9525"/>
          </a:xfrm>
          <a:prstGeom prst="rect">
            <a:avLst/>
          </a:prstGeom>
          <a:solidFill>
            <a:srgbClr val="CEC4AD"/>
          </a:solidFill>
          <a:ln/>
        </p:spPr>
      </p:sp>
      <p:sp>
        <p:nvSpPr>
          <p:cNvPr id="16" name="Text 14"/>
          <p:cNvSpPr/>
          <p:nvPr/>
        </p:nvSpPr>
        <p:spPr>
          <a:xfrm>
            <a:off x="1878330" y="4297680"/>
            <a:ext cx="9838220" cy="373380"/>
          </a:xfrm>
          <a:prstGeom prst="rect">
            <a:avLst/>
          </a:prstGeom>
          <a:noFill/>
          <a:ln/>
        </p:spPr>
        <p:txBody>
          <a:bodyPr wrap="square" lIns="25400" tIns="25400" rIns="25400" bIns="25400" rtlCol="0" anchor="t">
            <a:normAutofit/>
          </a:bodyPr>
          <a:lstStyle/>
          <a:p>
            <a:pPr algn="l" indent="0" marL="0">
              <a:buNone/>
            </a:pPr>
            <a:r>
              <a:rPr lang="en-US" sz="2025" dirty="0">
                <a:solidFill>
                  <a:srgbClr val="211C14"/>
                </a:solidFill>
                <a:latin typeface="Arial" pitchFamily="34" charset="0"/>
                <a:ea typeface="Arial" pitchFamily="34" charset="-122"/>
                <a:cs typeface="Arial" pitchFamily="34" charset="-120"/>
              </a:rPr>
              <a:t>Chunk = </a:t>
            </a:r>
            <a:pPr algn="l" indent="0" marL="0">
              <a:buNone/>
            </a:pPr>
            <a:r>
              <a:rPr lang="en-US" sz="2025" b="1" dirty="0">
                <a:solidFill>
                  <a:srgbClr val="211C14"/>
                </a:solidFill>
                <a:latin typeface="Arial" pitchFamily="34" charset="0"/>
                <a:ea typeface="Arial" pitchFamily="34" charset="-122"/>
                <a:cs typeface="Arial" pitchFamily="34" charset="-120"/>
              </a:rPr>
              <a:t>min( X, 32 − (D mod 32) ) </a:t>
            </a:r>
            <a:pPr algn="l" indent="0" marL="0">
              <a:buNone/>
            </a:pPr>
            <a:r>
              <a:rPr lang="en-US" sz="2025" dirty="0">
                <a:solidFill>
                  <a:srgbClr val="211C14"/>
                </a:solidFill>
                <a:latin typeface="Arial" pitchFamily="34" charset="0"/>
                <a:ea typeface="Arial" pitchFamily="34" charset="-122"/>
                <a:cs typeface="Arial" pitchFamily="34" charset="-120"/>
              </a:rPr>
              <a:t>— never cross a track boundary</a:t>
            </a:r>
            <a:endParaRPr lang="en-US" sz="2025" dirty="0"/>
          </a:p>
        </p:txBody>
      </p:sp>
      <p:sp>
        <p:nvSpPr>
          <p:cNvPr id="17" name="Shape 15"/>
          <p:cNvSpPr/>
          <p:nvPr/>
        </p:nvSpPr>
        <p:spPr>
          <a:xfrm>
            <a:off x="952500" y="4951095"/>
            <a:ext cx="735330" cy="735330"/>
          </a:xfrm>
          <a:prstGeom prst="rect">
            <a:avLst/>
          </a:prstGeom>
          <a:ln w="15240">
            <a:solidFill>
              <a:srgbClr val="211C14"/>
            </a:solidFill>
            <a:prstDash val="solid"/>
          </a:ln>
        </p:spPr>
      </p:sp>
      <p:sp>
        <p:nvSpPr>
          <p:cNvPr id="18" name="Text 16"/>
          <p:cNvSpPr/>
          <p:nvPr/>
        </p:nvSpPr>
        <p:spPr>
          <a:xfrm>
            <a:off x="929640" y="4966335"/>
            <a:ext cx="781050" cy="742950"/>
          </a:xfrm>
          <a:prstGeom prst="rect">
            <a:avLst/>
          </a:prstGeom>
          <a:noFill/>
          <a:ln/>
        </p:spPr>
        <p:txBody>
          <a:bodyPr wrap="square" lIns="25400" tIns="25400" rIns="25400" bIns="25400" rtlCol="0" anchor="ctr">
            <a:normAutofit/>
          </a:bodyPr>
          <a:lstStyle/>
          <a:p>
            <a:pPr algn="ctr" indent="0" marL="0">
              <a:buNone/>
            </a:pPr>
            <a:r>
              <a:rPr lang="en-US" sz="2250" b="1" dirty="0">
                <a:solidFill>
                  <a:srgbClr val="211C14"/>
                </a:solidFill>
                <a:latin typeface="Courier New" pitchFamily="34" charset="0"/>
                <a:ea typeface="Courier New" pitchFamily="34" charset="-122"/>
                <a:cs typeface="Courier New" pitchFamily="34" charset="-120"/>
              </a:rPr>
              <a:t>4</a:t>
            </a:r>
            <a:endParaRPr lang="en-US" sz="2250" dirty="0"/>
          </a:p>
        </p:txBody>
      </p:sp>
      <p:sp>
        <p:nvSpPr>
          <p:cNvPr id="19" name="Shape 17"/>
          <p:cNvSpPr/>
          <p:nvPr/>
        </p:nvSpPr>
        <p:spPr>
          <a:xfrm>
            <a:off x="1878330" y="5615940"/>
            <a:ext cx="9551670" cy="9525"/>
          </a:xfrm>
          <a:prstGeom prst="rect">
            <a:avLst/>
          </a:prstGeom>
          <a:solidFill>
            <a:srgbClr val="CEC4AD"/>
          </a:solidFill>
          <a:ln/>
        </p:spPr>
      </p:sp>
      <p:sp>
        <p:nvSpPr>
          <p:cNvPr id="20" name="Text 18"/>
          <p:cNvSpPr/>
          <p:nvPr/>
        </p:nvSpPr>
        <p:spPr>
          <a:xfrm>
            <a:off x="1878330" y="5147310"/>
            <a:ext cx="9838220" cy="373380"/>
          </a:xfrm>
          <a:prstGeom prst="rect">
            <a:avLst/>
          </a:prstGeom>
          <a:noFill/>
          <a:ln/>
        </p:spPr>
        <p:txBody>
          <a:bodyPr wrap="square" lIns="25400" tIns="25400" rIns="25400" bIns="25400" rtlCol="0" anchor="t">
            <a:normAutofit/>
          </a:bodyPr>
          <a:lstStyle/>
          <a:p>
            <a:pPr algn="l" indent="0" marL="0">
              <a:buNone/>
            </a:pPr>
            <a:r>
              <a:rPr lang="en-US" sz="2025" dirty="0">
                <a:solidFill>
                  <a:srgbClr val="211C14"/>
                </a:solidFill>
                <a:latin typeface="Arial" pitchFamily="34" charset="0"/>
                <a:ea typeface="Arial" pitchFamily="34" charset="-122"/>
                <a:cs typeface="Arial" pitchFamily="34" charset="-120"/>
              </a:rPr>
              <a:t>Load word count (chunk×64), core address, packed block address</a:t>
            </a:r>
            <a:endParaRPr lang="en-US" sz="2025" dirty="0"/>
          </a:p>
        </p:txBody>
      </p:sp>
      <p:sp>
        <p:nvSpPr>
          <p:cNvPr id="21" name="Shape 19"/>
          <p:cNvSpPr/>
          <p:nvPr/>
        </p:nvSpPr>
        <p:spPr>
          <a:xfrm>
            <a:off x="952500" y="5800725"/>
            <a:ext cx="735330" cy="735330"/>
          </a:xfrm>
          <a:prstGeom prst="rect">
            <a:avLst/>
          </a:prstGeom>
          <a:ln w="15240">
            <a:solidFill>
              <a:srgbClr val="211C14"/>
            </a:solidFill>
            <a:prstDash val="solid"/>
          </a:ln>
        </p:spPr>
      </p:sp>
      <p:sp>
        <p:nvSpPr>
          <p:cNvPr id="22" name="Text 20"/>
          <p:cNvSpPr/>
          <p:nvPr/>
        </p:nvSpPr>
        <p:spPr>
          <a:xfrm>
            <a:off x="929640" y="5815965"/>
            <a:ext cx="781050" cy="742950"/>
          </a:xfrm>
          <a:prstGeom prst="rect">
            <a:avLst/>
          </a:prstGeom>
          <a:noFill/>
          <a:ln/>
        </p:spPr>
        <p:txBody>
          <a:bodyPr wrap="square" lIns="25400" tIns="25400" rIns="25400" bIns="25400" rtlCol="0" anchor="ctr">
            <a:normAutofit/>
          </a:bodyPr>
          <a:lstStyle/>
          <a:p>
            <a:pPr algn="ctr" indent="0" marL="0">
              <a:buNone/>
            </a:pPr>
            <a:r>
              <a:rPr lang="en-US" sz="2250" b="1" dirty="0">
                <a:solidFill>
                  <a:srgbClr val="211C14"/>
                </a:solidFill>
                <a:latin typeface="Courier New" pitchFamily="34" charset="0"/>
                <a:ea typeface="Courier New" pitchFamily="34" charset="-122"/>
                <a:cs typeface="Courier New" pitchFamily="34" charset="-120"/>
              </a:rPr>
              <a:t>5</a:t>
            </a:r>
            <a:endParaRPr lang="en-US" sz="2250" dirty="0"/>
          </a:p>
        </p:txBody>
      </p:sp>
      <p:sp>
        <p:nvSpPr>
          <p:cNvPr id="23" name="Shape 21"/>
          <p:cNvSpPr/>
          <p:nvPr/>
        </p:nvSpPr>
        <p:spPr>
          <a:xfrm>
            <a:off x="1878330" y="6465570"/>
            <a:ext cx="9551670" cy="9525"/>
          </a:xfrm>
          <a:prstGeom prst="rect">
            <a:avLst/>
          </a:prstGeom>
          <a:solidFill>
            <a:srgbClr val="CEC4AD"/>
          </a:solidFill>
          <a:ln/>
        </p:spPr>
      </p:sp>
      <p:sp>
        <p:nvSpPr>
          <p:cNvPr id="24" name="Text 22"/>
          <p:cNvSpPr/>
          <p:nvPr/>
        </p:nvSpPr>
        <p:spPr>
          <a:xfrm>
            <a:off x="1878330" y="5996940"/>
            <a:ext cx="9838220" cy="373380"/>
          </a:xfrm>
          <a:prstGeom prst="rect">
            <a:avLst/>
          </a:prstGeom>
          <a:noFill/>
          <a:ln/>
        </p:spPr>
        <p:txBody>
          <a:bodyPr wrap="square" lIns="25400" tIns="25400" rIns="25400" bIns="25400" rtlCol="0" anchor="t">
            <a:normAutofit/>
          </a:bodyPr>
          <a:lstStyle/>
          <a:p>
            <a:pPr algn="l" indent="0" marL="0">
              <a:buNone/>
            </a:pPr>
            <a:r>
              <a:rPr lang="en-US" sz="2025" dirty="0">
                <a:solidFill>
                  <a:srgbClr val="211C14"/>
                </a:solidFill>
                <a:latin typeface="Arial" pitchFamily="34" charset="0"/>
                <a:ea typeface="Arial" pitchFamily="34" charset="-122"/>
                <a:cs typeface="Arial" pitchFamily="34" charset="-120"/>
              </a:rPr>
              <a:t>Advance the saved registers: X−=chunk, D+=chunk, A+=chunk×64</a:t>
            </a:r>
            <a:endParaRPr lang="en-US" sz="2025" dirty="0"/>
          </a:p>
        </p:txBody>
      </p:sp>
      <p:sp>
        <p:nvSpPr>
          <p:cNvPr id="25" name="Shape 23"/>
          <p:cNvSpPr/>
          <p:nvPr/>
        </p:nvSpPr>
        <p:spPr>
          <a:xfrm>
            <a:off x="952500" y="6751320"/>
            <a:ext cx="735330" cy="735330"/>
          </a:xfrm>
          <a:prstGeom prst="rect">
            <a:avLst/>
          </a:prstGeom>
          <a:ln w="15240">
            <a:solidFill>
              <a:srgbClr val="211C14"/>
            </a:solidFill>
            <a:prstDash val="solid"/>
          </a:ln>
        </p:spPr>
      </p:sp>
      <p:sp>
        <p:nvSpPr>
          <p:cNvPr id="26" name="Text 24"/>
          <p:cNvSpPr/>
          <p:nvPr/>
        </p:nvSpPr>
        <p:spPr>
          <a:xfrm>
            <a:off x="929640" y="6766560"/>
            <a:ext cx="781050" cy="742950"/>
          </a:xfrm>
          <a:prstGeom prst="rect">
            <a:avLst/>
          </a:prstGeom>
          <a:noFill/>
          <a:ln/>
        </p:spPr>
        <p:txBody>
          <a:bodyPr wrap="square" lIns="25400" tIns="25400" rIns="25400" bIns="25400" rtlCol="0" anchor="ctr">
            <a:normAutofit/>
          </a:bodyPr>
          <a:lstStyle/>
          <a:p>
            <a:pPr algn="ctr" indent="0" marL="0">
              <a:buNone/>
            </a:pPr>
            <a:r>
              <a:rPr lang="en-US" sz="2250" b="1" dirty="0">
                <a:solidFill>
                  <a:srgbClr val="211C14"/>
                </a:solidFill>
                <a:latin typeface="Courier New" pitchFamily="34" charset="0"/>
                <a:ea typeface="Courier New" pitchFamily="34" charset="-122"/>
                <a:cs typeface="Courier New" pitchFamily="34" charset="-120"/>
              </a:rPr>
              <a:t>6</a:t>
            </a:r>
            <a:endParaRPr lang="en-US" sz="2250" dirty="0"/>
          </a:p>
        </p:txBody>
      </p:sp>
      <p:sp>
        <p:nvSpPr>
          <p:cNvPr id="27" name="Text 25"/>
          <p:cNvSpPr/>
          <p:nvPr/>
        </p:nvSpPr>
        <p:spPr>
          <a:xfrm>
            <a:off x="1878330" y="6783705"/>
            <a:ext cx="9838220" cy="708660"/>
          </a:xfrm>
          <a:prstGeom prst="rect">
            <a:avLst/>
          </a:prstGeom>
          <a:noFill/>
          <a:ln/>
        </p:spPr>
        <p:txBody>
          <a:bodyPr wrap="square" lIns="25400" tIns="25400" rIns="25400" bIns="25400" rtlCol="0" anchor="t">
            <a:normAutofit/>
          </a:bodyPr>
          <a:lstStyle/>
          <a:p>
            <a:pPr algn="l" indent="0" marL="0">
              <a:buNone/>
            </a:pPr>
            <a:r>
              <a:rPr lang="en-US" sz="2025" dirty="0">
                <a:solidFill>
                  <a:srgbClr val="211C14"/>
                </a:solidFill>
                <a:latin typeface="Arial" pitchFamily="34" charset="0"/>
                <a:ea typeface="Arial" pitchFamily="34" charset="-122"/>
                <a:cs typeface="Arial" pitchFamily="34" charset="-120"/>
              </a:rPr>
              <a:t>Write control word (function + A16/17 + 7) → hardware runs → </a:t>
            </a:r>
            <a:pPr algn="l" indent="0" marL="0">
              <a:buNone/>
            </a:pPr>
            <a:r>
              <a:rPr lang="en-US" sz="2025" b="1" dirty="0">
                <a:solidFill>
                  <a:srgbClr val="211C14"/>
                </a:solidFill>
                <a:latin typeface="Arial" pitchFamily="34" charset="0"/>
                <a:ea typeface="Arial" pitchFamily="34" charset="-122"/>
                <a:cs typeface="Arial" pitchFamily="34" charset="-120"/>
              </a:rPr>
              <a:t>BUSY exit </a:t>
            </a:r>
            <a:pPr algn="l" indent="0" marL="0">
              <a:buNone/>
            </a:pPr>
            <a:r>
              <a:rPr lang="en-US" sz="2025" dirty="0">
                <a:solidFill>
                  <a:srgbClr val="211C14"/>
                </a:solidFill>
                <a:latin typeface="Arial" pitchFamily="34" charset="0"/>
                <a:ea typeface="Arial" pitchFamily="34" charset="-122"/>
                <a:cs typeface="Arial" pitchFamily="34" charset="-120"/>
              </a:rPr>
              <a:t>; caller re-calls at step 1</a:t>
            </a:r>
            <a:endParaRPr lang="en-US" sz="2025" dirty="0"/>
          </a:p>
        </p:txBody>
      </p:sp>
      <p:sp>
        <p:nvSpPr>
          <p:cNvPr id="28" name="Text 26"/>
          <p:cNvSpPr/>
          <p:nvPr/>
        </p:nvSpPr>
        <p:spPr>
          <a:xfrm>
            <a:off x="12001500" y="2402205"/>
            <a:ext cx="5867400"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252"/>
                </a:solidFill>
                <a:latin typeface="Courier New" pitchFamily="34" charset="0"/>
                <a:ea typeface="Courier New" pitchFamily="34" charset="-122"/>
                <a:cs typeface="Courier New" pitchFamily="34" charset="-120"/>
              </a:rPr>
              <a:t>ONE 2K-PAGE SWAP = ONE TRACK</a:t>
            </a:r>
            <a:endParaRPr lang="en-US" sz="1800" dirty="0"/>
          </a:p>
        </p:txBody>
      </p:sp>
      <p:sp>
        <p:nvSpPr>
          <p:cNvPr id="29" name="Shape 27"/>
          <p:cNvSpPr/>
          <p:nvPr/>
        </p:nvSpPr>
        <p:spPr>
          <a:xfrm>
            <a:off x="12001500" y="2794635"/>
            <a:ext cx="5334000" cy="838200"/>
          </a:xfrm>
          <a:prstGeom prst="rect">
            <a:avLst/>
          </a:prstGeom>
          <a:solidFill>
            <a:srgbClr val="F7E3D4"/>
          </a:solidFill>
          <a:ln w="15240">
            <a:solidFill>
              <a:srgbClr val="C8501E"/>
            </a:solidFill>
            <a:prstDash val="solid"/>
          </a:ln>
        </p:spPr>
      </p:sp>
      <p:sp>
        <p:nvSpPr>
          <p:cNvPr id="30" name="Text 28"/>
          <p:cNvSpPr/>
          <p:nvPr/>
        </p:nvSpPr>
        <p:spPr>
          <a:xfrm>
            <a:off x="13502640" y="2916555"/>
            <a:ext cx="2407920" cy="335280"/>
          </a:xfrm>
          <a:prstGeom prst="rect">
            <a:avLst/>
          </a:prstGeom>
          <a:noFill/>
          <a:ln/>
        </p:spPr>
        <p:txBody>
          <a:bodyPr wrap="square" lIns="0" tIns="0" rIns="0" bIns="0" rtlCol="0" anchor="t">
            <a:normAutofit/>
          </a:bodyPr>
          <a:lstStyle/>
          <a:p>
            <a:pPr algn="ctr" indent="0" marL="0">
              <a:buNone/>
            </a:pPr>
            <a:r>
              <a:rPr lang="en-US" sz="1800" dirty="0">
                <a:solidFill>
                  <a:srgbClr val="A03E14"/>
                </a:solidFill>
                <a:latin typeface="Courier New" pitchFamily="34" charset="0"/>
                <a:ea typeface="Courier New" pitchFamily="34" charset="-122"/>
                <a:cs typeface="Courier New" pitchFamily="34" charset="-120"/>
              </a:rPr>
              <a:t>32 sectors × 64 w</a:t>
            </a:r>
            <a:endParaRPr lang="en-US" sz="1800" dirty="0"/>
          </a:p>
        </p:txBody>
      </p:sp>
      <p:sp>
        <p:nvSpPr>
          <p:cNvPr id="31" name="Text 29"/>
          <p:cNvSpPr/>
          <p:nvPr/>
        </p:nvSpPr>
        <p:spPr>
          <a:xfrm>
            <a:off x="13571220" y="3213735"/>
            <a:ext cx="2270760" cy="335280"/>
          </a:xfrm>
          <a:prstGeom prst="rect">
            <a:avLst/>
          </a:prstGeom>
          <a:noFill/>
          <a:ln/>
        </p:spPr>
        <p:txBody>
          <a:bodyPr wrap="square" lIns="0" tIns="0" rIns="0" bIns="0" rtlCol="0" anchor="t">
            <a:normAutofit/>
          </a:bodyPr>
          <a:lstStyle/>
          <a:p>
            <a:pPr algn="ctr" indent="0" marL="0">
              <a:buNone/>
            </a:pPr>
            <a:r>
              <a:rPr lang="en-US" sz="1800" dirty="0">
                <a:solidFill>
                  <a:srgbClr val="A03E14"/>
                </a:solidFill>
                <a:latin typeface="Courier New" pitchFamily="34" charset="0"/>
                <a:ea typeface="Courier New" pitchFamily="34" charset="-122"/>
                <a:cs typeface="Courier New" pitchFamily="34" charset="-120"/>
              </a:rPr>
              <a:t>single operation</a:t>
            </a:r>
            <a:endParaRPr lang="en-US" sz="1800" dirty="0"/>
          </a:p>
        </p:txBody>
      </p:sp>
      <p:sp>
        <p:nvSpPr>
          <p:cNvPr id="32" name="Shape 30"/>
          <p:cNvSpPr/>
          <p:nvPr/>
        </p:nvSpPr>
        <p:spPr>
          <a:xfrm>
            <a:off x="12001500" y="3728085"/>
            <a:ext cx="3115270" cy="838200"/>
          </a:xfrm>
          <a:prstGeom prst="rect">
            <a:avLst/>
          </a:prstGeom>
          <a:solidFill>
            <a:srgbClr val="E9E2CF"/>
          </a:solidFill>
          <a:ln w="15240">
            <a:solidFill>
              <a:srgbClr val="211C14"/>
            </a:solidFill>
            <a:prstDash val="solid"/>
          </a:ln>
        </p:spPr>
      </p:sp>
      <p:sp>
        <p:nvSpPr>
          <p:cNvPr id="33" name="Text 31"/>
          <p:cNvSpPr/>
          <p:nvPr/>
        </p:nvSpPr>
        <p:spPr>
          <a:xfrm>
            <a:off x="12873276" y="3850005"/>
            <a:ext cx="1447800" cy="335280"/>
          </a:xfrm>
          <a:prstGeom prst="rect">
            <a:avLst/>
          </a:prstGeom>
          <a:noFill/>
          <a:ln/>
        </p:spPr>
        <p:txBody>
          <a:bodyPr wrap="square" lIns="0" tIns="0" rIns="0" bIns="0" rtlCol="0" anchor="t">
            <a:normAutofit/>
          </a:bodyPr>
          <a:lstStyle/>
          <a:p>
            <a:pPr algn="ctr" indent="0" marL="0">
              <a:buNone/>
            </a:pPr>
            <a:r>
              <a:rPr lang="en-US" sz="1800" dirty="0">
                <a:solidFill>
                  <a:srgbClr val="211C14"/>
                </a:solidFill>
                <a:latin typeface="Courier New" pitchFamily="34" charset="0"/>
                <a:ea typeface="Courier New" pitchFamily="34" charset="-122"/>
                <a:cs typeface="Courier New" pitchFamily="34" charset="-120"/>
              </a:rPr>
              <a:t>unaligned:</a:t>
            </a:r>
            <a:endParaRPr lang="en-US" sz="1800" dirty="0"/>
          </a:p>
        </p:txBody>
      </p:sp>
      <p:sp>
        <p:nvSpPr>
          <p:cNvPr id="34" name="Text 32"/>
          <p:cNvSpPr/>
          <p:nvPr/>
        </p:nvSpPr>
        <p:spPr>
          <a:xfrm>
            <a:off x="12530376" y="4147185"/>
            <a:ext cx="2133600" cy="335280"/>
          </a:xfrm>
          <a:prstGeom prst="rect">
            <a:avLst/>
          </a:prstGeom>
          <a:noFill/>
          <a:ln/>
        </p:spPr>
        <p:txBody>
          <a:bodyPr wrap="square" lIns="0" tIns="0" rIns="0" bIns="0" rtlCol="0" anchor="t">
            <a:normAutofit/>
          </a:bodyPr>
          <a:lstStyle/>
          <a:p>
            <a:pPr algn="ctr" indent="0" marL="0">
              <a:buNone/>
            </a:pPr>
            <a:r>
              <a:rPr lang="en-US" sz="1800" dirty="0">
                <a:solidFill>
                  <a:srgbClr val="211C14"/>
                </a:solidFill>
                <a:latin typeface="Courier New" pitchFamily="34" charset="0"/>
                <a:ea typeface="Courier New" pitchFamily="34" charset="-122"/>
                <a:cs typeface="Courier New" pitchFamily="34" charset="-120"/>
              </a:rPr>
              <a:t>tail of track n</a:t>
            </a:r>
            <a:endParaRPr lang="en-US" sz="1800" dirty="0"/>
          </a:p>
        </p:txBody>
      </p:sp>
      <p:sp>
        <p:nvSpPr>
          <p:cNvPr id="35" name="Shape 33"/>
          <p:cNvSpPr/>
          <p:nvPr/>
        </p:nvSpPr>
        <p:spPr>
          <a:xfrm>
            <a:off x="15116770" y="3728085"/>
            <a:ext cx="2218730" cy="838200"/>
          </a:xfrm>
          <a:prstGeom prst="rect">
            <a:avLst/>
          </a:prstGeom>
          <a:solidFill>
            <a:srgbClr val="D8CFB6"/>
          </a:solidFill>
          <a:ln/>
        </p:spPr>
      </p:sp>
      <p:sp>
        <p:nvSpPr>
          <p:cNvPr id="36" name="Shape 34"/>
          <p:cNvSpPr/>
          <p:nvPr/>
        </p:nvSpPr>
        <p:spPr>
          <a:xfrm>
            <a:off x="15116770" y="4551045"/>
            <a:ext cx="2218730" cy="15240"/>
          </a:xfrm>
          <a:prstGeom prst="rect">
            <a:avLst/>
          </a:prstGeom>
          <a:solidFill>
            <a:srgbClr val="211C14"/>
          </a:solidFill>
          <a:ln/>
        </p:spPr>
      </p:sp>
      <p:sp>
        <p:nvSpPr>
          <p:cNvPr id="37" name="Shape 35"/>
          <p:cNvSpPr/>
          <p:nvPr/>
        </p:nvSpPr>
        <p:spPr>
          <a:xfrm>
            <a:off x="15116770" y="3728085"/>
            <a:ext cx="2218730" cy="15240"/>
          </a:xfrm>
          <a:prstGeom prst="rect">
            <a:avLst/>
          </a:prstGeom>
          <a:solidFill>
            <a:srgbClr val="211C14"/>
          </a:solidFill>
          <a:ln/>
        </p:spPr>
      </p:sp>
      <p:sp>
        <p:nvSpPr>
          <p:cNvPr id="38" name="Shape 36"/>
          <p:cNvSpPr/>
          <p:nvPr/>
        </p:nvSpPr>
        <p:spPr>
          <a:xfrm>
            <a:off x="17320260" y="3728085"/>
            <a:ext cx="15240" cy="838200"/>
          </a:xfrm>
          <a:prstGeom prst="rect">
            <a:avLst/>
          </a:prstGeom>
          <a:solidFill>
            <a:srgbClr val="211C14"/>
          </a:solidFill>
          <a:ln/>
        </p:spPr>
      </p:sp>
      <p:sp>
        <p:nvSpPr>
          <p:cNvPr id="39" name="Text 37"/>
          <p:cNvSpPr/>
          <p:nvPr/>
        </p:nvSpPr>
        <p:spPr>
          <a:xfrm>
            <a:off x="15738396" y="3850005"/>
            <a:ext cx="1036319" cy="335280"/>
          </a:xfrm>
          <a:prstGeom prst="rect">
            <a:avLst/>
          </a:prstGeom>
          <a:noFill/>
          <a:ln/>
        </p:spPr>
        <p:txBody>
          <a:bodyPr wrap="square" lIns="0" tIns="0" rIns="0" bIns="0" rtlCol="0" anchor="t">
            <a:normAutofit/>
          </a:bodyPr>
          <a:lstStyle/>
          <a:p>
            <a:pPr algn="ctr" indent="0" marL="0">
              <a:buNone/>
            </a:pPr>
            <a:r>
              <a:rPr lang="en-US" sz="1800" dirty="0">
                <a:solidFill>
                  <a:srgbClr val="211C14"/>
                </a:solidFill>
                <a:latin typeface="Courier New" pitchFamily="34" charset="0"/>
                <a:ea typeface="Courier New" pitchFamily="34" charset="-122"/>
                <a:cs typeface="Courier New" pitchFamily="34" charset="-120"/>
              </a:rPr>
              <a:t>head of</a:t>
            </a:r>
            <a:endParaRPr lang="en-US" sz="1800" dirty="0"/>
          </a:p>
        </p:txBody>
      </p:sp>
      <p:sp>
        <p:nvSpPr>
          <p:cNvPr id="40" name="Text 38"/>
          <p:cNvSpPr/>
          <p:nvPr/>
        </p:nvSpPr>
        <p:spPr>
          <a:xfrm>
            <a:off x="15601236" y="4147185"/>
            <a:ext cx="1310640" cy="335280"/>
          </a:xfrm>
          <a:prstGeom prst="rect">
            <a:avLst/>
          </a:prstGeom>
          <a:noFill/>
          <a:ln/>
        </p:spPr>
        <p:txBody>
          <a:bodyPr wrap="square" lIns="0" tIns="0" rIns="0" bIns="0" rtlCol="0" anchor="t">
            <a:normAutofit/>
          </a:bodyPr>
          <a:lstStyle/>
          <a:p>
            <a:pPr algn="ctr" indent="0" marL="0">
              <a:buNone/>
            </a:pPr>
            <a:r>
              <a:rPr lang="en-US" sz="1800" dirty="0">
                <a:solidFill>
                  <a:srgbClr val="211C14"/>
                </a:solidFill>
                <a:latin typeface="Courier New" pitchFamily="34" charset="0"/>
                <a:ea typeface="Courier New" pitchFamily="34" charset="-122"/>
                <a:cs typeface="Courier New" pitchFamily="34" charset="-120"/>
              </a:rPr>
              <a:t>track n+1</a:t>
            </a:r>
            <a:endParaRPr lang="en-US" sz="1800" dirty="0"/>
          </a:p>
        </p:txBody>
      </p:sp>
      <p:sp>
        <p:nvSpPr>
          <p:cNvPr id="41" name="Text 39"/>
          <p:cNvSpPr/>
          <p:nvPr/>
        </p:nvSpPr>
        <p:spPr>
          <a:xfrm>
            <a:off x="12001500" y="4661535"/>
            <a:ext cx="5494020" cy="7239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6B6252"/>
                </a:solidFill>
                <a:latin typeface="Arial" pitchFamily="34" charset="0"/>
                <a:ea typeface="Arial" pitchFamily="34" charset="-122"/>
                <a:cs typeface="Arial" pitchFamily="34" charset="-120"/>
              </a:rPr>
              <a:t>An unaligned transfer becomes several operations, one busy-exit round trip each.</a:t>
            </a:r>
            <a:endParaRPr lang="en-US" sz="1800" dirty="0"/>
          </a:p>
        </p:txBody>
      </p:sp>
      <p:sp>
        <p:nvSpPr>
          <p:cNvPr id="42" name="Shape 40"/>
          <p:cNvSpPr/>
          <p:nvPr/>
        </p:nvSpPr>
        <p:spPr>
          <a:xfrm>
            <a:off x="12001500" y="5556885"/>
            <a:ext cx="5334000" cy="1840230"/>
          </a:xfrm>
          <a:prstGeom prst="rect">
            <a:avLst/>
          </a:prstGeom>
          <a:solidFill>
            <a:srgbClr val="E9E2CF"/>
          </a:solidFill>
          <a:ln w="15240">
            <a:solidFill>
              <a:srgbClr val="211C14"/>
            </a:solidFill>
            <a:prstDash val="solid"/>
          </a:ln>
        </p:spPr>
      </p:sp>
      <p:sp>
        <p:nvSpPr>
          <p:cNvPr id="43" name="Text 41"/>
          <p:cNvSpPr/>
          <p:nvPr/>
        </p:nvSpPr>
        <p:spPr>
          <a:xfrm>
            <a:off x="12283440" y="5762625"/>
            <a:ext cx="4930140" cy="1466850"/>
          </a:xfrm>
          <a:prstGeom prst="rect">
            <a:avLst/>
          </a:prstGeom>
          <a:noFill/>
          <a:ln/>
        </p:spPr>
        <p:txBody>
          <a:bodyPr wrap="square" lIns="25400" tIns="25400" rIns="25400" bIns="25400" rtlCol="0" anchor="t">
            <a:normAutofit/>
          </a:bodyPr>
          <a:lstStyle/>
          <a:p>
            <a:pPr algn="l" indent="0" marL="0">
              <a:lnSpc>
                <a:spcPct val="130208"/>
              </a:lnSpc>
              <a:buNone/>
            </a:pPr>
            <a:r>
              <a:rPr lang="en-US" sz="1875" dirty="0">
                <a:solidFill>
                  <a:srgbClr val="4A4335"/>
                </a:solidFill>
                <a:highlight>
                  <a:srgbClr val="E9E2CF"/>
                </a:highlight>
                <a:latin typeface="Arial" pitchFamily="34" charset="0"/>
                <a:ea typeface="Arial" pitchFamily="34" charset="-122"/>
                <a:cs typeface="Arial" pitchFamily="34" charset="-120"/>
              </a:rPr>
              <a:t>Interrupt-ready by design: the busy exit lets the caller sleep on the drum interrupt instead of polling — TSS's TRSFR simply polls ( </a:t>
            </a:r>
            <a:pPr algn="l" indent="0" marL="0">
              <a:lnSpc>
                <a:spcPct val="130208"/>
              </a:lnSpc>
              <a:buNone/>
            </a:pPr>
            <a:r>
              <a:rPr lang="en-US" sz="1875" dirty="0">
                <a:solidFill>
                  <a:srgbClr val="4A4335"/>
                </a:solidFill>
                <a:latin typeface="Courier New" pitchFamily="34" charset="0"/>
                <a:ea typeface="Courier New" pitchFamily="34" charset="-122"/>
                <a:cs typeface="Courier New" pitchFamily="34" charset="-120"/>
              </a:rPr>
              <a:t>JMP *-2</a:t>
            </a:r>
            <a:pPr algn="l" indent="0" marL="0">
              <a:lnSpc>
                <a:spcPct val="130208"/>
              </a:lnSpc>
              <a:buNone/>
            </a:pPr>
            <a:r>
              <a:rPr lang="en-US" sz="1875" dirty="0">
                <a:solidFill>
                  <a:srgbClr val="4A4335"/>
                </a:solidFill>
                <a:highlight>
                  <a:srgbClr val="E9E2CF"/>
                </a:highlight>
                <a:latin typeface="Arial" pitchFamily="34" charset="0"/>
                <a:ea typeface="Arial" pitchFamily="34" charset="-122"/>
                <a:cs typeface="Arial" pitchFamily="34" charset="-120"/>
              </a:rPr>
              <a:t>), a “first approximation”.</a:t>
            </a:r>
            <a:endParaRPr lang="en-US" sz="1875"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23201A"/>
        </a:solidFill>
      </p:bgPr>
    </p:bg>
    <p:spTree>
      <p:nvGrpSpPr>
        <p:cNvPr id="1" name=""/>
        <p:cNvGrpSpPr/>
        <p:nvPr/>
      </p:nvGrpSpPr>
      <p:grpSpPr>
        <a:xfrm>
          <a:off x="0" y="0"/>
          <a:ext cx="0" cy="0"/>
          <a:chOff x="0" y="0"/>
          <a:chExt cx="0" cy="0"/>
        </a:xfrm>
      </p:grpSpPr>
      <p:sp>
        <p:nvSpPr>
          <p:cNvPr id="2" name="Text 0"/>
          <p:cNvSpPr/>
          <p:nvPr/>
        </p:nvSpPr>
        <p:spPr>
          <a:xfrm>
            <a:off x="952500" y="3298508"/>
            <a:ext cx="18021300" cy="1466850"/>
          </a:xfrm>
          <a:prstGeom prst="rect">
            <a:avLst/>
          </a:prstGeom>
          <a:noFill/>
          <a:ln/>
        </p:spPr>
        <p:txBody>
          <a:bodyPr wrap="square" lIns="25400" tIns="25400" rIns="25400" bIns="25400" rtlCol="0" anchor="t">
            <a:normAutofit/>
          </a:bodyPr>
          <a:lstStyle/>
          <a:p>
            <a:pPr algn="l" indent="0" marL="0">
              <a:lnSpc>
                <a:spcPct val="88443"/>
              </a:lnSpc>
              <a:buNone/>
            </a:pPr>
            <a:r>
              <a:rPr lang="en-US" sz="11250" b="1" dirty="0">
                <a:solidFill>
                  <a:srgbClr val="C8501E"/>
                </a:solidFill>
                <a:latin typeface="Courier New" pitchFamily="34" charset="0"/>
                <a:ea typeface="Courier New" pitchFamily="34" charset="-122"/>
                <a:cs typeface="Courier New" pitchFamily="34" charset="-120"/>
              </a:rPr>
              <a:t>05</a:t>
            </a:r>
            <a:endParaRPr lang="en-US" sz="11250" dirty="0"/>
          </a:p>
        </p:txBody>
      </p:sp>
      <p:sp>
        <p:nvSpPr>
          <p:cNvPr id="3" name="Text 1"/>
          <p:cNvSpPr/>
          <p:nvPr/>
        </p:nvSpPr>
        <p:spPr>
          <a:xfrm>
            <a:off x="952500" y="5013007"/>
            <a:ext cx="18021300" cy="918210"/>
          </a:xfrm>
          <a:prstGeom prst="rect">
            <a:avLst/>
          </a:prstGeom>
          <a:noFill/>
          <a:ln/>
        </p:spPr>
        <p:txBody>
          <a:bodyPr wrap="square" lIns="25400" tIns="25400" rIns="25400" bIns="25400" rtlCol="0" anchor="t">
            <a:normAutofit/>
          </a:bodyPr>
          <a:lstStyle/>
          <a:p>
            <a:pPr algn="l" indent="0" marL="0">
              <a:lnSpc>
                <a:spcPct val="97059"/>
              </a:lnSpc>
              <a:buNone/>
            </a:pPr>
            <a:r>
              <a:rPr lang="en-US" sz="6300" b="1" dirty="0">
                <a:solidFill>
                  <a:srgbClr val="ECE5D3"/>
                </a:solidFill>
                <a:latin typeface="Courier New" pitchFamily="34" charset="0"/>
                <a:ea typeface="Courier New" pitchFamily="34" charset="-122"/>
                <a:cs typeface="Courier New" pitchFamily="34" charset="-120"/>
              </a:rPr>
              <a:t>Build, Install, Run</a:t>
            </a:r>
            <a:endParaRPr lang="en-US" sz="6300" dirty="0"/>
          </a:p>
        </p:txBody>
      </p:sp>
      <p:sp>
        <p:nvSpPr>
          <p:cNvPr id="4" name="Shape 2"/>
          <p:cNvSpPr/>
          <p:nvPr/>
        </p:nvSpPr>
        <p:spPr>
          <a:xfrm>
            <a:off x="952500" y="6178868"/>
            <a:ext cx="2667000" cy="38100"/>
          </a:xfrm>
          <a:prstGeom prst="rect">
            <a:avLst/>
          </a:prstGeom>
          <a:solidFill>
            <a:srgbClr val="C8501E"/>
          </a:solidFill>
          <a:ln/>
        </p:spPr>
      </p:sp>
      <p:sp>
        <p:nvSpPr>
          <p:cNvPr id="5" name="Text 3"/>
          <p:cNvSpPr/>
          <p:nvPr/>
        </p:nvSpPr>
        <p:spPr>
          <a:xfrm>
            <a:off x="952500" y="6502718"/>
            <a:ext cx="12573000" cy="523875"/>
          </a:xfrm>
          <a:prstGeom prst="rect">
            <a:avLst/>
          </a:prstGeom>
          <a:noFill/>
          <a:ln/>
        </p:spPr>
        <p:txBody>
          <a:bodyPr wrap="square" lIns="25400" tIns="25400" rIns="25400" bIns="25400" rtlCol="0" anchor="t">
            <a:normAutofit/>
          </a:bodyPr>
          <a:lstStyle/>
          <a:p>
            <a:pPr algn="l" indent="0" marL="0">
              <a:lnSpc>
                <a:spcPct val="132812"/>
              </a:lnSpc>
              <a:buNone/>
            </a:pPr>
            <a:r>
              <a:rPr lang="en-US" sz="2550" dirty="0">
                <a:solidFill>
                  <a:srgbClr val="C7BDA6"/>
                </a:solidFill>
                <a:latin typeface="Arial" pitchFamily="34" charset="0"/>
                <a:ea typeface="Arial" pitchFamily="34" charset="-122"/>
                <a:cs typeface="Arial" pitchFamily="34" charset="-120"/>
              </a:rPr>
              <a:t>Library marks → FMAC assembly → save to disk → boot a standalone TSS.</a:t>
            </a:r>
            <a:endParaRPr lang="en-US" sz="25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2EDE1"/>
        </a:solidFill>
      </p:bgPr>
    </p:bg>
    <p:spTree>
      <p:nvGrpSpPr>
        <p:cNvPr id="1" name=""/>
        <p:cNvGrpSpPr/>
        <p:nvPr/>
      </p:nvGrpSpPr>
      <p:grpSpPr>
        <a:xfrm>
          <a:off x="0" y="0"/>
          <a:ext cx="0" cy="0"/>
          <a:chOff x="0" y="0"/>
          <a:chExt cx="0" cy="0"/>
        </a:xfrm>
      </p:grpSpPr>
      <p:sp>
        <p:nvSpPr>
          <p:cNvPr id="2" name="Text 0"/>
          <p:cNvSpPr/>
          <p:nvPr/>
        </p:nvSpPr>
        <p:spPr>
          <a:xfrm>
            <a:off x="952500" y="857250"/>
            <a:ext cx="18021300" cy="33528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C8501E"/>
                </a:solidFill>
                <a:latin typeface="Courier New" pitchFamily="34" charset="0"/>
                <a:ea typeface="Courier New" pitchFamily="34" charset="-122"/>
                <a:cs typeface="Courier New" pitchFamily="34" charset="-120"/>
              </a:rPr>
              <a:t>SECTION 05 · BUILD &amp; RUN</a:t>
            </a:r>
            <a:endParaRPr lang="en-US" sz="1800" dirty="0"/>
          </a:p>
        </p:txBody>
      </p:sp>
      <p:sp>
        <p:nvSpPr>
          <p:cNvPr id="3" name="Text 1"/>
          <p:cNvSpPr/>
          <p:nvPr/>
        </p:nvSpPr>
        <p:spPr>
          <a:xfrm>
            <a:off x="952500" y="1306830"/>
            <a:ext cx="18021300" cy="666750"/>
          </a:xfrm>
          <a:prstGeom prst="rect">
            <a:avLst/>
          </a:prstGeom>
          <a:noFill/>
          <a:ln/>
        </p:spPr>
        <p:txBody>
          <a:bodyPr wrap="square" lIns="25400" tIns="25400" rIns="25400" bIns="25400" rtlCol="0" anchor="t">
            <a:normAutofit/>
          </a:bodyPr>
          <a:lstStyle/>
          <a:p>
            <a:pPr algn="l" indent="0" marL="0">
              <a:lnSpc>
                <a:spcPct val="97059"/>
              </a:lnSpc>
              <a:buNone/>
            </a:pPr>
            <a:r>
              <a:rPr lang="en-US" sz="4500" b="1" dirty="0">
                <a:solidFill>
                  <a:srgbClr val="211C14"/>
                </a:solidFill>
                <a:latin typeface="Courier New" pitchFamily="34" charset="0"/>
                <a:ea typeface="Courier New" pitchFamily="34" charset="-122"/>
                <a:cs typeface="Courier New" pitchFamily="34" charset="-120"/>
              </a:rPr>
              <a:t>Configuration: Library Marks</a:t>
            </a:r>
            <a:endParaRPr lang="en-US" sz="4500" dirty="0"/>
          </a:p>
        </p:txBody>
      </p:sp>
      <p:sp>
        <p:nvSpPr>
          <p:cNvPr id="4" name="Shape 2"/>
          <p:cNvSpPr/>
          <p:nvPr/>
        </p:nvSpPr>
        <p:spPr>
          <a:xfrm>
            <a:off x="952500" y="2087880"/>
            <a:ext cx="16383000" cy="28575"/>
          </a:xfrm>
          <a:prstGeom prst="rect">
            <a:avLst/>
          </a:prstGeom>
          <a:solidFill>
            <a:srgbClr val="211C14"/>
          </a:solidFill>
          <a:ln/>
        </p:spPr>
      </p:sp>
      <p:sp>
        <p:nvSpPr>
          <p:cNvPr id="5" name="Shape 3"/>
          <p:cNvSpPr/>
          <p:nvPr/>
        </p:nvSpPr>
        <p:spPr>
          <a:xfrm>
            <a:off x="952500" y="3164205"/>
            <a:ext cx="7810500" cy="9525"/>
          </a:xfrm>
          <a:prstGeom prst="rect">
            <a:avLst/>
          </a:prstGeom>
          <a:solidFill>
            <a:srgbClr val="CEC4AD"/>
          </a:solidFill>
          <a:ln/>
        </p:spPr>
      </p:sp>
      <p:sp>
        <p:nvSpPr>
          <p:cNvPr id="6" name="Text 4"/>
          <p:cNvSpPr/>
          <p:nvPr/>
        </p:nvSpPr>
        <p:spPr>
          <a:xfrm>
            <a:off x="952500" y="2731770"/>
            <a:ext cx="2095500" cy="327660"/>
          </a:xfrm>
          <a:prstGeom prst="rect">
            <a:avLst/>
          </a:prstGeom>
          <a:noFill/>
          <a:ln/>
        </p:spPr>
        <p:txBody>
          <a:bodyPr wrap="square" lIns="25400" tIns="25400" rIns="25400" bIns="25400" rtlCol="0" anchor="t">
            <a:normAutofit/>
          </a:bodyPr>
          <a:lstStyle/>
          <a:p>
            <a:pPr algn="l" indent="0" marL="0">
              <a:buNone/>
            </a:pPr>
            <a:r>
              <a:rPr lang="en-US" sz="2025" b="1" dirty="0">
                <a:solidFill>
                  <a:srgbClr val="211C14"/>
                </a:solidFill>
                <a:latin typeface="Courier New" pitchFamily="34" charset="0"/>
                <a:ea typeface="Courier New" pitchFamily="34" charset="-122"/>
                <a:cs typeface="Courier New" pitchFamily="34" charset="-120"/>
              </a:rPr>
              <a:t>NCR / CDC</a:t>
            </a:r>
            <a:endParaRPr lang="en-US" sz="2025" dirty="0"/>
          </a:p>
        </p:txBody>
      </p:sp>
      <p:sp>
        <p:nvSpPr>
          <p:cNvPr id="7" name="Text 5"/>
          <p:cNvSpPr/>
          <p:nvPr/>
        </p:nvSpPr>
        <p:spPr>
          <a:xfrm>
            <a:off x="3105150" y="2678430"/>
            <a:ext cx="6223635" cy="373380"/>
          </a:xfrm>
          <a:prstGeom prst="rect">
            <a:avLst/>
          </a:prstGeom>
          <a:noFill/>
          <a:ln/>
        </p:spPr>
        <p:txBody>
          <a:bodyPr wrap="square" lIns="25400" tIns="25400" rIns="25400" bIns="25400" rtlCol="0" anchor="t">
            <a:normAutofit/>
          </a:bodyPr>
          <a:lstStyle/>
          <a:p>
            <a:pPr algn="l" indent="0" marL="0">
              <a:buNone/>
            </a:pPr>
            <a:r>
              <a:rPr lang="en-US" sz="2025" dirty="0">
                <a:solidFill>
                  <a:srgbClr val="211C14"/>
                </a:solidFill>
                <a:latin typeface="Arial" pitchFamily="34" charset="0"/>
                <a:ea typeface="Arial" pitchFamily="34" charset="-122"/>
                <a:cs typeface="Arial" pitchFamily="34" charset="-120"/>
              </a:rPr>
              <a:t>disk system flavor (CDC here)</a:t>
            </a:r>
            <a:endParaRPr lang="en-US" sz="2025" dirty="0"/>
          </a:p>
        </p:txBody>
      </p:sp>
      <p:sp>
        <p:nvSpPr>
          <p:cNvPr id="8" name="Shape 6"/>
          <p:cNvSpPr/>
          <p:nvPr/>
        </p:nvSpPr>
        <p:spPr>
          <a:xfrm>
            <a:off x="9525000" y="3164205"/>
            <a:ext cx="7810500" cy="9525"/>
          </a:xfrm>
          <a:prstGeom prst="rect">
            <a:avLst/>
          </a:prstGeom>
          <a:solidFill>
            <a:srgbClr val="CEC4AD"/>
          </a:solidFill>
          <a:ln/>
        </p:spPr>
      </p:sp>
      <p:sp>
        <p:nvSpPr>
          <p:cNvPr id="9" name="Text 7"/>
          <p:cNvSpPr/>
          <p:nvPr/>
        </p:nvSpPr>
        <p:spPr>
          <a:xfrm>
            <a:off x="9525000" y="2731770"/>
            <a:ext cx="2095500" cy="327660"/>
          </a:xfrm>
          <a:prstGeom prst="rect">
            <a:avLst/>
          </a:prstGeom>
          <a:noFill/>
          <a:ln/>
        </p:spPr>
        <p:txBody>
          <a:bodyPr wrap="square" lIns="25400" tIns="25400" rIns="25400" bIns="25400" rtlCol="0" anchor="t">
            <a:normAutofit/>
          </a:bodyPr>
          <a:lstStyle/>
          <a:p>
            <a:pPr algn="l" indent="0" marL="0">
              <a:buNone/>
            </a:pPr>
            <a:r>
              <a:rPr lang="en-US" sz="2025" b="1" dirty="0">
                <a:solidFill>
                  <a:srgbClr val="211C14"/>
                </a:solidFill>
                <a:latin typeface="Courier New" pitchFamily="34" charset="0"/>
                <a:ea typeface="Courier New" pitchFamily="34" charset="-122"/>
                <a:cs typeface="Courier New" pitchFamily="34" charset="-120"/>
              </a:rPr>
              <a:t>K12/K14/K16</a:t>
            </a:r>
            <a:endParaRPr lang="en-US" sz="2025" dirty="0"/>
          </a:p>
        </p:txBody>
      </p:sp>
      <p:sp>
        <p:nvSpPr>
          <p:cNvPr id="10" name="Text 8"/>
          <p:cNvSpPr/>
          <p:nvPr/>
        </p:nvSpPr>
        <p:spPr>
          <a:xfrm>
            <a:off x="11677650" y="2678430"/>
            <a:ext cx="6223635" cy="373380"/>
          </a:xfrm>
          <a:prstGeom prst="rect">
            <a:avLst/>
          </a:prstGeom>
          <a:noFill/>
          <a:ln/>
        </p:spPr>
        <p:txBody>
          <a:bodyPr wrap="square" lIns="25400" tIns="25400" rIns="25400" bIns="25400" rtlCol="0" anchor="t">
            <a:normAutofit/>
          </a:bodyPr>
          <a:lstStyle/>
          <a:p>
            <a:pPr algn="l" indent="0" marL="0">
              <a:buNone/>
            </a:pPr>
            <a:r>
              <a:rPr lang="en-US" sz="2025" dirty="0">
                <a:solidFill>
                  <a:srgbClr val="211C14"/>
                </a:solidFill>
                <a:latin typeface="Arial" pitchFamily="34" charset="0"/>
                <a:ea typeface="Arial" pitchFamily="34" charset="-122"/>
                <a:cs typeface="Arial" pitchFamily="34" charset="-120"/>
              </a:rPr>
              <a:t>resident kernel size: 12K / 14K / 16K</a:t>
            </a:r>
            <a:endParaRPr lang="en-US" sz="2025" dirty="0"/>
          </a:p>
        </p:txBody>
      </p:sp>
      <p:sp>
        <p:nvSpPr>
          <p:cNvPr id="11" name="Shape 9"/>
          <p:cNvSpPr/>
          <p:nvPr/>
        </p:nvSpPr>
        <p:spPr>
          <a:xfrm>
            <a:off x="952500" y="3171825"/>
            <a:ext cx="7810500" cy="636270"/>
          </a:xfrm>
          <a:prstGeom prst="rect">
            <a:avLst/>
          </a:prstGeom>
          <a:solidFill>
            <a:srgbClr val="F7E3D4"/>
          </a:solidFill>
          <a:ln/>
        </p:spPr>
      </p:sp>
      <p:sp>
        <p:nvSpPr>
          <p:cNvPr id="12" name="Shape 10"/>
          <p:cNvSpPr/>
          <p:nvPr/>
        </p:nvSpPr>
        <p:spPr>
          <a:xfrm>
            <a:off x="952500" y="3800475"/>
            <a:ext cx="7810500" cy="9525"/>
          </a:xfrm>
          <a:prstGeom prst="rect">
            <a:avLst/>
          </a:prstGeom>
          <a:solidFill>
            <a:srgbClr val="CEC4AD"/>
          </a:solidFill>
          <a:ln/>
        </p:spPr>
      </p:sp>
      <p:sp>
        <p:nvSpPr>
          <p:cNvPr id="13" name="Text 11"/>
          <p:cNvSpPr/>
          <p:nvPr/>
        </p:nvSpPr>
        <p:spPr>
          <a:xfrm>
            <a:off x="952500" y="3368040"/>
            <a:ext cx="2095500" cy="327660"/>
          </a:xfrm>
          <a:prstGeom prst="rect">
            <a:avLst/>
          </a:prstGeom>
          <a:noFill/>
          <a:ln/>
        </p:spPr>
        <p:txBody>
          <a:bodyPr wrap="square" lIns="25400" tIns="25400" rIns="25400" bIns="25400" rtlCol="0" anchor="t">
            <a:normAutofit/>
          </a:bodyPr>
          <a:lstStyle/>
          <a:p>
            <a:pPr algn="l" indent="0" marL="0">
              <a:buNone/>
            </a:pPr>
            <a:r>
              <a:rPr lang="en-US" sz="2025" b="1" dirty="0">
                <a:solidFill>
                  <a:srgbClr val="A03E14"/>
                </a:solidFill>
                <a:latin typeface="Courier New" pitchFamily="34" charset="0"/>
                <a:ea typeface="Courier New" pitchFamily="34" charset="-122"/>
                <a:cs typeface="Courier New" pitchFamily="34" charset="-120"/>
              </a:rPr>
              <a:t>DRUM</a:t>
            </a:r>
            <a:endParaRPr lang="en-US" sz="2025" dirty="0"/>
          </a:p>
        </p:txBody>
      </p:sp>
      <p:sp>
        <p:nvSpPr>
          <p:cNvPr id="14" name="Text 12"/>
          <p:cNvSpPr/>
          <p:nvPr/>
        </p:nvSpPr>
        <p:spPr>
          <a:xfrm>
            <a:off x="3105150" y="3314700"/>
            <a:ext cx="6223635" cy="373380"/>
          </a:xfrm>
          <a:prstGeom prst="rect">
            <a:avLst/>
          </a:prstGeom>
          <a:noFill/>
          <a:ln/>
        </p:spPr>
        <p:txBody>
          <a:bodyPr wrap="square" lIns="25400" tIns="25400" rIns="25400" bIns="25400" rtlCol="0" anchor="t">
            <a:normAutofit/>
          </a:bodyPr>
          <a:lstStyle/>
          <a:p>
            <a:pPr algn="l" indent="0" marL="0">
              <a:buNone/>
            </a:pPr>
            <a:r>
              <a:rPr lang="en-US" sz="2025" b="1" dirty="0">
                <a:solidFill>
                  <a:srgbClr val="211C14"/>
                </a:solidFill>
                <a:latin typeface="Arial" pitchFamily="34" charset="0"/>
                <a:ea typeface="Arial" pitchFamily="34" charset="-122"/>
                <a:cs typeface="Arial" pitchFamily="34" charset="-120"/>
              </a:rPr>
              <a:t>compile the swapping-drum path </a:t>
            </a:r>
            <a:pPr algn="l" indent="0" marL="0">
              <a:buNone/>
            </a:pPr>
            <a:r>
              <a:rPr lang="en-US" sz="2025" dirty="0">
                <a:solidFill>
                  <a:srgbClr val="211C14"/>
                </a:solidFill>
                <a:latin typeface="Arial" pitchFamily="34" charset="0"/>
                <a:ea typeface="Arial" pitchFamily="34" charset="-122"/>
                <a:cs typeface="Arial" pitchFamily="34" charset="-120"/>
              </a:rPr>
              <a:t>(default off)</a:t>
            </a:r>
            <a:endParaRPr lang="en-US" sz="2025" dirty="0"/>
          </a:p>
        </p:txBody>
      </p:sp>
      <p:sp>
        <p:nvSpPr>
          <p:cNvPr id="15" name="Shape 13"/>
          <p:cNvSpPr/>
          <p:nvPr/>
        </p:nvSpPr>
        <p:spPr>
          <a:xfrm>
            <a:off x="9525000" y="3800475"/>
            <a:ext cx="7810500" cy="9525"/>
          </a:xfrm>
          <a:prstGeom prst="rect">
            <a:avLst/>
          </a:prstGeom>
          <a:solidFill>
            <a:srgbClr val="CEC4AD"/>
          </a:solidFill>
          <a:ln/>
        </p:spPr>
      </p:sp>
      <p:sp>
        <p:nvSpPr>
          <p:cNvPr id="16" name="Text 14"/>
          <p:cNvSpPr/>
          <p:nvPr/>
        </p:nvSpPr>
        <p:spPr>
          <a:xfrm>
            <a:off x="9525000" y="3368040"/>
            <a:ext cx="2095500" cy="327660"/>
          </a:xfrm>
          <a:prstGeom prst="rect">
            <a:avLst/>
          </a:prstGeom>
          <a:noFill/>
          <a:ln/>
        </p:spPr>
        <p:txBody>
          <a:bodyPr wrap="square" lIns="25400" tIns="25400" rIns="25400" bIns="25400" rtlCol="0" anchor="t">
            <a:normAutofit/>
          </a:bodyPr>
          <a:lstStyle/>
          <a:p>
            <a:pPr algn="l" indent="0" marL="0">
              <a:buNone/>
            </a:pPr>
            <a:r>
              <a:rPr lang="en-US" sz="2025" b="1" dirty="0">
                <a:solidFill>
                  <a:srgbClr val="211C14"/>
                </a:solidFill>
                <a:latin typeface="Courier New" pitchFamily="34" charset="0"/>
                <a:ea typeface="Courier New" pitchFamily="34" charset="-122"/>
                <a:cs typeface="Courier New" pitchFamily="34" charset="-120"/>
              </a:rPr>
              <a:t>TEL4…TEL24</a:t>
            </a:r>
            <a:endParaRPr lang="en-US" sz="2025" dirty="0"/>
          </a:p>
        </p:txBody>
      </p:sp>
      <p:sp>
        <p:nvSpPr>
          <p:cNvPr id="17" name="Text 15"/>
          <p:cNvSpPr/>
          <p:nvPr/>
        </p:nvSpPr>
        <p:spPr>
          <a:xfrm>
            <a:off x="11677650" y="3314700"/>
            <a:ext cx="6223635" cy="373380"/>
          </a:xfrm>
          <a:prstGeom prst="rect">
            <a:avLst/>
          </a:prstGeom>
          <a:noFill/>
          <a:ln/>
        </p:spPr>
        <p:txBody>
          <a:bodyPr wrap="square" lIns="25400" tIns="25400" rIns="25400" bIns="25400" rtlCol="0" anchor="t">
            <a:normAutofit/>
          </a:bodyPr>
          <a:lstStyle/>
          <a:p>
            <a:pPr algn="l" indent="0" marL="0">
              <a:buNone/>
            </a:pPr>
            <a:r>
              <a:rPr lang="en-US" sz="2025" dirty="0">
                <a:solidFill>
                  <a:srgbClr val="211C14"/>
                </a:solidFill>
                <a:latin typeface="Arial" pitchFamily="34" charset="0"/>
                <a:ea typeface="Arial" pitchFamily="34" charset="-122"/>
                <a:cs typeface="Arial" pitchFamily="34" charset="-120"/>
              </a:rPr>
              <a:t>number of terminals (4–24)</a:t>
            </a:r>
            <a:endParaRPr lang="en-US" sz="2025" dirty="0"/>
          </a:p>
        </p:txBody>
      </p:sp>
      <p:sp>
        <p:nvSpPr>
          <p:cNvPr id="18" name="Shape 16"/>
          <p:cNvSpPr/>
          <p:nvPr/>
        </p:nvSpPr>
        <p:spPr>
          <a:xfrm>
            <a:off x="952500" y="3808095"/>
            <a:ext cx="7810500" cy="963930"/>
          </a:xfrm>
          <a:prstGeom prst="rect">
            <a:avLst/>
          </a:prstGeom>
          <a:solidFill>
            <a:srgbClr val="F7E3D4"/>
          </a:solidFill>
          <a:ln/>
        </p:spPr>
      </p:sp>
      <p:sp>
        <p:nvSpPr>
          <p:cNvPr id="19" name="Shape 17"/>
          <p:cNvSpPr/>
          <p:nvPr/>
        </p:nvSpPr>
        <p:spPr>
          <a:xfrm>
            <a:off x="952500" y="4764405"/>
            <a:ext cx="7810500" cy="9525"/>
          </a:xfrm>
          <a:prstGeom prst="rect">
            <a:avLst/>
          </a:prstGeom>
          <a:solidFill>
            <a:srgbClr val="CEC4AD"/>
          </a:solidFill>
          <a:ln/>
        </p:spPr>
      </p:sp>
      <p:sp>
        <p:nvSpPr>
          <p:cNvPr id="20" name="Text 18"/>
          <p:cNvSpPr/>
          <p:nvPr/>
        </p:nvSpPr>
        <p:spPr>
          <a:xfrm>
            <a:off x="952500" y="4004310"/>
            <a:ext cx="2095500" cy="327660"/>
          </a:xfrm>
          <a:prstGeom prst="rect">
            <a:avLst/>
          </a:prstGeom>
          <a:noFill/>
          <a:ln/>
        </p:spPr>
        <p:txBody>
          <a:bodyPr wrap="square" lIns="25400" tIns="25400" rIns="25400" bIns="25400" rtlCol="0" anchor="t">
            <a:normAutofit/>
          </a:bodyPr>
          <a:lstStyle/>
          <a:p>
            <a:pPr algn="l" indent="0" marL="0">
              <a:buNone/>
            </a:pPr>
            <a:r>
              <a:rPr lang="en-US" sz="2025" b="1" dirty="0">
                <a:solidFill>
                  <a:srgbClr val="A03E14"/>
                </a:solidFill>
                <a:latin typeface="Courier New" pitchFamily="34" charset="0"/>
                <a:ea typeface="Courier New" pitchFamily="34" charset="-122"/>
                <a:cs typeface="Courier New" pitchFamily="34" charset="-120"/>
              </a:rPr>
              <a:t>N10</a:t>
            </a:r>
            <a:endParaRPr lang="en-US" sz="2025" dirty="0"/>
          </a:p>
        </p:txBody>
      </p:sp>
      <p:sp>
        <p:nvSpPr>
          <p:cNvPr id="21" name="Text 19"/>
          <p:cNvSpPr/>
          <p:nvPr/>
        </p:nvSpPr>
        <p:spPr>
          <a:xfrm>
            <a:off x="3105150" y="3950970"/>
            <a:ext cx="5827586" cy="708660"/>
          </a:xfrm>
          <a:prstGeom prst="rect">
            <a:avLst/>
          </a:prstGeom>
          <a:noFill/>
          <a:ln/>
        </p:spPr>
        <p:txBody>
          <a:bodyPr wrap="square" lIns="25400" tIns="25400" rIns="25400" bIns="25400" rtlCol="0" anchor="t">
            <a:normAutofit/>
          </a:bodyPr>
          <a:lstStyle/>
          <a:p>
            <a:pPr algn="l" indent="0" marL="0">
              <a:buNone/>
            </a:pPr>
            <a:r>
              <a:rPr lang="en-US" sz="2025" b="1" dirty="0">
                <a:solidFill>
                  <a:srgbClr val="211C14"/>
                </a:solidFill>
                <a:latin typeface="Arial" pitchFamily="34" charset="0"/>
                <a:ea typeface="Arial" pitchFamily="34" charset="-122"/>
                <a:cs typeface="Arial" pitchFamily="34" charset="-120"/>
              </a:rPr>
              <a:t>NORD-10 version </a:t>
            </a:r>
            <a:pPr algn="l" indent="0" marL="0">
              <a:buNone/>
            </a:pPr>
            <a:r>
              <a:rPr lang="en-US" sz="2025" dirty="0">
                <a:solidFill>
                  <a:srgbClr val="211C14"/>
                </a:solidFill>
                <a:latin typeface="Arial" pitchFamily="34" charset="0"/>
                <a:ea typeface="Arial" pitchFamily="34" charset="-122"/>
                <a:cs typeface="Arial" pitchFamily="34" charset="-120"/>
              </a:rPr>
              <a:t>: IOX I/O, paging, instruction emulation</a:t>
            </a:r>
            <a:endParaRPr lang="en-US" sz="2025" dirty="0"/>
          </a:p>
        </p:txBody>
      </p:sp>
      <p:sp>
        <p:nvSpPr>
          <p:cNvPr id="22" name="Shape 20"/>
          <p:cNvSpPr/>
          <p:nvPr/>
        </p:nvSpPr>
        <p:spPr>
          <a:xfrm>
            <a:off x="9525000" y="4764405"/>
            <a:ext cx="7810500" cy="9525"/>
          </a:xfrm>
          <a:prstGeom prst="rect">
            <a:avLst/>
          </a:prstGeom>
          <a:solidFill>
            <a:srgbClr val="CEC4AD"/>
          </a:solidFill>
          <a:ln/>
        </p:spPr>
      </p:sp>
      <p:sp>
        <p:nvSpPr>
          <p:cNvPr id="23" name="Text 21"/>
          <p:cNvSpPr/>
          <p:nvPr/>
        </p:nvSpPr>
        <p:spPr>
          <a:xfrm>
            <a:off x="9525000" y="4004310"/>
            <a:ext cx="2095500" cy="327660"/>
          </a:xfrm>
          <a:prstGeom prst="rect">
            <a:avLst/>
          </a:prstGeom>
          <a:noFill/>
          <a:ln/>
        </p:spPr>
        <p:txBody>
          <a:bodyPr wrap="square" lIns="25400" tIns="25400" rIns="25400" bIns="25400" rtlCol="0" anchor="t">
            <a:normAutofit/>
          </a:bodyPr>
          <a:lstStyle/>
          <a:p>
            <a:pPr algn="l" indent="0" marL="0">
              <a:buNone/>
            </a:pPr>
            <a:r>
              <a:rPr lang="en-US" sz="2025" b="1" dirty="0">
                <a:solidFill>
                  <a:srgbClr val="211C14"/>
                </a:solidFill>
                <a:latin typeface="Courier New" pitchFamily="34" charset="0"/>
                <a:ea typeface="Courier New" pitchFamily="34" charset="-122"/>
                <a:cs typeface="Courier New" pitchFamily="34" charset="-120"/>
              </a:rPr>
              <a:t>DRMSZ</a:t>
            </a:r>
            <a:endParaRPr lang="en-US" sz="2025" dirty="0"/>
          </a:p>
        </p:txBody>
      </p:sp>
      <p:sp>
        <p:nvSpPr>
          <p:cNvPr id="24" name="Text 22"/>
          <p:cNvSpPr/>
          <p:nvPr/>
        </p:nvSpPr>
        <p:spPr>
          <a:xfrm>
            <a:off x="11677650" y="3950970"/>
            <a:ext cx="6223635" cy="373380"/>
          </a:xfrm>
          <a:prstGeom prst="rect">
            <a:avLst/>
          </a:prstGeom>
          <a:noFill/>
          <a:ln/>
        </p:spPr>
        <p:txBody>
          <a:bodyPr wrap="square" lIns="25400" tIns="25400" rIns="25400" bIns="25400" rtlCol="0" anchor="t">
            <a:normAutofit/>
          </a:bodyPr>
          <a:lstStyle/>
          <a:p>
            <a:pPr algn="l" indent="0" marL="0">
              <a:buNone/>
            </a:pPr>
            <a:r>
              <a:rPr lang="en-US" sz="2025" dirty="0">
                <a:solidFill>
                  <a:srgbClr val="211C14"/>
                </a:solidFill>
                <a:latin typeface="Arial" pitchFamily="34" charset="0"/>
                <a:ea typeface="Arial" pitchFamily="34" charset="-122"/>
                <a:cs typeface="Arial" pitchFamily="34" charset="-120"/>
              </a:rPr>
              <a:t>drum size in 256-word pages (default 2000₈)</a:t>
            </a:r>
            <a:endParaRPr lang="en-US" sz="2025" dirty="0"/>
          </a:p>
        </p:txBody>
      </p:sp>
      <p:sp>
        <p:nvSpPr>
          <p:cNvPr id="25" name="Shape 23"/>
          <p:cNvSpPr/>
          <p:nvPr/>
        </p:nvSpPr>
        <p:spPr>
          <a:xfrm>
            <a:off x="952500" y="5728335"/>
            <a:ext cx="7810500" cy="9525"/>
          </a:xfrm>
          <a:prstGeom prst="rect">
            <a:avLst/>
          </a:prstGeom>
          <a:solidFill>
            <a:srgbClr val="CEC4AD"/>
          </a:solidFill>
          <a:ln/>
        </p:spPr>
      </p:sp>
      <p:sp>
        <p:nvSpPr>
          <p:cNvPr id="26" name="Text 24"/>
          <p:cNvSpPr/>
          <p:nvPr/>
        </p:nvSpPr>
        <p:spPr>
          <a:xfrm>
            <a:off x="952500" y="4968240"/>
            <a:ext cx="2095500" cy="327660"/>
          </a:xfrm>
          <a:prstGeom prst="rect">
            <a:avLst/>
          </a:prstGeom>
          <a:noFill/>
          <a:ln/>
        </p:spPr>
        <p:txBody>
          <a:bodyPr wrap="square" lIns="25400" tIns="25400" rIns="25400" bIns="25400" rtlCol="0" anchor="t">
            <a:normAutofit/>
          </a:bodyPr>
          <a:lstStyle/>
          <a:p>
            <a:pPr algn="l" indent="0" marL="0">
              <a:buNone/>
            </a:pPr>
            <a:r>
              <a:rPr lang="en-US" sz="2025" b="1" dirty="0">
                <a:solidFill>
                  <a:srgbClr val="211C14"/>
                </a:solidFill>
                <a:latin typeface="Courier New" pitchFamily="34" charset="0"/>
                <a:ea typeface="Courier New" pitchFamily="34" charset="-122"/>
                <a:cs typeface="Courier New" pitchFamily="34" charset="-120"/>
              </a:rPr>
              <a:t>DEBUG</a:t>
            </a:r>
            <a:endParaRPr lang="en-US" sz="2025" dirty="0"/>
          </a:p>
        </p:txBody>
      </p:sp>
      <p:sp>
        <p:nvSpPr>
          <p:cNvPr id="27" name="Text 25"/>
          <p:cNvSpPr/>
          <p:nvPr/>
        </p:nvSpPr>
        <p:spPr>
          <a:xfrm>
            <a:off x="3105150" y="4914900"/>
            <a:ext cx="5827586" cy="708660"/>
          </a:xfrm>
          <a:prstGeom prst="rect">
            <a:avLst/>
          </a:prstGeom>
          <a:noFill/>
          <a:ln/>
        </p:spPr>
        <p:txBody>
          <a:bodyPr wrap="square" lIns="25400" tIns="25400" rIns="25400" bIns="25400" rtlCol="0" anchor="t">
            <a:normAutofit/>
          </a:bodyPr>
          <a:lstStyle/>
          <a:p>
            <a:pPr algn="l" indent="0" marL="0">
              <a:buNone/>
            </a:pPr>
            <a:r>
              <a:rPr lang="en-US" sz="2025" dirty="0">
                <a:solidFill>
                  <a:srgbClr val="211C14"/>
                </a:solidFill>
                <a:latin typeface="Arial" pitchFamily="34" charset="0"/>
                <a:ea typeface="Arial" pitchFamily="34" charset="-122"/>
                <a:cs typeface="Arial" pitchFamily="34" charset="-120"/>
              </a:rPr>
              <a:t>version B instead of A (separate overlay/coreload areas)</a:t>
            </a:r>
            <a:endParaRPr lang="en-US" sz="2025" dirty="0"/>
          </a:p>
        </p:txBody>
      </p:sp>
      <p:sp>
        <p:nvSpPr>
          <p:cNvPr id="28" name="Shape 26"/>
          <p:cNvSpPr/>
          <p:nvPr/>
        </p:nvSpPr>
        <p:spPr>
          <a:xfrm>
            <a:off x="9525000" y="5728335"/>
            <a:ext cx="7810500" cy="9525"/>
          </a:xfrm>
          <a:prstGeom prst="rect">
            <a:avLst/>
          </a:prstGeom>
          <a:solidFill>
            <a:srgbClr val="CEC4AD"/>
          </a:solidFill>
          <a:ln/>
        </p:spPr>
      </p:sp>
      <p:sp>
        <p:nvSpPr>
          <p:cNvPr id="29" name="Text 27"/>
          <p:cNvSpPr/>
          <p:nvPr/>
        </p:nvSpPr>
        <p:spPr>
          <a:xfrm>
            <a:off x="9525000" y="4968240"/>
            <a:ext cx="2095500" cy="327660"/>
          </a:xfrm>
          <a:prstGeom prst="rect">
            <a:avLst/>
          </a:prstGeom>
          <a:noFill/>
          <a:ln/>
        </p:spPr>
        <p:txBody>
          <a:bodyPr wrap="square" lIns="25400" tIns="25400" rIns="25400" bIns="25400" rtlCol="0" anchor="t">
            <a:normAutofit/>
          </a:bodyPr>
          <a:lstStyle/>
          <a:p>
            <a:pPr algn="l" indent="0" marL="0">
              <a:buNone/>
            </a:pPr>
            <a:r>
              <a:rPr lang="en-US" sz="2025" b="1" dirty="0">
                <a:solidFill>
                  <a:srgbClr val="211C14"/>
                </a:solidFill>
                <a:latin typeface="Courier New" pitchFamily="34" charset="0"/>
                <a:ea typeface="Courier New" pitchFamily="34" charset="-122"/>
                <a:cs typeface="Courier New" pitchFamily="34" charset="-120"/>
              </a:rPr>
              <a:t>9TTI…9CR</a:t>
            </a:r>
            <a:endParaRPr lang="en-US" sz="2025" dirty="0"/>
          </a:p>
        </p:txBody>
      </p:sp>
      <p:sp>
        <p:nvSpPr>
          <p:cNvPr id="30" name="Text 28"/>
          <p:cNvSpPr/>
          <p:nvPr/>
        </p:nvSpPr>
        <p:spPr>
          <a:xfrm>
            <a:off x="11677650" y="4914900"/>
            <a:ext cx="5827586" cy="708660"/>
          </a:xfrm>
          <a:prstGeom prst="rect">
            <a:avLst/>
          </a:prstGeom>
          <a:noFill/>
          <a:ln/>
        </p:spPr>
        <p:txBody>
          <a:bodyPr wrap="square" lIns="25400" tIns="25400" rIns="25400" bIns="25400" rtlCol="0" anchor="t">
            <a:normAutofit/>
          </a:bodyPr>
          <a:lstStyle/>
          <a:p>
            <a:pPr algn="l" indent="0" marL="0">
              <a:buNone/>
            </a:pPr>
            <a:r>
              <a:rPr lang="en-US" sz="2025" dirty="0">
                <a:solidFill>
                  <a:srgbClr val="211C14"/>
                </a:solidFill>
                <a:latin typeface="Arial" pitchFamily="34" charset="0"/>
                <a:ea typeface="Arial" pitchFamily="34" charset="-122"/>
                <a:cs typeface="Arial" pitchFamily="34" charset="-120"/>
              </a:rPr>
              <a:t>buffer sizes; TT1…TT12, DLP, DCR… device numbers</a:t>
            </a:r>
            <a:endParaRPr lang="en-US" sz="2025" dirty="0"/>
          </a:p>
        </p:txBody>
      </p:sp>
      <p:sp>
        <p:nvSpPr>
          <p:cNvPr id="31" name="Shape 29"/>
          <p:cNvSpPr/>
          <p:nvPr/>
        </p:nvSpPr>
        <p:spPr>
          <a:xfrm>
            <a:off x="952500" y="6224588"/>
            <a:ext cx="5648325" cy="769620"/>
          </a:xfrm>
          <a:prstGeom prst="rect">
            <a:avLst/>
          </a:prstGeom>
          <a:solidFill>
            <a:srgbClr val="2A2620"/>
          </a:solidFill>
          <a:ln/>
        </p:spPr>
      </p:sp>
      <p:sp>
        <p:nvSpPr>
          <p:cNvPr id="32" name="Text 30"/>
          <p:cNvSpPr/>
          <p:nvPr/>
        </p:nvSpPr>
        <p:spPr>
          <a:xfrm>
            <a:off x="1276350" y="6453188"/>
            <a:ext cx="5170075" cy="350520"/>
          </a:xfrm>
          <a:prstGeom prst="rect">
            <a:avLst/>
          </a:prstGeom>
          <a:noFill/>
          <a:ln/>
        </p:spPr>
        <p:txBody>
          <a:bodyPr wrap="square" lIns="25400" tIns="25400" rIns="25400" bIns="25400" rtlCol="0" anchor="t">
            <a:normAutofit/>
          </a:bodyPr>
          <a:lstStyle/>
          <a:p>
            <a:pPr algn="l" indent="0" marL="0">
              <a:buNone/>
            </a:pPr>
            <a:r>
              <a:rPr lang="en-US" sz="1875" dirty="0">
                <a:solidFill>
                  <a:srgbClr val="E6DEC9"/>
                </a:solidFill>
                <a:latin typeface="Courier New" pitchFamily="34" charset="0"/>
                <a:ea typeface="Courier New" pitchFamily="34" charset="-122"/>
                <a:cs typeface="Courier New" pitchFamily="34" charset="-120"/>
              </a:rPr>
              <a:t>AS ARCHIVED: CDC MACF DIAB K14 TEL4</a:t>
            </a:r>
            <a:endParaRPr lang="en-US" sz="1875" dirty="0"/>
          </a:p>
        </p:txBody>
      </p:sp>
      <p:sp>
        <p:nvSpPr>
          <p:cNvPr id="33" name="Text 31"/>
          <p:cNvSpPr/>
          <p:nvPr/>
        </p:nvSpPr>
        <p:spPr>
          <a:xfrm>
            <a:off x="6867525" y="6193155"/>
            <a:ext cx="10782014" cy="870585"/>
          </a:xfrm>
          <a:prstGeom prst="rect">
            <a:avLst/>
          </a:prstGeom>
          <a:noFill/>
          <a:ln/>
        </p:spPr>
        <p:txBody>
          <a:bodyPr wrap="square" lIns="25400" tIns="25400" rIns="25400" bIns="25400" rtlCol="0" anchor="t">
            <a:normAutofit/>
          </a:bodyPr>
          <a:lstStyle/>
          <a:p>
            <a:pPr algn="l" indent="0" marL="0">
              <a:lnSpc>
                <a:spcPct val="129808"/>
              </a:lnSpc>
              <a:buNone/>
            </a:pPr>
            <a:r>
              <a:rPr lang="en-US" sz="2025" dirty="0">
                <a:solidFill>
                  <a:srgbClr val="4A4335"/>
                </a:solidFill>
                <a:latin typeface="Arial" pitchFamily="34" charset="0"/>
                <a:ea typeface="Arial" pitchFamily="34" charset="-122"/>
                <a:cs typeface="Arial" pitchFamily="34" charset="-120"/>
              </a:rPr>
              <a:t>→ NORD-1 IOT I/O, disk-only swapping. For the drum system this deck describes: </a:t>
            </a:r>
            <a:pPr algn="l" indent="0" marL="0">
              <a:lnSpc>
                <a:spcPct val="129808"/>
              </a:lnSpc>
              <a:buNone/>
            </a:pPr>
            <a:r>
              <a:rPr lang="en-US" sz="2025" b="1" dirty="0">
                <a:solidFill>
                  <a:srgbClr val="4A4335"/>
                </a:solidFill>
                <a:latin typeface="Courier New" pitchFamily="34" charset="0"/>
                <a:ea typeface="Courier New" pitchFamily="34" charset="-122"/>
                <a:cs typeface="Courier New" pitchFamily="34" charset="-120"/>
              </a:rPr>
              <a:t>CDC MACF K14 TEL4 DRUM N10</a:t>
            </a:r>
            <a:endParaRPr lang="en-US" sz="2025"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2EDE1"/>
        </a:solidFill>
      </p:bgPr>
    </p:bg>
    <p:spTree>
      <p:nvGrpSpPr>
        <p:cNvPr id="1" name=""/>
        <p:cNvGrpSpPr/>
        <p:nvPr/>
      </p:nvGrpSpPr>
      <p:grpSpPr>
        <a:xfrm>
          <a:off x="0" y="0"/>
          <a:ext cx="0" cy="0"/>
          <a:chOff x="0" y="0"/>
          <a:chExt cx="0" cy="0"/>
        </a:xfrm>
      </p:grpSpPr>
      <p:sp>
        <p:nvSpPr>
          <p:cNvPr id="2" name="Text 0"/>
          <p:cNvSpPr/>
          <p:nvPr/>
        </p:nvSpPr>
        <p:spPr>
          <a:xfrm>
            <a:off x="952500" y="762000"/>
            <a:ext cx="18021300" cy="33528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C8501E"/>
                </a:solidFill>
                <a:latin typeface="Courier New" pitchFamily="34" charset="0"/>
                <a:ea typeface="Courier New" pitchFamily="34" charset="-122"/>
                <a:cs typeface="Courier New" pitchFamily="34" charset="-120"/>
              </a:rPr>
              <a:t>SECTION 05 · BUILD &amp; RUN</a:t>
            </a:r>
            <a:endParaRPr lang="en-US" sz="1800" dirty="0"/>
          </a:p>
        </p:txBody>
      </p:sp>
      <p:sp>
        <p:nvSpPr>
          <p:cNvPr id="3" name="Text 1"/>
          <p:cNvSpPr/>
          <p:nvPr/>
        </p:nvSpPr>
        <p:spPr>
          <a:xfrm>
            <a:off x="952500" y="1211580"/>
            <a:ext cx="18021300" cy="666750"/>
          </a:xfrm>
          <a:prstGeom prst="rect">
            <a:avLst/>
          </a:prstGeom>
          <a:noFill/>
          <a:ln/>
        </p:spPr>
        <p:txBody>
          <a:bodyPr wrap="square" lIns="25400" tIns="25400" rIns="25400" bIns="25400" rtlCol="0" anchor="t">
            <a:normAutofit/>
          </a:bodyPr>
          <a:lstStyle/>
          <a:p>
            <a:pPr algn="l" indent="0" marL="0">
              <a:lnSpc>
                <a:spcPct val="97059"/>
              </a:lnSpc>
              <a:buNone/>
            </a:pPr>
            <a:r>
              <a:rPr lang="en-US" sz="4500" b="1" dirty="0">
                <a:solidFill>
                  <a:srgbClr val="211C14"/>
                </a:solidFill>
                <a:latin typeface="Courier New" pitchFamily="34" charset="0"/>
                <a:ea typeface="Courier New" pitchFamily="34" charset="-122"/>
                <a:cs typeface="Courier New" pitchFamily="34" charset="-120"/>
              </a:rPr>
              <a:t>The Build: ASSYSA, Decoded</a:t>
            </a:r>
            <a:endParaRPr lang="en-US" sz="4500" dirty="0"/>
          </a:p>
        </p:txBody>
      </p:sp>
      <p:sp>
        <p:nvSpPr>
          <p:cNvPr id="4" name="Shape 2"/>
          <p:cNvSpPr/>
          <p:nvPr/>
        </p:nvSpPr>
        <p:spPr>
          <a:xfrm>
            <a:off x="952500" y="1992630"/>
            <a:ext cx="16383000" cy="28575"/>
          </a:xfrm>
          <a:prstGeom prst="rect">
            <a:avLst/>
          </a:prstGeom>
          <a:solidFill>
            <a:srgbClr val="211C14"/>
          </a:solidFill>
          <a:ln/>
        </p:spPr>
      </p:sp>
      <p:sp>
        <p:nvSpPr>
          <p:cNvPr id="5" name="Shape 3"/>
          <p:cNvSpPr/>
          <p:nvPr/>
        </p:nvSpPr>
        <p:spPr>
          <a:xfrm>
            <a:off x="952500" y="2364105"/>
            <a:ext cx="8572500" cy="5410200"/>
          </a:xfrm>
          <a:prstGeom prst="rect">
            <a:avLst/>
          </a:prstGeom>
          <a:solidFill>
            <a:srgbClr val="2A2620"/>
          </a:solidFill>
          <a:ln/>
        </p:spPr>
      </p:sp>
      <p:sp>
        <p:nvSpPr>
          <p:cNvPr id="6" name="Text 4"/>
          <p:cNvSpPr/>
          <p:nvPr/>
        </p:nvSpPr>
        <p:spPr>
          <a:xfrm>
            <a:off x="1314450" y="2668905"/>
            <a:ext cx="8084058" cy="438150"/>
          </a:xfrm>
          <a:prstGeom prst="rect">
            <a:avLst/>
          </a:prstGeom>
          <a:noFill/>
          <a:ln/>
        </p:spPr>
        <p:txBody>
          <a:bodyPr wrap="square" lIns="25400" tIns="25400" rIns="25400" bIns="25400" rtlCol="0" anchor="t">
            <a:normAutofit/>
          </a:bodyPr>
          <a:lstStyle/>
          <a:p>
            <a:pPr algn="l" indent="0" marL="0">
              <a:lnSpc>
                <a:spcPct val="154412"/>
              </a:lnSpc>
              <a:buNone/>
            </a:pPr>
            <a:r>
              <a:rPr lang="en-US" sz="1800" dirty="0">
                <a:solidFill>
                  <a:srgbClr val="E6DEC9"/>
                </a:solidFill>
                <a:latin typeface="Courier New" pitchFamily="34" charset="0"/>
                <a:ea typeface="Courier New" pitchFamily="34" charset="-122"/>
                <a:cs typeface="Courier New" pitchFamily="34" charset="-120"/>
              </a:rPr>
              <a:t>FMAC </a:t>
            </a:r>
            <a:pPr algn="l" indent="0" marL="0">
              <a:lnSpc>
                <a:spcPct val="154412"/>
              </a:lnSpc>
              <a:buNone/>
            </a:pPr>
            <a:r>
              <a:rPr lang="en-US" sz="1800" dirty="0">
                <a:solidFill>
                  <a:srgbClr val="8F8570"/>
                </a:solidFill>
                <a:latin typeface="Courier New" pitchFamily="34" charset="0"/>
                <a:ea typeface="Courier New" pitchFamily="34" charset="-122"/>
                <a:cs typeface="Courier New" pitchFamily="34" charset="-120"/>
              </a:rPr>
              <a:t>% START THE ASSEMBLER</a:t>
            </a:r>
            <a:endParaRPr lang="en-US" sz="1800" dirty="0"/>
          </a:p>
        </p:txBody>
      </p:sp>
      <p:sp>
        <p:nvSpPr>
          <p:cNvPr id="7" name="Text 5"/>
          <p:cNvSpPr/>
          <p:nvPr/>
        </p:nvSpPr>
        <p:spPr>
          <a:xfrm>
            <a:off x="1314450" y="3068955"/>
            <a:ext cx="8084058" cy="438150"/>
          </a:xfrm>
          <a:prstGeom prst="rect">
            <a:avLst/>
          </a:prstGeom>
          <a:noFill/>
          <a:ln/>
        </p:spPr>
        <p:txBody>
          <a:bodyPr wrap="square" lIns="25400" tIns="25400" rIns="25400" bIns="25400" rtlCol="0" anchor="t">
            <a:normAutofit/>
          </a:bodyPr>
          <a:lstStyle/>
          <a:p>
            <a:pPr algn="l" indent="0" marL="0">
              <a:lnSpc>
                <a:spcPct val="154412"/>
              </a:lnSpc>
              <a:buNone/>
            </a:pPr>
            <a:r>
              <a:rPr lang="en-US" sz="1800" dirty="0">
                <a:solidFill>
                  <a:srgbClr val="E6DEC9"/>
                </a:solidFill>
                <a:latin typeface="Courier New" pitchFamily="34" charset="0"/>
                <a:ea typeface="Courier New" pitchFamily="34" charset="-122"/>
                <a:cs typeface="Courier New" pitchFamily="34" charset="-120"/>
              </a:rPr>
              <a:t>100 / SYSA </a:t>
            </a:r>
            <a:pPr algn="l" indent="0" marL="0">
              <a:lnSpc>
                <a:spcPct val="154412"/>
              </a:lnSpc>
              <a:buNone/>
            </a:pPr>
            <a:r>
              <a:rPr lang="en-US" sz="1800" dirty="0">
                <a:solidFill>
                  <a:srgbClr val="8F8570"/>
                </a:solidFill>
                <a:latin typeface="Courier New" pitchFamily="34" charset="0"/>
                <a:ea typeface="Courier New" pitchFamily="34" charset="-122"/>
                <a:cs typeface="Courier New" pitchFamily="34" charset="-120"/>
              </a:rPr>
              <a:t>% PROMPTS: SIZE, NAME</a:t>
            </a:r>
            <a:endParaRPr lang="en-US" sz="1800" dirty="0"/>
          </a:p>
        </p:txBody>
      </p:sp>
      <p:sp>
        <p:nvSpPr>
          <p:cNvPr id="8" name="Text 6"/>
          <p:cNvSpPr/>
          <p:nvPr/>
        </p:nvSpPr>
        <p:spPr>
          <a:xfrm>
            <a:off x="1314450" y="3469005"/>
            <a:ext cx="8084058" cy="438150"/>
          </a:xfrm>
          <a:prstGeom prst="rect">
            <a:avLst/>
          </a:prstGeom>
          <a:noFill/>
          <a:ln/>
        </p:spPr>
        <p:txBody>
          <a:bodyPr wrap="square" lIns="25400" tIns="25400" rIns="25400" bIns="25400" rtlCol="0" anchor="t">
            <a:normAutofit/>
          </a:bodyPr>
          <a:lstStyle/>
          <a:p>
            <a:pPr algn="l" indent="0" marL="0">
              <a:lnSpc>
                <a:spcPct val="154412"/>
              </a:lnSpc>
              <a:buNone/>
            </a:pPr>
            <a:r>
              <a:rPr lang="en-US" sz="1800" dirty="0">
                <a:solidFill>
                  <a:srgbClr val="E8935A"/>
                </a:solidFill>
                <a:latin typeface="Courier New" pitchFamily="34" charset="0"/>
                <a:ea typeface="Courier New" pitchFamily="34" charset="-122"/>
                <a:cs typeface="Courier New" pitchFamily="34" charset="-120"/>
              </a:rPr>
              <a:t>CDC MACF DIAB K14 TEL4 </a:t>
            </a:r>
            <a:pPr algn="l" indent="0" marL="0">
              <a:lnSpc>
                <a:spcPct val="154412"/>
              </a:lnSpc>
              <a:buNone/>
            </a:pPr>
            <a:r>
              <a:rPr lang="en-US" sz="1800" dirty="0">
                <a:solidFill>
                  <a:srgbClr val="8F8570"/>
                </a:solidFill>
                <a:latin typeface="Courier New" pitchFamily="34" charset="0"/>
                <a:ea typeface="Courier New" pitchFamily="34" charset="-122"/>
                <a:cs typeface="Courier New" pitchFamily="34" charset="-120"/>
              </a:rPr>
              <a:t>% THE MARK LINE</a:t>
            </a:r>
            <a:endParaRPr lang="en-US" sz="1800" dirty="0"/>
          </a:p>
        </p:txBody>
      </p:sp>
      <p:sp>
        <p:nvSpPr>
          <p:cNvPr id="9" name="Text 7"/>
          <p:cNvSpPr/>
          <p:nvPr/>
        </p:nvSpPr>
        <p:spPr>
          <a:xfrm>
            <a:off x="1314450" y="3869055"/>
            <a:ext cx="8084058" cy="438150"/>
          </a:xfrm>
          <a:prstGeom prst="rect">
            <a:avLst/>
          </a:prstGeom>
          <a:noFill/>
          <a:ln/>
        </p:spPr>
        <p:txBody>
          <a:bodyPr wrap="square" lIns="25400" tIns="25400" rIns="25400" bIns="25400" rtlCol="0" anchor="t">
            <a:normAutofit/>
          </a:bodyPr>
          <a:lstStyle/>
          <a:p>
            <a:pPr algn="l" indent="0" marL="0">
              <a:lnSpc>
                <a:spcPct val="154412"/>
              </a:lnSpc>
              <a:buNone/>
            </a:pPr>
            <a:r>
              <a:rPr lang="en-US" sz="1800" dirty="0">
                <a:solidFill>
                  <a:srgbClr val="E6DEC9"/>
                </a:solidFill>
                <a:latin typeface="Courier New" pitchFamily="34" charset="0"/>
                <a:ea typeface="Courier New" pitchFamily="34" charset="-122"/>
                <a:cs typeface="Courier New" pitchFamily="34" charset="-120"/>
              </a:rPr>
              <a:t>IOT=160000;ACT=400;... </a:t>
            </a:r>
            <a:pPr algn="l" indent="0" marL="0">
              <a:lnSpc>
                <a:spcPct val="154412"/>
              </a:lnSpc>
              <a:buNone/>
            </a:pPr>
            <a:r>
              <a:rPr lang="en-US" sz="1800" dirty="0">
                <a:solidFill>
                  <a:srgbClr val="8F8570"/>
                </a:solidFill>
                <a:latin typeface="Courier New" pitchFamily="34" charset="0"/>
                <a:ea typeface="Courier New" pitchFamily="34" charset="-122"/>
                <a:cs typeface="Courier New" pitchFamily="34" charset="-120"/>
              </a:rPr>
              <a:t>% CVS RESTORATION:</a:t>
            </a:r>
            <a:endParaRPr lang="en-US" sz="1800" dirty="0"/>
          </a:p>
        </p:txBody>
      </p:sp>
      <p:sp>
        <p:nvSpPr>
          <p:cNvPr id="10" name="Text 8"/>
          <p:cNvSpPr/>
          <p:nvPr/>
        </p:nvSpPr>
        <p:spPr>
          <a:xfrm>
            <a:off x="1314450" y="4269105"/>
            <a:ext cx="8084058" cy="438150"/>
          </a:xfrm>
          <a:prstGeom prst="rect">
            <a:avLst/>
          </a:prstGeom>
          <a:noFill/>
          <a:ln/>
        </p:spPr>
        <p:txBody>
          <a:bodyPr wrap="square" lIns="25400" tIns="25400" rIns="25400" bIns="25400" rtlCol="0" anchor="t">
            <a:normAutofit/>
          </a:bodyPr>
          <a:lstStyle/>
          <a:p>
            <a:pPr algn="l" indent="0" marL="0">
              <a:lnSpc>
                <a:spcPct val="154412"/>
              </a:lnSpc>
              <a:buNone/>
            </a:pPr>
            <a:r>
              <a:rPr lang="en-US" sz="1800" dirty="0">
                <a:solidFill>
                  <a:srgbClr val="E6DEC9"/>
                </a:solidFill>
                <a:latin typeface="Courier New" pitchFamily="34" charset="0"/>
                <a:ea typeface="Courier New" pitchFamily="34" charset="-122"/>
                <a:cs typeface="Courier New" pitchFamily="34" charset="-120"/>
              </a:rPr>
              <a:t>INTDS=150440;... </a:t>
            </a:r>
            <a:pPr algn="l" indent="0" marL="0">
              <a:lnSpc>
                <a:spcPct val="154412"/>
              </a:lnSpc>
              <a:buNone/>
            </a:pPr>
            <a:r>
              <a:rPr lang="en-US" sz="1800" dirty="0">
                <a:solidFill>
                  <a:srgbClr val="8F8570"/>
                </a:solidFill>
                <a:latin typeface="Courier New" pitchFamily="34" charset="0"/>
                <a:ea typeface="Courier New" pitchFamily="34" charset="-122"/>
                <a:cs typeface="Courier New" pitchFamily="34" charset="-120"/>
              </a:rPr>
              <a:t>% SYMBOLS MAC HAD BUILT IN</a:t>
            </a:r>
            <a:endParaRPr lang="en-US" sz="1800" dirty="0"/>
          </a:p>
        </p:txBody>
      </p:sp>
      <p:sp>
        <p:nvSpPr>
          <p:cNvPr id="11" name="Text 9"/>
          <p:cNvSpPr/>
          <p:nvPr/>
        </p:nvSpPr>
        <p:spPr>
          <a:xfrm>
            <a:off x="1314450" y="4669155"/>
            <a:ext cx="8084058" cy="438150"/>
          </a:xfrm>
          <a:prstGeom prst="rect">
            <a:avLst/>
          </a:prstGeom>
          <a:noFill/>
          <a:ln/>
        </p:spPr>
        <p:txBody>
          <a:bodyPr wrap="square" lIns="25400" tIns="25400" rIns="25400" bIns="25400" rtlCol="0" anchor="t">
            <a:normAutofit/>
          </a:bodyPr>
          <a:lstStyle/>
          <a:p>
            <a:pPr algn="l" indent="0" marL="0">
              <a:lnSpc>
                <a:spcPct val="154412"/>
              </a:lnSpc>
              <a:buNone/>
            </a:pPr>
            <a:r>
              <a:rPr lang="en-US" sz="1800" dirty="0">
                <a:solidFill>
                  <a:srgbClr val="E6DEC9"/>
                </a:solidFill>
                <a:latin typeface="Courier New" pitchFamily="34" charset="0"/>
                <a:ea typeface="Courier New" pitchFamily="34" charset="-122"/>
                <a:cs typeface="Courier New" pitchFamily="34" charset="-120"/>
              </a:rPr>
              <a:t>)9ASSM TSS1,LIST1,0 </a:t>
            </a:r>
            <a:pPr algn="l" indent="0" marL="0">
              <a:lnSpc>
                <a:spcPct val="154412"/>
              </a:lnSpc>
              <a:buNone/>
            </a:pPr>
            <a:r>
              <a:rPr lang="en-US" sz="1800" dirty="0">
                <a:solidFill>
                  <a:srgbClr val="8F8570"/>
                </a:solidFill>
                <a:latin typeface="Courier New" pitchFamily="34" charset="0"/>
                <a:ea typeface="Courier New" pitchFamily="34" charset="-122"/>
                <a:cs typeface="Courier New" pitchFamily="34" charset="-120"/>
              </a:rPr>
              <a:t>% ASSEMBLE PART 1</a:t>
            </a:r>
            <a:endParaRPr lang="en-US" sz="1800" dirty="0"/>
          </a:p>
        </p:txBody>
      </p:sp>
      <p:sp>
        <p:nvSpPr>
          <p:cNvPr id="12" name="Text 10"/>
          <p:cNvSpPr/>
          <p:nvPr/>
        </p:nvSpPr>
        <p:spPr>
          <a:xfrm>
            <a:off x="1314450" y="5069205"/>
            <a:ext cx="8084058" cy="438150"/>
          </a:xfrm>
          <a:prstGeom prst="rect">
            <a:avLst/>
          </a:prstGeom>
          <a:noFill/>
          <a:ln/>
        </p:spPr>
        <p:txBody>
          <a:bodyPr wrap="square" lIns="25400" tIns="25400" rIns="25400" bIns="25400" rtlCol="0" anchor="t">
            <a:normAutofit/>
          </a:bodyPr>
          <a:lstStyle/>
          <a:p>
            <a:pPr algn="l" indent="0" marL="0">
              <a:lnSpc>
                <a:spcPct val="154412"/>
              </a:lnSpc>
              <a:buNone/>
            </a:pPr>
            <a:r>
              <a:rPr lang="en-US" sz="1800" dirty="0">
                <a:solidFill>
                  <a:srgbClr val="E6DEC9"/>
                </a:solidFill>
                <a:latin typeface="Courier New" pitchFamily="34" charset="0"/>
                <a:ea typeface="Courier New" pitchFamily="34" charset="-122"/>
                <a:cs typeface="Courier New" pitchFamily="34" charset="-120"/>
              </a:rPr>
              <a:t>)9ASSM TSS2,LIST2,0</a:t>
            </a:r>
            <a:endParaRPr lang="en-US" sz="1800" dirty="0"/>
          </a:p>
        </p:txBody>
      </p:sp>
      <p:sp>
        <p:nvSpPr>
          <p:cNvPr id="13" name="Text 11"/>
          <p:cNvSpPr/>
          <p:nvPr/>
        </p:nvSpPr>
        <p:spPr>
          <a:xfrm>
            <a:off x="1314450" y="5469255"/>
            <a:ext cx="8084058" cy="438150"/>
          </a:xfrm>
          <a:prstGeom prst="rect">
            <a:avLst/>
          </a:prstGeom>
          <a:noFill/>
          <a:ln/>
        </p:spPr>
        <p:txBody>
          <a:bodyPr wrap="square" lIns="25400" tIns="25400" rIns="25400" bIns="25400" rtlCol="0" anchor="t">
            <a:normAutofit/>
          </a:bodyPr>
          <a:lstStyle/>
          <a:p>
            <a:pPr algn="l" indent="0" marL="0">
              <a:lnSpc>
                <a:spcPct val="154412"/>
              </a:lnSpc>
              <a:buNone/>
            </a:pPr>
            <a:r>
              <a:rPr lang="en-US" sz="1800" dirty="0">
                <a:solidFill>
                  <a:srgbClr val="E6DEC9"/>
                </a:solidFill>
                <a:latin typeface="Courier New" pitchFamily="34" charset="0"/>
                <a:ea typeface="Courier New" pitchFamily="34" charset="-122"/>
                <a:cs typeface="Courier New" pitchFamily="34" charset="-120"/>
              </a:rPr>
              <a:t>)9ASSM TSS3,LIST3,0</a:t>
            </a:r>
            <a:endParaRPr lang="en-US" sz="1800" dirty="0"/>
          </a:p>
        </p:txBody>
      </p:sp>
      <p:sp>
        <p:nvSpPr>
          <p:cNvPr id="14" name="Text 12"/>
          <p:cNvSpPr/>
          <p:nvPr/>
        </p:nvSpPr>
        <p:spPr>
          <a:xfrm>
            <a:off x="1314450" y="5869305"/>
            <a:ext cx="8084058" cy="438150"/>
          </a:xfrm>
          <a:prstGeom prst="rect">
            <a:avLst/>
          </a:prstGeom>
          <a:noFill/>
          <a:ln/>
        </p:spPr>
        <p:txBody>
          <a:bodyPr wrap="square" lIns="25400" tIns="25400" rIns="25400" bIns="25400" rtlCol="0" anchor="t">
            <a:normAutofit/>
          </a:bodyPr>
          <a:lstStyle/>
          <a:p>
            <a:pPr algn="l" indent="0" marL="0">
              <a:lnSpc>
                <a:spcPct val="154412"/>
              </a:lnSpc>
              <a:buNone/>
            </a:pPr>
            <a:r>
              <a:rPr lang="en-US" sz="1800" dirty="0">
                <a:solidFill>
                  <a:srgbClr val="E6DEC9"/>
                </a:solidFill>
                <a:latin typeface="Courier New" pitchFamily="34" charset="0"/>
                <a:ea typeface="Courier New" pitchFamily="34" charset="-122"/>
                <a:cs typeface="Courier New" pitchFamily="34" charset="-120"/>
              </a:rPr>
              <a:t>)9ASSM TSS4,LIST4,0</a:t>
            </a:r>
            <a:endParaRPr lang="en-US" sz="1800" dirty="0"/>
          </a:p>
        </p:txBody>
      </p:sp>
      <p:sp>
        <p:nvSpPr>
          <p:cNvPr id="15" name="Text 13"/>
          <p:cNvSpPr/>
          <p:nvPr/>
        </p:nvSpPr>
        <p:spPr>
          <a:xfrm>
            <a:off x="1314450" y="6269355"/>
            <a:ext cx="8084058" cy="438150"/>
          </a:xfrm>
          <a:prstGeom prst="rect">
            <a:avLst/>
          </a:prstGeom>
          <a:noFill/>
          <a:ln/>
        </p:spPr>
        <p:txBody>
          <a:bodyPr wrap="square" lIns="25400" tIns="25400" rIns="25400" bIns="25400" rtlCol="0" anchor="t">
            <a:normAutofit/>
          </a:bodyPr>
          <a:lstStyle/>
          <a:p>
            <a:pPr algn="l" indent="0" marL="0">
              <a:lnSpc>
                <a:spcPct val="154412"/>
              </a:lnSpc>
              <a:buNone/>
            </a:pPr>
            <a:r>
              <a:rPr lang="en-US" sz="1800" dirty="0">
                <a:solidFill>
                  <a:srgbClr val="E6DEC9"/>
                </a:solidFill>
                <a:latin typeface="Courier New" pitchFamily="34" charset="0"/>
                <a:ea typeface="Courier New" pitchFamily="34" charset="-122"/>
                <a:cs typeface="Courier New" pitchFamily="34" charset="-120"/>
              </a:rPr>
              <a:t>)9ASSM TSS5,LIST5,ASYMB:SYMB </a:t>
            </a:r>
            <a:pPr algn="l" indent="0" marL="0">
              <a:lnSpc>
                <a:spcPct val="154412"/>
              </a:lnSpc>
              <a:buNone/>
            </a:pPr>
            <a:r>
              <a:rPr lang="en-US" sz="1800" dirty="0">
                <a:solidFill>
                  <a:srgbClr val="8F8570"/>
                </a:solidFill>
                <a:latin typeface="Courier New" pitchFamily="34" charset="0"/>
                <a:ea typeface="Courier New" pitchFamily="34" charset="-122"/>
                <a:cs typeface="Courier New" pitchFamily="34" charset="-120"/>
              </a:rPr>
              <a:t>% + OBJECT STREAM</a:t>
            </a:r>
            <a:endParaRPr lang="en-US" sz="1800" dirty="0"/>
          </a:p>
        </p:txBody>
      </p:sp>
      <p:sp>
        <p:nvSpPr>
          <p:cNvPr id="16" name="Text 14"/>
          <p:cNvSpPr/>
          <p:nvPr/>
        </p:nvSpPr>
        <p:spPr>
          <a:xfrm>
            <a:off x="1314450" y="6669405"/>
            <a:ext cx="8084058" cy="438150"/>
          </a:xfrm>
          <a:prstGeom prst="rect">
            <a:avLst/>
          </a:prstGeom>
          <a:noFill/>
          <a:ln/>
        </p:spPr>
        <p:txBody>
          <a:bodyPr wrap="square" lIns="25400" tIns="25400" rIns="25400" bIns="25400" rtlCol="0" anchor="t">
            <a:normAutofit/>
          </a:bodyPr>
          <a:lstStyle/>
          <a:p>
            <a:pPr algn="l" indent="0" marL="0">
              <a:lnSpc>
                <a:spcPct val="154412"/>
              </a:lnSpc>
              <a:buNone/>
            </a:pPr>
            <a:r>
              <a:rPr lang="en-US" sz="1800" dirty="0">
                <a:solidFill>
                  <a:srgbClr val="E6DEC9"/>
                </a:solidFill>
                <a:latin typeface="Courier New" pitchFamily="34" charset="0"/>
                <a:ea typeface="Courier New" pitchFamily="34" charset="-122"/>
                <a:cs typeface="Courier New" pitchFamily="34" charset="-120"/>
              </a:rPr>
              <a:t>)LIST </a:t>
            </a:r>
            <a:pPr algn="l" indent="0" marL="0">
              <a:lnSpc>
                <a:spcPct val="154412"/>
              </a:lnSpc>
              <a:buNone/>
            </a:pPr>
            <a:r>
              <a:rPr lang="en-US" sz="1800" dirty="0">
                <a:solidFill>
                  <a:srgbClr val="8F8570"/>
                </a:solidFill>
                <a:latin typeface="Courier New" pitchFamily="34" charset="0"/>
                <a:ea typeface="Courier New" pitchFamily="34" charset="-122"/>
                <a:cs typeface="Courier New" pitchFamily="34" charset="-120"/>
              </a:rPr>
              <a:t>% DUMP SYMBOL TABLE</a:t>
            </a:r>
            <a:endParaRPr lang="en-US" sz="1800" dirty="0"/>
          </a:p>
        </p:txBody>
      </p:sp>
      <p:sp>
        <p:nvSpPr>
          <p:cNvPr id="17" name="Text 15"/>
          <p:cNvSpPr/>
          <p:nvPr/>
        </p:nvSpPr>
        <p:spPr>
          <a:xfrm>
            <a:off x="1314450" y="7069455"/>
            <a:ext cx="8084058" cy="438150"/>
          </a:xfrm>
          <a:prstGeom prst="rect">
            <a:avLst/>
          </a:prstGeom>
          <a:noFill/>
          <a:ln/>
        </p:spPr>
        <p:txBody>
          <a:bodyPr wrap="square" lIns="25400" tIns="25400" rIns="25400" bIns="25400" rtlCol="0" anchor="t">
            <a:normAutofit/>
          </a:bodyPr>
          <a:lstStyle/>
          <a:p>
            <a:pPr algn="l" indent="0" marL="0">
              <a:lnSpc>
                <a:spcPct val="154412"/>
              </a:lnSpc>
              <a:buNone/>
            </a:pPr>
            <a:r>
              <a:rPr lang="en-US" sz="1800" dirty="0">
                <a:solidFill>
                  <a:srgbClr val="C86A50"/>
                </a:solidFill>
                <a:latin typeface="Courier New" pitchFamily="34" charset="0"/>
                <a:ea typeface="Courier New" pitchFamily="34" charset="-122"/>
                <a:cs typeface="Courier New" pitchFamily="34" charset="-120"/>
              </a:rPr>
              <a:t>*: / ? / )9TSS </a:t>
            </a:r>
            <a:pPr algn="l" indent="0" marL="0">
              <a:lnSpc>
                <a:spcPct val="154412"/>
              </a:lnSpc>
              <a:buNone/>
            </a:pPr>
            <a:r>
              <a:rPr lang="en-US" sz="1800" dirty="0">
                <a:solidFill>
                  <a:srgbClr val="8F8570"/>
                </a:solidFill>
                <a:latin typeface="Courier New" pitchFamily="34" charset="0"/>
                <a:ea typeface="Courier New" pitchFamily="34" charset="-122"/>
                <a:cs typeface="Courier New" pitchFamily="34" charset="-120"/>
              </a:rPr>
              <a:t>% NOT IN ND-60.096 [UNKNOWN]</a:t>
            </a:r>
            <a:endParaRPr lang="en-US" sz="1800" dirty="0"/>
          </a:p>
        </p:txBody>
      </p:sp>
      <p:sp>
        <p:nvSpPr>
          <p:cNvPr id="18" name="Text 16"/>
          <p:cNvSpPr/>
          <p:nvPr/>
        </p:nvSpPr>
        <p:spPr>
          <a:xfrm>
            <a:off x="10058400" y="2364105"/>
            <a:ext cx="7495413" cy="1249204"/>
          </a:xfrm>
          <a:prstGeom prst="rect">
            <a:avLst/>
          </a:prstGeom>
          <a:noFill/>
          <a:ln/>
        </p:spPr>
        <p:txBody>
          <a:bodyPr wrap="square" lIns="25400" tIns="25400" rIns="25400" bIns="25400" rtlCol="0" anchor="t">
            <a:normAutofit/>
          </a:bodyPr>
          <a:lstStyle/>
          <a:p>
            <a:pPr algn="l" indent="0" marL="0">
              <a:lnSpc>
                <a:spcPct val="134135"/>
              </a:lnSpc>
              <a:buNone/>
            </a:pPr>
            <a:r>
              <a:rPr lang="en-US" sz="2025" dirty="0">
                <a:solidFill>
                  <a:srgbClr val="211C14"/>
                </a:solidFill>
                <a:latin typeface="Arial" pitchFamily="34" charset="0"/>
                <a:ea typeface="Arial" pitchFamily="34" charset="-122"/>
                <a:cs typeface="Arial" pitchFamily="34" charset="-120"/>
              </a:rPr>
              <a:t>TSS assembles </a:t>
            </a:r>
            <a:pPr algn="l" indent="0" marL="0">
              <a:lnSpc>
                <a:spcPct val="134135"/>
              </a:lnSpc>
              <a:buNone/>
            </a:pPr>
            <a:r>
              <a:rPr lang="en-US" sz="2025" b="1" dirty="0">
                <a:solidFill>
                  <a:srgbClr val="211C14"/>
                </a:solidFill>
                <a:latin typeface="Arial" pitchFamily="34" charset="0"/>
                <a:ea typeface="Arial" pitchFamily="34" charset="-122"/>
                <a:cs typeface="Arial" pitchFamily="34" charset="-120"/>
              </a:rPr>
              <a:t>into memory on the target machine </a:t>
            </a:r>
            <a:pPr algn="l" indent="0" marL="0">
              <a:lnSpc>
                <a:spcPct val="134135"/>
              </a:lnSpc>
              <a:buNone/>
            </a:pPr>
            <a:r>
              <a:rPr lang="en-US" sz="2025" dirty="0">
                <a:solidFill>
                  <a:srgbClr val="211C14"/>
                </a:solidFill>
                <a:latin typeface="Arial" pitchFamily="34" charset="0"/>
                <a:ea typeface="Arial" pitchFamily="34" charset="-122"/>
                <a:cs typeface="Arial" pitchFamily="34" charset="-120"/>
              </a:rPr>
              <a:t>— the overlay machinery even writes overlays to disk </a:t>
            </a:r>
            <a:pPr algn="l" indent="0" marL="0">
              <a:lnSpc>
                <a:spcPct val="134135"/>
              </a:lnSpc>
              <a:buNone/>
            </a:pPr>
            <a:r>
              <a:rPr lang="en-US" sz="2025" i="1" dirty="0">
                <a:solidFill>
                  <a:srgbClr val="211C14"/>
                </a:solidFill>
                <a:latin typeface="Arial" pitchFamily="34" charset="0"/>
                <a:ea typeface="Arial" pitchFamily="34" charset="-122"/>
                <a:cs typeface="Arial" pitchFamily="34" charset="-120"/>
              </a:rPr>
              <a:t>during </a:t>
            </a:r>
            <a:pPr algn="l" indent="0" marL="0">
              <a:lnSpc>
                <a:spcPct val="134135"/>
              </a:lnSpc>
              <a:buNone/>
            </a:pPr>
            <a:r>
              <a:rPr lang="en-US" sz="2025" dirty="0">
                <a:solidFill>
                  <a:srgbClr val="211C14"/>
                </a:solidFill>
                <a:latin typeface="Arial" pitchFamily="34" charset="0"/>
                <a:ea typeface="Arial" pitchFamily="34" charset="-122"/>
                <a:cs typeface="Arial" pitchFamily="34" charset="-120"/>
              </a:rPr>
              <a:t>assembly (</a:t>
            </a:r>
            <a:pPr algn="l" indent="0" marL="0">
              <a:lnSpc>
                <a:spcPct val="134135"/>
              </a:lnSpc>
              <a:buNone/>
            </a:pPr>
            <a:r>
              <a:rPr lang="en-US" sz="2025" dirty="0">
                <a:solidFill>
                  <a:srgbClr val="211C14"/>
                </a:solidFill>
                <a:latin typeface="Courier New" pitchFamily="34" charset="0"/>
                <a:ea typeface="Courier New" pitchFamily="34" charset="-122"/>
                <a:cs typeface="Courier New" pitchFamily="34" charset="-120"/>
              </a:rPr>
              <a:t>)WRTM / )SOVER</a:t>
            </a:r>
            <a:pPr algn="l" indent="0" marL="0">
              <a:lnSpc>
                <a:spcPct val="134135"/>
              </a:lnSpc>
              <a:buNone/>
            </a:pPr>
            <a:r>
              <a:rPr lang="en-US" sz="2025" dirty="0">
                <a:solidFill>
                  <a:srgbClr val="211C14"/>
                </a:solidFill>
                <a:latin typeface="Arial" pitchFamily="34" charset="0"/>
                <a:ea typeface="Arial" pitchFamily="34" charset="-122"/>
                <a:cs typeface="Arial" pitchFamily="34" charset="-120"/>
              </a:rPr>
              <a:t>).</a:t>
            </a:r>
            <a:endParaRPr lang="en-US" sz="2025" dirty="0"/>
          </a:p>
        </p:txBody>
      </p:sp>
      <p:sp>
        <p:nvSpPr>
          <p:cNvPr id="19" name="Text 17"/>
          <p:cNvSpPr/>
          <p:nvPr/>
        </p:nvSpPr>
        <p:spPr>
          <a:xfrm>
            <a:off x="10058400" y="3803809"/>
            <a:ext cx="7495413" cy="1249204"/>
          </a:xfrm>
          <a:prstGeom prst="rect">
            <a:avLst/>
          </a:prstGeom>
          <a:noFill/>
          <a:ln/>
        </p:spPr>
        <p:txBody>
          <a:bodyPr wrap="square" lIns="25400" tIns="25400" rIns="25400" bIns="25400" rtlCol="0" anchor="t">
            <a:normAutofit/>
          </a:bodyPr>
          <a:lstStyle/>
          <a:p>
            <a:pPr algn="l" indent="0" marL="0">
              <a:lnSpc>
                <a:spcPct val="134135"/>
              </a:lnSpc>
              <a:buNone/>
            </a:pPr>
            <a:r>
              <a:rPr lang="en-US" sz="2025" dirty="0">
                <a:solidFill>
                  <a:srgbClr val="211C14"/>
                </a:solidFill>
                <a:latin typeface="Arial" pitchFamily="34" charset="0"/>
                <a:ea typeface="Arial" pitchFamily="34" charset="-122"/>
                <a:cs typeface="Arial" pitchFamily="34" charset="-120"/>
              </a:rPr>
              <a:t>The listing streams (LIST1–5) and symbol dumps (ASYMB / BSYMB) in the archive are this script's actual output — a </a:t>
            </a:r>
            <a:pPr algn="l" indent="0" marL="0">
              <a:lnSpc>
                <a:spcPct val="134135"/>
              </a:lnSpc>
              <a:buNone/>
            </a:pPr>
            <a:r>
              <a:rPr lang="en-US" sz="2025" b="1" dirty="0">
                <a:solidFill>
                  <a:srgbClr val="211C14"/>
                </a:solidFill>
                <a:latin typeface="Arial" pitchFamily="34" charset="0"/>
                <a:ea typeface="Arial" pitchFamily="34" charset="-122"/>
                <a:cs typeface="Arial" pitchFamily="34" charset="-120"/>
              </a:rPr>
              <a:t>golden oracle </a:t>
            </a:r>
            <a:pPr algn="l" indent="0" marL="0">
              <a:lnSpc>
                <a:spcPct val="134135"/>
              </a:lnSpc>
              <a:buNone/>
            </a:pPr>
            <a:r>
              <a:rPr lang="en-US" sz="2025" dirty="0">
                <a:solidFill>
                  <a:srgbClr val="211C14"/>
                </a:solidFill>
                <a:latin typeface="Arial" pitchFamily="34" charset="0"/>
                <a:ea typeface="Arial" pitchFamily="34" charset="-122"/>
                <a:cs typeface="Arial" pitchFamily="34" charset="-120"/>
              </a:rPr>
              <a:t>: any re-assembly must reproduce those symbol values.</a:t>
            </a:r>
            <a:endParaRPr lang="en-US" sz="2025" dirty="0"/>
          </a:p>
        </p:txBody>
      </p:sp>
      <p:sp>
        <p:nvSpPr>
          <p:cNvPr id="20" name="Text 18"/>
          <p:cNvSpPr/>
          <p:nvPr/>
        </p:nvSpPr>
        <p:spPr>
          <a:xfrm>
            <a:off x="10058400" y="5243513"/>
            <a:ext cx="7495413" cy="776287"/>
          </a:xfrm>
          <a:prstGeom prst="rect">
            <a:avLst/>
          </a:prstGeom>
          <a:noFill/>
          <a:ln/>
        </p:spPr>
        <p:txBody>
          <a:bodyPr wrap="square" lIns="25400" tIns="25400" rIns="25400" bIns="25400" rtlCol="0" anchor="t">
            <a:normAutofit/>
          </a:bodyPr>
          <a:lstStyle/>
          <a:p>
            <a:pPr algn="l" indent="0" marL="0">
              <a:lnSpc>
                <a:spcPct val="134549"/>
              </a:lnSpc>
              <a:buNone/>
            </a:pPr>
            <a:r>
              <a:rPr lang="en-US" sz="1875" dirty="0">
                <a:solidFill>
                  <a:srgbClr val="6B6252"/>
                </a:solidFill>
                <a:latin typeface="Arial" pitchFamily="34" charset="0"/>
                <a:ea typeface="Arial" pitchFamily="34" charset="-122"/>
                <a:cs typeface="Arial" pitchFamily="34" charset="-120"/>
              </a:rPr>
              <a:t>ASSYSB is identical but sets DEBUG, names it SYSB, skips listings → BSYMB.</a:t>
            </a:r>
            <a:endParaRPr lang="en-US" sz="1875"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2EDE1"/>
        </a:solidFill>
      </p:bgPr>
    </p:bg>
    <p:spTree>
      <p:nvGrpSpPr>
        <p:cNvPr id="1" name=""/>
        <p:cNvGrpSpPr/>
        <p:nvPr/>
      </p:nvGrpSpPr>
      <p:grpSpPr>
        <a:xfrm>
          <a:off x="0" y="0"/>
          <a:ext cx="0" cy="0"/>
          <a:chOff x="0" y="0"/>
          <a:chExt cx="0" cy="0"/>
        </a:xfrm>
      </p:grpSpPr>
      <p:sp>
        <p:nvSpPr>
          <p:cNvPr id="2" name="Text 0"/>
          <p:cNvSpPr/>
          <p:nvPr/>
        </p:nvSpPr>
        <p:spPr>
          <a:xfrm>
            <a:off x="952500" y="857250"/>
            <a:ext cx="18021300" cy="33528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C8501E"/>
                </a:solidFill>
                <a:latin typeface="Courier New" pitchFamily="34" charset="0"/>
                <a:ea typeface="Courier New" pitchFamily="34" charset="-122"/>
                <a:cs typeface="Courier New" pitchFamily="34" charset="-120"/>
              </a:rPr>
              <a:t>SECTION 05 · BUILD &amp; RUN</a:t>
            </a:r>
            <a:endParaRPr lang="en-US" sz="1800" dirty="0"/>
          </a:p>
        </p:txBody>
      </p:sp>
      <p:sp>
        <p:nvSpPr>
          <p:cNvPr id="3" name="Text 1"/>
          <p:cNvSpPr/>
          <p:nvPr/>
        </p:nvSpPr>
        <p:spPr>
          <a:xfrm>
            <a:off x="952500" y="1306830"/>
            <a:ext cx="18021300" cy="666750"/>
          </a:xfrm>
          <a:prstGeom prst="rect">
            <a:avLst/>
          </a:prstGeom>
          <a:noFill/>
          <a:ln/>
        </p:spPr>
        <p:txBody>
          <a:bodyPr wrap="square" lIns="25400" tIns="25400" rIns="25400" bIns="25400" rtlCol="0" anchor="t">
            <a:normAutofit/>
          </a:bodyPr>
          <a:lstStyle/>
          <a:p>
            <a:pPr algn="l" indent="0" marL="0">
              <a:lnSpc>
                <a:spcPct val="97059"/>
              </a:lnSpc>
              <a:buNone/>
            </a:pPr>
            <a:r>
              <a:rPr lang="en-US" sz="4500" b="1" dirty="0">
                <a:solidFill>
                  <a:srgbClr val="211C14"/>
                </a:solidFill>
                <a:latin typeface="Courier New" pitchFamily="34" charset="0"/>
                <a:ea typeface="Courier New" pitchFamily="34" charset="-122"/>
                <a:cs typeface="Courier New" pitchFamily="34" charset="-120"/>
              </a:rPr>
              <a:t>Install &amp; Boot</a:t>
            </a:r>
            <a:endParaRPr lang="en-US" sz="4500" dirty="0"/>
          </a:p>
        </p:txBody>
      </p:sp>
      <p:sp>
        <p:nvSpPr>
          <p:cNvPr id="4" name="Shape 2"/>
          <p:cNvSpPr/>
          <p:nvPr/>
        </p:nvSpPr>
        <p:spPr>
          <a:xfrm>
            <a:off x="952500" y="2087880"/>
            <a:ext cx="16383000" cy="28575"/>
          </a:xfrm>
          <a:prstGeom prst="rect">
            <a:avLst/>
          </a:prstGeom>
          <a:solidFill>
            <a:srgbClr val="211C14"/>
          </a:solidFill>
          <a:ln/>
        </p:spPr>
      </p:sp>
      <p:sp>
        <p:nvSpPr>
          <p:cNvPr id="5" name="Shape 3"/>
          <p:cNvSpPr/>
          <p:nvPr/>
        </p:nvSpPr>
        <p:spPr>
          <a:xfrm>
            <a:off x="952500" y="2573655"/>
            <a:ext cx="868680" cy="868680"/>
          </a:xfrm>
          <a:prstGeom prst="rect">
            <a:avLst/>
          </a:prstGeom>
          <a:ln w="15240">
            <a:solidFill>
              <a:srgbClr val="211C14"/>
            </a:solidFill>
            <a:prstDash val="solid"/>
          </a:ln>
        </p:spPr>
      </p:sp>
      <p:sp>
        <p:nvSpPr>
          <p:cNvPr id="6" name="Text 4"/>
          <p:cNvSpPr/>
          <p:nvPr/>
        </p:nvSpPr>
        <p:spPr>
          <a:xfrm>
            <a:off x="929640" y="2588895"/>
            <a:ext cx="914400" cy="876300"/>
          </a:xfrm>
          <a:prstGeom prst="rect">
            <a:avLst/>
          </a:prstGeom>
          <a:noFill/>
          <a:ln/>
        </p:spPr>
        <p:txBody>
          <a:bodyPr wrap="square" lIns="25400" tIns="25400" rIns="25400" bIns="25400" rtlCol="0" anchor="ctr">
            <a:normAutofit/>
          </a:bodyPr>
          <a:lstStyle/>
          <a:p>
            <a:pPr algn="ctr" indent="0" marL="0">
              <a:buNone/>
            </a:pPr>
            <a:r>
              <a:rPr lang="en-US" sz="2550" b="1" dirty="0">
                <a:solidFill>
                  <a:srgbClr val="211C14"/>
                </a:solidFill>
                <a:latin typeface="Courier New" pitchFamily="34" charset="0"/>
                <a:ea typeface="Courier New" pitchFamily="34" charset="-122"/>
                <a:cs typeface="Courier New" pitchFamily="34" charset="-120"/>
              </a:rPr>
              <a:t>1</a:t>
            </a:r>
            <a:endParaRPr lang="en-US" sz="2550" dirty="0"/>
          </a:p>
        </p:txBody>
      </p:sp>
      <p:sp>
        <p:nvSpPr>
          <p:cNvPr id="7" name="Shape 5"/>
          <p:cNvSpPr/>
          <p:nvPr/>
        </p:nvSpPr>
        <p:spPr>
          <a:xfrm>
            <a:off x="2049780" y="3358515"/>
            <a:ext cx="15285720" cy="9525"/>
          </a:xfrm>
          <a:prstGeom prst="rect">
            <a:avLst/>
          </a:prstGeom>
          <a:solidFill>
            <a:srgbClr val="CEC4AD"/>
          </a:solidFill>
          <a:ln/>
        </p:spPr>
      </p:sp>
      <p:sp>
        <p:nvSpPr>
          <p:cNvPr id="8" name="Text 6"/>
          <p:cNvSpPr/>
          <p:nvPr/>
        </p:nvSpPr>
        <p:spPr>
          <a:xfrm>
            <a:off x="2049780" y="2821305"/>
            <a:ext cx="15744292" cy="403860"/>
          </a:xfrm>
          <a:prstGeom prst="rect">
            <a:avLst/>
          </a:prstGeom>
          <a:noFill/>
          <a:ln/>
        </p:spPr>
        <p:txBody>
          <a:bodyPr wrap="square" lIns="25400" tIns="25400" rIns="25400" bIns="25400" rtlCol="0" anchor="t">
            <a:normAutofit/>
          </a:bodyPr>
          <a:lstStyle/>
          <a:p>
            <a:pPr algn="l" indent="0" marL="0">
              <a:buNone/>
            </a:pPr>
            <a:r>
              <a:rPr lang="en-US" sz="2175" b="1" dirty="0">
                <a:solidFill>
                  <a:srgbClr val="211C14"/>
                </a:solidFill>
                <a:latin typeface="Courier New" pitchFamily="34" charset="0"/>
                <a:ea typeface="Courier New" pitchFamily="34" charset="-122"/>
                <a:cs typeface="Courier New" pitchFamily="34" charset="-120"/>
              </a:rPr>
              <a:t>MINIT </a:t>
            </a:r>
            <a:pPr algn="l" indent="0" marL="0">
              <a:buNone/>
            </a:pPr>
            <a:r>
              <a:rPr lang="en-US" sz="2175" dirty="0">
                <a:solidFill>
                  <a:srgbClr val="211C14"/>
                </a:solidFill>
                <a:latin typeface="Arial" pitchFamily="34" charset="0"/>
                <a:ea typeface="Arial" pitchFamily="34" charset="-122"/>
                <a:cs typeface="Arial" pitchFamily="34" charset="-120"/>
              </a:rPr>
              <a:t>initializes mass storage: MIB bit table, user table, empty file system</a:t>
            </a:r>
            <a:endParaRPr lang="en-US" sz="2175" dirty="0"/>
          </a:p>
        </p:txBody>
      </p:sp>
      <p:sp>
        <p:nvSpPr>
          <p:cNvPr id="9" name="Shape 7"/>
          <p:cNvSpPr/>
          <p:nvPr/>
        </p:nvSpPr>
        <p:spPr>
          <a:xfrm>
            <a:off x="952500" y="3594735"/>
            <a:ext cx="868680" cy="868680"/>
          </a:xfrm>
          <a:prstGeom prst="rect">
            <a:avLst/>
          </a:prstGeom>
          <a:ln w="15240">
            <a:solidFill>
              <a:srgbClr val="211C14"/>
            </a:solidFill>
            <a:prstDash val="solid"/>
          </a:ln>
        </p:spPr>
      </p:sp>
      <p:sp>
        <p:nvSpPr>
          <p:cNvPr id="10" name="Text 8"/>
          <p:cNvSpPr/>
          <p:nvPr/>
        </p:nvSpPr>
        <p:spPr>
          <a:xfrm>
            <a:off x="929640" y="3609975"/>
            <a:ext cx="914400" cy="876300"/>
          </a:xfrm>
          <a:prstGeom prst="rect">
            <a:avLst/>
          </a:prstGeom>
          <a:noFill/>
          <a:ln/>
        </p:spPr>
        <p:txBody>
          <a:bodyPr wrap="square" lIns="25400" tIns="25400" rIns="25400" bIns="25400" rtlCol="0" anchor="ctr">
            <a:normAutofit/>
          </a:bodyPr>
          <a:lstStyle/>
          <a:p>
            <a:pPr algn="ctr" indent="0" marL="0">
              <a:buNone/>
            </a:pPr>
            <a:r>
              <a:rPr lang="en-US" sz="2550" b="1" dirty="0">
                <a:solidFill>
                  <a:srgbClr val="211C14"/>
                </a:solidFill>
                <a:latin typeface="Courier New" pitchFamily="34" charset="0"/>
                <a:ea typeface="Courier New" pitchFamily="34" charset="-122"/>
                <a:cs typeface="Courier New" pitchFamily="34" charset="-120"/>
              </a:rPr>
              <a:t>2</a:t>
            </a:r>
            <a:endParaRPr lang="en-US" sz="2550" dirty="0"/>
          </a:p>
        </p:txBody>
      </p:sp>
      <p:sp>
        <p:nvSpPr>
          <p:cNvPr id="11" name="Shape 9"/>
          <p:cNvSpPr/>
          <p:nvPr/>
        </p:nvSpPr>
        <p:spPr>
          <a:xfrm>
            <a:off x="2049780" y="4375785"/>
            <a:ext cx="15285720" cy="9525"/>
          </a:xfrm>
          <a:prstGeom prst="rect">
            <a:avLst/>
          </a:prstGeom>
          <a:solidFill>
            <a:srgbClr val="CEC4AD"/>
          </a:solidFill>
          <a:ln/>
        </p:spPr>
      </p:sp>
      <p:sp>
        <p:nvSpPr>
          <p:cNvPr id="12" name="Text 10"/>
          <p:cNvSpPr/>
          <p:nvPr/>
        </p:nvSpPr>
        <p:spPr>
          <a:xfrm>
            <a:off x="2049780" y="3846195"/>
            <a:ext cx="15744292" cy="396240"/>
          </a:xfrm>
          <a:prstGeom prst="rect">
            <a:avLst/>
          </a:prstGeom>
          <a:noFill/>
          <a:ln/>
        </p:spPr>
        <p:txBody>
          <a:bodyPr wrap="square" lIns="25400" tIns="25400" rIns="25400" bIns="25400" rtlCol="0" anchor="t">
            <a:normAutofit/>
          </a:bodyPr>
          <a:lstStyle/>
          <a:p>
            <a:pPr algn="l" indent="0" marL="0">
              <a:buNone/>
            </a:pPr>
            <a:r>
              <a:rPr lang="en-US" sz="2175" dirty="0">
                <a:solidFill>
                  <a:srgbClr val="211C14"/>
                </a:solidFill>
                <a:latin typeface="Arial" pitchFamily="34" charset="0"/>
                <a:ea typeface="Arial" pitchFamily="34" charset="-122"/>
                <a:cs typeface="Arial" pitchFamily="34" charset="-120"/>
              </a:rPr>
              <a:t>Run ASSYSA under FMAC — TSS is now </a:t>
            </a:r>
            <a:pPr algn="l" indent="0" marL="0">
              <a:buNone/>
            </a:pPr>
            <a:r>
              <a:rPr lang="en-US" sz="2175" b="1" dirty="0">
                <a:solidFill>
                  <a:srgbClr val="211C14"/>
                </a:solidFill>
                <a:latin typeface="Arial" pitchFamily="34" charset="0"/>
                <a:ea typeface="Arial" pitchFamily="34" charset="-122"/>
                <a:cs typeface="Arial" pitchFamily="34" charset="-120"/>
              </a:rPr>
              <a:t>assembled in memory</a:t>
            </a:r>
            <a:pPr algn="l" indent="0" marL="0">
              <a:buNone/>
            </a:pPr>
            <a:r>
              <a:rPr lang="en-US" sz="2175" dirty="0">
                <a:solidFill>
                  <a:srgbClr val="211C14"/>
                </a:solidFill>
                <a:latin typeface="Arial" pitchFamily="34" charset="0"/>
                <a:ea typeface="Arial" pitchFamily="34" charset="-122"/>
                <a:cs typeface="Arial" pitchFamily="34" charset="-120"/>
              </a:rPr>
              <a:t>, overlays already on disk</a:t>
            </a:r>
            <a:endParaRPr lang="en-US" sz="2175" dirty="0"/>
          </a:p>
        </p:txBody>
      </p:sp>
      <p:sp>
        <p:nvSpPr>
          <p:cNvPr id="13" name="Shape 11"/>
          <p:cNvSpPr/>
          <p:nvPr/>
        </p:nvSpPr>
        <p:spPr>
          <a:xfrm>
            <a:off x="952500" y="4714875"/>
            <a:ext cx="868680" cy="868680"/>
          </a:xfrm>
          <a:prstGeom prst="rect">
            <a:avLst/>
          </a:prstGeom>
          <a:ln w="15240">
            <a:solidFill>
              <a:srgbClr val="211C14"/>
            </a:solidFill>
            <a:prstDash val="solid"/>
          </a:ln>
        </p:spPr>
      </p:sp>
      <p:sp>
        <p:nvSpPr>
          <p:cNvPr id="14" name="Text 12"/>
          <p:cNvSpPr/>
          <p:nvPr/>
        </p:nvSpPr>
        <p:spPr>
          <a:xfrm>
            <a:off x="929640" y="4730115"/>
            <a:ext cx="914400" cy="876300"/>
          </a:xfrm>
          <a:prstGeom prst="rect">
            <a:avLst/>
          </a:prstGeom>
          <a:noFill/>
          <a:ln/>
        </p:spPr>
        <p:txBody>
          <a:bodyPr wrap="square" lIns="25400" tIns="25400" rIns="25400" bIns="25400" rtlCol="0" anchor="ctr">
            <a:normAutofit/>
          </a:bodyPr>
          <a:lstStyle/>
          <a:p>
            <a:pPr algn="ctr" indent="0" marL="0">
              <a:buNone/>
            </a:pPr>
            <a:r>
              <a:rPr lang="en-US" sz="2550" b="1" dirty="0">
                <a:solidFill>
                  <a:srgbClr val="211C14"/>
                </a:solidFill>
                <a:latin typeface="Courier New" pitchFamily="34" charset="0"/>
                <a:ea typeface="Courier New" pitchFamily="34" charset="-122"/>
                <a:cs typeface="Courier New" pitchFamily="34" charset="-120"/>
              </a:rPr>
              <a:t>3</a:t>
            </a:r>
            <a:endParaRPr lang="en-US" sz="2550" dirty="0"/>
          </a:p>
        </p:txBody>
      </p:sp>
      <p:sp>
        <p:nvSpPr>
          <p:cNvPr id="15" name="Shape 13"/>
          <p:cNvSpPr/>
          <p:nvPr/>
        </p:nvSpPr>
        <p:spPr>
          <a:xfrm>
            <a:off x="2049780" y="5674995"/>
            <a:ext cx="15285720" cy="9525"/>
          </a:xfrm>
          <a:prstGeom prst="rect">
            <a:avLst/>
          </a:prstGeom>
          <a:solidFill>
            <a:srgbClr val="CEC4AD"/>
          </a:solidFill>
          <a:ln/>
        </p:spPr>
      </p:sp>
      <p:sp>
        <p:nvSpPr>
          <p:cNvPr id="16" name="Text 14"/>
          <p:cNvSpPr/>
          <p:nvPr/>
        </p:nvSpPr>
        <p:spPr>
          <a:xfrm>
            <a:off x="2049780" y="4787265"/>
            <a:ext cx="15744292" cy="754380"/>
          </a:xfrm>
          <a:prstGeom prst="rect">
            <a:avLst/>
          </a:prstGeom>
          <a:noFill/>
          <a:ln/>
        </p:spPr>
        <p:txBody>
          <a:bodyPr wrap="square" lIns="25400" tIns="25400" rIns="25400" bIns="25400" rtlCol="0" anchor="t">
            <a:normAutofit/>
          </a:bodyPr>
          <a:lstStyle/>
          <a:p>
            <a:pPr algn="l" indent="0" marL="0">
              <a:buNone/>
            </a:pPr>
            <a:r>
              <a:rPr lang="en-US" sz="2175" dirty="0">
                <a:solidFill>
                  <a:srgbClr val="211C14"/>
                </a:solidFill>
                <a:latin typeface="Arial" pitchFamily="34" charset="0"/>
                <a:ea typeface="Arial" pitchFamily="34" charset="-122"/>
                <a:cs typeface="Arial" pitchFamily="34" charset="-120"/>
              </a:rPr>
              <a:t>Execute location </a:t>
            </a:r>
            <a:pPr algn="l" indent="0" marL="0">
              <a:buNone/>
            </a:pPr>
            <a:r>
              <a:rPr lang="en-US" sz="2175" dirty="0">
                <a:solidFill>
                  <a:srgbClr val="211C14"/>
                </a:solidFill>
                <a:latin typeface="Courier New" pitchFamily="34" charset="0"/>
                <a:ea typeface="Courier New" pitchFamily="34" charset="-122"/>
                <a:cs typeface="Courier New" pitchFamily="34" charset="-120"/>
              </a:rPr>
              <a:t>7</a:t>
            </a:r>
            <a:pPr algn="l" indent="0" marL="0">
              <a:buNone/>
            </a:pPr>
            <a:r>
              <a:rPr lang="en-US" sz="2175" dirty="0">
                <a:solidFill>
                  <a:srgbClr val="211C14"/>
                </a:solidFill>
                <a:latin typeface="Arial" pitchFamily="34" charset="0"/>
                <a:ea typeface="Arial" pitchFamily="34" charset="-122"/>
                <a:cs typeface="Arial" pitchFamily="34" charset="-120"/>
              </a:rPr>
              <a:t>: </a:t>
            </a:r>
            <a:pPr algn="l" indent="0" marL="0">
              <a:buNone/>
            </a:pPr>
            <a:r>
              <a:rPr lang="en-US" sz="1950" dirty="0">
                <a:solidFill>
                  <a:srgbClr val="211C14"/>
                </a:solidFill>
                <a:latin typeface="Courier New" pitchFamily="34" charset="0"/>
                <a:ea typeface="Courier New" pitchFamily="34" charset="-122"/>
                <a:cs typeface="Courier New" pitchFamily="34" charset="-120"/>
              </a:rPr>
              <a:t>LDT *+3; JMP I *+1; SYSSV; CORLD </a:t>
            </a:r>
            <a:pPr algn="l" indent="0" marL="0">
              <a:buNone/>
            </a:pPr>
            <a:r>
              <a:rPr lang="en-US" sz="2175" dirty="0">
                <a:solidFill>
                  <a:srgbClr val="211C14"/>
                </a:solidFill>
                <a:latin typeface="Arial" pitchFamily="34" charset="0"/>
                <a:ea typeface="Arial" pitchFamily="34" charset="-122"/>
                <a:cs typeface="Arial" pitchFamily="34" charset="-120"/>
              </a:rPr>
              <a:t>— </a:t>
            </a:r>
            <a:pPr algn="l" indent="0" marL="0">
              <a:buNone/>
            </a:pPr>
            <a:r>
              <a:rPr lang="en-US" sz="2175" b="1" dirty="0">
                <a:solidFill>
                  <a:srgbClr val="211C14"/>
                </a:solidFill>
                <a:latin typeface="Arial" pitchFamily="34" charset="0"/>
                <a:ea typeface="Arial" pitchFamily="34" charset="-122"/>
                <a:cs typeface="Arial" pitchFamily="34" charset="-120"/>
              </a:rPr>
              <a:t>SYSSV writes 32K words </a:t>
            </a:r>
            <a:pPr algn="l" indent="0" marL="0">
              <a:buNone/>
            </a:pPr>
            <a:r>
              <a:rPr lang="en-US" sz="2175" dirty="0">
                <a:solidFill>
                  <a:srgbClr val="211C14"/>
                </a:solidFill>
                <a:latin typeface="Arial" pitchFamily="34" charset="0"/>
                <a:ea typeface="Arial" pitchFamily="34" charset="-122"/>
                <a:cs typeface="Arial" pitchFamily="34" charset="-120"/>
              </a:rPr>
              <a:t>(100₈ × 400₈-word blocks) to the CORLD coreload area, then falls into INIT</a:t>
            </a:r>
            <a:endParaRPr lang="en-US" sz="2175" dirty="0"/>
          </a:p>
        </p:txBody>
      </p:sp>
      <p:sp>
        <p:nvSpPr>
          <p:cNvPr id="17" name="Shape 15"/>
          <p:cNvSpPr/>
          <p:nvPr/>
        </p:nvSpPr>
        <p:spPr>
          <a:xfrm>
            <a:off x="952500" y="5835015"/>
            <a:ext cx="868680" cy="868680"/>
          </a:xfrm>
          <a:prstGeom prst="rect">
            <a:avLst/>
          </a:prstGeom>
          <a:ln w="15240">
            <a:solidFill>
              <a:srgbClr val="211C14"/>
            </a:solidFill>
            <a:prstDash val="solid"/>
          </a:ln>
        </p:spPr>
      </p:sp>
      <p:sp>
        <p:nvSpPr>
          <p:cNvPr id="18" name="Text 16"/>
          <p:cNvSpPr/>
          <p:nvPr/>
        </p:nvSpPr>
        <p:spPr>
          <a:xfrm>
            <a:off x="929640" y="5850255"/>
            <a:ext cx="914400" cy="876300"/>
          </a:xfrm>
          <a:prstGeom prst="rect">
            <a:avLst/>
          </a:prstGeom>
          <a:noFill/>
          <a:ln/>
        </p:spPr>
        <p:txBody>
          <a:bodyPr wrap="square" lIns="25400" tIns="25400" rIns="25400" bIns="25400" rtlCol="0" anchor="ctr">
            <a:normAutofit/>
          </a:bodyPr>
          <a:lstStyle/>
          <a:p>
            <a:pPr algn="ctr" indent="0" marL="0">
              <a:buNone/>
            </a:pPr>
            <a:r>
              <a:rPr lang="en-US" sz="2550" b="1" dirty="0">
                <a:solidFill>
                  <a:srgbClr val="211C14"/>
                </a:solidFill>
                <a:latin typeface="Courier New" pitchFamily="34" charset="0"/>
                <a:ea typeface="Courier New" pitchFamily="34" charset="-122"/>
                <a:cs typeface="Courier New" pitchFamily="34" charset="-120"/>
              </a:rPr>
              <a:t>4</a:t>
            </a:r>
            <a:endParaRPr lang="en-US" sz="2550" dirty="0"/>
          </a:p>
        </p:txBody>
      </p:sp>
      <p:sp>
        <p:nvSpPr>
          <p:cNvPr id="19" name="Shape 17"/>
          <p:cNvSpPr/>
          <p:nvPr/>
        </p:nvSpPr>
        <p:spPr>
          <a:xfrm>
            <a:off x="2049780" y="6619875"/>
            <a:ext cx="15285720" cy="9525"/>
          </a:xfrm>
          <a:prstGeom prst="rect">
            <a:avLst/>
          </a:prstGeom>
          <a:solidFill>
            <a:srgbClr val="CEC4AD"/>
          </a:solidFill>
          <a:ln/>
        </p:spPr>
      </p:sp>
      <p:sp>
        <p:nvSpPr>
          <p:cNvPr id="20" name="Text 18"/>
          <p:cNvSpPr/>
          <p:nvPr/>
        </p:nvSpPr>
        <p:spPr>
          <a:xfrm>
            <a:off x="2049780" y="6082665"/>
            <a:ext cx="15744292" cy="403860"/>
          </a:xfrm>
          <a:prstGeom prst="rect">
            <a:avLst/>
          </a:prstGeom>
          <a:noFill/>
          <a:ln/>
        </p:spPr>
        <p:txBody>
          <a:bodyPr wrap="square" lIns="25400" tIns="25400" rIns="25400" bIns="25400" rtlCol="0" anchor="t">
            <a:normAutofit/>
          </a:bodyPr>
          <a:lstStyle/>
          <a:p>
            <a:pPr algn="l" indent="0" marL="0">
              <a:buNone/>
            </a:pPr>
            <a:r>
              <a:rPr lang="en-US" sz="2175" b="1" dirty="0">
                <a:solidFill>
                  <a:srgbClr val="211C14"/>
                </a:solidFill>
                <a:latin typeface="Courier New" pitchFamily="34" charset="0"/>
                <a:ea typeface="Courier New" pitchFamily="34" charset="-122"/>
                <a:cs typeface="Courier New" pitchFamily="34" charset="-120"/>
              </a:rPr>
              <a:t>INIT</a:t>
            </a:r>
            <a:pPr algn="l" indent="0" marL="0">
              <a:buNone/>
            </a:pPr>
            <a:r>
              <a:rPr lang="en-US" sz="2175" dirty="0">
                <a:solidFill>
                  <a:srgbClr val="211C14"/>
                </a:solidFill>
                <a:latin typeface="Arial" pitchFamily="34" charset="0"/>
                <a:ea typeface="Arial" pitchFamily="34" charset="-122"/>
                <a:cs typeface="Arial" pitchFamily="34" charset="-120"/>
              </a:rPr>
              <a:t>: interrupt vectors, paging (IPGTB), buffers, links, FINIT file system, enable levels — idle loop waits for a keypress</a:t>
            </a:r>
            <a:endParaRPr lang="en-US" sz="2175" dirty="0"/>
          </a:p>
        </p:txBody>
      </p:sp>
      <p:sp>
        <p:nvSpPr>
          <p:cNvPr id="21" name="Shape 19"/>
          <p:cNvSpPr/>
          <p:nvPr/>
        </p:nvSpPr>
        <p:spPr>
          <a:xfrm>
            <a:off x="952500" y="6951345"/>
            <a:ext cx="868680" cy="868680"/>
          </a:xfrm>
          <a:prstGeom prst="rect">
            <a:avLst/>
          </a:prstGeom>
          <a:ln w="15240">
            <a:solidFill>
              <a:srgbClr val="C8501E"/>
            </a:solidFill>
            <a:prstDash val="solid"/>
          </a:ln>
        </p:spPr>
      </p:sp>
      <p:sp>
        <p:nvSpPr>
          <p:cNvPr id="22" name="Text 20"/>
          <p:cNvSpPr/>
          <p:nvPr/>
        </p:nvSpPr>
        <p:spPr>
          <a:xfrm>
            <a:off x="929640" y="6966585"/>
            <a:ext cx="914400" cy="876300"/>
          </a:xfrm>
          <a:prstGeom prst="rect">
            <a:avLst/>
          </a:prstGeom>
          <a:noFill/>
          <a:ln/>
        </p:spPr>
        <p:txBody>
          <a:bodyPr wrap="square" lIns="25400" tIns="25400" rIns="25400" bIns="25400" rtlCol="0" anchor="ctr">
            <a:normAutofit/>
          </a:bodyPr>
          <a:lstStyle/>
          <a:p>
            <a:pPr algn="ctr" indent="0" marL="0">
              <a:buNone/>
            </a:pPr>
            <a:r>
              <a:rPr lang="en-US" sz="2550" b="1" dirty="0">
                <a:solidFill>
                  <a:srgbClr val="A03E14"/>
                </a:solidFill>
                <a:latin typeface="Courier New" pitchFamily="34" charset="0"/>
                <a:ea typeface="Courier New" pitchFamily="34" charset="-122"/>
                <a:cs typeface="Courier New" pitchFamily="34" charset="-120"/>
              </a:rPr>
              <a:t>!</a:t>
            </a:r>
            <a:endParaRPr lang="en-US" sz="2550" dirty="0"/>
          </a:p>
        </p:txBody>
      </p:sp>
      <p:sp>
        <p:nvSpPr>
          <p:cNvPr id="23" name="Text 21"/>
          <p:cNvSpPr/>
          <p:nvPr/>
        </p:nvSpPr>
        <p:spPr>
          <a:xfrm>
            <a:off x="2049780" y="7027545"/>
            <a:ext cx="15744292" cy="754380"/>
          </a:xfrm>
          <a:prstGeom prst="rect">
            <a:avLst/>
          </a:prstGeom>
          <a:noFill/>
          <a:ln/>
        </p:spPr>
        <p:txBody>
          <a:bodyPr wrap="square" lIns="25400" tIns="25400" rIns="25400" bIns="25400" rtlCol="0" anchor="t">
            <a:normAutofit/>
          </a:bodyPr>
          <a:lstStyle/>
          <a:p>
            <a:pPr algn="l" indent="0" marL="0">
              <a:buNone/>
            </a:pPr>
            <a:r>
              <a:rPr lang="en-US" sz="2175" dirty="0">
                <a:solidFill>
                  <a:srgbClr val="211C14"/>
                </a:solidFill>
                <a:latin typeface="Arial" pitchFamily="34" charset="0"/>
                <a:ea typeface="Arial" pitchFamily="34" charset="-122"/>
                <a:cs typeface="Arial" pitchFamily="34" charset="-120"/>
              </a:rPr>
              <a:t>TSS </a:t>
            </a:r>
            <a:pPr algn="l" indent="0" marL="0">
              <a:buNone/>
            </a:pPr>
            <a:r>
              <a:rPr lang="en-US" sz="2175" b="1" dirty="0">
                <a:solidFill>
                  <a:srgbClr val="211C14"/>
                </a:solidFill>
                <a:latin typeface="Arial" pitchFamily="34" charset="0"/>
                <a:ea typeface="Arial" pitchFamily="34" charset="-122"/>
                <a:cs typeface="Arial" pitchFamily="34" charset="-120"/>
              </a:rPr>
              <a:t>replaces </a:t>
            </a:r>
            <a:pPr algn="l" indent="0" marL="0">
              <a:buNone/>
            </a:pPr>
            <a:r>
              <a:rPr lang="en-US" sz="2175" dirty="0">
                <a:solidFill>
                  <a:srgbClr val="211C14"/>
                </a:solidFill>
                <a:latin typeface="Arial" pitchFamily="34" charset="0"/>
                <a:ea typeface="Arial" pitchFamily="34" charset="-122"/>
                <a:cs typeface="Arial" pitchFamily="34" charset="-120"/>
              </a:rPr>
              <a:t>the machine's OS — on an emulator, boot the saved coreload instead of SINTRAN; the master terminal logs on as </a:t>
            </a:r>
            <a:pPr algn="l" indent="0" marL="0">
              <a:buNone/>
            </a:pPr>
            <a:r>
              <a:rPr lang="en-US" sz="2175" dirty="0">
                <a:solidFill>
                  <a:srgbClr val="211C14"/>
                </a:solidFill>
                <a:latin typeface="Courier New" pitchFamily="34" charset="0"/>
                <a:ea typeface="Courier New" pitchFamily="34" charset="-122"/>
                <a:cs typeface="Courier New" pitchFamily="34" charset="-120"/>
              </a:rPr>
              <a:t>SINIT </a:t>
            </a:r>
            <a:pPr algn="l" indent="0" marL="0">
              <a:buNone/>
            </a:pPr>
            <a:r>
              <a:rPr lang="en-US" sz="2175" dirty="0">
                <a:solidFill>
                  <a:srgbClr val="211C14"/>
                </a:solidFill>
                <a:latin typeface="Arial" pitchFamily="34" charset="0"/>
                <a:ea typeface="Arial" pitchFamily="34" charset="-122"/>
                <a:cs typeface="Arial" pitchFamily="34" charset="-120"/>
              </a:rPr>
              <a:t>when OPR = 131313₈</a:t>
            </a:r>
            <a:endParaRPr lang="en-US" sz="2175"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23201A"/>
        </a:solidFill>
      </p:bgPr>
    </p:bg>
    <p:spTree>
      <p:nvGrpSpPr>
        <p:cNvPr id="1" name=""/>
        <p:cNvGrpSpPr/>
        <p:nvPr/>
      </p:nvGrpSpPr>
      <p:grpSpPr>
        <a:xfrm>
          <a:off x="0" y="0"/>
          <a:ext cx="0" cy="0"/>
          <a:chOff x="0" y="0"/>
          <a:chExt cx="0" cy="0"/>
        </a:xfrm>
      </p:grpSpPr>
      <p:sp>
        <p:nvSpPr>
          <p:cNvPr id="2" name="Text 0"/>
          <p:cNvSpPr/>
          <p:nvPr/>
        </p:nvSpPr>
        <p:spPr>
          <a:xfrm>
            <a:off x="952500" y="857250"/>
            <a:ext cx="18021300" cy="33528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E8935A"/>
                </a:solidFill>
                <a:latin typeface="Courier New" pitchFamily="34" charset="0"/>
                <a:ea typeface="Courier New" pitchFamily="34" charset="-122"/>
                <a:cs typeface="Courier New" pitchFamily="34" charset="-120"/>
              </a:rPr>
              <a:t>CLOSING</a:t>
            </a:r>
            <a:endParaRPr lang="en-US" sz="1800" dirty="0"/>
          </a:p>
        </p:txBody>
      </p:sp>
      <p:sp>
        <p:nvSpPr>
          <p:cNvPr id="3" name="Text 1"/>
          <p:cNvSpPr/>
          <p:nvPr/>
        </p:nvSpPr>
        <p:spPr>
          <a:xfrm>
            <a:off x="952500" y="1306830"/>
            <a:ext cx="18021300" cy="666750"/>
          </a:xfrm>
          <a:prstGeom prst="rect">
            <a:avLst/>
          </a:prstGeom>
          <a:noFill/>
          <a:ln/>
        </p:spPr>
        <p:txBody>
          <a:bodyPr wrap="square" lIns="25400" tIns="25400" rIns="25400" bIns="25400" rtlCol="0" anchor="t">
            <a:normAutofit/>
          </a:bodyPr>
          <a:lstStyle/>
          <a:p>
            <a:pPr algn="l" indent="0" marL="0">
              <a:lnSpc>
                <a:spcPct val="97059"/>
              </a:lnSpc>
              <a:buNone/>
            </a:pPr>
            <a:r>
              <a:rPr lang="en-US" sz="4500" b="1" dirty="0">
                <a:solidFill>
                  <a:srgbClr val="ECE5D3"/>
                </a:solidFill>
                <a:latin typeface="Courier New" pitchFamily="34" charset="0"/>
                <a:ea typeface="Courier New" pitchFamily="34" charset="-122"/>
                <a:cs typeface="Courier New" pitchFamily="34" charset="-120"/>
              </a:rPr>
              <a:t>Open Questions &amp; Next Steps</a:t>
            </a:r>
            <a:endParaRPr lang="en-US" sz="4500" dirty="0"/>
          </a:p>
        </p:txBody>
      </p:sp>
      <p:sp>
        <p:nvSpPr>
          <p:cNvPr id="4" name="Shape 2"/>
          <p:cNvSpPr/>
          <p:nvPr/>
        </p:nvSpPr>
        <p:spPr>
          <a:xfrm>
            <a:off x="952500" y="2087880"/>
            <a:ext cx="16383000" cy="28575"/>
          </a:xfrm>
          <a:prstGeom prst="rect">
            <a:avLst/>
          </a:prstGeom>
          <a:solidFill>
            <a:srgbClr val="C8501E"/>
          </a:solidFill>
          <a:ln/>
        </p:spPr>
      </p:sp>
      <p:sp>
        <p:nvSpPr>
          <p:cNvPr id="5" name="Text 3"/>
          <p:cNvSpPr/>
          <p:nvPr/>
        </p:nvSpPr>
        <p:spPr>
          <a:xfrm>
            <a:off x="952500" y="2611755"/>
            <a:ext cx="8591550" cy="358140"/>
          </a:xfrm>
          <a:prstGeom prst="rect">
            <a:avLst/>
          </a:prstGeom>
          <a:noFill/>
          <a:ln/>
        </p:spPr>
        <p:txBody>
          <a:bodyPr wrap="square" lIns="25400" tIns="25400" rIns="25400" bIns="25400" rtlCol="0" anchor="t">
            <a:normAutofit/>
          </a:bodyPr>
          <a:lstStyle/>
          <a:p>
            <a:pPr algn="l" indent="0" marL="0">
              <a:buNone/>
            </a:pPr>
            <a:r>
              <a:rPr lang="en-US" sz="1950" spc="273" kern="0" dirty="0">
                <a:solidFill>
                  <a:srgbClr val="9A8F78"/>
                </a:solidFill>
                <a:latin typeface="Courier New" pitchFamily="34" charset="0"/>
                <a:ea typeface="Courier New" pitchFamily="34" charset="-122"/>
                <a:cs typeface="Courier New" pitchFamily="34" charset="-120"/>
              </a:rPr>
              <a:t>UNKNOWN</a:t>
            </a:r>
            <a:endParaRPr lang="en-US" sz="1950" dirty="0"/>
          </a:p>
        </p:txBody>
      </p:sp>
      <p:sp>
        <p:nvSpPr>
          <p:cNvPr id="6" name="Text 4"/>
          <p:cNvSpPr/>
          <p:nvPr/>
        </p:nvSpPr>
        <p:spPr>
          <a:xfrm>
            <a:off x="952500" y="3160395"/>
            <a:ext cx="8591550" cy="445770"/>
          </a:xfrm>
          <a:prstGeom prst="rect">
            <a:avLst/>
          </a:prstGeom>
          <a:noFill/>
          <a:ln/>
        </p:spPr>
        <p:txBody>
          <a:bodyPr wrap="square" lIns="25400" tIns="25400" rIns="25400" bIns="25400" rtlCol="0" anchor="t">
            <a:normAutofit/>
          </a:bodyPr>
          <a:lstStyle/>
          <a:p>
            <a:pPr algn="l" indent="0" marL="0">
              <a:lnSpc>
                <a:spcPct val="131250"/>
              </a:lnSpc>
              <a:buNone/>
            </a:pPr>
            <a:r>
              <a:rPr lang="en-US" sz="2100" dirty="0">
                <a:solidFill>
                  <a:srgbClr val="D8CFB6"/>
                </a:solidFill>
                <a:latin typeface="Arial" pitchFamily="34" charset="0"/>
                <a:ea typeface="Arial" pitchFamily="34" charset="-122"/>
                <a:cs typeface="Arial" pitchFamily="34" charset="-120"/>
              </a:rPr>
              <a:t>• No </a:t>
            </a:r>
            <a:pPr algn="l" indent="0" marL="0">
              <a:lnSpc>
                <a:spcPct val="131250"/>
              </a:lnSpc>
              <a:buNone/>
            </a:pPr>
            <a:r>
              <a:rPr lang="en-US" sz="2100" b="1" dirty="0">
                <a:solidFill>
                  <a:srgbClr val="D8CFB6"/>
                </a:solidFill>
                <a:latin typeface="Arial" pitchFamily="34" charset="0"/>
                <a:ea typeface="Arial" pitchFamily="34" charset="-122"/>
                <a:cs typeface="Arial" pitchFamily="34" charset="-120"/>
              </a:rPr>
              <a:t>MAC / FMAC binary </a:t>
            </a:r>
            <a:pPr algn="l" indent="0" marL="0">
              <a:lnSpc>
                <a:spcPct val="131250"/>
              </a:lnSpc>
              <a:buNone/>
            </a:pPr>
            <a:r>
              <a:rPr lang="en-US" sz="2100" dirty="0">
                <a:solidFill>
                  <a:srgbClr val="D8CFB6"/>
                </a:solidFill>
                <a:latin typeface="Arial" pitchFamily="34" charset="0"/>
                <a:ea typeface="Arial" pitchFamily="34" charset="-122"/>
                <a:cs typeface="Arial" pitchFamily="34" charset="-120"/>
              </a:rPr>
              <a:t>in the archive — the one missing tool</a:t>
            </a:r>
            <a:endParaRPr lang="en-US" sz="2100" dirty="0"/>
          </a:p>
        </p:txBody>
      </p:sp>
      <p:sp>
        <p:nvSpPr>
          <p:cNvPr id="7" name="Text 5"/>
          <p:cNvSpPr/>
          <p:nvPr/>
        </p:nvSpPr>
        <p:spPr>
          <a:xfrm>
            <a:off x="952500" y="3739515"/>
            <a:ext cx="8591550" cy="438150"/>
          </a:xfrm>
          <a:prstGeom prst="rect">
            <a:avLst/>
          </a:prstGeom>
          <a:noFill/>
          <a:ln/>
        </p:spPr>
        <p:txBody>
          <a:bodyPr wrap="square" lIns="25400" tIns="25400" rIns="25400" bIns="25400" rtlCol="0" anchor="t">
            <a:normAutofit/>
          </a:bodyPr>
          <a:lstStyle/>
          <a:p>
            <a:pPr algn="l" indent="0" marL="0">
              <a:lnSpc>
                <a:spcPct val="131250"/>
              </a:lnSpc>
              <a:buNone/>
            </a:pPr>
            <a:r>
              <a:rPr lang="en-US" sz="2100" dirty="0">
                <a:solidFill>
                  <a:srgbClr val="D8CFB6"/>
                </a:solidFill>
                <a:latin typeface="Arial" pitchFamily="34" charset="0"/>
                <a:ea typeface="Arial" pitchFamily="34" charset="-122"/>
                <a:cs typeface="Arial" pitchFamily="34" charset="-120"/>
              </a:rPr>
              <a:t>• </a:t>
            </a:r>
            <a:pPr algn="l" indent="0" marL="0">
              <a:lnSpc>
                <a:spcPct val="131250"/>
              </a:lnSpc>
              <a:buNone/>
            </a:pPr>
            <a:r>
              <a:rPr lang="en-US" sz="2100" dirty="0">
                <a:solidFill>
                  <a:srgbClr val="D8CFB6"/>
                </a:solidFill>
                <a:latin typeface="Courier New" pitchFamily="34" charset="0"/>
                <a:ea typeface="Courier New" pitchFamily="34" charset="-122"/>
                <a:cs typeface="Courier New" pitchFamily="34" charset="-120"/>
              </a:rPr>
              <a:t>*: ? )9TSS </a:t>
            </a:r>
            <a:pPr algn="l" indent="0" marL="0">
              <a:lnSpc>
                <a:spcPct val="131250"/>
              </a:lnSpc>
              <a:buNone/>
            </a:pPr>
            <a:r>
              <a:rPr lang="en-US" sz="2100" dirty="0">
                <a:solidFill>
                  <a:srgbClr val="D8CFB6"/>
                </a:solidFill>
                <a:latin typeface="Arial" pitchFamily="34" charset="0"/>
                <a:ea typeface="Arial" pitchFamily="34" charset="-122"/>
                <a:cs typeface="Arial" pitchFamily="34" charset="-120"/>
              </a:rPr>
              <a:t>at the end of ASSYSA — not in ND-60.096.01</a:t>
            </a:r>
            <a:endParaRPr lang="en-US" sz="2100" dirty="0"/>
          </a:p>
        </p:txBody>
      </p:sp>
      <p:sp>
        <p:nvSpPr>
          <p:cNvPr id="8" name="Text 6"/>
          <p:cNvSpPr/>
          <p:nvPr/>
        </p:nvSpPr>
        <p:spPr>
          <a:xfrm>
            <a:off x="952500" y="4311015"/>
            <a:ext cx="8044815" cy="838200"/>
          </a:xfrm>
          <a:prstGeom prst="rect">
            <a:avLst/>
          </a:prstGeom>
          <a:noFill/>
          <a:ln/>
        </p:spPr>
        <p:txBody>
          <a:bodyPr wrap="square" lIns="25400" tIns="25400" rIns="25400" bIns="25400" rtlCol="0" anchor="t">
            <a:normAutofit/>
          </a:bodyPr>
          <a:lstStyle/>
          <a:p>
            <a:pPr algn="l" indent="0" marL="0">
              <a:lnSpc>
                <a:spcPct val="131250"/>
              </a:lnSpc>
              <a:buNone/>
            </a:pPr>
            <a:r>
              <a:rPr lang="en-US" sz="2100" dirty="0">
                <a:solidFill>
                  <a:srgbClr val="D8CFB6"/>
                </a:solidFill>
                <a:latin typeface="Arial" pitchFamily="34" charset="0"/>
                <a:ea typeface="Arial" pitchFamily="34" charset="-122"/>
                <a:cs typeface="Arial" pitchFamily="34" charset="-120"/>
              </a:rPr>
              <a:t>• Drum status bits beyond DVA / ERR — controller manual needed</a:t>
            </a:r>
            <a:endParaRPr lang="en-US" sz="2100" dirty="0"/>
          </a:p>
        </p:txBody>
      </p:sp>
      <p:sp>
        <p:nvSpPr>
          <p:cNvPr id="9" name="Text 7"/>
          <p:cNvSpPr/>
          <p:nvPr/>
        </p:nvSpPr>
        <p:spPr>
          <a:xfrm>
            <a:off x="952500" y="5282565"/>
            <a:ext cx="8044815" cy="845820"/>
          </a:xfrm>
          <a:prstGeom prst="rect">
            <a:avLst/>
          </a:prstGeom>
          <a:noFill/>
          <a:ln/>
        </p:spPr>
        <p:txBody>
          <a:bodyPr wrap="square" lIns="25400" tIns="25400" rIns="25400" bIns="25400" rtlCol="0" anchor="t">
            <a:normAutofit/>
          </a:bodyPr>
          <a:lstStyle/>
          <a:p>
            <a:pPr algn="l" indent="0" marL="0">
              <a:lnSpc>
                <a:spcPct val="131250"/>
              </a:lnSpc>
              <a:buNone/>
            </a:pPr>
            <a:r>
              <a:rPr lang="en-US" sz="2100" dirty="0">
                <a:solidFill>
                  <a:srgbClr val="D8CFB6"/>
                </a:solidFill>
                <a:latin typeface="Arial" pitchFamily="34" charset="0"/>
                <a:ea typeface="Arial" pitchFamily="34" charset="-122"/>
                <a:cs typeface="Arial" pitchFamily="34" charset="-120"/>
              </a:rPr>
              <a:t>• XDRUM is a self-described </a:t>
            </a:r>
            <a:pPr algn="l" indent="0" marL="0">
              <a:lnSpc>
                <a:spcPct val="131250"/>
              </a:lnSpc>
              <a:buNone/>
            </a:pPr>
            <a:r>
              <a:rPr lang="en-US" sz="2100" b="1" dirty="0">
                <a:solidFill>
                  <a:srgbClr val="D8CFB6"/>
                </a:solidFill>
                <a:latin typeface="Arial" pitchFamily="34" charset="0"/>
                <a:ea typeface="Arial" pitchFamily="34" charset="-122"/>
                <a:cs typeface="Arial" pitchFamily="34" charset="-120"/>
              </a:rPr>
              <a:t>“1. approximation” </a:t>
            </a:r>
            <a:pPr algn="l" indent="0" marL="0">
              <a:lnSpc>
                <a:spcPct val="131250"/>
              </a:lnSpc>
              <a:buNone/>
            </a:pPr>
            <a:r>
              <a:rPr lang="en-US" sz="2100" dirty="0">
                <a:solidFill>
                  <a:srgbClr val="D8CFB6"/>
                </a:solidFill>
                <a:latin typeface="Arial" pitchFamily="34" charset="0"/>
                <a:ea typeface="Arial" pitchFamily="34" charset="-122"/>
                <a:cs typeface="Arial" pitchFamily="34" charset="-120"/>
              </a:rPr>
              <a:t>— review before trusting</a:t>
            </a:r>
            <a:endParaRPr lang="en-US" sz="2100" dirty="0"/>
          </a:p>
        </p:txBody>
      </p:sp>
      <p:sp>
        <p:nvSpPr>
          <p:cNvPr id="10" name="Text 8"/>
          <p:cNvSpPr/>
          <p:nvPr/>
        </p:nvSpPr>
        <p:spPr>
          <a:xfrm>
            <a:off x="9525000" y="2611755"/>
            <a:ext cx="8591550" cy="358140"/>
          </a:xfrm>
          <a:prstGeom prst="rect">
            <a:avLst/>
          </a:prstGeom>
          <a:noFill/>
          <a:ln/>
        </p:spPr>
        <p:txBody>
          <a:bodyPr wrap="square" lIns="25400" tIns="25400" rIns="25400" bIns="25400" rtlCol="0" anchor="t">
            <a:normAutofit/>
          </a:bodyPr>
          <a:lstStyle/>
          <a:p>
            <a:pPr algn="l" indent="0" marL="0">
              <a:buNone/>
            </a:pPr>
            <a:r>
              <a:rPr lang="en-US" sz="1950" spc="273" kern="0" dirty="0">
                <a:solidFill>
                  <a:srgbClr val="9A8F78"/>
                </a:solidFill>
                <a:latin typeface="Courier New" pitchFamily="34" charset="0"/>
                <a:ea typeface="Courier New" pitchFamily="34" charset="-122"/>
                <a:cs typeface="Courier New" pitchFamily="34" charset="-120"/>
              </a:rPr>
              <a:t>NEXT STEPS</a:t>
            </a:r>
            <a:endParaRPr lang="en-US" sz="1950" dirty="0"/>
          </a:p>
        </p:txBody>
      </p:sp>
      <p:sp>
        <p:nvSpPr>
          <p:cNvPr id="11" name="Text 9"/>
          <p:cNvSpPr/>
          <p:nvPr/>
        </p:nvSpPr>
        <p:spPr>
          <a:xfrm>
            <a:off x="9525000" y="3160395"/>
            <a:ext cx="8044815" cy="838200"/>
          </a:xfrm>
          <a:prstGeom prst="rect">
            <a:avLst/>
          </a:prstGeom>
          <a:noFill/>
          <a:ln/>
        </p:spPr>
        <p:txBody>
          <a:bodyPr wrap="square" lIns="25400" tIns="25400" rIns="25400" bIns="25400" rtlCol="0" anchor="t">
            <a:normAutofit/>
          </a:bodyPr>
          <a:lstStyle/>
          <a:p>
            <a:pPr algn="l" indent="0" marL="0">
              <a:lnSpc>
                <a:spcPct val="131250"/>
              </a:lnSpc>
              <a:buNone/>
            </a:pPr>
            <a:r>
              <a:rPr lang="en-US" sz="2100" dirty="0">
                <a:solidFill>
                  <a:srgbClr val="E8935A"/>
                </a:solidFill>
                <a:latin typeface="Courier New" pitchFamily="34" charset="0"/>
                <a:ea typeface="Courier New" pitchFamily="34" charset="-122"/>
                <a:cs typeface="Courier New" pitchFamily="34" charset="-120"/>
              </a:rPr>
              <a:t>1 </a:t>
            </a:r>
            <a:pPr algn="l" indent="0" marL="0">
              <a:lnSpc>
                <a:spcPct val="131250"/>
              </a:lnSpc>
              <a:buNone/>
            </a:pPr>
            <a:r>
              <a:rPr lang="en-US" sz="2100" dirty="0">
                <a:solidFill>
                  <a:srgbClr val="D8CFB6"/>
                </a:solidFill>
                <a:latin typeface="Arial" pitchFamily="34" charset="0"/>
                <a:ea typeface="Arial" pitchFamily="34" charset="-122"/>
                <a:cs typeface="Arial" pitchFamily="34" charset="-120"/>
              </a:rPr>
              <a:t>Locate a MAC / FMAC tape image → authentic build under nd100x / RetroCore</a:t>
            </a:r>
            <a:endParaRPr lang="en-US" sz="2100" dirty="0"/>
          </a:p>
        </p:txBody>
      </p:sp>
      <p:sp>
        <p:nvSpPr>
          <p:cNvPr id="12" name="Text 10"/>
          <p:cNvSpPr/>
          <p:nvPr/>
        </p:nvSpPr>
        <p:spPr>
          <a:xfrm>
            <a:off x="9525000" y="4131945"/>
            <a:ext cx="8044815" cy="845820"/>
          </a:xfrm>
          <a:prstGeom prst="rect">
            <a:avLst/>
          </a:prstGeom>
          <a:noFill/>
          <a:ln/>
        </p:spPr>
        <p:txBody>
          <a:bodyPr wrap="square" lIns="25400" tIns="25400" rIns="25400" bIns="25400" rtlCol="0" anchor="t">
            <a:normAutofit/>
          </a:bodyPr>
          <a:lstStyle/>
          <a:p>
            <a:pPr algn="l" indent="0" marL="0">
              <a:lnSpc>
                <a:spcPct val="131250"/>
              </a:lnSpc>
              <a:buNone/>
            </a:pPr>
            <a:r>
              <a:rPr lang="en-US" sz="2100" dirty="0">
                <a:solidFill>
                  <a:srgbClr val="E8935A"/>
                </a:solidFill>
                <a:latin typeface="Courier New" pitchFamily="34" charset="0"/>
                <a:ea typeface="Courier New" pitchFamily="34" charset="-122"/>
                <a:cs typeface="Courier New" pitchFamily="34" charset="-120"/>
              </a:rPr>
              <a:t>2 </a:t>
            </a:r>
            <a:pPr algn="l" indent="0" marL="0">
              <a:lnSpc>
                <a:spcPct val="131250"/>
              </a:lnSpc>
              <a:buNone/>
            </a:pPr>
            <a:r>
              <a:rPr lang="en-US" sz="2100" dirty="0">
                <a:solidFill>
                  <a:srgbClr val="D8CFB6"/>
                </a:solidFill>
                <a:latin typeface="Arial" pitchFamily="34" charset="0"/>
                <a:ea typeface="Arial" pitchFamily="34" charset="-122"/>
                <a:cs typeface="Arial" pitchFamily="34" charset="-120"/>
              </a:rPr>
              <a:t>Failing that: MAC-dialect cross-assembler, verified against </a:t>
            </a:r>
            <a:pPr algn="l" indent="0" marL="0">
              <a:lnSpc>
                <a:spcPct val="131250"/>
              </a:lnSpc>
              <a:buNone/>
            </a:pPr>
            <a:r>
              <a:rPr lang="en-US" sz="2100" b="1" dirty="0">
                <a:solidFill>
                  <a:srgbClr val="D8CFB6"/>
                </a:solidFill>
                <a:latin typeface="Arial" pitchFamily="34" charset="0"/>
                <a:ea typeface="Arial" pitchFamily="34" charset="-122"/>
                <a:cs typeface="Arial" pitchFamily="34" charset="-120"/>
              </a:rPr>
              <a:t>ASYMB / BSYMB</a:t>
            </a:r>
            <a:endParaRPr lang="en-US" sz="2100" dirty="0"/>
          </a:p>
        </p:txBody>
      </p:sp>
      <p:sp>
        <p:nvSpPr>
          <p:cNvPr id="13" name="Text 11"/>
          <p:cNvSpPr/>
          <p:nvPr/>
        </p:nvSpPr>
        <p:spPr>
          <a:xfrm>
            <a:off x="9525000" y="5111115"/>
            <a:ext cx="8044815" cy="838200"/>
          </a:xfrm>
          <a:prstGeom prst="rect">
            <a:avLst/>
          </a:prstGeom>
          <a:noFill/>
          <a:ln/>
        </p:spPr>
        <p:txBody>
          <a:bodyPr wrap="square" lIns="25400" tIns="25400" rIns="25400" bIns="25400" rtlCol="0" anchor="t">
            <a:normAutofit/>
          </a:bodyPr>
          <a:lstStyle/>
          <a:p>
            <a:pPr algn="l" indent="0" marL="0">
              <a:lnSpc>
                <a:spcPct val="131250"/>
              </a:lnSpc>
              <a:buNone/>
            </a:pPr>
            <a:r>
              <a:rPr lang="en-US" sz="2100" dirty="0">
                <a:solidFill>
                  <a:srgbClr val="E8935A"/>
                </a:solidFill>
                <a:latin typeface="Courier New" pitchFamily="34" charset="0"/>
                <a:ea typeface="Courier New" pitchFamily="34" charset="-122"/>
                <a:cs typeface="Courier New" pitchFamily="34" charset="-120"/>
              </a:rPr>
              <a:t>3 </a:t>
            </a:r>
            <a:pPr algn="l" indent="0" marL="0">
              <a:lnSpc>
                <a:spcPct val="131250"/>
              </a:lnSpc>
              <a:buNone/>
            </a:pPr>
            <a:r>
              <a:rPr lang="en-US" sz="2100" dirty="0">
                <a:solidFill>
                  <a:srgbClr val="D8CFB6"/>
                </a:solidFill>
                <a:latin typeface="Arial" pitchFamily="34" charset="0"/>
                <a:ea typeface="Arial" pitchFamily="34" charset="-122"/>
                <a:cs typeface="Arial" pitchFamily="34" charset="-120"/>
              </a:rPr>
              <a:t>Build </a:t>
            </a:r>
            <a:pPr algn="l" indent="0" marL="0">
              <a:lnSpc>
                <a:spcPct val="131250"/>
              </a:lnSpc>
              <a:buNone/>
            </a:pPr>
            <a:r>
              <a:rPr lang="en-US" sz="2100" dirty="0">
                <a:solidFill>
                  <a:srgbClr val="D8CFB6"/>
                </a:solidFill>
                <a:latin typeface="Courier New" pitchFamily="34" charset="0"/>
                <a:ea typeface="Courier New" pitchFamily="34" charset="-122"/>
                <a:cs typeface="Courier New" pitchFamily="34" charset="-120"/>
              </a:rPr>
              <a:t>CDC MACF K14 TEL4 DRUM N10 </a:t>
            </a:r>
            <a:pPr algn="l" indent="0" marL="0">
              <a:lnSpc>
                <a:spcPct val="131250"/>
              </a:lnSpc>
              <a:buNone/>
            </a:pPr>
            <a:r>
              <a:rPr lang="en-US" sz="2100" dirty="0">
                <a:solidFill>
                  <a:srgbClr val="D8CFB6"/>
                </a:solidFill>
                <a:latin typeface="Arial" pitchFamily="34" charset="0"/>
                <a:ea typeface="Arial" pitchFamily="34" charset="-122"/>
                <a:cs typeface="Arial" pitchFamily="34" charset="-120"/>
              </a:rPr>
              <a:t>→ drum-swapping NORD-10 TSS</a:t>
            </a:r>
            <a:endParaRPr lang="en-US" sz="2100" dirty="0"/>
          </a:p>
        </p:txBody>
      </p:sp>
      <p:sp>
        <p:nvSpPr>
          <p:cNvPr id="14" name="Text 12"/>
          <p:cNvSpPr/>
          <p:nvPr/>
        </p:nvSpPr>
        <p:spPr>
          <a:xfrm>
            <a:off x="9525000" y="6082665"/>
            <a:ext cx="8044815" cy="838200"/>
          </a:xfrm>
          <a:prstGeom prst="rect">
            <a:avLst/>
          </a:prstGeom>
          <a:noFill/>
          <a:ln/>
        </p:spPr>
        <p:txBody>
          <a:bodyPr wrap="square" lIns="25400" tIns="25400" rIns="25400" bIns="25400" rtlCol="0" anchor="t">
            <a:normAutofit/>
          </a:bodyPr>
          <a:lstStyle/>
          <a:p>
            <a:pPr algn="l" indent="0" marL="0">
              <a:lnSpc>
                <a:spcPct val="131250"/>
              </a:lnSpc>
              <a:buNone/>
            </a:pPr>
            <a:r>
              <a:rPr lang="en-US" sz="2100" dirty="0">
                <a:solidFill>
                  <a:srgbClr val="E8935A"/>
                </a:solidFill>
                <a:latin typeface="Courier New" pitchFamily="34" charset="0"/>
                <a:ea typeface="Courier New" pitchFamily="34" charset="-122"/>
                <a:cs typeface="Courier New" pitchFamily="34" charset="-120"/>
              </a:rPr>
              <a:t>4 </a:t>
            </a:r>
            <a:pPr algn="l" indent="0" marL="0">
              <a:lnSpc>
                <a:spcPct val="131250"/>
              </a:lnSpc>
              <a:buNone/>
            </a:pPr>
            <a:r>
              <a:rPr lang="en-US" sz="2100" dirty="0">
                <a:solidFill>
                  <a:srgbClr val="D8CFB6"/>
                </a:solidFill>
                <a:latin typeface="Arial" pitchFamily="34" charset="0"/>
                <a:ea typeface="Arial" pitchFamily="34" charset="-122"/>
                <a:cs typeface="Arial" pitchFamily="34" charset="-120"/>
              </a:rPr>
              <a:t>Exercise XDRUM against the restored drum hardware — carefully</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2026-07-19T13:50:55Z</dcterms:created>
  <dcterms:modified xsi:type="dcterms:W3CDTF">2026-07-19T13:50:55Z</dcterms:modified>
</cp:coreProperties>
</file>